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85" r:id="rId9"/>
    <p:sldId id="286"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3" r:id="rId27"/>
    <p:sldId id="284"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6014" autoAdjust="0"/>
    <p:restoredTop sz="94660"/>
  </p:normalViewPr>
  <p:slideViewPr>
    <p:cSldViewPr snapToGrid="0">
      <p:cViewPr varScale="1">
        <p:scale>
          <a:sx n="77" d="100"/>
          <a:sy n="77" d="100"/>
        </p:scale>
        <p:origin x="228" y="42"/>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5A80FE-F452-4DD4-9B1F-D14E4C9B949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270CE8D-E05A-4498-9D62-24376DBFE0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1F3A896-C203-4693-8315-FD9EA940A832}"/>
              </a:ext>
            </a:extLst>
          </p:cNvPr>
          <p:cNvSpPr>
            <a:spLocks noGrp="1"/>
          </p:cNvSpPr>
          <p:nvPr>
            <p:ph type="dt" sz="half" idx="10"/>
          </p:nvPr>
        </p:nvSpPr>
        <p:spPr/>
        <p:txBody>
          <a:bodyPr/>
          <a:lstStyle/>
          <a:p>
            <a:fld id="{45064316-0534-4AEF-BCAA-009B083FED1E}" type="datetimeFigureOut">
              <a:rPr lang="zh-CN" altLang="en-US" smtClean="0"/>
              <a:t>2026/2/23</a:t>
            </a:fld>
            <a:endParaRPr lang="zh-CN" altLang="en-US"/>
          </a:p>
        </p:txBody>
      </p:sp>
      <p:sp>
        <p:nvSpPr>
          <p:cNvPr id="5" name="页脚占位符 4">
            <a:extLst>
              <a:ext uri="{FF2B5EF4-FFF2-40B4-BE49-F238E27FC236}">
                <a16:creationId xmlns:a16="http://schemas.microsoft.com/office/drawing/2014/main" id="{A9A24D8C-5FF9-43C3-8C1F-89244BC55A7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98974A5-08CD-4BB7-9E11-2C10DF15FE6D}"/>
              </a:ext>
            </a:extLst>
          </p:cNvPr>
          <p:cNvSpPr>
            <a:spLocks noGrp="1"/>
          </p:cNvSpPr>
          <p:nvPr>
            <p:ph type="sldNum" sz="quarter" idx="12"/>
          </p:nvPr>
        </p:nvSpPr>
        <p:spPr/>
        <p:txBody>
          <a:bodyPr/>
          <a:lstStyle/>
          <a:p>
            <a:fld id="{4B7A65E9-08DD-440A-ADDB-E3A1044EC5B5}" type="slidenum">
              <a:rPr lang="zh-CN" altLang="en-US" smtClean="0"/>
              <a:t>‹#›</a:t>
            </a:fld>
            <a:endParaRPr lang="zh-CN" altLang="en-US"/>
          </a:p>
        </p:txBody>
      </p:sp>
    </p:spTree>
    <p:extLst>
      <p:ext uri="{BB962C8B-B14F-4D97-AF65-F5344CB8AC3E}">
        <p14:creationId xmlns:p14="http://schemas.microsoft.com/office/powerpoint/2010/main" val="1520955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8073C5-35DF-418E-82C5-C648FF050AC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90320B6-D6DA-4958-8202-6A4C6F91B993}"/>
              </a:ext>
            </a:extLst>
          </p:cNvPr>
          <p:cNvSpPr>
            <a:spLocks noGrp="1"/>
          </p:cNvSpPr>
          <p:nvPr>
            <p:ph idx="1"/>
          </p:nvPr>
        </p:nvSpPr>
        <p:spPr/>
        <p:txBody>
          <a:bodyPr/>
          <a:lstStyle>
            <a:lvl1pPr>
              <a:lnSpc>
                <a:spcPct val="100000"/>
              </a:lnSpc>
              <a:spcBef>
                <a:spcPts val="0"/>
              </a:spcBef>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3A76AD07-A4E3-44AF-8882-22F4A3177308}"/>
              </a:ext>
            </a:extLst>
          </p:cNvPr>
          <p:cNvSpPr>
            <a:spLocks noGrp="1"/>
          </p:cNvSpPr>
          <p:nvPr>
            <p:ph type="dt" sz="half" idx="10"/>
          </p:nvPr>
        </p:nvSpPr>
        <p:spPr/>
        <p:txBody>
          <a:bodyPr/>
          <a:lstStyle/>
          <a:p>
            <a:fld id="{45064316-0534-4AEF-BCAA-009B083FED1E}" type="datetimeFigureOut">
              <a:rPr lang="zh-CN" altLang="en-US" smtClean="0"/>
              <a:t>2026/2/23</a:t>
            </a:fld>
            <a:endParaRPr lang="zh-CN" altLang="en-US"/>
          </a:p>
        </p:txBody>
      </p:sp>
      <p:sp>
        <p:nvSpPr>
          <p:cNvPr id="5" name="页脚占位符 4">
            <a:extLst>
              <a:ext uri="{FF2B5EF4-FFF2-40B4-BE49-F238E27FC236}">
                <a16:creationId xmlns:a16="http://schemas.microsoft.com/office/drawing/2014/main" id="{B15CFC4D-EFA0-4199-86A9-149063C0C05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44A23B6-C763-445A-8C6B-A0E3A47DEDB0}"/>
              </a:ext>
            </a:extLst>
          </p:cNvPr>
          <p:cNvSpPr>
            <a:spLocks noGrp="1"/>
          </p:cNvSpPr>
          <p:nvPr>
            <p:ph type="sldNum" sz="quarter" idx="12"/>
          </p:nvPr>
        </p:nvSpPr>
        <p:spPr/>
        <p:txBody>
          <a:bodyPr/>
          <a:lstStyle/>
          <a:p>
            <a:fld id="{4B7A65E9-08DD-440A-ADDB-E3A1044EC5B5}" type="slidenum">
              <a:rPr lang="zh-CN" altLang="en-US" smtClean="0"/>
              <a:t>‹#›</a:t>
            </a:fld>
            <a:endParaRPr lang="zh-CN" altLang="en-US"/>
          </a:p>
        </p:txBody>
      </p:sp>
    </p:spTree>
    <p:extLst>
      <p:ext uri="{BB962C8B-B14F-4D97-AF65-F5344CB8AC3E}">
        <p14:creationId xmlns:p14="http://schemas.microsoft.com/office/powerpoint/2010/main" val="252039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894B7C-F69C-4710-A5C7-34ED5A24243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A08208D-70CC-4F40-BE00-56BA97B795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529081D-83FA-44E9-AC88-E923B4B139D8}"/>
              </a:ext>
            </a:extLst>
          </p:cNvPr>
          <p:cNvSpPr>
            <a:spLocks noGrp="1"/>
          </p:cNvSpPr>
          <p:nvPr>
            <p:ph type="dt" sz="half" idx="10"/>
          </p:nvPr>
        </p:nvSpPr>
        <p:spPr/>
        <p:txBody>
          <a:bodyPr/>
          <a:lstStyle/>
          <a:p>
            <a:fld id="{45064316-0534-4AEF-BCAA-009B083FED1E}" type="datetimeFigureOut">
              <a:rPr lang="zh-CN" altLang="en-US" smtClean="0"/>
              <a:t>2026/2/23</a:t>
            </a:fld>
            <a:endParaRPr lang="zh-CN" altLang="en-US"/>
          </a:p>
        </p:txBody>
      </p:sp>
      <p:sp>
        <p:nvSpPr>
          <p:cNvPr id="5" name="页脚占位符 4">
            <a:extLst>
              <a:ext uri="{FF2B5EF4-FFF2-40B4-BE49-F238E27FC236}">
                <a16:creationId xmlns:a16="http://schemas.microsoft.com/office/drawing/2014/main" id="{AB6449F8-2000-4619-A1BD-23E01A27674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B2982AA-87B0-4236-BFE5-456A1B114C47}"/>
              </a:ext>
            </a:extLst>
          </p:cNvPr>
          <p:cNvSpPr>
            <a:spLocks noGrp="1"/>
          </p:cNvSpPr>
          <p:nvPr>
            <p:ph type="sldNum" sz="quarter" idx="12"/>
          </p:nvPr>
        </p:nvSpPr>
        <p:spPr/>
        <p:txBody>
          <a:bodyPr/>
          <a:lstStyle/>
          <a:p>
            <a:fld id="{4B7A65E9-08DD-440A-ADDB-E3A1044EC5B5}" type="slidenum">
              <a:rPr lang="zh-CN" altLang="en-US" smtClean="0"/>
              <a:t>‹#›</a:t>
            </a:fld>
            <a:endParaRPr lang="zh-CN" altLang="en-US"/>
          </a:p>
        </p:txBody>
      </p:sp>
    </p:spTree>
    <p:extLst>
      <p:ext uri="{BB962C8B-B14F-4D97-AF65-F5344CB8AC3E}">
        <p14:creationId xmlns:p14="http://schemas.microsoft.com/office/powerpoint/2010/main" val="2313761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8FAB1E-AE7C-41CF-9614-F176485AA35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9570500-71FB-40FB-B10F-CFC63542AD5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1B4763B-408D-44BF-AD6A-A32D5189790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2741978-5D0C-4A48-8B92-77EE15D9489A}"/>
              </a:ext>
            </a:extLst>
          </p:cNvPr>
          <p:cNvSpPr>
            <a:spLocks noGrp="1"/>
          </p:cNvSpPr>
          <p:nvPr>
            <p:ph type="dt" sz="half" idx="10"/>
          </p:nvPr>
        </p:nvSpPr>
        <p:spPr/>
        <p:txBody>
          <a:bodyPr/>
          <a:lstStyle/>
          <a:p>
            <a:fld id="{45064316-0534-4AEF-BCAA-009B083FED1E}" type="datetimeFigureOut">
              <a:rPr lang="zh-CN" altLang="en-US" smtClean="0"/>
              <a:t>2026/2/23</a:t>
            </a:fld>
            <a:endParaRPr lang="zh-CN" altLang="en-US"/>
          </a:p>
        </p:txBody>
      </p:sp>
      <p:sp>
        <p:nvSpPr>
          <p:cNvPr id="6" name="页脚占位符 5">
            <a:extLst>
              <a:ext uri="{FF2B5EF4-FFF2-40B4-BE49-F238E27FC236}">
                <a16:creationId xmlns:a16="http://schemas.microsoft.com/office/drawing/2014/main" id="{4FAAE1BE-516F-4658-A633-4AAE422B9C0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58BF2EC-EE8D-46A1-974D-13D18FA7ED8B}"/>
              </a:ext>
            </a:extLst>
          </p:cNvPr>
          <p:cNvSpPr>
            <a:spLocks noGrp="1"/>
          </p:cNvSpPr>
          <p:nvPr>
            <p:ph type="sldNum" sz="quarter" idx="12"/>
          </p:nvPr>
        </p:nvSpPr>
        <p:spPr/>
        <p:txBody>
          <a:bodyPr/>
          <a:lstStyle/>
          <a:p>
            <a:fld id="{4B7A65E9-08DD-440A-ADDB-E3A1044EC5B5}" type="slidenum">
              <a:rPr lang="zh-CN" altLang="en-US" smtClean="0"/>
              <a:t>‹#›</a:t>
            </a:fld>
            <a:endParaRPr lang="zh-CN" altLang="en-US"/>
          </a:p>
        </p:txBody>
      </p:sp>
    </p:spTree>
    <p:extLst>
      <p:ext uri="{BB962C8B-B14F-4D97-AF65-F5344CB8AC3E}">
        <p14:creationId xmlns:p14="http://schemas.microsoft.com/office/powerpoint/2010/main" val="2500073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92328B-EB83-454C-B4D7-DD6B78782AE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5F4CAC3-C7CC-4AB0-8D0E-03BC95E43D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60181AE-39D6-4566-8D47-F248F1EB364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7758F9A-4717-4AE4-AE4F-8471CF6B23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9611E18-23EC-470D-8C79-9492B9F008F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F470941-0556-4337-9917-3BDF67C35048}"/>
              </a:ext>
            </a:extLst>
          </p:cNvPr>
          <p:cNvSpPr>
            <a:spLocks noGrp="1"/>
          </p:cNvSpPr>
          <p:nvPr>
            <p:ph type="dt" sz="half" idx="10"/>
          </p:nvPr>
        </p:nvSpPr>
        <p:spPr/>
        <p:txBody>
          <a:bodyPr/>
          <a:lstStyle/>
          <a:p>
            <a:fld id="{45064316-0534-4AEF-BCAA-009B083FED1E}" type="datetimeFigureOut">
              <a:rPr lang="zh-CN" altLang="en-US" smtClean="0"/>
              <a:t>2026/2/23</a:t>
            </a:fld>
            <a:endParaRPr lang="zh-CN" altLang="en-US"/>
          </a:p>
        </p:txBody>
      </p:sp>
      <p:sp>
        <p:nvSpPr>
          <p:cNvPr id="8" name="页脚占位符 7">
            <a:extLst>
              <a:ext uri="{FF2B5EF4-FFF2-40B4-BE49-F238E27FC236}">
                <a16:creationId xmlns:a16="http://schemas.microsoft.com/office/drawing/2014/main" id="{9FC94A9F-07BD-4AF3-A45B-61FCB409856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562457C-0601-4A3A-BE90-4F3A13B78865}"/>
              </a:ext>
            </a:extLst>
          </p:cNvPr>
          <p:cNvSpPr>
            <a:spLocks noGrp="1"/>
          </p:cNvSpPr>
          <p:nvPr>
            <p:ph type="sldNum" sz="quarter" idx="12"/>
          </p:nvPr>
        </p:nvSpPr>
        <p:spPr/>
        <p:txBody>
          <a:bodyPr/>
          <a:lstStyle/>
          <a:p>
            <a:fld id="{4B7A65E9-08DD-440A-ADDB-E3A1044EC5B5}" type="slidenum">
              <a:rPr lang="zh-CN" altLang="en-US" smtClean="0"/>
              <a:t>‹#›</a:t>
            </a:fld>
            <a:endParaRPr lang="zh-CN" altLang="en-US"/>
          </a:p>
        </p:txBody>
      </p:sp>
    </p:spTree>
    <p:extLst>
      <p:ext uri="{BB962C8B-B14F-4D97-AF65-F5344CB8AC3E}">
        <p14:creationId xmlns:p14="http://schemas.microsoft.com/office/powerpoint/2010/main" val="3726639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3AC34C-DEFB-449A-A90E-E39CEB5A9C7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A7B872E-B71B-43CC-AE25-1A7A2BBA13E2}"/>
              </a:ext>
            </a:extLst>
          </p:cNvPr>
          <p:cNvSpPr>
            <a:spLocks noGrp="1"/>
          </p:cNvSpPr>
          <p:nvPr>
            <p:ph type="dt" sz="half" idx="10"/>
          </p:nvPr>
        </p:nvSpPr>
        <p:spPr/>
        <p:txBody>
          <a:bodyPr/>
          <a:lstStyle/>
          <a:p>
            <a:fld id="{45064316-0534-4AEF-BCAA-009B083FED1E}" type="datetimeFigureOut">
              <a:rPr lang="zh-CN" altLang="en-US" smtClean="0"/>
              <a:t>2026/2/23</a:t>
            </a:fld>
            <a:endParaRPr lang="zh-CN" altLang="en-US"/>
          </a:p>
        </p:txBody>
      </p:sp>
      <p:sp>
        <p:nvSpPr>
          <p:cNvPr id="4" name="页脚占位符 3">
            <a:extLst>
              <a:ext uri="{FF2B5EF4-FFF2-40B4-BE49-F238E27FC236}">
                <a16:creationId xmlns:a16="http://schemas.microsoft.com/office/drawing/2014/main" id="{135F707B-FDFE-4C30-96EE-E597BF894C5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1519DB8-27CA-4F3E-A836-68ED8EDDB94B}"/>
              </a:ext>
            </a:extLst>
          </p:cNvPr>
          <p:cNvSpPr>
            <a:spLocks noGrp="1"/>
          </p:cNvSpPr>
          <p:nvPr>
            <p:ph type="sldNum" sz="quarter" idx="12"/>
          </p:nvPr>
        </p:nvSpPr>
        <p:spPr/>
        <p:txBody>
          <a:bodyPr/>
          <a:lstStyle/>
          <a:p>
            <a:fld id="{4B7A65E9-08DD-440A-ADDB-E3A1044EC5B5}" type="slidenum">
              <a:rPr lang="zh-CN" altLang="en-US" smtClean="0"/>
              <a:t>‹#›</a:t>
            </a:fld>
            <a:endParaRPr lang="zh-CN" altLang="en-US"/>
          </a:p>
        </p:txBody>
      </p:sp>
    </p:spTree>
    <p:extLst>
      <p:ext uri="{BB962C8B-B14F-4D97-AF65-F5344CB8AC3E}">
        <p14:creationId xmlns:p14="http://schemas.microsoft.com/office/powerpoint/2010/main" val="335770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04EEC60-0405-4188-B50C-FF5AE0A8771E}"/>
              </a:ext>
            </a:extLst>
          </p:cNvPr>
          <p:cNvSpPr>
            <a:spLocks noGrp="1"/>
          </p:cNvSpPr>
          <p:nvPr>
            <p:ph type="dt" sz="half" idx="10"/>
          </p:nvPr>
        </p:nvSpPr>
        <p:spPr/>
        <p:txBody>
          <a:bodyPr/>
          <a:lstStyle/>
          <a:p>
            <a:fld id="{45064316-0534-4AEF-BCAA-009B083FED1E}" type="datetimeFigureOut">
              <a:rPr lang="zh-CN" altLang="en-US" smtClean="0"/>
              <a:t>2026/2/23</a:t>
            </a:fld>
            <a:endParaRPr lang="zh-CN" altLang="en-US"/>
          </a:p>
        </p:txBody>
      </p:sp>
      <p:sp>
        <p:nvSpPr>
          <p:cNvPr id="3" name="页脚占位符 2">
            <a:extLst>
              <a:ext uri="{FF2B5EF4-FFF2-40B4-BE49-F238E27FC236}">
                <a16:creationId xmlns:a16="http://schemas.microsoft.com/office/drawing/2014/main" id="{AD7A6431-E2DE-47B1-9243-8BBCEF1A774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B23866A-AFEA-4E7F-937A-876ADF05BB61}"/>
              </a:ext>
            </a:extLst>
          </p:cNvPr>
          <p:cNvSpPr>
            <a:spLocks noGrp="1"/>
          </p:cNvSpPr>
          <p:nvPr>
            <p:ph type="sldNum" sz="quarter" idx="12"/>
          </p:nvPr>
        </p:nvSpPr>
        <p:spPr/>
        <p:txBody>
          <a:bodyPr/>
          <a:lstStyle/>
          <a:p>
            <a:fld id="{4B7A65E9-08DD-440A-ADDB-E3A1044EC5B5}" type="slidenum">
              <a:rPr lang="zh-CN" altLang="en-US" smtClean="0"/>
              <a:t>‹#›</a:t>
            </a:fld>
            <a:endParaRPr lang="zh-CN" altLang="en-US"/>
          </a:p>
        </p:txBody>
      </p:sp>
    </p:spTree>
    <p:extLst>
      <p:ext uri="{BB962C8B-B14F-4D97-AF65-F5344CB8AC3E}">
        <p14:creationId xmlns:p14="http://schemas.microsoft.com/office/powerpoint/2010/main" val="4079335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C37D04-B7BC-4D10-8514-EAC49A9A93F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5450353-E5CB-4A48-A536-1A2A0A684F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3F406BA-B734-45ED-BC6A-D6F4BF21BF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87E4EC8-C680-435F-83F8-B059E99EBF7D}"/>
              </a:ext>
            </a:extLst>
          </p:cNvPr>
          <p:cNvSpPr>
            <a:spLocks noGrp="1"/>
          </p:cNvSpPr>
          <p:nvPr>
            <p:ph type="dt" sz="half" idx="10"/>
          </p:nvPr>
        </p:nvSpPr>
        <p:spPr/>
        <p:txBody>
          <a:bodyPr/>
          <a:lstStyle/>
          <a:p>
            <a:fld id="{45064316-0534-4AEF-BCAA-009B083FED1E}" type="datetimeFigureOut">
              <a:rPr lang="zh-CN" altLang="en-US" smtClean="0"/>
              <a:t>2026/2/23</a:t>
            </a:fld>
            <a:endParaRPr lang="zh-CN" altLang="en-US"/>
          </a:p>
        </p:txBody>
      </p:sp>
      <p:sp>
        <p:nvSpPr>
          <p:cNvPr id="6" name="页脚占位符 5">
            <a:extLst>
              <a:ext uri="{FF2B5EF4-FFF2-40B4-BE49-F238E27FC236}">
                <a16:creationId xmlns:a16="http://schemas.microsoft.com/office/drawing/2014/main" id="{ED29873C-6A4E-4B82-B36F-B16B245EBCF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9BBF31A-5A4C-4282-87D1-9AB5510E54EB}"/>
              </a:ext>
            </a:extLst>
          </p:cNvPr>
          <p:cNvSpPr>
            <a:spLocks noGrp="1"/>
          </p:cNvSpPr>
          <p:nvPr>
            <p:ph type="sldNum" sz="quarter" idx="12"/>
          </p:nvPr>
        </p:nvSpPr>
        <p:spPr/>
        <p:txBody>
          <a:bodyPr/>
          <a:lstStyle/>
          <a:p>
            <a:fld id="{4B7A65E9-08DD-440A-ADDB-E3A1044EC5B5}" type="slidenum">
              <a:rPr lang="zh-CN" altLang="en-US" smtClean="0"/>
              <a:t>‹#›</a:t>
            </a:fld>
            <a:endParaRPr lang="zh-CN" altLang="en-US"/>
          </a:p>
        </p:txBody>
      </p:sp>
    </p:spTree>
    <p:extLst>
      <p:ext uri="{BB962C8B-B14F-4D97-AF65-F5344CB8AC3E}">
        <p14:creationId xmlns:p14="http://schemas.microsoft.com/office/powerpoint/2010/main" val="3676137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67C599-28F1-469E-80D3-CF6CB1BECCE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D5C4E05-7420-48C1-8177-0BD94107DF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69EC1BF-D14F-4B9E-B159-F709722CEF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AAD6076-DEBE-4652-8DF1-2CFC14B76F16}"/>
              </a:ext>
            </a:extLst>
          </p:cNvPr>
          <p:cNvSpPr>
            <a:spLocks noGrp="1"/>
          </p:cNvSpPr>
          <p:nvPr>
            <p:ph type="dt" sz="half" idx="10"/>
          </p:nvPr>
        </p:nvSpPr>
        <p:spPr/>
        <p:txBody>
          <a:bodyPr/>
          <a:lstStyle/>
          <a:p>
            <a:fld id="{45064316-0534-4AEF-BCAA-009B083FED1E}" type="datetimeFigureOut">
              <a:rPr lang="zh-CN" altLang="en-US" smtClean="0"/>
              <a:t>2026/2/23</a:t>
            </a:fld>
            <a:endParaRPr lang="zh-CN" altLang="en-US"/>
          </a:p>
        </p:txBody>
      </p:sp>
      <p:sp>
        <p:nvSpPr>
          <p:cNvPr id="6" name="页脚占位符 5">
            <a:extLst>
              <a:ext uri="{FF2B5EF4-FFF2-40B4-BE49-F238E27FC236}">
                <a16:creationId xmlns:a16="http://schemas.microsoft.com/office/drawing/2014/main" id="{EE4F3C28-7503-412F-9D21-7F7DB1BC703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6116663-7016-4341-A5DF-ADF94F95F330}"/>
              </a:ext>
            </a:extLst>
          </p:cNvPr>
          <p:cNvSpPr>
            <a:spLocks noGrp="1"/>
          </p:cNvSpPr>
          <p:nvPr>
            <p:ph type="sldNum" sz="quarter" idx="12"/>
          </p:nvPr>
        </p:nvSpPr>
        <p:spPr/>
        <p:txBody>
          <a:bodyPr/>
          <a:lstStyle/>
          <a:p>
            <a:fld id="{4B7A65E9-08DD-440A-ADDB-E3A1044EC5B5}" type="slidenum">
              <a:rPr lang="zh-CN" altLang="en-US" smtClean="0"/>
              <a:t>‹#›</a:t>
            </a:fld>
            <a:endParaRPr lang="zh-CN" altLang="en-US"/>
          </a:p>
        </p:txBody>
      </p:sp>
    </p:spTree>
    <p:extLst>
      <p:ext uri="{BB962C8B-B14F-4D97-AF65-F5344CB8AC3E}">
        <p14:creationId xmlns:p14="http://schemas.microsoft.com/office/powerpoint/2010/main" val="2535804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B5E259-41FB-4894-9A90-E93DC961975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A06C7B9-0376-4C79-B00D-83B7D39D3E9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BC4827F-0984-42BB-9DEB-4A058D2B87CB}"/>
              </a:ext>
            </a:extLst>
          </p:cNvPr>
          <p:cNvSpPr>
            <a:spLocks noGrp="1"/>
          </p:cNvSpPr>
          <p:nvPr>
            <p:ph type="dt" sz="half" idx="10"/>
          </p:nvPr>
        </p:nvSpPr>
        <p:spPr/>
        <p:txBody>
          <a:bodyPr/>
          <a:lstStyle/>
          <a:p>
            <a:fld id="{45064316-0534-4AEF-BCAA-009B083FED1E}" type="datetimeFigureOut">
              <a:rPr lang="zh-CN" altLang="en-US" smtClean="0"/>
              <a:t>2026/2/23</a:t>
            </a:fld>
            <a:endParaRPr lang="zh-CN" altLang="en-US"/>
          </a:p>
        </p:txBody>
      </p:sp>
      <p:sp>
        <p:nvSpPr>
          <p:cNvPr id="5" name="页脚占位符 4">
            <a:extLst>
              <a:ext uri="{FF2B5EF4-FFF2-40B4-BE49-F238E27FC236}">
                <a16:creationId xmlns:a16="http://schemas.microsoft.com/office/drawing/2014/main" id="{CF9F5A24-4689-4882-AB7C-5C09039945E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AC55B1A-5AE2-4C51-9445-1781875063FA}"/>
              </a:ext>
            </a:extLst>
          </p:cNvPr>
          <p:cNvSpPr>
            <a:spLocks noGrp="1"/>
          </p:cNvSpPr>
          <p:nvPr>
            <p:ph type="sldNum" sz="quarter" idx="12"/>
          </p:nvPr>
        </p:nvSpPr>
        <p:spPr/>
        <p:txBody>
          <a:bodyPr/>
          <a:lstStyle/>
          <a:p>
            <a:fld id="{4B7A65E9-08DD-440A-ADDB-E3A1044EC5B5}" type="slidenum">
              <a:rPr lang="zh-CN" altLang="en-US" smtClean="0"/>
              <a:t>‹#›</a:t>
            </a:fld>
            <a:endParaRPr lang="zh-CN" altLang="en-US"/>
          </a:p>
        </p:txBody>
      </p:sp>
    </p:spTree>
    <p:extLst>
      <p:ext uri="{BB962C8B-B14F-4D97-AF65-F5344CB8AC3E}">
        <p14:creationId xmlns:p14="http://schemas.microsoft.com/office/powerpoint/2010/main" val="833393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8B81EAE-C53A-4E74-8FB8-9BABB5E1944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BE0F993-1D14-4102-A23D-48408C9B734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CE8CFAF-CC9D-4F99-BF25-3C785AE7FC54}"/>
              </a:ext>
            </a:extLst>
          </p:cNvPr>
          <p:cNvSpPr>
            <a:spLocks noGrp="1"/>
          </p:cNvSpPr>
          <p:nvPr>
            <p:ph type="dt" sz="half" idx="10"/>
          </p:nvPr>
        </p:nvSpPr>
        <p:spPr/>
        <p:txBody>
          <a:bodyPr/>
          <a:lstStyle/>
          <a:p>
            <a:fld id="{45064316-0534-4AEF-BCAA-009B083FED1E}" type="datetimeFigureOut">
              <a:rPr lang="zh-CN" altLang="en-US" smtClean="0"/>
              <a:t>2026/2/23</a:t>
            </a:fld>
            <a:endParaRPr lang="zh-CN" altLang="en-US"/>
          </a:p>
        </p:txBody>
      </p:sp>
      <p:sp>
        <p:nvSpPr>
          <p:cNvPr id="5" name="页脚占位符 4">
            <a:extLst>
              <a:ext uri="{FF2B5EF4-FFF2-40B4-BE49-F238E27FC236}">
                <a16:creationId xmlns:a16="http://schemas.microsoft.com/office/drawing/2014/main" id="{3C89CC11-BD8A-4C2B-A0B4-472E9B97592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251B3B7-B6F2-42FF-8884-7517FF1A2741}"/>
              </a:ext>
            </a:extLst>
          </p:cNvPr>
          <p:cNvSpPr>
            <a:spLocks noGrp="1"/>
          </p:cNvSpPr>
          <p:nvPr>
            <p:ph type="sldNum" sz="quarter" idx="12"/>
          </p:nvPr>
        </p:nvSpPr>
        <p:spPr/>
        <p:txBody>
          <a:bodyPr/>
          <a:lstStyle/>
          <a:p>
            <a:fld id="{4B7A65E9-08DD-440A-ADDB-E3A1044EC5B5}" type="slidenum">
              <a:rPr lang="zh-CN" altLang="en-US" smtClean="0"/>
              <a:t>‹#›</a:t>
            </a:fld>
            <a:endParaRPr lang="zh-CN" altLang="en-US"/>
          </a:p>
        </p:txBody>
      </p:sp>
    </p:spTree>
    <p:extLst>
      <p:ext uri="{BB962C8B-B14F-4D97-AF65-F5344CB8AC3E}">
        <p14:creationId xmlns:p14="http://schemas.microsoft.com/office/powerpoint/2010/main" val="1188623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D7BBC24-2BA1-4468-854F-5165DB5F97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C8B04A5-8D9F-4496-AE71-38238051A3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873295F-2E91-45AA-8FF4-4F03C56480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064316-0534-4AEF-BCAA-009B083FED1E}" type="datetimeFigureOut">
              <a:rPr lang="zh-CN" altLang="en-US" smtClean="0"/>
              <a:t>2026/2/23</a:t>
            </a:fld>
            <a:endParaRPr lang="zh-CN" altLang="en-US"/>
          </a:p>
        </p:txBody>
      </p:sp>
      <p:sp>
        <p:nvSpPr>
          <p:cNvPr id="5" name="页脚占位符 4">
            <a:extLst>
              <a:ext uri="{FF2B5EF4-FFF2-40B4-BE49-F238E27FC236}">
                <a16:creationId xmlns:a16="http://schemas.microsoft.com/office/drawing/2014/main" id="{7793B9FB-F37D-4BB6-8A66-6FB3C533F3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FCF9327-AA26-4468-BD4A-BBA7041222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7A65E9-08DD-440A-ADDB-E3A1044EC5B5}" type="slidenum">
              <a:rPr lang="zh-CN" altLang="en-US" smtClean="0"/>
              <a:t>‹#›</a:t>
            </a:fld>
            <a:endParaRPr lang="zh-CN" altLang="en-US"/>
          </a:p>
        </p:txBody>
      </p:sp>
    </p:spTree>
    <p:extLst>
      <p:ext uri="{BB962C8B-B14F-4D97-AF65-F5344CB8AC3E}">
        <p14:creationId xmlns:p14="http://schemas.microsoft.com/office/powerpoint/2010/main" val="32766093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CC3093-5588-4C33-8482-652D7942256C}"/>
              </a:ext>
            </a:extLst>
          </p:cNvPr>
          <p:cNvSpPr>
            <a:spLocks noGrp="1"/>
          </p:cNvSpPr>
          <p:nvPr>
            <p:ph type="ctrTitle"/>
          </p:nvPr>
        </p:nvSpPr>
        <p:spPr/>
        <p:txBody>
          <a:bodyPr/>
          <a:lstStyle/>
          <a:p>
            <a:r>
              <a:rPr lang="zh-CN" altLang="en-US" dirty="0"/>
              <a:t>数学归纳法</a:t>
            </a:r>
          </a:p>
        </p:txBody>
      </p:sp>
      <p:sp>
        <p:nvSpPr>
          <p:cNvPr id="3" name="副标题 2">
            <a:extLst>
              <a:ext uri="{FF2B5EF4-FFF2-40B4-BE49-F238E27FC236}">
                <a16:creationId xmlns:a16="http://schemas.microsoft.com/office/drawing/2014/main" id="{F1A9564E-6847-452F-8107-A9D922CA30DC}"/>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337415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6624CB-FF02-4EB8-90D2-682DFE2F20C3}"/>
              </a:ext>
            </a:extLst>
          </p:cNvPr>
          <p:cNvSpPr>
            <a:spLocks noGrp="1"/>
          </p:cNvSpPr>
          <p:nvPr>
            <p:ph type="title"/>
          </p:nvPr>
        </p:nvSpPr>
        <p:spPr/>
        <p:txBody>
          <a:bodyPr/>
          <a:lstStyle/>
          <a:p>
            <a:r>
              <a:rPr lang="zh-CN" altLang="en-US" dirty="0"/>
              <a:t>基本原理</a:t>
            </a:r>
          </a:p>
        </p:txBody>
      </p:sp>
      <p:sp>
        <p:nvSpPr>
          <p:cNvPr id="3" name="内容占位符 2">
            <a:extLst>
              <a:ext uri="{FF2B5EF4-FFF2-40B4-BE49-F238E27FC236}">
                <a16:creationId xmlns:a16="http://schemas.microsoft.com/office/drawing/2014/main" id="{867B2516-3109-4499-A471-BC8486EBA45A}"/>
              </a:ext>
            </a:extLst>
          </p:cNvPr>
          <p:cNvSpPr>
            <a:spLocks noGrp="1"/>
          </p:cNvSpPr>
          <p:nvPr>
            <p:ph idx="1"/>
          </p:nvPr>
        </p:nvSpPr>
        <p:spPr/>
        <p:txBody>
          <a:bodyPr/>
          <a:lstStyle/>
          <a:p>
            <a:r>
              <a:rPr lang="zh-CN" altLang="en-US" dirty="0"/>
              <a:t>对于带有参数</a:t>
            </a:r>
            <a:r>
              <a:rPr lang="en-US" altLang="zh-CN" dirty="0"/>
              <a:t>n</a:t>
            </a:r>
            <a:r>
              <a:rPr lang="zh-CN" altLang="en-US" dirty="0"/>
              <a:t>的命题</a:t>
            </a:r>
            <a:r>
              <a:rPr lang="en-US" altLang="zh-CN" dirty="0"/>
              <a:t>P</a:t>
            </a:r>
            <a:r>
              <a:rPr lang="zh-CN" altLang="en-US" dirty="0"/>
              <a:t>：</a:t>
            </a:r>
            <a:endParaRPr lang="en-US" altLang="zh-CN" dirty="0"/>
          </a:p>
          <a:p>
            <a:pPr marL="457200" lvl="1" indent="0">
              <a:buNone/>
            </a:pPr>
            <a:r>
              <a:rPr lang="en-US" altLang="zh-CN" dirty="0"/>
              <a:t>1</a:t>
            </a:r>
            <a:r>
              <a:rPr lang="zh-CN" altLang="en-US" dirty="0"/>
              <a:t>）当</a:t>
            </a:r>
            <a:r>
              <a:rPr lang="en-US" altLang="zh-CN" dirty="0"/>
              <a:t>n=1</a:t>
            </a:r>
            <a:r>
              <a:rPr lang="zh-CN" altLang="en-US" dirty="0"/>
              <a:t>时，</a:t>
            </a:r>
            <a:r>
              <a:rPr lang="en-US" altLang="zh-CN" dirty="0"/>
              <a:t>P</a:t>
            </a:r>
            <a:r>
              <a:rPr lang="zh-CN" altLang="en-US" dirty="0"/>
              <a:t>成立</a:t>
            </a:r>
          </a:p>
          <a:p>
            <a:pPr marL="457200" lvl="1" indent="0">
              <a:buNone/>
            </a:pPr>
            <a:r>
              <a:rPr lang="en-US" altLang="zh-CN" dirty="0"/>
              <a:t>2</a:t>
            </a:r>
            <a:r>
              <a:rPr lang="zh-CN" altLang="en-US" dirty="0"/>
              <a:t>）对每一个</a:t>
            </a:r>
            <a:r>
              <a:rPr lang="en-US" altLang="zh-CN" dirty="0"/>
              <a:t>n</a:t>
            </a:r>
            <a:r>
              <a:rPr lang="zh-CN" altLang="en-US" dirty="0"/>
              <a:t>，</a:t>
            </a:r>
            <a:r>
              <a:rPr lang="en-US" altLang="zh-CN" dirty="0"/>
              <a:t>n&gt;1</a:t>
            </a:r>
            <a:r>
              <a:rPr lang="zh-CN" altLang="en-US" dirty="0"/>
              <a:t>，若</a:t>
            </a:r>
            <a:r>
              <a:rPr lang="en-US" altLang="zh-CN" dirty="0"/>
              <a:t>n-1</a:t>
            </a:r>
            <a:r>
              <a:rPr lang="zh-CN" altLang="en-US" dirty="0"/>
              <a:t>时</a:t>
            </a:r>
            <a:r>
              <a:rPr lang="en-US" altLang="zh-CN" dirty="0"/>
              <a:t>P</a:t>
            </a:r>
            <a:r>
              <a:rPr lang="zh-CN" altLang="en-US" dirty="0"/>
              <a:t>成立可推出</a:t>
            </a:r>
            <a:r>
              <a:rPr lang="en-US" altLang="zh-CN" dirty="0"/>
              <a:t>n</a:t>
            </a:r>
            <a:r>
              <a:rPr lang="zh-CN" altLang="en-US" dirty="0"/>
              <a:t>时</a:t>
            </a:r>
            <a:r>
              <a:rPr lang="en-US" altLang="zh-CN" dirty="0"/>
              <a:t>P</a:t>
            </a:r>
            <a:r>
              <a:rPr lang="zh-CN" altLang="en-US" dirty="0"/>
              <a:t>也成立</a:t>
            </a:r>
          </a:p>
          <a:p>
            <a:r>
              <a:rPr lang="zh-CN" altLang="en-US" dirty="0"/>
              <a:t>结论：那么对任意自然数，</a:t>
            </a:r>
            <a:r>
              <a:rPr lang="en-US" altLang="zh-CN" dirty="0"/>
              <a:t>P</a:t>
            </a:r>
            <a:r>
              <a:rPr lang="zh-CN" altLang="en-US" dirty="0"/>
              <a:t>都成立</a:t>
            </a:r>
          </a:p>
          <a:p>
            <a:endParaRPr lang="zh-CN" altLang="en-US" dirty="0"/>
          </a:p>
          <a:p>
            <a:r>
              <a:rPr lang="zh-CN" altLang="en-US" dirty="0"/>
              <a:t>条件</a:t>
            </a:r>
            <a:r>
              <a:rPr lang="en-US" altLang="zh-CN" dirty="0"/>
              <a:t>1</a:t>
            </a:r>
            <a:r>
              <a:rPr lang="zh-CN" altLang="en-US" dirty="0"/>
              <a:t>容易得证</a:t>
            </a:r>
          </a:p>
          <a:p>
            <a:r>
              <a:rPr lang="zh-CN" altLang="en-US" dirty="0"/>
              <a:t>条件</a:t>
            </a:r>
            <a:r>
              <a:rPr lang="en-US" altLang="zh-CN" dirty="0"/>
              <a:t>2</a:t>
            </a:r>
            <a:r>
              <a:rPr lang="zh-CN" altLang="en-US" dirty="0"/>
              <a:t>关注如何通过减小</a:t>
            </a:r>
            <a:r>
              <a:rPr lang="en-US" altLang="zh-CN" dirty="0"/>
              <a:t>n</a:t>
            </a:r>
            <a:r>
              <a:rPr lang="zh-CN" altLang="en-US" dirty="0"/>
              <a:t>的值对命题进行归约</a:t>
            </a:r>
          </a:p>
          <a:p>
            <a:endParaRPr lang="zh-CN" altLang="en-US" dirty="0"/>
          </a:p>
          <a:p>
            <a:r>
              <a:rPr lang="zh-CN" altLang="en-US" dirty="0"/>
              <a:t>例：对任意的自然数</a:t>
            </a:r>
            <a:r>
              <a:rPr lang="en-US" altLang="zh-CN" dirty="0"/>
              <a:t>x(x</a:t>
            </a:r>
            <a:r>
              <a:rPr lang="en-US" altLang="zh-CN" sz="2800" dirty="0">
                <a:solidFill>
                  <a:srgbClr val="000000"/>
                </a:solidFill>
                <a:sym typeface="Symbol" pitchFamily="18" charset="2"/>
              </a:rPr>
              <a:t></a:t>
            </a:r>
            <a:r>
              <a:rPr lang="en-US" altLang="zh-CN" dirty="0"/>
              <a:t>1)</a:t>
            </a:r>
            <a:r>
              <a:rPr lang="zh-CN" altLang="en-US" dirty="0"/>
              <a:t>和</a:t>
            </a:r>
            <a:r>
              <a:rPr lang="en-US" altLang="zh-CN" dirty="0"/>
              <a:t>n</a:t>
            </a:r>
            <a:r>
              <a:rPr lang="zh-CN" altLang="en-US" dirty="0"/>
              <a:t>，</a:t>
            </a:r>
            <a:r>
              <a:rPr lang="en-US" altLang="zh-CN" dirty="0"/>
              <a:t>x</a:t>
            </a:r>
            <a:r>
              <a:rPr lang="en-US" altLang="zh-CN" baseline="30000" dirty="0"/>
              <a:t>n</a:t>
            </a:r>
            <a:r>
              <a:rPr lang="en-US" altLang="zh-CN" dirty="0"/>
              <a:t>-1</a:t>
            </a:r>
            <a:r>
              <a:rPr lang="zh-CN" altLang="en-US" dirty="0"/>
              <a:t>能被</a:t>
            </a:r>
            <a:r>
              <a:rPr lang="en-US" altLang="zh-CN" dirty="0"/>
              <a:t>x-1</a:t>
            </a:r>
            <a:r>
              <a:rPr lang="zh-CN" altLang="en-US" dirty="0"/>
              <a:t>除尽。</a:t>
            </a:r>
          </a:p>
          <a:p>
            <a:endParaRPr lang="zh-CN" altLang="en-US" dirty="0"/>
          </a:p>
        </p:txBody>
      </p:sp>
    </p:spTree>
    <p:extLst>
      <p:ext uri="{BB962C8B-B14F-4D97-AF65-F5344CB8AC3E}">
        <p14:creationId xmlns:p14="http://schemas.microsoft.com/office/powerpoint/2010/main" val="3285125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5ABFF5-3227-46D5-83A1-E67EDD527AB1}"/>
              </a:ext>
            </a:extLst>
          </p:cNvPr>
          <p:cNvSpPr>
            <a:spLocks noGrp="1"/>
          </p:cNvSpPr>
          <p:nvPr>
            <p:ph type="title"/>
          </p:nvPr>
        </p:nvSpPr>
        <p:spPr/>
        <p:txBody>
          <a:bodyPr/>
          <a:lstStyle/>
          <a:p>
            <a:r>
              <a:rPr lang="zh-CN" altLang="en-US" dirty="0"/>
              <a:t>数学归纳法的一种简单变形</a:t>
            </a:r>
            <a:r>
              <a:rPr lang="en-US" altLang="zh-CN" dirty="0"/>
              <a:t>(1)</a:t>
            </a:r>
            <a:endParaRPr lang="zh-CN" altLang="en-US" dirty="0"/>
          </a:p>
        </p:txBody>
      </p:sp>
      <p:sp>
        <p:nvSpPr>
          <p:cNvPr id="3" name="内容占位符 2">
            <a:extLst>
              <a:ext uri="{FF2B5EF4-FFF2-40B4-BE49-F238E27FC236}">
                <a16:creationId xmlns:a16="http://schemas.microsoft.com/office/drawing/2014/main" id="{0E4410AB-9688-4BA7-8E36-BB2870EE8E3F}"/>
              </a:ext>
            </a:extLst>
          </p:cNvPr>
          <p:cNvSpPr>
            <a:spLocks noGrp="1"/>
          </p:cNvSpPr>
          <p:nvPr>
            <p:ph idx="1"/>
          </p:nvPr>
        </p:nvSpPr>
        <p:spPr/>
        <p:txBody>
          <a:bodyPr/>
          <a:lstStyle/>
          <a:p>
            <a:r>
              <a:rPr lang="zh-CN" altLang="en-US" dirty="0"/>
              <a:t>强归纳法：</a:t>
            </a:r>
          </a:p>
          <a:p>
            <a:pPr marL="457200" lvl="1" indent="0">
              <a:buNone/>
            </a:pPr>
            <a:r>
              <a:rPr lang="en-US" altLang="zh-CN" dirty="0"/>
              <a:t>1</a:t>
            </a:r>
            <a:r>
              <a:rPr lang="zh-CN" altLang="en-US" dirty="0"/>
              <a:t>）如果对于带有参数</a:t>
            </a:r>
            <a:r>
              <a:rPr lang="en-US" altLang="zh-CN" dirty="0"/>
              <a:t>n</a:t>
            </a:r>
            <a:r>
              <a:rPr lang="zh-CN" altLang="en-US" dirty="0"/>
              <a:t>的命题</a:t>
            </a:r>
            <a:r>
              <a:rPr lang="en-US" altLang="zh-CN" dirty="0"/>
              <a:t>P</a:t>
            </a:r>
            <a:r>
              <a:rPr lang="zh-CN" altLang="en-US" dirty="0"/>
              <a:t>，当</a:t>
            </a:r>
            <a:r>
              <a:rPr lang="en-US" altLang="zh-CN" dirty="0"/>
              <a:t>n=1</a:t>
            </a:r>
            <a:r>
              <a:rPr lang="zh-CN" altLang="en-US" dirty="0"/>
              <a:t>时</a:t>
            </a:r>
            <a:r>
              <a:rPr lang="en-US" altLang="zh-CN" dirty="0"/>
              <a:t>P</a:t>
            </a:r>
            <a:r>
              <a:rPr lang="zh-CN" altLang="en-US" dirty="0"/>
              <a:t>成立</a:t>
            </a:r>
          </a:p>
          <a:p>
            <a:pPr marL="457200" lvl="1" indent="0">
              <a:buNone/>
            </a:pPr>
            <a:r>
              <a:rPr lang="en-US" altLang="zh-CN" dirty="0"/>
              <a:t>2</a:t>
            </a:r>
            <a:r>
              <a:rPr lang="zh-CN" altLang="en-US" dirty="0"/>
              <a:t>）对每一个</a:t>
            </a:r>
            <a:r>
              <a:rPr lang="en-US" altLang="zh-CN" dirty="0"/>
              <a:t>n</a:t>
            </a:r>
            <a:r>
              <a:rPr lang="zh-CN" altLang="en-US" dirty="0"/>
              <a:t>，</a:t>
            </a:r>
            <a:r>
              <a:rPr lang="en-US" altLang="zh-CN" dirty="0"/>
              <a:t>n&gt;1</a:t>
            </a:r>
            <a:r>
              <a:rPr lang="zh-CN" altLang="en-US" dirty="0"/>
              <a:t>，若对任意小于</a:t>
            </a:r>
            <a:r>
              <a:rPr lang="en-US" altLang="zh-CN" dirty="0"/>
              <a:t>n</a:t>
            </a:r>
            <a:r>
              <a:rPr lang="zh-CN" altLang="en-US" dirty="0"/>
              <a:t>的自然数</a:t>
            </a:r>
            <a:r>
              <a:rPr lang="en-US" altLang="zh-CN" dirty="0"/>
              <a:t>P</a:t>
            </a:r>
            <a:r>
              <a:rPr lang="zh-CN" altLang="en-US" dirty="0"/>
              <a:t>成立能推出对</a:t>
            </a:r>
            <a:r>
              <a:rPr lang="en-US" altLang="zh-CN" dirty="0"/>
              <a:t>n</a:t>
            </a:r>
            <a:r>
              <a:rPr lang="zh-CN" altLang="en-US" dirty="0"/>
              <a:t>命题</a:t>
            </a:r>
            <a:r>
              <a:rPr lang="en-US" altLang="zh-CN" dirty="0"/>
              <a:t>P</a:t>
            </a:r>
            <a:r>
              <a:rPr lang="zh-CN" altLang="en-US" dirty="0"/>
              <a:t>也成立</a:t>
            </a:r>
          </a:p>
          <a:p>
            <a:r>
              <a:rPr lang="zh-CN" altLang="en-US" dirty="0"/>
              <a:t>结论：对任意自然数，</a:t>
            </a:r>
            <a:r>
              <a:rPr lang="en-US" altLang="zh-CN" dirty="0"/>
              <a:t>P</a:t>
            </a:r>
            <a:r>
              <a:rPr lang="zh-CN" altLang="en-US" dirty="0"/>
              <a:t>都成立。</a:t>
            </a:r>
          </a:p>
          <a:p>
            <a:endParaRPr lang="zh-CN" altLang="en-US" dirty="0"/>
          </a:p>
        </p:txBody>
      </p:sp>
    </p:spTree>
    <p:extLst>
      <p:ext uri="{BB962C8B-B14F-4D97-AF65-F5344CB8AC3E}">
        <p14:creationId xmlns:p14="http://schemas.microsoft.com/office/powerpoint/2010/main" val="1941227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18AABB-E41B-46C1-B1A0-D4400DF1E932}"/>
              </a:ext>
            </a:extLst>
          </p:cNvPr>
          <p:cNvSpPr>
            <a:spLocks noGrp="1"/>
          </p:cNvSpPr>
          <p:nvPr>
            <p:ph type="title"/>
          </p:nvPr>
        </p:nvSpPr>
        <p:spPr/>
        <p:txBody>
          <a:bodyPr/>
          <a:lstStyle/>
          <a:p>
            <a:r>
              <a:rPr lang="zh-CN" altLang="en-US" dirty="0"/>
              <a:t>数学归纳法的一种简单变形</a:t>
            </a:r>
            <a:r>
              <a:rPr lang="en-US" altLang="zh-CN" dirty="0"/>
              <a:t>(2)</a:t>
            </a:r>
            <a:endParaRPr lang="zh-CN" altLang="en-US" dirty="0"/>
          </a:p>
        </p:txBody>
      </p:sp>
      <p:sp>
        <p:nvSpPr>
          <p:cNvPr id="3" name="内容占位符 2">
            <a:extLst>
              <a:ext uri="{FF2B5EF4-FFF2-40B4-BE49-F238E27FC236}">
                <a16:creationId xmlns:a16="http://schemas.microsoft.com/office/drawing/2014/main" id="{9B4102C8-58BC-4D47-A4D7-6EDB79F8B4F4}"/>
              </a:ext>
            </a:extLst>
          </p:cNvPr>
          <p:cNvSpPr>
            <a:spLocks noGrp="1"/>
          </p:cNvSpPr>
          <p:nvPr>
            <p:ph idx="1"/>
          </p:nvPr>
        </p:nvSpPr>
        <p:spPr/>
        <p:txBody>
          <a:bodyPr/>
          <a:lstStyle/>
          <a:p>
            <a:r>
              <a:rPr lang="zh-CN" altLang="en-US" dirty="0"/>
              <a:t>对于带有参数</a:t>
            </a:r>
            <a:r>
              <a:rPr lang="en-US" altLang="zh-CN" dirty="0"/>
              <a:t>n</a:t>
            </a:r>
            <a:r>
              <a:rPr lang="zh-CN" altLang="en-US" dirty="0"/>
              <a:t>的命题</a:t>
            </a:r>
            <a:r>
              <a:rPr lang="en-US" altLang="zh-CN" dirty="0"/>
              <a:t>P</a:t>
            </a:r>
            <a:r>
              <a:rPr lang="zh-CN" altLang="en-US" dirty="0"/>
              <a:t>：</a:t>
            </a:r>
            <a:endParaRPr lang="en-US" altLang="zh-CN" dirty="0"/>
          </a:p>
          <a:p>
            <a:pPr marL="457200" lvl="1" indent="0">
              <a:buNone/>
            </a:pPr>
            <a:r>
              <a:rPr lang="en-US" altLang="zh-CN" dirty="0"/>
              <a:t>1</a:t>
            </a:r>
            <a:r>
              <a:rPr lang="zh-CN" altLang="en-US" dirty="0"/>
              <a:t>）当</a:t>
            </a:r>
            <a:r>
              <a:rPr lang="en-US" altLang="zh-CN" dirty="0"/>
              <a:t>n=1</a:t>
            </a:r>
            <a:r>
              <a:rPr lang="zh-CN" altLang="en-US" dirty="0"/>
              <a:t>和</a:t>
            </a:r>
            <a:r>
              <a:rPr lang="en-US" altLang="zh-CN" dirty="0"/>
              <a:t>n=2</a:t>
            </a:r>
            <a:r>
              <a:rPr lang="zh-CN" altLang="en-US" dirty="0"/>
              <a:t>时</a:t>
            </a:r>
            <a:r>
              <a:rPr lang="en-US" altLang="zh-CN" dirty="0"/>
              <a:t>P</a:t>
            </a:r>
            <a:r>
              <a:rPr lang="zh-CN" altLang="en-US" dirty="0"/>
              <a:t>都成立</a:t>
            </a:r>
          </a:p>
          <a:p>
            <a:pPr marL="457200" lvl="1" indent="0">
              <a:buNone/>
            </a:pPr>
            <a:r>
              <a:rPr lang="en-US" altLang="zh-CN" dirty="0"/>
              <a:t>2</a:t>
            </a:r>
            <a:r>
              <a:rPr lang="zh-CN" altLang="en-US" dirty="0"/>
              <a:t>）对每一个</a:t>
            </a:r>
            <a:r>
              <a:rPr lang="en-US" altLang="zh-CN" dirty="0"/>
              <a:t>n</a:t>
            </a:r>
            <a:r>
              <a:rPr lang="zh-CN" altLang="en-US" dirty="0"/>
              <a:t>，</a:t>
            </a:r>
            <a:r>
              <a:rPr lang="en-US" altLang="zh-CN" dirty="0"/>
              <a:t>n&gt;2</a:t>
            </a:r>
            <a:r>
              <a:rPr lang="zh-CN" altLang="en-US" dirty="0"/>
              <a:t>，若</a:t>
            </a:r>
            <a:r>
              <a:rPr lang="en-US" altLang="zh-CN" dirty="0"/>
              <a:t>n-2</a:t>
            </a:r>
            <a:r>
              <a:rPr lang="zh-CN" altLang="en-US" dirty="0"/>
              <a:t>时</a:t>
            </a:r>
            <a:r>
              <a:rPr lang="en-US" altLang="zh-CN" dirty="0"/>
              <a:t>P</a:t>
            </a:r>
            <a:r>
              <a:rPr lang="zh-CN" altLang="en-US" dirty="0"/>
              <a:t>成立能推出</a:t>
            </a:r>
            <a:r>
              <a:rPr lang="en-US" altLang="zh-CN" dirty="0"/>
              <a:t>n</a:t>
            </a:r>
            <a:r>
              <a:rPr lang="zh-CN" altLang="en-US" dirty="0"/>
              <a:t>时</a:t>
            </a:r>
            <a:r>
              <a:rPr lang="en-US" altLang="zh-CN" dirty="0"/>
              <a:t>P</a:t>
            </a:r>
            <a:r>
              <a:rPr lang="zh-CN" altLang="en-US" dirty="0"/>
              <a:t>也成立</a:t>
            </a:r>
          </a:p>
          <a:p>
            <a:r>
              <a:rPr lang="zh-CN" altLang="en-US" dirty="0"/>
              <a:t>结论：对任意自然数，</a:t>
            </a:r>
            <a:r>
              <a:rPr lang="en-US" altLang="zh-CN" dirty="0"/>
              <a:t>P</a:t>
            </a:r>
            <a:r>
              <a:rPr lang="zh-CN" altLang="en-US" dirty="0"/>
              <a:t>都成立。</a:t>
            </a:r>
          </a:p>
          <a:p>
            <a:endParaRPr lang="zh-CN" altLang="en-US" dirty="0"/>
          </a:p>
        </p:txBody>
      </p:sp>
    </p:spTree>
    <p:extLst>
      <p:ext uri="{BB962C8B-B14F-4D97-AF65-F5344CB8AC3E}">
        <p14:creationId xmlns:p14="http://schemas.microsoft.com/office/powerpoint/2010/main" val="1769023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F946AC-F7EC-4FF0-8DAA-88319E72E1F7}"/>
              </a:ext>
            </a:extLst>
          </p:cNvPr>
          <p:cNvSpPr>
            <a:spLocks noGrp="1"/>
          </p:cNvSpPr>
          <p:nvPr>
            <p:ph type="title"/>
          </p:nvPr>
        </p:nvSpPr>
        <p:spPr/>
        <p:txBody>
          <a:bodyPr/>
          <a:lstStyle/>
          <a:p>
            <a:r>
              <a:rPr lang="zh-CN" altLang="en-US" dirty="0"/>
              <a:t>数学归纳法的一种简单变形</a:t>
            </a:r>
            <a:r>
              <a:rPr lang="en-US" altLang="zh-CN" dirty="0"/>
              <a:t>(3)</a:t>
            </a:r>
            <a:endParaRPr lang="zh-CN" altLang="en-US" dirty="0"/>
          </a:p>
        </p:txBody>
      </p:sp>
      <p:sp>
        <p:nvSpPr>
          <p:cNvPr id="3" name="内容占位符 2">
            <a:extLst>
              <a:ext uri="{FF2B5EF4-FFF2-40B4-BE49-F238E27FC236}">
                <a16:creationId xmlns:a16="http://schemas.microsoft.com/office/drawing/2014/main" id="{1A3F7FBD-3C84-4FE8-A6AE-ED492A35C83F}"/>
              </a:ext>
            </a:extLst>
          </p:cNvPr>
          <p:cNvSpPr>
            <a:spLocks noGrp="1"/>
          </p:cNvSpPr>
          <p:nvPr>
            <p:ph idx="1"/>
          </p:nvPr>
        </p:nvSpPr>
        <p:spPr/>
        <p:txBody>
          <a:bodyPr/>
          <a:lstStyle/>
          <a:p>
            <a:r>
              <a:rPr lang="zh-CN" altLang="en-US" dirty="0"/>
              <a:t>如果对于带有参数</a:t>
            </a:r>
            <a:r>
              <a:rPr lang="en-US" altLang="zh-CN" dirty="0"/>
              <a:t>n</a:t>
            </a:r>
            <a:r>
              <a:rPr lang="zh-CN" altLang="en-US" dirty="0"/>
              <a:t>的命题</a:t>
            </a:r>
            <a:r>
              <a:rPr lang="en-US" altLang="zh-CN" dirty="0"/>
              <a:t>P</a:t>
            </a:r>
          </a:p>
          <a:p>
            <a:pPr marL="457200" lvl="1" indent="0">
              <a:buNone/>
            </a:pPr>
            <a:r>
              <a:rPr lang="en-US" altLang="zh-CN" dirty="0"/>
              <a:t>1</a:t>
            </a:r>
            <a:r>
              <a:rPr lang="zh-CN" altLang="en-US" dirty="0"/>
              <a:t>）当</a:t>
            </a:r>
            <a:r>
              <a:rPr lang="en-US" altLang="zh-CN" dirty="0"/>
              <a:t>n=1</a:t>
            </a:r>
            <a:r>
              <a:rPr lang="zh-CN" altLang="en-US" dirty="0"/>
              <a:t>时</a:t>
            </a:r>
            <a:r>
              <a:rPr lang="en-US" altLang="zh-CN" dirty="0"/>
              <a:t>P</a:t>
            </a:r>
            <a:r>
              <a:rPr lang="zh-CN" altLang="en-US" dirty="0"/>
              <a:t>成立</a:t>
            </a:r>
          </a:p>
          <a:p>
            <a:pPr marL="457200" lvl="1" indent="0">
              <a:buNone/>
            </a:pPr>
            <a:r>
              <a:rPr lang="en-US" altLang="zh-CN" dirty="0"/>
              <a:t>2</a:t>
            </a:r>
            <a:r>
              <a:rPr lang="zh-CN" altLang="en-US" dirty="0"/>
              <a:t>）对每一个</a:t>
            </a:r>
            <a:r>
              <a:rPr lang="en-US" altLang="zh-CN" dirty="0"/>
              <a:t>n</a:t>
            </a:r>
            <a:r>
              <a:rPr lang="zh-CN" altLang="en-US" dirty="0"/>
              <a:t>（</a:t>
            </a:r>
            <a:r>
              <a:rPr lang="en-US" altLang="zh-CN" dirty="0"/>
              <a:t>n</a:t>
            </a:r>
            <a:r>
              <a:rPr lang="zh-CN" altLang="en-US" dirty="0"/>
              <a:t>大于</a:t>
            </a:r>
            <a:r>
              <a:rPr lang="en-US" altLang="zh-CN" dirty="0"/>
              <a:t>1</a:t>
            </a:r>
            <a:r>
              <a:rPr lang="zh-CN" altLang="en-US" dirty="0"/>
              <a:t>且是</a:t>
            </a:r>
            <a:r>
              <a:rPr lang="en-US" altLang="zh-CN" dirty="0"/>
              <a:t>2</a:t>
            </a:r>
            <a:r>
              <a:rPr lang="zh-CN" altLang="en-US" dirty="0"/>
              <a:t>的整数幂），若</a:t>
            </a:r>
            <a:r>
              <a:rPr lang="en-US" altLang="zh-CN" dirty="0"/>
              <a:t>n/2</a:t>
            </a:r>
            <a:r>
              <a:rPr lang="zh-CN" altLang="en-US" dirty="0"/>
              <a:t>时命题</a:t>
            </a:r>
            <a:r>
              <a:rPr lang="en-US" altLang="zh-CN" dirty="0"/>
              <a:t>P</a:t>
            </a:r>
            <a:r>
              <a:rPr lang="zh-CN" altLang="en-US" dirty="0"/>
              <a:t>成立能推出对</a:t>
            </a:r>
            <a:r>
              <a:rPr lang="en-US" altLang="zh-CN" dirty="0"/>
              <a:t>n</a:t>
            </a:r>
            <a:r>
              <a:rPr lang="zh-CN" altLang="en-US" dirty="0"/>
              <a:t>命题</a:t>
            </a:r>
            <a:r>
              <a:rPr lang="en-US" altLang="zh-CN" dirty="0"/>
              <a:t>P</a:t>
            </a:r>
            <a:r>
              <a:rPr lang="zh-CN" altLang="en-US" dirty="0"/>
              <a:t>也成立</a:t>
            </a:r>
          </a:p>
          <a:p>
            <a:r>
              <a:rPr lang="zh-CN" altLang="en-US" dirty="0"/>
              <a:t>结论：对任意一个</a:t>
            </a:r>
            <a:r>
              <a:rPr lang="en-US" altLang="zh-CN" dirty="0"/>
              <a:t>2</a:t>
            </a:r>
            <a:r>
              <a:rPr lang="zh-CN" altLang="en-US" dirty="0"/>
              <a:t>的整数幂的自然数，</a:t>
            </a:r>
            <a:r>
              <a:rPr lang="en-US" altLang="zh-CN" dirty="0"/>
              <a:t>P</a:t>
            </a:r>
            <a:r>
              <a:rPr lang="zh-CN" altLang="en-US" dirty="0"/>
              <a:t>都成立。</a:t>
            </a:r>
          </a:p>
          <a:p>
            <a:endParaRPr lang="zh-CN" altLang="en-US" dirty="0"/>
          </a:p>
        </p:txBody>
      </p:sp>
    </p:spTree>
    <p:extLst>
      <p:ext uri="{BB962C8B-B14F-4D97-AF65-F5344CB8AC3E}">
        <p14:creationId xmlns:p14="http://schemas.microsoft.com/office/powerpoint/2010/main" val="2263298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E49304-4770-4AB4-825F-4A5E1C063528}"/>
              </a:ext>
            </a:extLst>
          </p:cNvPr>
          <p:cNvSpPr>
            <a:spLocks noGrp="1"/>
          </p:cNvSpPr>
          <p:nvPr>
            <p:ph type="title"/>
          </p:nvPr>
        </p:nvSpPr>
        <p:spPr/>
        <p:txBody>
          <a:bodyPr/>
          <a:lstStyle/>
          <a:p>
            <a:r>
              <a:rPr lang="zh-CN" altLang="en-US" dirty="0"/>
              <a:t>对什么进行归纳</a:t>
            </a:r>
          </a:p>
        </p:txBody>
      </p:sp>
      <p:sp>
        <p:nvSpPr>
          <p:cNvPr id="3" name="内容占位符 2">
            <a:extLst>
              <a:ext uri="{FF2B5EF4-FFF2-40B4-BE49-F238E27FC236}">
                <a16:creationId xmlns:a16="http://schemas.microsoft.com/office/drawing/2014/main" id="{BBC3400C-EB62-4738-9B3B-FCA43E36C1CD}"/>
              </a:ext>
            </a:extLst>
          </p:cNvPr>
          <p:cNvSpPr>
            <a:spLocks noGrp="1"/>
          </p:cNvSpPr>
          <p:nvPr>
            <p:ph idx="1"/>
          </p:nvPr>
        </p:nvSpPr>
        <p:spPr/>
        <p:txBody>
          <a:bodyPr/>
          <a:lstStyle/>
          <a:p>
            <a:r>
              <a:rPr lang="zh-CN" altLang="en-US" dirty="0"/>
              <a:t>在大多数情况下，可对衡量问题规模的</a:t>
            </a:r>
            <a:r>
              <a:rPr lang="en-US" altLang="zh-CN" dirty="0"/>
              <a:t>n</a:t>
            </a:r>
            <a:r>
              <a:rPr lang="zh-CN" altLang="en-US" dirty="0"/>
              <a:t>进行归纳，但有时归纳的量度并不是显而易见的。</a:t>
            </a:r>
          </a:p>
          <a:p>
            <a:endParaRPr lang="zh-CN" altLang="en-US" dirty="0"/>
          </a:p>
          <a:p>
            <a:r>
              <a:rPr lang="zh-CN" altLang="en-US" dirty="0"/>
              <a:t>例：对任意的自然数</a:t>
            </a:r>
            <a:r>
              <a:rPr lang="en-US" altLang="zh-CN" dirty="0"/>
              <a:t>x(x</a:t>
            </a:r>
            <a:r>
              <a:rPr lang="en-US" altLang="zh-CN" sz="2800" dirty="0">
                <a:solidFill>
                  <a:srgbClr val="000000"/>
                </a:solidFill>
                <a:sym typeface="Symbol" pitchFamily="18" charset="2"/>
              </a:rPr>
              <a:t></a:t>
            </a:r>
            <a:r>
              <a:rPr lang="en-US" altLang="zh-CN" dirty="0"/>
              <a:t>1)</a:t>
            </a:r>
            <a:r>
              <a:rPr lang="zh-CN" altLang="en-US" dirty="0"/>
              <a:t>和</a:t>
            </a:r>
            <a:r>
              <a:rPr lang="en-US" altLang="zh-CN" dirty="0"/>
              <a:t>n</a:t>
            </a:r>
            <a:r>
              <a:rPr lang="zh-CN" altLang="en-US" dirty="0"/>
              <a:t>，</a:t>
            </a:r>
            <a:r>
              <a:rPr lang="en-US" altLang="zh-CN" dirty="0"/>
              <a:t>x</a:t>
            </a:r>
            <a:r>
              <a:rPr lang="en-US" altLang="zh-CN" baseline="30000" dirty="0"/>
              <a:t>n</a:t>
            </a:r>
            <a:r>
              <a:rPr lang="en-US" altLang="zh-CN" dirty="0"/>
              <a:t>-1</a:t>
            </a:r>
            <a:r>
              <a:rPr lang="zh-CN" altLang="en-US" dirty="0"/>
              <a:t>能被</a:t>
            </a:r>
            <a:r>
              <a:rPr lang="en-US" altLang="zh-CN" dirty="0"/>
              <a:t>x-1</a:t>
            </a:r>
            <a:r>
              <a:rPr lang="zh-CN" altLang="en-US" dirty="0"/>
              <a:t>除尽。</a:t>
            </a:r>
          </a:p>
          <a:p>
            <a:r>
              <a:rPr lang="zh-CN" altLang="en-US" dirty="0"/>
              <a:t>如果对</a:t>
            </a:r>
            <a:r>
              <a:rPr lang="en-US" altLang="zh-CN" dirty="0"/>
              <a:t>x</a:t>
            </a:r>
            <a:r>
              <a:rPr lang="zh-CN" altLang="en-US" dirty="0"/>
              <a:t>而不是对</a:t>
            </a:r>
            <a:r>
              <a:rPr lang="en-US" altLang="zh-CN" dirty="0"/>
              <a:t>n</a:t>
            </a:r>
            <a:r>
              <a:rPr lang="zh-CN" altLang="en-US" dirty="0"/>
              <a:t>进行归纳，那么证明就会复杂得多。</a:t>
            </a:r>
          </a:p>
          <a:p>
            <a:endParaRPr lang="zh-CN" altLang="en-US" dirty="0"/>
          </a:p>
          <a:p>
            <a:r>
              <a:rPr lang="zh-CN" altLang="en-US" dirty="0"/>
              <a:t>在没有现成的可以用来衡量问题规模的参数时，为了使用归纳法，必须构造出一个，而常用的思路就是考虑如何把命题从小的结构拓展到大的结构。</a:t>
            </a:r>
          </a:p>
          <a:p>
            <a:endParaRPr lang="zh-CN" altLang="en-US" dirty="0"/>
          </a:p>
        </p:txBody>
      </p:sp>
    </p:spTree>
    <p:extLst>
      <p:ext uri="{BB962C8B-B14F-4D97-AF65-F5344CB8AC3E}">
        <p14:creationId xmlns:p14="http://schemas.microsoft.com/office/powerpoint/2010/main" val="86401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520BB1-B7CD-4343-B34C-05843F0103AF}"/>
              </a:ext>
            </a:extLst>
          </p:cNvPr>
          <p:cNvSpPr>
            <a:spLocks noGrp="1"/>
          </p:cNvSpPr>
          <p:nvPr>
            <p:ph type="title"/>
          </p:nvPr>
        </p:nvSpPr>
        <p:spPr/>
        <p:txBody>
          <a:bodyPr/>
          <a:lstStyle/>
          <a:p>
            <a:r>
              <a:rPr lang="zh-CN" altLang="en-US" dirty="0"/>
              <a:t>三个简单的例子</a:t>
            </a:r>
          </a:p>
        </p:txBody>
      </p:sp>
      <p:sp>
        <p:nvSpPr>
          <p:cNvPr id="3" name="内容占位符 2">
            <a:extLst>
              <a:ext uri="{FF2B5EF4-FFF2-40B4-BE49-F238E27FC236}">
                <a16:creationId xmlns:a16="http://schemas.microsoft.com/office/drawing/2014/main" id="{5C97E02E-5488-4032-B20B-219EBC314E9B}"/>
              </a:ext>
            </a:extLst>
          </p:cNvPr>
          <p:cNvSpPr>
            <a:spLocks noGrp="1"/>
          </p:cNvSpPr>
          <p:nvPr>
            <p:ph idx="1"/>
          </p:nvPr>
        </p:nvSpPr>
        <p:spPr/>
        <p:txBody>
          <a:bodyPr/>
          <a:lstStyle/>
          <a:p>
            <a:r>
              <a:rPr lang="zh-CN" altLang="en-US" dirty="0"/>
              <a:t>例</a:t>
            </a:r>
            <a:r>
              <a:rPr lang="en-US" altLang="zh-CN" dirty="0"/>
              <a:t>1</a:t>
            </a:r>
            <a:r>
              <a:rPr lang="zh-CN" altLang="en-US" dirty="0"/>
              <a:t>：前</a:t>
            </a:r>
            <a:r>
              <a:rPr lang="en-US" altLang="zh-CN" dirty="0"/>
              <a:t>n</a:t>
            </a:r>
            <a:r>
              <a:rPr lang="zh-CN" altLang="en-US" dirty="0"/>
              <a:t>个自然数之和为</a:t>
            </a:r>
            <a:r>
              <a:rPr lang="en-US" altLang="zh-CN" dirty="0"/>
              <a:t>n(n+1)/2</a:t>
            </a:r>
            <a:r>
              <a:rPr lang="zh-CN" altLang="en-US" dirty="0"/>
              <a:t>。</a:t>
            </a:r>
          </a:p>
          <a:p>
            <a:r>
              <a:rPr lang="zh-CN" altLang="en-US" dirty="0"/>
              <a:t>例</a:t>
            </a:r>
            <a:r>
              <a:rPr lang="en-US" altLang="zh-CN" dirty="0"/>
              <a:t>2</a:t>
            </a:r>
            <a:r>
              <a:rPr lang="zh-CN" altLang="en-US" dirty="0"/>
              <a:t>：级数</a:t>
            </a:r>
            <a:r>
              <a:rPr lang="en-US" altLang="zh-CN" dirty="0"/>
              <a:t>8+13+18+23+…+(3+5n)</a:t>
            </a:r>
            <a:r>
              <a:rPr lang="zh-CN" altLang="en-US" dirty="0"/>
              <a:t>之和是</a:t>
            </a:r>
            <a:r>
              <a:rPr lang="en-US" altLang="zh-CN" dirty="0"/>
              <a:t>2.5n</a:t>
            </a:r>
            <a:r>
              <a:rPr lang="en-US" altLang="zh-CN" baseline="30000" dirty="0"/>
              <a:t>2</a:t>
            </a:r>
            <a:r>
              <a:rPr lang="en-US" altLang="zh-CN" dirty="0"/>
              <a:t>+5.5n</a:t>
            </a:r>
          </a:p>
          <a:p>
            <a:r>
              <a:rPr lang="zh-CN" altLang="en-US" dirty="0"/>
              <a:t>例</a:t>
            </a:r>
            <a:r>
              <a:rPr lang="en-US" altLang="zh-CN" dirty="0"/>
              <a:t>3</a:t>
            </a:r>
            <a:r>
              <a:rPr lang="zh-CN" altLang="en-US" dirty="0"/>
              <a:t>：若</a:t>
            </a:r>
            <a:r>
              <a:rPr lang="en-US" altLang="zh-CN" dirty="0"/>
              <a:t>n</a:t>
            </a:r>
            <a:r>
              <a:rPr lang="zh-CN" altLang="en-US" dirty="0"/>
              <a:t>是自然数，且</a:t>
            </a:r>
            <a:r>
              <a:rPr lang="en-US" altLang="zh-CN" dirty="0"/>
              <a:t>1+x&gt;0</a:t>
            </a:r>
            <a:r>
              <a:rPr lang="zh-CN" altLang="en-US" dirty="0"/>
              <a:t>，则</a:t>
            </a:r>
            <a:r>
              <a:rPr lang="en-US" altLang="zh-CN" dirty="0"/>
              <a:t>(1+x)</a:t>
            </a:r>
            <a:r>
              <a:rPr lang="en-US" altLang="zh-CN" baseline="30000" dirty="0"/>
              <a:t>n</a:t>
            </a:r>
            <a:r>
              <a:rPr lang="en-US" altLang="zh-CN" dirty="0"/>
              <a:t>≥1+nx</a:t>
            </a:r>
            <a:r>
              <a:rPr lang="zh-CN" altLang="en-US" dirty="0"/>
              <a:t>。</a:t>
            </a:r>
          </a:p>
          <a:p>
            <a:endParaRPr lang="zh-CN" altLang="en-US" dirty="0"/>
          </a:p>
        </p:txBody>
      </p:sp>
    </p:spTree>
    <p:extLst>
      <p:ext uri="{BB962C8B-B14F-4D97-AF65-F5344CB8AC3E}">
        <p14:creationId xmlns:p14="http://schemas.microsoft.com/office/powerpoint/2010/main" val="3554651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CC47F6-0026-442E-9B5E-F816DEFC72D4}"/>
              </a:ext>
            </a:extLst>
          </p:cNvPr>
          <p:cNvSpPr>
            <a:spLocks noGrp="1"/>
          </p:cNvSpPr>
          <p:nvPr>
            <p:ph type="title"/>
          </p:nvPr>
        </p:nvSpPr>
        <p:spPr/>
        <p:txBody>
          <a:bodyPr/>
          <a:lstStyle/>
          <a:p>
            <a:r>
              <a:rPr lang="zh-CN" altLang="en-US" dirty="0"/>
              <a:t>平面内区域的计数</a:t>
            </a:r>
          </a:p>
        </p:txBody>
      </p:sp>
      <p:sp>
        <p:nvSpPr>
          <p:cNvPr id="3" name="内容占位符 2">
            <a:extLst>
              <a:ext uri="{FF2B5EF4-FFF2-40B4-BE49-F238E27FC236}">
                <a16:creationId xmlns:a16="http://schemas.microsoft.com/office/drawing/2014/main" id="{B57E0447-1DEB-485E-BD67-0343120C9771}"/>
              </a:ext>
            </a:extLst>
          </p:cNvPr>
          <p:cNvSpPr>
            <a:spLocks noGrp="1"/>
          </p:cNvSpPr>
          <p:nvPr>
            <p:ph idx="1"/>
          </p:nvPr>
        </p:nvSpPr>
        <p:spPr/>
        <p:txBody>
          <a:bodyPr/>
          <a:lstStyle/>
          <a:p>
            <a:r>
              <a:rPr lang="zh-CN" altLang="en-US" dirty="0"/>
              <a:t>平面上</a:t>
            </a:r>
            <a:r>
              <a:rPr lang="en-US" altLang="zh-CN" dirty="0"/>
              <a:t>n</a:t>
            </a:r>
            <a:r>
              <a:rPr lang="zh-CN" altLang="en-US" dirty="0"/>
              <a:t>条居</a:t>
            </a:r>
            <a:r>
              <a:rPr lang="zh-CN" altLang="en-US" dirty="0">
                <a:solidFill>
                  <a:srgbClr val="FF0000"/>
                </a:solidFill>
              </a:rPr>
              <a:t>一般位置</a:t>
            </a:r>
            <a:r>
              <a:rPr lang="zh-CN" altLang="en-US" dirty="0"/>
              <a:t>的直线能把平面分割成多少块区域？</a:t>
            </a:r>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p:txBody>
      </p:sp>
      <p:pic>
        <p:nvPicPr>
          <p:cNvPr id="5" name="图片 4">
            <a:extLst>
              <a:ext uri="{FF2B5EF4-FFF2-40B4-BE49-F238E27FC236}">
                <a16:creationId xmlns:a16="http://schemas.microsoft.com/office/drawing/2014/main" id="{5FFD6F97-4BAC-436E-874C-1FC55BC1AEB4}"/>
              </a:ext>
            </a:extLst>
          </p:cNvPr>
          <p:cNvPicPr>
            <a:picLocks noChangeAspect="1"/>
          </p:cNvPicPr>
          <p:nvPr/>
        </p:nvPicPr>
        <p:blipFill>
          <a:blip r:embed="rId2"/>
          <a:stretch>
            <a:fillRect/>
          </a:stretch>
        </p:blipFill>
        <p:spPr>
          <a:xfrm>
            <a:off x="4522225" y="2479831"/>
            <a:ext cx="3147550" cy="1898337"/>
          </a:xfrm>
          <a:prstGeom prst="rect">
            <a:avLst/>
          </a:prstGeom>
        </p:spPr>
      </p:pic>
    </p:spTree>
    <p:extLst>
      <p:ext uri="{BB962C8B-B14F-4D97-AF65-F5344CB8AC3E}">
        <p14:creationId xmlns:p14="http://schemas.microsoft.com/office/powerpoint/2010/main" val="2754798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CC47F6-0026-442E-9B5E-F816DEFC72D4}"/>
              </a:ext>
            </a:extLst>
          </p:cNvPr>
          <p:cNvSpPr>
            <a:spLocks noGrp="1"/>
          </p:cNvSpPr>
          <p:nvPr>
            <p:ph type="title"/>
          </p:nvPr>
        </p:nvSpPr>
        <p:spPr/>
        <p:txBody>
          <a:bodyPr/>
          <a:lstStyle/>
          <a:p>
            <a:r>
              <a:rPr lang="zh-CN" altLang="en-US" dirty="0"/>
              <a:t>平面内区域的计数</a:t>
            </a:r>
          </a:p>
        </p:txBody>
      </p:sp>
      <p:sp>
        <p:nvSpPr>
          <p:cNvPr id="3" name="内容占位符 2">
            <a:extLst>
              <a:ext uri="{FF2B5EF4-FFF2-40B4-BE49-F238E27FC236}">
                <a16:creationId xmlns:a16="http://schemas.microsoft.com/office/drawing/2014/main" id="{B57E0447-1DEB-485E-BD67-0343120C9771}"/>
              </a:ext>
            </a:extLst>
          </p:cNvPr>
          <p:cNvSpPr>
            <a:spLocks noGrp="1"/>
          </p:cNvSpPr>
          <p:nvPr>
            <p:ph idx="1"/>
          </p:nvPr>
        </p:nvSpPr>
        <p:spPr/>
        <p:txBody>
          <a:bodyPr/>
          <a:lstStyle/>
          <a:p>
            <a:r>
              <a:rPr lang="zh-CN" altLang="en-US" dirty="0"/>
              <a:t>平面上</a:t>
            </a:r>
            <a:r>
              <a:rPr lang="en-US" altLang="zh-CN" dirty="0"/>
              <a:t>n</a:t>
            </a:r>
            <a:r>
              <a:rPr lang="zh-CN" altLang="en-US" dirty="0"/>
              <a:t>条居</a:t>
            </a:r>
            <a:r>
              <a:rPr lang="zh-CN" altLang="en-US" dirty="0">
                <a:solidFill>
                  <a:srgbClr val="FF0000"/>
                </a:solidFill>
              </a:rPr>
              <a:t>一般位置</a:t>
            </a:r>
            <a:r>
              <a:rPr lang="zh-CN" altLang="en-US" dirty="0"/>
              <a:t>的直线能把平面分割成多少块区域？</a:t>
            </a:r>
          </a:p>
          <a:p>
            <a:endParaRPr lang="zh-CN" altLang="en-US" dirty="0"/>
          </a:p>
          <a:p>
            <a:endParaRPr lang="zh-CN" altLang="en-US" dirty="0"/>
          </a:p>
          <a:p>
            <a:endParaRPr lang="zh-CN" altLang="en-US" dirty="0"/>
          </a:p>
          <a:p>
            <a:endParaRPr lang="zh-CN" altLang="en-US" dirty="0"/>
          </a:p>
          <a:p>
            <a:endParaRPr lang="zh-CN" altLang="en-US" dirty="0"/>
          </a:p>
          <a:p>
            <a:r>
              <a:rPr lang="zh-CN" altLang="en-US" sz="2800" dirty="0">
                <a:solidFill>
                  <a:srgbClr val="000000"/>
                </a:solidFill>
              </a:rPr>
              <a:t>评述：</a:t>
            </a:r>
            <a:r>
              <a:rPr lang="en-US" altLang="zh-CN" sz="2800" dirty="0">
                <a:solidFill>
                  <a:srgbClr val="000000"/>
                </a:solidFill>
              </a:rPr>
              <a:t>1</a:t>
            </a:r>
            <a:r>
              <a:rPr lang="zh-CN" altLang="en-US" sz="2800" dirty="0">
                <a:solidFill>
                  <a:srgbClr val="000000"/>
                </a:solidFill>
              </a:rPr>
              <a:t>）归纳假设处理的是所求函数的增长率，而不是直接对函数本身进行处理；</a:t>
            </a:r>
            <a:r>
              <a:rPr lang="en-US" altLang="zh-CN" sz="2800" dirty="0">
                <a:solidFill>
                  <a:srgbClr val="000000"/>
                </a:solidFill>
              </a:rPr>
              <a:t>2</a:t>
            </a:r>
            <a:r>
              <a:rPr lang="zh-CN" altLang="en-US" sz="2800" dirty="0">
                <a:solidFill>
                  <a:srgbClr val="000000"/>
                </a:solidFill>
              </a:rPr>
              <a:t>）同样的归纳假设用在两个不同的情况下；</a:t>
            </a:r>
            <a:r>
              <a:rPr lang="en-US" altLang="zh-CN" sz="2800" dirty="0">
                <a:solidFill>
                  <a:srgbClr val="000000"/>
                </a:solidFill>
              </a:rPr>
              <a:t>3</a:t>
            </a:r>
            <a:r>
              <a:rPr lang="zh-CN" altLang="en-US" sz="2800" dirty="0">
                <a:solidFill>
                  <a:srgbClr val="000000"/>
                </a:solidFill>
              </a:rPr>
              <a:t>）先猜测再证明</a:t>
            </a:r>
          </a:p>
          <a:p>
            <a:endParaRPr lang="zh-CN" altLang="en-US" dirty="0"/>
          </a:p>
        </p:txBody>
      </p:sp>
      <p:pic>
        <p:nvPicPr>
          <p:cNvPr id="5" name="图片 4">
            <a:extLst>
              <a:ext uri="{FF2B5EF4-FFF2-40B4-BE49-F238E27FC236}">
                <a16:creationId xmlns:a16="http://schemas.microsoft.com/office/drawing/2014/main" id="{5FFD6F97-4BAC-436E-874C-1FC55BC1AEB4}"/>
              </a:ext>
            </a:extLst>
          </p:cNvPr>
          <p:cNvPicPr>
            <a:picLocks noChangeAspect="1"/>
          </p:cNvPicPr>
          <p:nvPr/>
        </p:nvPicPr>
        <p:blipFill>
          <a:blip r:embed="rId2"/>
          <a:stretch>
            <a:fillRect/>
          </a:stretch>
        </p:blipFill>
        <p:spPr>
          <a:xfrm>
            <a:off x="4522225" y="2479831"/>
            <a:ext cx="3147550" cy="1898337"/>
          </a:xfrm>
          <a:prstGeom prst="rect">
            <a:avLst/>
          </a:prstGeom>
        </p:spPr>
      </p:pic>
    </p:spTree>
    <p:extLst>
      <p:ext uri="{BB962C8B-B14F-4D97-AF65-F5344CB8AC3E}">
        <p14:creationId xmlns:p14="http://schemas.microsoft.com/office/powerpoint/2010/main" val="3985871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C69948-CF87-4DBF-A925-CF38189E2E0E}"/>
              </a:ext>
            </a:extLst>
          </p:cNvPr>
          <p:cNvSpPr>
            <a:spLocks noGrp="1"/>
          </p:cNvSpPr>
          <p:nvPr>
            <p:ph type="title"/>
          </p:nvPr>
        </p:nvSpPr>
        <p:spPr/>
        <p:txBody>
          <a:bodyPr/>
          <a:lstStyle/>
          <a:p>
            <a:r>
              <a:rPr lang="zh-CN" altLang="en-US" dirty="0"/>
              <a:t>简单的着色问题</a:t>
            </a:r>
          </a:p>
        </p:txBody>
      </p:sp>
      <p:sp>
        <p:nvSpPr>
          <p:cNvPr id="3" name="内容占位符 2">
            <a:extLst>
              <a:ext uri="{FF2B5EF4-FFF2-40B4-BE49-F238E27FC236}">
                <a16:creationId xmlns:a16="http://schemas.microsoft.com/office/drawing/2014/main" id="{6DF59DE6-728E-40F2-9441-25B3700798F1}"/>
              </a:ext>
            </a:extLst>
          </p:cNvPr>
          <p:cNvSpPr>
            <a:spLocks noGrp="1"/>
          </p:cNvSpPr>
          <p:nvPr>
            <p:ph idx="1"/>
          </p:nvPr>
        </p:nvSpPr>
        <p:spPr/>
        <p:txBody>
          <a:bodyPr/>
          <a:lstStyle/>
          <a:p>
            <a:r>
              <a:rPr lang="zh-CN" altLang="en-US" dirty="0"/>
              <a:t>证明平面上任意条直线构成的区域可以仅使用两种颜色有效着色，使得相邻的两个区域不同色。</a:t>
            </a:r>
          </a:p>
          <a:p>
            <a:endParaRPr lang="zh-CN" altLang="en-US" dirty="0"/>
          </a:p>
        </p:txBody>
      </p:sp>
    </p:spTree>
    <p:extLst>
      <p:ext uri="{BB962C8B-B14F-4D97-AF65-F5344CB8AC3E}">
        <p14:creationId xmlns:p14="http://schemas.microsoft.com/office/powerpoint/2010/main" val="2434657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C69948-CF87-4DBF-A925-CF38189E2E0E}"/>
              </a:ext>
            </a:extLst>
          </p:cNvPr>
          <p:cNvSpPr>
            <a:spLocks noGrp="1"/>
          </p:cNvSpPr>
          <p:nvPr>
            <p:ph type="title"/>
          </p:nvPr>
        </p:nvSpPr>
        <p:spPr/>
        <p:txBody>
          <a:bodyPr/>
          <a:lstStyle/>
          <a:p>
            <a:r>
              <a:rPr lang="zh-CN" altLang="en-US" dirty="0"/>
              <a:t>简单的着色问题</a:t>
            </a:r>
          </a:p>
        </p:txBody>
      </p:sp>
      <p:sp>
        <p:nvSpPr>
          <p:cNvPr id="3" name="内容占位符 2">
            <a:extLst>
              <a:ext uri="{FF2B5EF4-FFF2-40B4-BE49-F238E27FC236}">
                <a16:creationId xmlns:a16="http://schemas.microsoft.com/office/drawing/2014/main" id="{6DF59DE6-728E-40F2-9441-25B3700798F1}"/>
              </a:ext>
            </a:extLst>
          </p:cNvPr>
          <p:cNvSpPr>
            <a:spLocks noGrp="1"/>
          </p:cNvSpPr>
          <p:nvPr>
            <p:ph idx="1"/>
          </p:nvPr>
        </p:nvSpPr>
        <p:spPr/>
        <p:txBody>
          <a:bodyPr/>
          <a:lstStyle/>
          <a:p>
            <a:r>
              <a:rPr lang="zh-CN" altLang="en-US" dirty="0"/>
              <a:t>证明平面上任意条直线构成的区域可以仅使用两种颜色有效着色，使得相邻的两个区域不同色。</a:t>
            </a:r>
          </a:p>
          <a:p>
            <a:r>
              <a:rPr lang="zh-CN" altLang="en-US" dirty="0"/>
              <a:t>评述：关键是如何寻求灵活性，即更大的自由度。解题的思想就是要尽可能地拓展并充分利用归纳假设。对这道题而言，关键的想法就是已知有效着色的前提下，反转所有区域的颜色得到的仍是有效着色，从而解决添加直线后产生新的区域的着色问题的。</a:t>
            </a:r>
          </a:p>
          <a:p>
            <a:r>
              <a:rPr lang="zh-CN" altLang="en-US" dirty="0"/>
              <a:t>算法设计与正确性证明</a:t>
            </a:r>
          </a:p>
          <a:p>
            <a:endParaRPr lang="zh-CN" altLang="en-US" dirty="0"/>
          </a:p>
        </p:txBody>
      </p:sp>
    </p:spTree>
    <p:extLst>
      <p:ext uri="{BB962C8B-B14F-4D97-AF65-F5344CB8AC3E}">
        <p14:creationId xmlns:p14="http://schemas.microsoft.com/office/powerpoint/2010/main" val="1674188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157911-CB21-4FB6-AFF2-B10C2D1FFB37}"/>
              </a:ext>
            </a:extLst>
          </p:cNvPr>
          <p:cNvSpPr>
            <a:spLocks noGrp="1"/>
          </p:cNvSpPr>
          <p:nvPr>
            <p:ph type="title"/>
          </p:nvPr>
        </p:nvSpPr>
        <p:spPr/>
        <p:txBody>
          <a:bodyPr/>
          <a:lstStyle/>
          <a:p>
            <a:r>
              <a:rPr lang="zh-CN" altLang="en-US" dirty="0"/>
              <a:t>一道复杂一点的加法题</a:t>
            </a:r>
          </a:p>
        </p:txBody>
      </p:sp>
      <p:sp>
        <p:nvSpPr>
          <p:cNvPr id="3" name="内容占位符 2">
            <a:extLst>
              <a:ext uri="{FF2B5EF4-FFF2-40B4-BE49-F238E27FC236}">
                <a16:creationId xmlns:a16="http://schemas.microsoft.com/office/drawing/2014/main" id="{E1F01B52-55AF-4574-AD78-C2448C4F609A}"/>
              </a:ext>
            </a:extLst>
          </p:cNvPr>
          <p:cNvSpPr>
            <a:spLocks noGrp="1"/>
          </p:cNvSpPr>
          <p:nvPr>
            <p:ph idx="1"/>
          </p:nvPr>
        </p:nvSpPr>
        <p:spPr/>
        <p:txBody>
          <a:bodyPr/>
          <a:lstStyle/>
          <a:p>
            <a:r>
              <a:rPr lang="zh-CN" altLang="en-US" dirty="0"/>
              <a:t>考察下面的三角形。</a:t>
            </a:r>
          </a:p>
          <a:p>
            <a:pPr marL="0" indent="0">
              <a:buNone/>
            </a:pPr>
            <a:r>
              <a:rPr lang="zh-CN" altLang="en-US" dirty="0"/>
              <a:t>                    </a:t>
            </a:r>
            <a:r>
              <a:rPr lang="en-US" altLang="zh-CN" dirty="0"/>
              <a:t>1    </a:t>
            </a:r>
            <a:r>
              <a:rPr lang="zh-CN" altLang="en-US" dirty="0"/>
              <a:t>＝   </a:t>
            </a:r>
            <a:r>
              <a:rPr lang="en-US" altLang="zh-CN" dirty="0"/>
              <a:t>1</a:t>
            </a:r>
          </a:p>
          <a:p>
            <a:pPr marL="0" indent="0">
              <a:buNone/>
            </a:pPr>
            <a:r>
              <a:rPr lang="en-US" altLang="zh-CN" dirty="0"/>
              <a:t>                3 </a:t>
            </a:r>
            <a:r>
              <a:rPr lang="zh-CN" altLang="en-US" dirty="0"/>
              <a:t>＋ </a:t>
            </a:r>
            <a:r>
              <a:rPr lang="en-US" altLang="zh-CN" dirty="0"/>
              <a:t>5    </a:t>
            </a:r>
            <a:r>
              <a:rPr lang="zh-CN" altLang="en-US" dirty="0"/>
              <a:t>＝   </a:t>
            </a:r>
            <a:r>
              <a:rPr lang="en-US" altLang="zh-CN" dirty="0"/>
              <a:t>8</a:t>
            </a:r>
          </a:p>
          <a:p>
            <a:pPr marL="0" indent="0">
              <a:buNone/>
            </a:pPr>
            <a:r>
              <a:rPr lang="en-US" altLang="zh-CN" dirty="0"/>
              <a:t>             7</a:t>
            </a:r>
            <a:r>
              <a:rPr lang="zh-CN" altLang="en-US" dirty="0"/>
              <a:t>＋ </a:t>
            </a:r>
            <a:r>
              <a:rPr lang="en-US" altLang="zh-CN" dirty="0"/>
              <a:t>9 </a:t>
            </a:r>
            <a:r>
              <a:rPr lang="zh-CN" altLang="en-US" dirty="0"/>
              <a:t>＋</a:t>
            </a:r>
            <a:r>
              <a:rPr lang="en-US" altLang="zh-CN" dirty="0"/>
              <a:t>11  </a:t>
            </a:r>
            <a:r>
              <a:rPr lang="zh-CN" altLang="en-US" dirty="0"/>
              <a:t>＝   </a:t>
            </a:r>
            <a:r>
              <a:rPr lang="en-US" altLang="zh-CN" dirty="0"/>
              <a:t>27</a:t>
            </a:r>
          </a:p>
          <a:p>
            <a:pPr marL="0" indent="0">
              <a:buNone/>
            </a:pPr>
            <a:r>
              <a:rPr lang="en-US" altLang="zh-CN" dirty="0"/>
              <a:t>       13</a:t>
            </a:r>
            <a:r>
              <a:rPr lang="zh-CN" altLang="en-US" dirty="0"/>
              <a:t>＋</a:t>
            </a:r>
            <a:r>
              <a:rPr lang="en-US" altLang="zh-CN" dirty="0"/>
              <a:t>15</a:t>
            </a:r>
            <a:r>
              <a:rPr lang="zh-CN" altLang="en-US" dirty="0"/>
              <a:t>＋</a:t>
            </a:r>
            <a:r>
              <a:rPr lang="en-US" altLang="zh-CN" dirty="0"/>
              <a:t>17</a:t>
            </a:r>
            <a:r>
              <a:rPr lang="zh-CN" altLang="en-US" dirty="0"/>
              <a:t>＋</a:t>
            </a:r>
            <a:r>
              <a:rPr lang="en-US" altLang="zh-CN" dirty="0"/>
              <a:t>19  </a:t>
            </a:r>
            <a:r>
              <a:rPr lang="zh-CN" altLang="en-US" dirty="0"/>
              <a:t>＝   </a:t>
            </a:r>
            <a:r>
              <a:rPr lang="en-US" altLang="zh-CN" dirty="0"/>
              <a:t>64</a:t>
            </a:r>
          </a:p>
          <a:p>
            <a:pPr marL="0" indent="0">
              <a:buNone/>
            </a:pPr>
            <a:r>
              <a:rPr lang="en-US" altLang="zh-CN" dirty="0"/>
              <a:t>   21</a:t>
            </a:r>
            <a:r>
              <a:rPr lang="zh-CN" altLang="en-US" dirty="0"/>
              <a:t>＋</a:t>
            </a:r>
            <a:r>
              <a:rPr lang="en-US" altLang="zh-CN" dirty="0"/>
              <a:t>23</a:t>
            </a:r>
            <a:r>
              <a:rPr lang="zh-CN" altLang="en-US" dirty="0"/>
              <a:t>＋</a:t>
            </a:r>
            <a:r>
              <a:rPr lang="en-US" altLang="zh-CN" dirty="0"/>
              <a:t>25</a:t>
            </a:r>
            <a:r>
              <a:rPr lang="zh-CN" altLang="en-US" dirty="0"/>
              <a:t>＋</a:t>
            </a:r>
            <a:r>
              <a:rPr lang="en-US" altLang="zh-CN" dirty="0"/>
              <a:t>27</a:t>
            </a:r>
            <a:r>
              <a:rPr lang="zh-CN" altLang="en-US" dirty="0"/>
              <a:t>＋</a:t>
            </a:r>
            <a:r>
              <a:rPr lang="en-US" altLang="zh-CN" dirty="0"/>
              <a:t>29  </a:t>
            </a:r>
            <a:r>
              <a:rPr lang="zh-CN" altLang="en-US" dirty="0"/>
              <a:t>＝   </a:t>
            </a:r>
            <a:r>
              <a:rPr lang="en-US" altLang="zh-CN" dirty="0"/>
              <a:t>125   </a:t>
            </a:r>
          </a:p>
          <a:p>
            <a:r>
              <a:rPr lang="zh-CN" altLang="en-US" dirty="0"/>
              <a:t>证明：上述三角形中第</a:t>
            </a:r>
            <a:r>
              <a:rPr lang="en-US" altLang="zh-CN" dirty="0" err="1"/>
              <a:t>i</a:t>
            </a:r>
            <a:r>
              <a:rPr lang="zh-CN" altLang="en-US" dirty="0"/>
              <a:t>行的和是</a:t>
            </a:r>
            <a:r>
              <a:rPr lang="en-US" altLang="zh-CN" dirty="0"/>
              <a:t>i</a:t>
            </a:r>
            <a:r>
              <a:rPr lang="en-US" altLang="zh-CN" baseline="30000" dirty="0"/>
              <a:t>3</a:t>
            </a:r>
            <a:r>
              <a:rPr lang="zh-CN" altLang="en-US" dirty="0"/>
              <a:t>。</a:t>
            </a:r>
          </a:p>
          <a:p>
            <a:endParaRPr lang="zh-CN" altLang="en-US" dirty="0"/>
          </a:p>
        </p:txBody>
      </p:sp>
    </p:spTree>
    <p:extLst>
      <p:ext uri="{BB962C8B-B14F-4D97-AF65-F5344CB8AC3E}">
        <p14:creationId xmlns:p14="http://schemas.microsoft.com/office/powerpoint/2010/main" val="962017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157911-CB21-4FB6-AFF2-B10C2D1FFB37}"/>
              </a:ext>
            </a:extLst>
          </p:cNvPr>
          <p:cNvSpPr>
            <a:spLocks noGrp="1"/>
          </p:cNvSpPr>
          <p:nvPr>
            <p:ph type="title"/>
          </p:nvPr>
        </p:nvSpPr>
        <p:spPr/>
        <p:txBody>
          <a:bodyPr/>
          <a:lstStyle/>
          <a:p>
            <a:r>
              <a:rPr lang="zh-CN" altLang="en-US" dirty="0"/>
              <a:t>一道复杂一点的加法题</a:t>
            </a:r>
          </a:p>
        </p:txBody>
      </p:sp>
      <p:sp>
        <p:nvSpPr>
          <p:cNvPr id="3" name="内容占位符 2">
            <a:extLst>
              <a:ext uri="{FF2B5EF4-FFF2-40B4-BE49-F238E27FC236}">
                <a16:creationId xmlns:a16="http://schemas.microsoft.com/office/drawing/2014/main" id="{E1F01B52-55AF-4574-AD78-C2448C4F609A}"/>
              </a:ext>
            </a:extLst>
          </p:cNvPr>
          <p:cNvSpPr>
            <a:spLocks noGrp="1"/>
          </p:cNvSpPr>
          <p:nvPr>
            <p:ph idx="1"/>
          </p:nvPr>
        </p:nvSpPr>
        <p:spPr/>
        <p:txBody>
          <a:bodyPr/>
          <a:lstStyle/>
          <a:p>
            <a:r>
              <a:rPr lang="zh-CN" altLang="en-US" dirty="0"/>
              <a:t>考察下面的三角形。</a:t>
            </a:r>
          </a:p>
          <a:p>
            <a:pPr marL="0" indent="0">
              <a:buNone/>
            </a:pPr>
            <a:r>
              <a:rPr lang="zh-CN" altLang="en-US" dirty="0"/>
              <a:t>                    </a:t>
            </a:r>
            <a:r>
              <a:rPr lang="en-US" altLang="zh-CN" dirty="0"/>
              <a:t>1    </a:t>
            </a:r>
            <a:r>
              <a:rPr lang="zh-CN" altLang="en-US" dirty="0"/>
              <a:t>＝   </a:t>
            </a:r>
            <a:r>
              <a:rPr lang="en-US" altLang="zh-CN" dirty="0"/>
              <a:t>1</a:t>
            </a:r>
          </a:p>
          <a:p>
            <a:pPr marL="0" indent="0">
              <a:buNone/>
            </a:pPr>
            <a:r>
              <a:rPr lang="en-US" altLang="zh-CN" dirty="0"/>
              <a:t>                3 </a:t>
            </a:r>
            <a:r>
              <a:rPr lang="zh-CN" altLang="en-US" dirty="0"/>
              <a:t>＋ </a:t>
            </a:r>
            <a:r>
              <a:rPr lang="en-US" altLang="zh-CN" dirty="0"/>
              <a:t>5    </a:t>
            </a:r>
            <a:r>
              <a:rPr lang="zh-CN" altLang="en-US" dirty="0"/>
              <a:t>＝   </a:t>
            </a:r>
            <a:r>
              <a:rPr lang="en-US" altLang="zh-CN" dirty="0"/>
              <a:t>8</a:t>
            </a:r>
          </a:p>
          <a:p>
            <a:pPr marL="0" indent="0">
              <a:buNone/>
            </a:pPr>
            <a:r>
              <a:rPr lang="en-US" altLang="zh-CN" dirty="0"/>
              <a:t>             7</a:t>
            </a:r>
            <a:r>
              <a:rPr lang="zh-CN" altLang="en-US" dirty="0"/>
              <a:t>＋ </a:t>
            </a:r>
            <a:r>
              <a:rPr lang="en-US" altLang="zh-CN" dirty="0"/>
              <a:t>9 </a:t>
            </a:r>
            <a:r>
              <a:rPr lang="zh-CN" altLang="en-US" dirty="0"/>
              <a:t>＋</a:t>
            </a:r>
            <a:r>
              <a:rPr lang="en-US" altLang="zh-CN" dirty="0"/>
              <a:t>11  </a:t>
            </a:r>
            <a:r>
              <a:rPr lang="zh-CN" altLang="en-US" dirty="0"/>
              <a:t>＝   </a:t>
            </a:r>
            <a:r>
              <a:rPr lang="en-US" altLang="zh-CN" dirty="0"/>
              <a:t>27</a:t>
            </a:r>
          </a:p>
          <a:p>
            <a:pPr marL="0" indent="0">
              <a:buNone/>
            </a:pPr>
            <a:r>
              <a:rPr lang="en-US" altLang="zh-CN" dirty="0"/>
              <a:t>       13</a:t>
            </a:r>
            <a:r>
              <a:rPr lang="zh-CN" altLang="en-US" dirty="0"/>
              <a:t>＋</a:t>
            </a:r>
            <a:r>
              <a:rPr lang="en-US" altLang="zh-CN" dirty="0"/>
              <a:t>15</a:t>
            </a:r>
            <a:r>
              <a:rPr lang="zh-CN" altLang="en-US" dirty="0"/>
              <a:t>＋</a:t>
            </a:r>
            <a:r>
              <a:rPr lang="en-US" altLang="zh-CN" dirty="0"/>
              <a:t>17</a:t>
            </a:r>
            <a:r>
              <a:rPr lang="zh-CN" altLang="en-US" dirty="0"/>
              <a:t>＋</a:t>
            </a:r>
            <a:r>
              <a:rPr lang="en-US" altLang="zh-CN" dirty="0"/>
              <a:t>19  </a:t>
            </a:r>
            <a:r>
              <a:rPr lang="zh-CN" altLang="en-US" dirty="0"/>
              <a:t>＝   </a:t>
            </a:r>
            <a:r>
              <a:rPr lang="en-US" altLang="zh-CN" dirty="0"/>
              <a:t>64</a:t>
            </a:r>
          </a:p>
          <a:p>
            <a:pPr marL="0" indent="0">
              <a:buNone/>
            </a:pPr>
            <a:r>
              <a:rPr lang="en-US" altLang="zh-CN" dirty="0"/>
              <a:t>   21</a:t>
            </a:r>
            <a:r>
              <a:rPr lang="zh-CN" altLang="en-US" dirty="0"/>
              <a:t>＋</a:t>
            </a:r>
            <a:r>
              <a:rPr lang="en-US" altLang="zh-CN" dirty="0"/>
              <a:t>23</a:t>
            </a:r>
            <a:r>
              <a:rPr lang="zh-CN" altLang="en-US" dirty="0"/>
              <a:t>＋</a:t>
            </a:r>
            <a:r>
              <a:rPr lang="en-US" altLang="zh-CN" dirty="0"/>
              <a:t>25</a:t>
            </a:r>
            <a:r>
              <a:rPr lang="zh-CN" altLang="en-US" dirty="0"/>
              <a:t>＋</a:t>
            </a:r>
            <a:r>
              <a:rPr lang="en-US" altLang="zh-CN" dirty="0"/>
              <a:t>27</a:t>
            </a:r>
            <a:r>
              <a:rPr lang="zh-CN" altLang="en-US" dirty="0"/>
              <a:t>＋</a:t>
            </a:r>
            <a:r>
              <a:rPr lang="en-US" altLang="zh-CN" dirty="0"/>
              <a:t>29  </a:t>
            </a:r>
            <a:r>
              <a:rPr lang="zh-CN" altLang="en-US" dirty="0"/>
              <a:t>＝   </a:t>
            </a:r>
            <a:r>
              <a:rPr lang="en-US" altLang="zh-CN" dirty="0"/>
              <a:t>125   </a:t>
            </a:r>
          </a:p>
          <a:p>
            <a:r>
              <a:rPr lang="zh-CN" altLang="en-US" dirty="0"/>
              <a:t>证明：上述三角形中第</a:t>
            </a:r>
            <a:r>
              <a:rPr lang="en-US" altLang="zh-CN" dirty="0" err="1"/>
              <a:t>i</a:t>
            </a:r>
            <a:r>
              <a:rPr lang="zh-CN" altLang="en-US" dirty="0"/>
              <a:t>行的和是</a:t>
            </a:r>
            <a:r>
              <a:rPr lang="en-US" altLang="zh-CN" dirty="0"/>
              <a:t>i</a:t>
            </a:r>
            <a:r>
              <a:rPr lang="en-US" altLang="zh-CN" baseline="30000" dirty="0"/>
              <a:t>3</a:t>
            </a:r>
            <a:r>
              <a:rPr lang="zh-CN" altLang="en-US" dirty="0"/>
              <a:t>。</a:t>
            </a:r>
          </a:p>
          <a:p>
            <a:r>
              <a:rPr lang="zh-CN" altLang="en-US" dirty="0"/>
              <a:t>评述：整个证明过程不必在一步内完成。只要能取得进展，分步递进就不失为一个好办法。这段证明还体现了“逆向而行”的方法，我们可以从最后的问题开始，通过归约逐步简化问题，而不是从一开始的简单问题开始向最后问题进军。</a:t>
            </a:r>
          </a:p>
        </p:txBody>
      </p:sp>
    </p:spTree>
    <p:extLst>
      <p:ext uri="{BB962C8B-B14F-4D97-AF65-F5344CB8AC3E}">
        <p14:creationId xmlns:p14="http://schemas.microsoft.com/office/powerpoint/2010/main" val="1838858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3EA790-EBD4-4B3D-B734-419E54CE092A}"/>
              </a:ext>
            </a:extLst>
          </p:cNvPr>
          <p:cNvSpPr>
            <a:spLocks noGrp="1"/>
          </p:cNvSpPr>
          <p:nvPr>
            <p:ph type="title"/>
          </p:nvPr>
        </p:nvSpPr>
        <p:spPr/>
        <p:txBody>
          <a:bodyPr/>
          <a:lstStyle/>
          <a:p>
            <a:r>
              <a:rPr lang="zh-CN" altLang="en-US" dirty="0"/>
              <a:t>一个简单的不等式</a:t>
            </a:r>
          </a:p>
        </p:txBody>
      </p:sp>
      <p:sp>
        <p:nvSpPr>
          <p:cNvPr id="3" name="内容占位符 2">
            <a:extLst>
              <a:ext uri="{FF2B5EF4-FFF2-40B4-BE49-F238E27FC236}">
                <a16:creationId xmlns:a16="http://schemas.microsoft.com/office/drawing/2014/main" id="{38E4359D-0A7A-42AB-9240-DB7F02FA7BFC}"/>
              </a:ext>
            </a:extLst>
          </p:cNvPr>
          <p:cNvSpPr>
            <a:spLocks noGrp="1"/>
          </p:cNvSpPr>
          <p:nvPr>
            <p:ph idx="1"/>
          </p:nvPr>
        </p:nvSpPr>
        <p:spPr/>
        <p:txBody>
          <a:bodyPr/>
          <a:lstStyle/>
          <a:p>
            <a:r>
              <a:rPr lang="zh-CN" altLang="en-US" sz="2800" dirty="0">
                <a:solidFill>
                  <a:srgbClr val="000000"/>
                </a:solidFill>
              </a:rPr>
              <a:t>证明</a:t>
            </a:r>
            <a:r>
              <a:rPr lang="en-US" altLang="zh-CN" sz="2800" dirty="0">
                <a:solidFill>
                  <a:srgbClr val="000000"/>
                </a:solidFill>
              </a:rPr>
              <a:t>1/2+1/4+...+1/2</a:t>
            </a:r>
            <a:r>
              <a:rPr lang="en-US" altLang="zh-CN" sz="2800" baseline="30000" dirty="0">
                <a:solidFill>
                  <a:srgbClr val="000000"/>
                </a:solidFill>
              </a:rPr>
              <a:t>n</a:t>
            </a:r>
            <a:r>
              <a:rPr lang="en-US" altLang="zh-CN" sz="2800" dirty="0">
                <a:solidFill>
                  <a:srgbClr val="000000"/>
                </a:solidFill>
              </a:rPr>
              <a:t>&lt;1</a:t>
            </a:r>
            <a:endParaRPr lang="zh-CN" altLang="en-US" dirty="0"/>
          </a:p>
        </p:txBody>
      </p:sp>
    </p:spTree>
    <p:extLst>
      <p:ext uri="{BB962C8B-B14F-4D97-AF65-F5344CB8AC3E}">
        <p14:creationId xmlns:p14="http://schemas.microsoft.com/office/powerpoint/2010/main" val="1595737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3EA790-EBD4-4B3D-B734-419E54CE092A}"/>
              </a:ext>
            </a:extLst>
          </p:cNvPr>
          <p:cNvSpPr>
            <a:spLocks noGrp="1"/>
          </p:cNvSpPr>
          <p:nvPr>
            <p:ph type="title"/>
          </p:nvPr>
        </p:nvSpPr>
        <p:spPr/>
        <p:txBody>
          <a:bodyPr/>
          <a:lstStyle/>
          <a:p>
            <a:r>
              <a:rPr lang="zh-CN" altLang="en-US" dirty="0"/>
              <a:t>一个简单的不等式</a:t>
            </a:r>
          </a:p>
        </p:txBody>
      </p:sp>
      <p:sp>
        <p:nvSpPr>
          <p:cNvPr id="3" name="内容占位符 2">
            <a:extLst>
              <a:ext uri="{FF2B5EF4-FFF2-40B4-BE49-F238E27FC236}">
                <a16:creationId xmlns:a16="http://schemas.microsoft.com/office/drawing/2014/main" id="{38E4359D-0A7A-42AB-9240-DB7F02FA7BFC}"/>
              </a:ext>
            </a:extLst>
          </p:cNvPr>
          <p:cNvSpPr>
            <a:spLocks noGrp="1"/>
          </p:cNvSpPr>
          <p:nvPr>
            <p:ph idx="1"/>
          </p:nvPr>
        </p:nvSpPr>
        <p:spPr/>
        <p:txBody>
          <a:bodyPr/>
          <a:lstStyle/>
          <a:p>
            <a:r>
              <a:rPr lang="zh-CN" altLang="en-US" sz="2800" dirty="0">
                <a:solidFill>
                  <a:srgbClr val="000000"/>
                </a:solidFill>
              </a:rPr>
              <a:t>证明</a:t>
            </a:r>
            <a:r>
              <a:rPr lang="en-US" altLang="zh-CN" sz="2800" dirty="0">
                <a:solidFill>
                  <a:srgbClr val="000000"/>
                </a:solidFill>
              </a:rPr>
              <a:t>1/2+1/4+...+1/2</a:t>
            </a:r>
            <a:r>
              <a:rPr lang="en-US" altLang="zh-CN" sz="2800" baseline="30000" dirty="0">
                <a:solidFill>
                  <a:srgbClr val="000000"/>
                </a:solidFill>
              </a:rPr>
              <a:t>n</a:t>
            </a:r>
            <a:r>
              <a:rPr lang="en-US" altLang="zh-CN" sz="2800" dirty="0">
                <a:solidFill>
                  <a:srgbClr val="000000"/>
                </a:solidFill>
              </a:rPr>
              <a:t>&lt;1</a:t>
            </a:r>
          </a:p>
          <a:p>
            <a:r>
              <a:rPr lang="zh-CN" altLang="en-US" sz="2800" dirty="0">
                <a:solidFill>
                  <a:srgbClr val="000000"/>
                </a:solidFill>
              </a:rPr>
              <a:t>评述：在归纳法证明中不必把最后一项看作第</a:t>
            </a:r>
            <a:r>
              <a:rPr lang="en-US" altLang="zh-CN" sz="2800" dirty="0">
                <a:solidFill>
                  <a:srgbClr val="000000"/>
                </a:solidFill>
              </a:rPr>
              <a:t>n+1</a:t>
            </a:r>
            <a:r>
              <a:rPr lang="zh-CN" altLang="en-US" sz="2800" dirty="0">
                <a:solidFill>
                  <a:srgbClr val="000000"/>
                </a:solidFill>
              </a:rPr>
              <a:t>项。有时候考察第一项来得更容易。有些情况下可以把最后一项认为是满足特殊性质的特殊项。如果遇到这样的问题，要灵活一些，考察尽可能多的方案。</a:t>
            </a:r>
          </a:p>
          <a:p>
            <a:endParaRPr lang="zh-CN" altLang="en-US" dirty="0"/>
          </a:p>
        </p:txBody>
      </p:sp>
    </p:spTree>
    <p:extLst>
      <p:ext uri="{BB962C8B-B14F-4D97-AF65-F5344CB8AC3E}">
        <p14:creationId xmlns:p14="http://schemas.microsoft.com/office/powerpoint/2010/main" val="276462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E23767-30C5-47B5-8694-17694A935EC0}"/>
              </a:ext>
            </a:extLst>
          </p:cNvPr>
          <p:cNvSpPr>
            <a:spLocks noGrp="1"/>
          </p:cNvSpPr>
          <p:nvPr>
            <p:ph type="title"/>
          </p:nvPr>
        </p:nvSpPr>
        <p:spPr/>
        <p:txBody>
          <a:bodyPr/>
          <a:lstStyle/>
          <a:p>
            <a:r>
              <a:rPr lang="zh-CN" altLang="en-US" dirty="0"/>
              <a:t>欧拉公式</a:t>
            </a:r>
          </a:p>
        </p:txBody>
      </p:sp>
      <p:sp>
        <p:nvSpPr>
          <p:cNvPr id="3" name="内容占位符 2">
            <a:extLst>
              <a:ext uri="{FF2B5EF4-FFF2-40B4-BE49-F238E27FC236}">
                <a16:creationId xmlns:a16="http://schemas.microsoft.com/office/drawing/2014/main" id="{315357F7-47ED-4F16-B3D8-B558BB6D9F90}"/>
              </a:ext>
            </a:extLst>
          </p:cNvPr>
          <p:cNvSpPr>
            <a:spLocks noGrp="1"/>
          </p:cNvSpPr>
          <p:nvPr>
            <p:ph idx="1"/>
          </p:nvPr>
        </p:nvSpPr>
        <p:spPr/>
        <p:txBody>
          <a:bodyPr/>
          <a:lstStyle/>
          <a:p>
            <a:r>
              <a:rPr lang="zh-CN" altLang="en-US" dirty="0"/>
              <a:t>证明任意一张连通平面图的节点数</a:t>
            </a:r>
            <a:r>
              <a:rPr lang="en-US" altLang="zh-CN" dirty="0"/>
              <a:t>(V)</a:t>
            </a:r>
            <a:r>
              <a:rPr lang="zh-CN" altLang="en-US" dirty="0"/>
              <a:t>、边数</a:t>
            </a:r>
            <a:r>
              <a:rPr lang="en-US" altLang="zh-CN" dirty="0"/>
              <a:t>(E)</a:t>
            </a:r>
            <a:r>
              <a:rPr lang="zh-CN" altLang="en-US" dirty="0"/>
              <a:t>和面数</a:t>
            </a:r>
            <a:r>
              <a:rPr lang="en-US" altLang="zh-CN" dirty="0"/>
              <a:t>(F)</a:t>
            </a:r>
            <a:r>
              <a:rPr lang="zh-CN" altLang="en-US" dirty="0"/>
              <a:t>的关系可由公式</a:t>
            </a:r>
            <a:r>
              <a:rPr lang="en-US" altLang="zh-CN" dirty="0"/>
              <a:t>V+F=E+2</a:t>
            </a:r>
            <a:r>
              <a:rPr lang="zh-CN" altLang="en-US" dirty="0"/>
              <a:t>表示。</a:t>
            </a:r>
          </a:p>
        </p:txBody>
      </p:sp>
    </p:spTree>
    <p:extLst>
      <p:ext uri="{BB962C8B-B14F-4D97-AF65-F5344CB8AC3E}">
        <p14:creationId xmlns:p14="http://schemas.microsoft.com/office/powerpoint/2010/main" val="1523957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E23767-30C5-47B5-8694-17694A935EC0}"/>
              </a:ext>
            </a:extLst>
          </p:cNvPr>
          <p:cNvSpPr>
            <a:spLocks noGrp="1"/>
          </p:cNvSpPr>
          <p:nvPr>
            <p:ph type="title"/>
          </p:nvPr>
        </p:nvSpPr>
        <p:spPr/>
        <p:txBody>
          <a:bodyPr/>
          <a:lstStyle/>
          <a:p>
            <a:r>
              <a:rPr lang="zh-CN" altLang="en-US" dirty="0"/>
              <a:t>欧拉公式</a:t>
            </a:r>
          </a:p>
        </p:txBody>
      </p:sp>
      <p:sp>
        <p:nvSpPr>
          <p:cNvPr id="3" name="内容占位符 2">
            <a:extLst>
              <a:ext uri="{FF2B5EF4-FFF2-40B4-BE49-F238E27FC236}">
                <a16:creationId xmlns:a16="http://schemas.microsoft.com/office/drawing/2014/main" id="{315357F7-47ED-4F16-B3D8-B558BB6D9F90}"/>
              </a:ext>
            </a:extLst>
          </p:cNvPr>
          <p:cNvSpPr>
            <a:spLocks noGrp="1"/>
          </p:cNvSpPr>
          <p:nvPr>
            <p:ph idx="1"/>
          </p:nvPr>
        </p:nvSpPr>
        <p:spPr/>
        <p:txBody>
          <a:bodyPr/>
          <a:lstStyle/>
          <a:p>
            <a:r>
              <a:rPr lang="zh-CN" altLang="en-US" dirty="0"/>
              <a:t>证明任意一张连通平面图的节点数</a:t>
            </a:r>
            <a:r>
              <a:rPr lang="en-US" altLang="zh-CN" dirty="0"/>
              <a:t>(V)</a:t>
            </a:r>
            <a:r>
              <a:rPr lang="zh-CN" altLang="en-US" dirty="0"/>
              <a:t>、边数</a:t>
            </a:r>
            <a:r>
              <a:rPr lang="en-US" altLang="zh-CN" dirty="0"/>
              <a:t>(E)</a:t>
            </a:r>
            <a:r>
              <a:rPr lang="zh-CN" altLang="en-US" dirty="0"/>
              <a:t>和面数</a:t>
            </a:r>
            <a:r>
              <a:rPr lang="en-US" altLang="zh-CN" dirty="0"/>
              <a:t>(F)</a:t>
            </a:r>
            <a:r>
              <a:rPr lang="zh-CN" altLang="en-US" dirty="0"/>
              <a:t>的关系可由公式</a:t>
            </a:r>
            <a:r>
              <a:rPr lang="en-US" altLang="zh-CN" dirty="0"/>
              <a:t>V+F=E+2</a:t>
            </a:r>
            <a:r>
              <a:rPr lang="zh-CN" altLang="en-US" dirty="0"/>
              <a:t>表示。</a:t>
            </a:r>
            <a:endParaRPr lang="en-US" altLang="zh-CN" dirty="0"/>
          </a:p>
          <a:p>
            <a:r>
              <a:rPr lang="zh-CN" altLang="en-US" sz="2800" dirty="0">
                <a:solidFill>
                  <a:srgbClr val="000000"/>
                </a:solidFill>
              </a:rPr>
              <a:t>评述：本定理有三个参数。证明过程中我们对其中一个参数（面数）进行归纳，而归纳基础的成立则需要对另一个参数（结点数）进行归纳。这段证明说明选择归纳顺序的时候要小心谨慎。有时归纳过程从一个参数转到另一个参数，有时归纳与几个参数同时都有关，有时需要同时对两个不同的参数进行归纳。选择不同的顺序进行归纳，证明的难度也大相径庭。</a:t>
            </a:r>
          </a:p>
          <a:p>
            <a:endParaRPr lang="zh-CN" altLang="en-US" dirty="0"/>
          </a:p>
        </p:txBody>
      </p:sp>
    </p:spTree>
    <p:extLst>
      <p:ext uri="{BB962C8B-B14F-4D97-AF65-F5344CB8AC3E}">
        <p14:creationId xmlns:p14="http://schemas.microsoft.com/office/powerpoint/2010/main" val="1220418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872E7C-D692-45BF-8C63-1E17A72A5FC4}"/>
              </a:ext>
            </a:extLst>
          </p:cNvPr>
          <p:cNvSpPr>
            <a:spLocks noGrp="1"/>
          </p:cNvSpPr>
          <p:nvPr>
            <p:ph type="title"/>
          </p:nvPr>
        </p:nvSpPr>
        <p:spPr/>
        <p:txBody>
          <a:bodyPr/>
          <a:lstStyle/>
          <a:p>
            <a:r>
              <a:rPr lang="zh-CN" altLang="en-US" dirty="0"/>
              <a:t>图论中的一个问题</a:t>
            </a:r>
          </a:p>
        </p:txBody>
      </p:sp>
      <p:sp>
        <p:nvSpPr>
          <p:cNvPr id="3" name="内容占位符 2">
            <a:extLst>
              <a:ext uri="{FF2B5EF4-FFF2-40B4-BE49-F238E27FC236}">
                <a16:creationId xmlns:a16="http://schemas.microsoft.com/office/drawing/2014/main" id="{852D4CBD-EB9C-4941-AC20-DFEFF5D72F1A}"/>
              </a:ext>
            </a:extLst>
          </p:cNvPr>
          <p:cNvSpPr>
            <a:spLocks noGrp="1"/>
          </p:cNvSpPr>
          <p:nvPr>
            <p:ph idx="1"/>
          </p:nvPr>
        </p:nvSpPr>
        <p:spPr/>
        <p:txBody>
          <a:bodyPr>
            <a:normAutofit/>
          </a:bodyPr>
          <a:lstStyle/>
          <a:p>
            <a:r>
              <a:rPr lang="zh-CN" altLang="en-US" sz="2400" dirty="0"/>
              <a:t>令</a:t>
            </a:r>
            <a:r>
              <a:rPr lang="en-US" altLang="zh-CN" sz="2400" dirty="0"/>
              <a:t>G=(V,E)</a:t>
            </a:r>
            <a:r>
              <a:rPr lang="zh-CN" altLang="en-US" sz="2400" dirty="0"/>
              <a:t>是一个有向图。证明</a:t>
            </a:r>
            <a:r>
              <a:rPr lang="en-US" altLang="zh-CN" sz="2400" dirty="0"/>
              <a:t>G</a:t>
            </a:r>
            <a:r>
              <a:rPr lang="zh-CN" altLang="en-US" sz="2400" dirty="0"/>
              <a:t>中存在一个独立集</a:t>
            </a:r>
            <a:r>
              <a:rPr lang="en-US" altLang="zh-CN" sz="2400" dirty="0"/>
              <a:t>(</a:t>
            </a:r>
            <a:r>
              <a:rPr lang="zh-CN" altLang="en-US" sz="2400" dirty="0"/>
              <a:t>任意两点都不相邻的点构成的集合</a:t>
            </a:r>
            <a:r>
              <a:rPr lang="en-US" altLang="zh-CN" sz="2400" dirty="0"/>
              <a:t>)S(G)</a:t>
            </a:r>
            <a:r>
              <a:rPr lang="zh-CN" altLang="en-US" sz="2400" dirty="0"/>
              <a:t>使得</a:t>
            </a:r>
            <a:r>
              <a:rPr lang="en-US" altLang="zh-CN" sz="2400" dirty="0"/>
              <a:t>G</a:t>
            </a:r>
            <a:r>
              <a:rPr lang="zh-CN" altLang="en-US" sz="2400" dirty="0"/>
              <a:t>中的每一个结点都可以从</a:t>
            </a:r>
            <a:r>
              <a:rPr lang="en-US" altLang="zh-CN" sz="2400" dirty="0"/>
              <a:t>S(G)</a:t>
            </a:r>
            <a:r>
              <a:rPr lang="zh-CN" altLang="en-US" sz="2400" dirty="0"/>
              <a:t>的某一个结点通过一条长度不超过</a:t>
            </a:r>
            <a:r>
              <a:rPr lang="en-US" altLang="zh-CN" sz="2400" dirty="0"/>
              <a:t>2</a:t>
            </a:r>
            <a:r>
              <a:rPr lang="zh-CN" altLang="en-US" sz="2400" dirty="0"/>
              <a:t>的路可达。</a:t>
            </a:r>
          </a:p>
          <a:p>
            <a:endParaRPr lang="zh-CN" altLang="en-US" sz="2400" dirty="0"/>
          </a:p>
        </p:txBody>
      </p:sp>
    </p:spTree>
    <p:extLst>
      <p:ext uri="{BB962C8B-B14F-4D97-AF65-F5344CB8AC3E}">
        <p14:creationId xmlns:p14="http://schemas.microsoft.com/office/powerpoint/2010/main" val="912959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872E7C-D692-45BF-8C63-1E17A72A5FC4}"/>
              </a:ext>
            </a:extLst>
          </p:cNvPr>
          <p:cNvSpPr>
            <a:spLocks noGrp="1"/>
          </p:cNvSpPr>
          <p:nvPr>
            <p:ph type="title"/>
          </p:nvPr>
        </p:nvSpPr>
        <p:spPr/>
        <p:txBody>
          <a:bodyPr/>
          <a:lstStyle/>
          <a:p>
            <a:r>
              <a:rPr lang="zh-CN" altLang="en-US" dirty="0"/>
              <a:t>图论中的一个问题</a:t>
            </a:r>
          </a:p>
        </p:txBody>
      </p:sp>
      <p:sp>
        <p:nvSpPr>
          <p:cNvPr id="3" name="内容占位符 2">
            <a:extLst>
              <a:ext uri="{FF2B5EF4-FFF2-40B4-BE49-F238E27FC236}">
                <a16:creationId xmlns:a16="http://schemas.microsoft.com/office/drawing/2014/main" id="{852D4CBD-EB9C-4941-AC20-DFEFF5D72F1A}"/>
              </a:ext>
            </a:extLst>
          </p:cNvPr>
          <p:cNvSpPr>
            <a:spLocks noGrp="1"/>
          </p:cNvSpPr>
          <p:nvPr>
            <p:ph idx="1"/>
          </p:nvPr>
        </p:nvSpPr>
        <p:spPr/>
        <p:txBody>
          <a:bodyPr>
            <a:noAutofit/>
          </a:bodyPr>
          <a:lstStyle/>
          <a:p>
            <a:r>
              <a:rPr lang="zh-CN" altLang="en-US" sz="2400" dirty="0"/>
              <a:t>令</a:t>
            </a:r>
            <a:r>
              <a:rPr lang="en-US" altLang="zh-CN" sz="2400" dirty="0"/>
              <a:t>G=(V,E)</a:t>
            </a:r>
            <a:r>
              <a:rPr lang="zh-CN" altLang="en-US" sz="2400" dirty="0"/>
              <a:t>是一个有向图。证明</a:t>
            </a:r>
            <a:r>
              <a:rPr lang="en-US" altLang="zh-CN" sz="2400" dirty="0"/>
              <a:t>G</a:t>
            </a:r>
            <a:r>
              <a:rPr lang="zh-CN" altLang="en-US" sz="2400" dirty="0"/>
              <a:t>中存在一个独立集</a:t>
            </a:r>
            <a:r>
              <a:rPr lang="en-US" altLang="zh-CN" sz="2400" dirty="0"/>
              <a:t>(</a:t>
            </a:r>
            <a:r>
              <a:rPr lang="zh-CN" altLang="en-US" sz="2400" dirty="0"/>
              <a:t>任意两点都不相邻的点构成的集合</a:t>
            </a:r>
            <a:r>
              <a:rPr lang="en-US" altLang="zh-CN" sz="2400" dirty="0"/>
              <a:t>)S(G)</a:t>
            </a:r>
            <a:r>
              <a:rPr lang="zh-CN" altLang="en-US" sz="2400" dirty="0"/>
              <a:t>使得</a:t>
            </a:r>
            <a:r>
              <a:rPr lang="en-US" altLang="zh-CN" sz="2400" dirty="0"/>
              <a:t>G</a:t>
            </a:r>
            <a:r>
              <a:rPr lang="zh-CN" altLang="en-US" sz="2400" dirty="0"/>
              <a:t>中的每一个结点都可以从</a:t>
            </a:r>
            <a:r>
              <a:rPr lang="en-US" altLang="zh-CN" sz="2400" dirty="0"/>
              <a:t>S(G)</a:t>
            </a:r>
            <a:r>
              <a:rPr lang="zh-CN" altLang="en-US" sz="2400" dirty="0"/>
              <a:t>的某一个结点通过一条长度不超过</a:t>
            </a:r>
            <a:r>
              <a:rPr lang="en-US" altLang="zh-CN" sz="2400" dirty="0"/>
              <a:t>2</a:t>
            </a:r>
            <a:r>
              <a:rPr lang="zh-CN" altLang="en-US" sz="2400" dirty="0"/>
              <a:t>的路可达。</a:t>
            </a:r>
          </a:p>
          <a:p>
            <a:r>
              <a:rPr lang="zh-CN" altLang="en-US" sz="2400" dirty="0"/>
              <a:t>评述：证明中“归约”的量并不是固定的，即可以根据实际问题把问题的规模从</a:t>
            </a:r>
            <a:r>
              <a:rPr lang="en-US" altLang="zh-CN" sz="2400" dirty="0"/>
              <a:t>n</a:t>
            </a:r>
            <a:r>
              <a:rPr lang="zh-CN" altLang="en-US" sz="2400" dirty="0"/>
              <a:t>缩减到比</a:t>
            </a:r>
            <a:r>
              <a:rPr lang="en-US" altLang="zh-CN" sz="2400" dirty="0"/>
              <a:t>n</a:t>
            </a:r>
            <a:r>
              <a:rPr lang="zh-CN" altLang="en-US" sz="2400" dirty="0"/>
              <a:t>小的数目，而且这个规模小一些的问题并不是任意一个问题，它与原来那个特定的问题关系非常密切。为了让证明容易一些，我们拿掉了足够多的结点。在此需要取得一个很好的平衡：既没有拿掉太多的结点使假设太弱，也没有拿掉太少的结点使假设太强。在许多情况下，找到这个平衡点是证明的关键。</a:t>
            </a:r>
          </a:p>
          <a:p>
            <a:r>
              <a:rPr lang="zh-CN" altLang="en-US" sz="2400" dirty="0"/>
              <a:t>注意：这里用了强归纳法，因为需要假设对小于某个数的所有数定理都成立。</a:t>
            </a:r>
          </a:p>
          <a:p>
            <a:endParaRPr lang="zh-CN" altLang="en-US" sz="2400" dirty="0"/>
          </a:p>
        </p:txBody>
      </p:sp>
    </p:spTree>
    <p:extLst>
      <p:ext uri="{BB962C8B-B14F-4D97-AF65-F5344CB8AC3E}">
        <p14:creationId xmlns:p14="http://schemas.microsoft.com/office/powerpoint/2010/main" val="2238790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BDCCDA-E67C-4504-8529-48486F3B024D}"/>
              </a:ext>
            </a:extLst>
          </p:cNvPr>
          <p:cNvSpPr>
            <a:spLocks noGrp="1"/>
          </p:cNvSpPr>
          <p:nvPr>
            <p:ph type="title"/>
          </p:nvPr>
        </p:nvSpPr>
        <p:spPr/>
        <p:txBody>
          <a:bodyPr/>
          <a:lstStyle/>
          <a:p>
            <a:r>
              <a:rPr lang="zh-CN" altLang="en-US" dirty="0"/>
              <a:t>在图上寻找无重边的路</a:t>
            </a:r>
          </a:p>
        </p:txBody>
      </p:sp>
      <p:sp>
        <p:nvSpPr>
          <p:cNvPr id="3" name="内容占位符 2">
            <a:extLst>
              <a:ext uri="{FF2B5EF4-FFF2-40B4-BE49-F238E27FC236}">
                <a16:creationId xmlns:a16="http://schemas.microsoft.com/office/drawing/2014/main" id="{18190B8C-FAB8-4FD3-B206-32F9B690079F}"/>
              </a:ext>
            </a:extLst>
          </p:cNvPr>
          <p:cNvSpPr>
            <a:spLocks noGrp="1"/>
          </p:cNvSpPr>
          <p:nvPr>
            <p:ph idx="1"/>
          </p:nvPr>
        </p:nvSpPr>
        <p:spPr/>
        <p:txBody>
          <a:bodyPr/>
          <a:lstStyle/>
          <a:p>
            <a:r>
              <a:rPr lang="zh-CN" altLang="en-US" dirty="0"/>
              <a:t>令</a:t>
            </a:r>
            <a:r>
              <a:rPr lang="en-US" altLang="zh-CN" dirty="0"/>
              <a:t>G=(V,E)</a:t>
            </a:r>
            <a:r>
              <a:rPr lang="zh-CN" altLang="en-US" dirty="0"/>
              <a:t>是连通的无向图，</a:t>
            </a:r>
            <a:r>
              <a:rPr lang="en-US" altLang="zh-CN" dirty="0"/>
              <a:t>O</a:t>
            </a:r>
            <a:r>
              <a:rPr lang="zh-CN" altLang="en-US" dirty="0"/>
              <a:t>是</a:t>
            </a:r>
            <a:r>
              <a:rPr lang="en-US" altLang="zh-CN" dirty="0"/>
              <a:t>V</a:t>
            </a:r>
            <a:r>
              <a:rPr lang="zh-CN" altLang="en-US" dirty="0"/>
              <a:t>中度数为奇数的结点的集合，证明可以把</a:t>
            </a:r>
            <a:r>
              <a:rPr lang="en-US" altLang="zh-CN" dirty="0"/>
              <a:t>O</a:t>
            </a:r>
            <a:r>
              <a:rPr lang="zh-CN" altLang="en-US" dirty="0"/>
              <a:t>中的结点分成结点对，在每一对中都能找到连接这两个结点的无重边的路。</a:t>
            </a:r>
          </a:p>
        </p:txBody>
      </p:sp>
    </p:spTree>
    <p:extLst>
      <p:ext uri="{BB962C8B-B14F-4D97-AF65-F5344CB8AC3E}">
        <p14:creationId xmlns:p14="http://schemas.microsoft.com/office/powerpoint/2010/main" val="3825361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BDCCDA-E67C-4504-8529-48486F3B024D}"/>
              </a:ext>
            </a:extLst>
          </p:cNvPr>
          <p:cNvSpPr>
            <a:spLocks noGrp="1"/>
          </p:cNvSpPr>
          <p:nvPr>
            <p:ph type="title"/>
          </p:nvPr>
        </p:nvSpPr>
        <p:spPr/>
        <p:txBody>
          <a:bodyPr/>
          <a:lstStyle/>
          <a:p>
            <a:r>
              <a:rPr lang="zh-CN" altLang="en-US" dirty="0"/>
              <a:t>在图上寻找无重边的路</a:t>
            </a:r>
          </a:p>
        </p:txBody>
      </p:sp>
      <p:sp>
        <p:nvSpPr>
          <p:cNvPr id="3" name="内容占位符 2">
            <a:extLst>
              <a:ext uri="{FF2B5EF4-FFF2-40B4-BE49-F238E27FC236}">
                <a16:creationId xmlns:a16="http://schemas.microsoft.com/office/drawing/2014/main" id="{18190B8C-FAB8-4FD3-B206-32F9B690079F}"/>
              </a:ext>
            </a:extLst>
          </p:cNvPr>
          <p:cNvSpPr>
            <a:spLocks noGrp="1"/>
          </p:cNvSpPr>
          <p:nvPr>
            <p:ph idx="1"/>
          </p:nvPr>
        </p:nvSpPr>
        <p:spPr/>
        <p:txBody>
          <a:bodyPr/>
          <a:lstStyle/>
          <a:p>
            <a:r>
              <a:rPr lang="zh-CN" altLang="en-US" dirty="0"/>
              <a:t>令</a:t>
            </a:r>
            <a:r>
              <a:rPr lang="en-US" altLang="zh-CN" dirty="0"/>
              <a:t>G=(V,E)</a:t>
            </a:r>
            <a:r>
              <a:rPr lang="zh-CN" altLang="en-US" dirty="0"/>
              <a:t>是连通的无向图，</a:t>
            </a:r>
            <a:r>
              <a:rPr lang="en-US" altLang="zh-CN" dirty="0"/>
              <a:t>O</a:t>
            </a:r>
            <a:r>
              <a:rPr lang="zh-CN" altLang="en-US" dirty="0"/>
              <a:t>是</a:t>
            </a:r>
            <a:r>
              <a:rPr lang="en-US" altLang="zh-CN" dirty="0"/>
              <a:t>V</a:t>
            </a:r>
            <a:r>
              <a:rPr lang="zh-CN" altLang="en-US" dirty="0"/>
              <a:t>中度数为奇数的结点的集合，证明可以把</a:t>
            </a:r>
            <a:r>
              <a:rPr lang="en-US" altLang="zh-CN" dirty="0"/>
              <a:t>O</a:t>
            </a:r>
            <a:r>
              <a:rPr lang="zh-CN" altLang="en-US" dirty="0"/>
              <a:t>中的结点分成结点对，在每一对中都能找到连接这两个结点的无重边的路。</a:t>
            </a:r>
            <a:endParaRPr lang="en-US" altLang="zh-CN" dirty="0"/>
          </a:p>
          <a:p>
            <a:r>
              <a:rPr lang="zh-CN" altLang="en-US" dirty="0"/>
              <a:t>评述：通过加强归纳假设来证明定理，这是一个十分有效的方法，主要的技巧就是要根据需要来改变归纳假设，尽管需要证明的东西变多了，然而由于归纳基础变强了，因而证明的基础比以前更好了，这样即使定理因此变强了，证明却有可能变得简单。</a:t>
            </a:r>
          </a:p>
          <a:p>
            <a:endParaRPr lang="zh-CN" altLang="en-US" dirty="0"/>
          </a:p>
        </p:txBody>
      </p:sp>
    </p:spTree>
    <p:extLst>
      <p:ext uri="{BB962C8B-B14F-4D97-AF65-F5344CB8AC3E}">
        <p14:creationId xmlns:p14="http://schemas.microsoft.com/office/powerpoint/2010/main" val="37629253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02A0A8-93E9-4E04-84D5-B46EA0625C0F}"/>
              </a:ext>
            </a:extLst>
          </p:cNvPr>
          <p:cNvSpPr>
            <a:spLocks noGrp="1"/>
          </p:cNvSpPr>
          <p:nvPr>
            <p:ph type="title"/>
          </p:nvPr>
        </p:nvSpPr>
        <p:spPr/>
        <p:txBody>
          <a:bodyPr/>
          <a:lstStyle/>
          <a:p>
            <a:r>
              <a:rPr lang="zh-CN" altLang="en-US" dirty="0"/>
              <a:t>数学平均数和几何平均数</a:t>
            </a:r>
          </a:p>
        </p:txBody>
      </p:sp>
      <p:sp>
        <p:nvSpPr>
          <p:cNvPr id="3" name="内容占位符 2">
            <a:extLst>
              <a:ext uri="{FF2B5EF4-FFF2-40B4-BE49-F238E27FC236}">
                <a16:creationId xmlns:a16="http://schemas.microsoft.com/office/drawing/2014/main" id="{8AF1D705-2A38-4D76-9D1F-F67C7F0A255B}"/>
              </a:ext>
            </a:extLst>
          </p:cNvPr>
          <p:cNvSpPr>
            <a:spLocks noGrp="1"/>
          </p:cNvSpPr>
          <p:nvPr>
            <p:ph idx="1"/>
          </p:nvPr>
        </p:nvSpPr>
        <p:spPr/>
        <p:txBody>
          <a:bodyPr/>
          <a:lstStyle/>
          <a:p>
            <a:pPr algn="just"/>
            <a:r>
              <a:rPr lang="zh-CN" altLang="en-US" dirty="0"/>
              <a:t>证明</a:t>
            </a:r>
            <a:r>
              <a:rPr lang="zh-CN" altLang="en-US" sz="2800" dirty="0">
                <a:solidFill>
                  <a:srgbClr val="000000"/>
                </a:solidFill>
              </a:rPr>
              <a:t>如果</a:t>
            </a:r>
            <a:r>
              <a:rPr lang="en-US" altLang="zh-CN" sz="2800" dirty="0">
                <a:solidFill>
                  <a:srgbClr val="000000"/>
                </a:solidFill>
              </a:rPr>
              <a:t>x</a:t>
            </a:r>
            <a:r>
              <a:rPr lang="en-US" altLang="zh-CN" sz="2800" baseline="-25000" dirty="0">
                <a:solidFill>
                  <a:srgbClr val="000000"/>
                </a:solidFill>
              </a:rPr>
              <a:t>1</a:t>
            </a:r>
            <a:r>
              <a:rPr lang="en-US" altLang="zh-CN" sz="2800" dirty="0">
                <a:solidFill>
                  <a:srgbClr val="000000"/>
                </a:solidFill>
              </a:rPr>
              <a:t>,x</a:t>
            </a:r>
            <a:r>
              <a:rPr lang="en-US" altLang="zh-CN" sz="2800" baseline="-25000" dirty="0">
                <a:solidFill>
                  <a:srgbClr val="000000"/>
                </a:solidFill>
              </a:rPr>
              <a:t>2</a:t>
            </a:r>
            <a:r>
              <a:rPr lang="en-US" altLang="zh-CN" sz="2800" dirty="0">
                <a:solidFill>
                  <a:srgbClr val="000000"/>
                </a:solidFill>
              </a:rPr>
              <a:t>,…,</a:t>
            </a:r>
            <a:r>
              <a:rPr lang="en-US" altLang="zh-CN" sz="2800" dirty="0" err="1">
                <a:solidFill>
                  <a:srgbClr val="000000"/>
                </a:solidFill>
              </a:rPr>
              <a:t>x</a:t>
            </a:r>
            <a:r>
              <a:rPr lang="en-US" altLang="zh-CN" sz="2800" baseline="-25000" dirty="0" err="1">
                <a:solidFill>
                  <a:srgbClr val="000000"/>
                </a:solidFill>
              </a:rPr>
              <a:t>n</a:t>
            </a:r>
            <a:r>
              <a:rPr lang="zh-CN" altLang="en-US" sz="2800" dirty="0">
                <a:solidFill>
                  <a:srgbClr val="000000"/>
                </a:solidFill>
              </a:rPr>
              <a:t>都是正数，则</a:t>
            </a:r>
          </a:p>
          <a:p>
            <a:pPr algn="just" eaLnBrk="1" hangingPunct="1">
              <a:buFontTx/>
              <a:buNone/>
            </a:pPr>
            <a:endParaRPr lang="zh-CN" altLang="en-US" sz="2800" dirty="0">
              <a:solidFill>
                <a:srgbClr val="000000"/>
              </a:solidFill>
            </a:endParaRPr>
          </a:p>
          <a:p>
            <a:endParaRPr lang="zh-CN" altLang="en-US" dirty="0"/>
          </a:p>
        </p:txBody>
      </p:sp>
      <p:graphicFrame>
        <p:nvGraphicFramePr>
          <p:cNvPr id="4" name="Object 4">
            <a:extLst>
              <a:ext uri="{FF2B5EF4-FFF2-40B4-BE49-F238E27FC236}">
                <a16:creationId xmlns:a16="http://schemas.microsoft.com/office/drawing/2014/main" id="{E154F238-55E5-4381-9358-A97EAEC3C96C}"/>
              </a:ext>
            </a:extLst>
          </p:cNvPr>
          <p:cNvGraphicFramePr>
            <a:graphicFrameLocks noChangeAspect="1"/>
          </p:cNvGraphicFramePr>
          <p:nvPr>
            <p:extLst>
              <p:ext uri="{D42A27DB-BD31-4B8C-83A1-F6EECF244321}">
                <p14:modId xmlns:p14="http://schemas.microsoft.com/office/powerpoint/2010/main" val="279298320"/>
              </p:ext>
            </p:extLst>
          </p:nvPr>
        </p:nvGraphicFramePr>
        <p:xfrm>
          <a:off x="3962400" y="2527214"/>
          <a:ext cx="3352800" cy="665162"/>
        </p:xfrm>
        <a:graphic>
          <a:graphicData uri="http://schemas.openxmlformats.org/presentationml/2006/ole">
            <mc:AlternateContent xmlns:mc="http://schemas.openxmlformats.org/markup-compatibility/2006">
              <mc:Choice xmlns:v="urn:schemas-microsoft-com:vml" Requires="v">
                <p:oleObj spid="_x0000_s1031" name="公式" r:id="rId3" imgW="1981080" imgH="393480" progId="Equation.3">
                  <p:embed/>
                </p:oleObj>
              </mc:Choice>
              <mc:Fallback>
                <p:oleObj name="公式" r:id="rId3" imgW="1981080" imgH="393480" progId="Equation.3">
                  <p:embed/>
                  <p:pic>
                    <p:nvPicPr>
                      <p:cNvPr id="102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2527214"/>
                        <a:ext cx="3352800" cy="66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02181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02A0A8-93E9-4E04-84D5-B46EA0625C0F}"/>
              </a:ext>
            </a:extLst>
          </p:cNvPr>
          <p:cNvSpPr>
            <a:spLocks noGrp="1"/>
          </p:cNvSpPr>
          <p:nvPr>
            <p:ph type="title"/>
          </p:nvPr>
        </p:nvSpPr>
        <p:spPr/>
        <p:txBody>
          <a:bodyPr/>
          <a:lstStyle/>
          <a:p>
            <a:r>
              <a:rPr lang="zh-CN" altLang="en-US" dirty="0"/>
              <a:t>数学平均数和几何平均数</a:t>
            </a:r>
          </a:p>
        </p:txBody>
      </p:sp>
      <p:sp>
        <p:nvSpPr>
          <p:cNvPr id="3" name="内容占位符 2">
            <a:extLst>
              <a:ext uri="{FF2B5EF4-FFF2-40B4-BE49-F238E27FC236}">
                <a16:creationId xmlns:a16="http://schemas.microsoft.com/office/drawing/2014/main" id="{8AF1D705-2A38-4D76-9D1F-F67C7F0A255B}"/>
              </a:ext>
            </a:extLst>
          </p:cNvPr>
          <p:cNvSpPr>
            <a:spLocks noGrp="1"/>
          </p:cNvSpPr>
          <p:nvPr>
            <p:ph idx="1"/>
          </p:nvPr>
        </p:nvSpPr>
        <p:spPr/>
        <p:txBody>
          <a:bodyPr/>
          <a:lstStyle/>
          <a:p>
            <a:pPr algn="just"/>
            <a:r>
              <a:rPr lang="zh-CN" altLang="en-US" dirty="0"/>
              <a:t>证明</a:t>
            </a:r>
            <a:r>
              <a:rPr lang="zh-CN" altLang="en-US" sz="2800" dirty="0">
                <a:solidFill>
                  <a:srgbClr val="000000"/>
                </a:solidFill>
              </a:rPr>
              <a:t>如果</a:t>
            </a:r>
            <a:r>
              <a:rPr lang="en-US" altLang="zh-CN" sz="2800" dirty="0">
                <a:solidFill>
                  <a:srgbClr val="000000"/>
                </a:solidFill>
              </a:rPr>
              <a:t>x</a:t>
            </a:r>
            <a:r>
              <a:rPr lang="en-US" altLang="zh-CN" sz="2800" baseline="-25000" dirty="0">
                <a:solidFill>
                  <a:srgbClr val="000000"/>
                </a:solidFill>
              </a:rPr>
              <a:t>1</a:t>
            </a:r>
            <a:r>
              <a:rPr lang="en-US" altLang="zh-CN" sz="2800" dirty="0">
                <a:solidFill>
                  <a:srgbClr val="000000"/>
                </a:solidFill>
              </a:rPr>
              <a:t>,x</a:t>
            </a:r>
            <a:r>
              <a:rPr lang="en-US" altLang="zh-CN" sz="2800" baseline="-25000" dirty="0">
                <a:solidFill>
                  <a:srgbClr val="000000"/>
                </a:solidFill>
              </a:rPr>
              <a:t>2</a:t>
            </a:r>
            <a:r>
              <a:rPr lang="en-US" altLang="zh-CN" sz="2800" dirty="0">
                <a:solidFill>
                  <a:srgbClr val="000000"/>
                </a:solidFill>
              </a:rPr>
              <a:t>,…,</a:t>
            </a:r>
            <a:r>
              <a:rPr lang="en-US" altLang="zh-CN" sz="2800" dirty="0" err="1">
                <a:solidFill>
                  <a:srgbClr val="000000"/>
                </a:solidFill>
              </a:rPr>
              <a:t>x</a:t>
            </a:r>
            <a:r>
              <a:rPr lang="en-US" altLang="zh-CN" sz="2800" baseline="-25000" dirty="0" err="1">
                <a:solidFill>
                  <a:srgbClr val="000000"/>
                </a:solidFill>
              </a:rPr>
              <a:t>n</a:t>
            </a:r>
            <a:r>
              <a:rPr lang="zh-CN" altLang="en-US" sz="2800" dirty="0">
                <a:solidFill>
                  <a:srgbClr val="000000"/>
                </a:solidFill>
              </a:rPr>
              <a:t>都是正数，则</a:t>
            </a:r>
          </a:p>
          <a:p>
            <a:pPr algn="just" eaLnBrk="1" hangingPunct="1">
              <a:buFontTx/>
              <a:buNone/>
            </a:pPr>
            <a:endParaRPr lang="zh-CN" altLang="en-US" sz="2800" dirty="0">
              <a:solidFill>
                <a:srgbClr val="000000"/>
              </a:solidFill>
            </a:endParaRPr>
          </a:p>
          <a:p>
            <a:endParaRPr lang="en-US" altLang="zh-CN" dirty="0"/>
          </a:p>
          <a:p>
            <a:endParaRPr lang="en-US" altLang="zh-CN" dirty="0"/>
          </a:p>
          <a:p>
            <a:r>
              <a:rPr lang="zh-CN" altLang="en-US" sz="2800" dirty="0">
                <a:solidFill>
                  <a:srgbClr val="000000"/>
                </a:solidFill>
              </a:rPr>
              <a:t>逆向归纳法原理：如果命题</a:t>
            </a:r>
            <a:r>
              <a:rPr lang="en-US" altLang="zh-CN" sz="2800" dirty="0">
                <a:solidFill>
                  <a:srgbClr val="000000"/>
                </a:solidFill>
              </a:rPr>
              <a:t>P</a:t>
            </a:r>
            <a:r>
              <a:rPr lang="zh-CN" altLang="en-US" sz="2800" dirty="0">
                <a:solidFill>
                  <a:srgbClr val="000000"/>
                </a:solidFill>
              </a:rPr>
              <a:t>对某个自然数的</a:t>
            </a:r>
            <a:r>
              <a:rPr lang="zh-CN" altLang="en-US" sz="2800" dirty="0">
                <a:solidFill>
                  <a:srgbClr val="FF0000"/>
                </a:solidFill>
              </a:rPr>
              <a:t>无穷</a:t>
            </a:r>
            <a:r>
              <a:rPr lang="zh-CN" altLang="en-US" sz="2800" dirty="0">
                <a:solidFill>
                  <a:srgbClr val="000000"/>
                </a:solidFill>
              </a:rPr>
              <a:t>子集成立，且</a:t>
            </a:r>
            <a:r>
              <a:rPr lang="en-US" altLang="zh-CN" sz="2800" dirty="0">
                <a:solidFill>
                  <a:srgbClr val="000000"/>
                </a:solidFill>
              </a:rPr>
              <a:t>P</a:t>
            </a:r>
            <a:r>
              <a:rPr lang="zh-CN" altLang="en-US" sz="2800" dirty="0">
                <a:solidFill>
                  <a:srgbClr val="000000"/>
                </a:solidFill>
              </a:rPr>
              <a:t>对</a:t>
            </a:r>
            <a:r>
              <a:rPr lang="en-US" altLang="zh-CN" sz="2800" dirty="0">
                <a:solidFill>
                  <a:srgbClr val="000000"/>
                </a:solidFill>
              </a:rPr>
              <a:t>n</a:t>
            </a:r>
            <a:r>
              <a:rPr lang="zh-CN" altLang="en-US" sz="2800" dirty="0">
                <a:solidFill>
                  <a:srgbClr val="000000"/>
                </a:solidFill>
              </a:rPr>
              <a:t>成立能推出其对</a:t>
            </a:r>
            <a:r>
              <a:rPr lang="en-US" altLang="zh-CN" sz="2800" dirty="0">
                <a:solidFill>
                  <a:srgbClr val="000000"/>
                </a:solidFill>
              </a:rPr>
              <a:t>n-1</a:t>
            </a:r>
            <a:r>
              <a:rPr lang="zh-CN" altLang="en-US" sz="2800" dirty="0">
                <a:solidFill>
                  <a:srgbClr val="000000"/>
                </a:solidFill>
              </a:rPr>
              <a:t>成立，那么</a:t>
            </a:r>
            <a:r>
              <a:rPr lang="en-US" altLang="zh-CN" sz="2800" dirty="0">
                <a:solidFill>
                  <a:srgbClr val="000000"/>
                </a:solidFill>
              </a:rPr>
              <a:t>P</a:t>
            </a:r>
            <a:r>
              <a:rPr lang="zh-CN" altLang="en-US" sz="2800" dirty="0">
                <a:solidFill>
                  <a:srgbClr val="000000"/>
                </a:solidFill>
              </a:rPr>
              <a:t>对任意自然数都成立。</a:t>
            </a:r>
          </a:p>
          <a:p>
            <a:endParaRPr lang="zh-CN" altLang="en-US" dirty="0"/>
          </a:p>
        </p:txBody>
      </p:sp>
      <p:graphicFrame>
        <p:nvGraphicFramePr>
          <p:cNvPr id="4" name="Object 4">
            <a:extLst>
              <a:ext uri="{FF2B5EF4-FFF2-40B4-BE49-F238E27FC236}">
                <a16:creationId xmlns:a16="http://schemas.microsoft.com/office/drawing/2014/main" id="{E154F238-55E5-4381-9358-A97EAEC3C96C}"/>
              </a:ext>
            </a:extLst>
          </p:cNvPr>
          <p:cNvGraphicFramePr>
            <a:graphicFrameLocks noChangeAspect="1"/>
          </p:cNvGraphicFramePr>
          <p:nvPr/>
        </p:nvGraphicFramePr>
        <p:xfrm>
          <a:off x="3962400" y="2527214"/>
          <a:ext cx="3352800" cy="665162"/>
        </p:xfrm>
        <a:graphic>
          <a:graphicData uri="http://schemas.openxmlformats.org/presentationml/2006/ole">
            <mc:AlternateContent xmlns:mc="http://schemas.openxmlformats.org/markup-compatibility/2006">
              <mc:Choice xmlns:v="urn:schemas-microsoft-com:vml" Requires="v">
                <p:oleObj spid="_x0000_s2055" name="公式" r:id="rId3" imgW="1981080" imgH="393480" progId="Equation.3">
                  <p:embed/>
                </p:oleObj>
              </mc:Choice>
              <mc:Fallback>
                <p:oleObj name="公式" r:id="rId3" imgW="1981080" imgH="393480" progId="Equation.3">
                  <p:embed/>
                  <p:pic>
                    <p:nvPicPr>
                      <p:cNvPr id="4" name="Object 4">
                        <a:extLst>
                          <a:ext uri="{FF2B5EF4-FFF2-40B4-BE49-F238E27FC236}">
                            <a16:creationId xmlns:a16="http://schemas.microsoft.com/office/drawing/2014/main" id="{E154F238-55E5-4381-9358-A97EAEC3C9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2527214"/>
                        <a:ext cx="3352800" cy="66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321864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1532C-CDE5-47D3-AF07-F10AC85434B6}"/>
              </a:ext>
            </a:extLst>
          </p:cNvPr>
          <p:cNvSpPr>
            <a:spLocks noGrp="1"/>
          </p:cNvSpPr>
          <p:nvPr>
            <p:ph type="title"/>
          </p:nvPr>
        </p:nvSpPr>
        <p:spPr/>
        <p:txBody>
          <a:bodyPr/>
          <a:lstStyle/>
          <a:p>
            <a:r>
              <a:rPr lang="zh-CN" altLang="en-US" dirty="0"/>
              <a:t>循环不变量</a:t>
            </a:r>
          </a:p>
        </p:txBody>
      </p:sp>
      <p:sp>
        <p:nvSpPr>
          <p:cNvPr id="3" name="内容占位符 2">
            <a:extLst>
              <a:ext uri="{FF2B5EF4-FFF2-40B4-BE49-F238E27FC236}">
                <a16:creationId xmlns:a16="http://schemas.microsoft.com/office/drawing/2014/main" id="{F9B949B7-15DA-49C4-8A7F-15134FEE7225}"/>
              </a:ext>
            </a:extLst>
          </p:cNvPr>
          <p:cNvSpPr>
            <a:spLocks noGrp="1"/>
          </p:cNvSpPr>
          <p:nvPr>
            <p:ph idx="1"/>
          </p:nvPr>
        </p:nvSpPr>
        <p:spPr/>
        <p:txBody>
          <a:bodyPr/>
          <a:lstStyle/>
          <a:p>
            <a:r>
              <a:rPr lang="zh-CN" altLang="en-US" dirty="0"/>
              <a:t>用以证明主体结构为循环的算法的正确性，与数学归纳法证明命题正确性相似</a:t>
            </a:r>
          </a:p>
          <a:p>
            <a:r>
              <a:rPr lang="zh-CN" altLang="en-US" dirty="0"/>
              <a:t>要点：</a:t>
            </a:r>
          </a:p>
          <a:p>
            <a:pPr lvl="1"/>
            <a:r>
              <a:rPr lang="zh-CN" altLang="en-US" dirty="0"/>
              <a:t>首先定义算法的循环体所操作的数据或数据结构上的一个关键性质（称为循环不变量）</a:t>
            </a:r>
          </a:p>
          <a:p>
            <a:pPr lvl="1"/>
            <a:r>
              <a:rPr lang="zh-CN" altLang="en-US" dirty="0"/>
              <a:t>证明该性质在循环体开始之前是成立的</a:t>
            </a:r>
          </a:p>
          <a:p>
            <a:pPr lvl="1"/>
            <a:r>
              <a:rPr lang="zh-CN" altLang="en-US" dirty="0"/>
              <a:t>证明循环体每次执行之后该性质仍然成立</a:t>
            </a:r>
          </a:p>
          <a:p>
            <a:pPr lvl="1"/>
            <a:r>
              <a:rPr lang="zh-CN" altLang="en-US" dirty="0"/>
              <a:t>最后证明算法结束时该关键性质保证了算法的正确性</a:t>
            </a:r>
          </a:p>
          <a:p>
            <a:pPr lvl="1"/>
            <a:r>
              <a:rPr lang="zh-CN" altLang="en-US" dirty="0"/>
              <a:t>备注：通常这一循环过程意味着问题的有效规模会随着算法的推进不断递减，当问题的规模缩减到</a:t>
            </a:r>
            <a:r>
              <a:rPr lang="en-US" altLang="zh-CN" dirty="0"/>
              <a:t>0</a:t>
            </a:r>
            <a:r>
              <a:rPr lang="zh-CN" altLang="en-US" dirty="0"/>
              <a:t>时，不变性恰好等价于正确性。</a:t>
            </a:r>
          </a:p>
          <a:p>
            <a:endParaRPr lang="zh-CN" altLang="en-US" dirty="0"/>
          </a:p>
        </p:txBody>
      </p:sp>
    </p:spTree>
    <p:extLst>
      <p:ext uri="{BB962C8B-B14F-4D97-AF65-F5344CB8AC3E}">
        <p14:creationId xmlns:p14="http://schemas.microsoft.com/office/powerpoint/2010/main" val="18804131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823993-008C-4937-9D10-E69D6835EF20}"/>
              </a:ext>
            </a:extLst>
          </p:cNvPr>
          <p:cNvSpPr>
            <a:spLocks noGrp="1"/>
          </p:cNvSpPr>
          <p:nvPr>
            <p:ph type="title"/>
          </p:nvPr>
        </p:nvSpPr>
        <p:spPr/>
        <p:txBody>
          <a:bodyPr/>
          <a:lstStyle/>
          <a:p>
            <a:r>
              <a:rPr lang="zh-CN" altLang="en-US" dirty="0"/>
              <a:t>循环不变量：将十进制数转换为二进制数</a:t>
            </a:r>
          </a:p>
        </p:txBody>
      </p:sp>
      <p:sp>
        <p:nvSpPr>
          <p:cNvPr id="3" name="内容占位符 2">
            <a:extLst>
              <a:ext uri="{FF2B5EF4-FFF2-40B4-BE49-F238E27FC236}">
                <a16:creationId xmlns:a16="http://schemas.microsoft.com/office/drawing/2014/main" id="{46B1D940-8EF3-4221-8E48-D7F5EFC74CEC}"/>
              </a:ext>
            </a:extLst>
          </p:cNvPr>
          <p:cNvSpPr>
            <a:spLocks noGrp="1"/>
          </p:cNvSpPr>
          <p:nvPr>
            <p:ph idx="1"/>
          </p:nvPr>
        </p:nvSpPr>
        <p:spPr/>
        <p:txBody>
          <a:bodyPr>
            <a:noAutofit/>
          </a:bodyPr>
          <a:lstStyle/>
          <a:p>
            <a:r>
              <a:rPr lang="zh-CN" altLang="en-US" sz="2400" dirty="0"/>
              <a:t>证明当算法</a:t>
            </a:r>
            <a:r>
              <a:rPr lang="en-US" altLang="zh-CN" sz="2400" dirty="0" err="1"/>
              <a:t>Convert_to_Binary</a:t>
            </a:r>
            <a:r>
              <a:rPr lang="zh-CN" altLang="en-US" sz="2400" dirty="0"/>
              <a:t>终止时，</a:t>
            </a:r>
            <a:r>
              <a:rPr lang="en-US" altLang="zh-CN" sz="2400" dirty="0"/>
              <a:t>n</a:t>
            </a:r>
            <a:r>
              <a:rPr lang="zh-CN" altLang="en-US" sz="2400" dirty="0"/>
              <a:t>的二进制表示存放在数组</a:t>
            </a:r>
            <a:r>
              <a:rPr lang="en-US" altLang="zh-CN" sz="2400" dirty="0"/>
              <a:t>b</a:t>
            </a:r>
            <a:r>
              <a:rPr lang="zh-CN" altLang="en-US" sz="2400" dirty="0"/>
              <a:t>中。</a:t>
            </a:r>
          </a:p>
          <a:p>
            <a:pPr marL="0" indent="0">
              <a:buNone/>
            </a:pPr>
            <a:r>
              <a:rPr lang="en-US" altLang="zh-CN" sz="2400" dirty="0"/>
              <a:t>Algorithm </a:t>
            </a:r>
            <a:r>
              <a:rPr lang="en-US" altLang="zh-CN" sz="2400" dirty="0" err="1"/>
              <a:t>Convert_to_Binary</a:t>
            </a:r>
            <a:r>
              <a:rPr lang="en-US" altLang="zh-CN" sz="2400" dirty="0"/>
              <a:t>(n)</a:t>
            </a:r>
          </a:p>
          <a:p>
            <a:pPr marL="0" indent="0">
              <a:buNone/>
            </a:pPr>
            <a:r>
              <a:rPr lang="en-US" altLang="zh-CN" sz="2400" dirty="0"/>
              <a:t>Input: n (a positive integer)</a:t>
            </a:r>
          </a:p>
          <a:p>
            <a:pPr marL="0" indent="0">
              <a:buNone/>
            </a:pPr>
            <a:r>
              <a:rPr lang="en-US" altLang="zh-CN" sz="2400" dirty="0"/>
              <a:t>Output: b (an array of bits corresponding to the binary representation of n)</a:t>
            </a:r>
          </a:p>
          <a:p>
            <a:pPr marL="0" indent="0">
              <a:buNone/>
            </a:pPr>
            <a:r>
              <a:rPr lang="en-US" altLang="zh-CN" sz="2400" dirty="0"/>
              <a:t>Begin</a:t>
            </a:r>
          </a:p>
          <a:p>
            <a:pPr marL="0" indent="0">
              <a:buNone/>
            </a:pPr>
            <a:r>
              <a:rPr lang="en-US" altLang="zh-CN" sz="2400" dirty="0"/>
              <a:t>      t:=n; {use a new variable t to preserve n)</a:t>
            </a:r>
          </a:p>
          <a:p>
            <a:pPr marL="0" indent="0">
              <a:buNone/>
            </a:pPr>
            <a:r>
              <a:rPr lang="en-US" altLang="zh-CN" sz="2400" dirty="0"/>
              <a:t>      k:=0;</a:t>
            </a:r>
          </a:p>
          <a:p>
            <a:pPr marL="0" indent="0">
              <a:buNone/>
            </a:pPr>
            <a:r>
              <a:rPr lang="en-US" altLang="zh-CN" sz="2400" dirty="0"/>
              <a:t>      while t&gt;0 do</a:t>
            </a:r>
          </a:p>
          <a:p>
            <a:pPr marL="0" indent="0">
              <a:buNone/>
            </a:pPr>
            <a:r>
              <a:rPr lang="en-US" altLang="zh-CN" sz="2400" dirty="0"/>
              <a:t>            k:=k+1;</a:t>
            </a:r>
          </a:p>
          <a:p>
            <a:pPr marL="0" indent="0">
              <a:buNone/>
            </a:pPr>
            <a:r>
              <a:rPr lang="en-US" altLang="zh-CN" sz="2400" dirty="0"/>
              <a:t>            b[k]:=t mod 2;</a:t>
            </a:r>
          </a:p>
          <a:p>
            <a:pPr marL="0" indent="0">
              <a:buNone/>
            </a:pPr>
            <a:r>
              <a:rPr lang="en-US" altLang="zh-CN" sz="2400" dirty="0"/>
              <a:t>            t:=t div 2;</a:t>
            </a:r>
          </a:p>
          <a:p>
            <a:pPr marL="0" indent="0">
              <a:buNone/>
            </a:pPr>
            <a:r>
              <a:rPr lang="en-US" altLang="zh-CN" sz="2400" dirty="0"/>
              <a:t>      end</a:t>
            </a:r>
          </a:p>
          <a:p>
            <a:endParaRPr lang="zh-CN" altLang="en-US" sz="2400" dirty="0"/>
          </a:p>
        </p:txBody>
      </p:sp>
    </p:spTree>
    <p:extLst>
      <p:ext uri="{BB962C8B-B14F-4D97-AF65-F5344CB8AC3E}">
        <p14:creationId xmlns:p14="http://schemas.microsoft.com/office/powerpoint/2010/main" val="24047412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05E490-03E2-40FE-97A5-0E5F47E832EE}"/>
              </a:ext>
            </a:extLst>
          </p:cNvPr>
          <p:cNvSpPr>
            <a:spLocks noGrp="1"/>
          </p:cNvSpPr>
          <p:nvPr>
            <p:ph type="title"/>
          </p:nvPr>
        </p:nvSpPr>
        <p:spPr/>
        <p:txBody>
          <a:bodyPr/>
          <a:lstStyle/>
          <a:p>
            <a:r>
              <a:rPr lang="zh-CN" altLang="en-US" dirty="0"/>
              <a:t>常见错误</a:t>
            </a:r>
          </a:p>
        </p:txBody>
      </p:sp>
      <p:sp>
        <p:nvSpPr>
          <p:cNvPr id="3" name="内容占位符 2">
            <a:extLst>
              <a:ext uri="{FF2B5EF4-FFF2-40B4-BE49-F238E27FC236}">
                <a16:creationId xmlns:a16="http://schemas.microsoft.com/office/drawing/2014/main" id="{469864BF-7398-457D-B45D-778FB5E485CB}"/>
              </a:ext>
            </a:extLst>
          </p:cNvPr>
          <p:cNvSpPr>
            <a:spLocks noGrp="1"/>
          </p:cNvSpPr>
          <p:nvPr>
            <p:ph idx="1"/>
          </p:nvPr>
        </p:nvSpPr>
        <p:spPr/>
        <p:txBody>
          <a:bodyPr/>
          <a:lstStyle/>
          <a:p>
            <a:r>
              <a:rPr lang="zh-CN" altLang="en-US" dirty="0"/>
              <a:t>如果你对一个定理深信不疑，往往就会把一些看上去可以从该定理推出的“事实”用在证明中。</a:t>
            </a:r>
          </a:p>
          <a:p>
            <a:r>
              <a:rPr lang="zh-CN" altLang="en-US" dirty="0"/>
              <a:t>数学归纳法证明中的主要的一步就是要证明定理对</a:t>
            </a:r>
            <a:r>
              <a:rPr lang="en-US" altLang="zh-CN" dirty="0"/>
              <a:t>n</a:t>
            </a:r>
            <a:r>
              <a:rPr lang="zh-CN" altLang="en-US" dirty="0"/>
              <a:t>成立能推得定理对</a:t>
            </a:r>
            <a:r>
              <a:rPr lang="en-US" altLang="zh-CN" dirty="0"/>
              <a:t>n+1</a:t>
            </a:r>
            <a:r>
              <a:rPr lang="zh-CN" altLang="en-US" dirty="0"/>
              <a:t>也成立。可以先给出</a:t>
            </a:r>
            <a:r>
              <a:rPr lang="en-US" altLang="zh-CN" dirty="0"/>
              <a:t>n+1</a:t>
            </a:r>
            <a:r>
              <a:rPr lang="zh-CN" altLang="en-US" dirty="0"/>
              <a:t>时的情况，然后证明其可以从</a:t>
            </a:r>
            <a:r>
              <a:rPr lang="en-US" altLang="zh-CN" dirty="0"/>
              <a:t>n</a:t>
            </a:r>
            <a:r>
              <a:rPr lang="zh-CN" altLang="en-US" dirty="0"/>
              <a:t>时的情况得到；也可以先给出</a:t>
            </a:r>
            <a:r>
              <a:rPr lang="en-US" altLang="zh-CN" dirty="0"/>
              <a:t>n</a:t>
            </a:r>
            <a:r>
              <a:rPr lang="zh-CN" altLang="en-US" dirty="0"/>
              <a:t>时的情况，然后证明其能推出</a:t>
            </a:r>
            <a:r>
              <a:rPr lang="en-US" altLang="zh-CN" dirty="0"/>
              <a:t>n+1</a:t>
            </a:r>
            <a:r>
              <a:rPr lang="zh-CN" altLang="en-US" dirty="0"/>
              <a:t>时的情况。这两种方法都可以，然而，</a:t>
            </a:r>
            <a:r>
              <a:rPr lang="en-US" altLang="zh-CN" dirty="0"/>
              <a:t>n+1</a:t>
            </a:r>
            <a:r>
              <a:rPr lang="zh-CN" altLang="en-US" dirty="0"/>
              <a:t>时的情况必须是任意的！</a:t>
            </a:r>
          </a:p>
          <a:p>
            <a:r>
              <a:rPr lang="zh-CN" altLang="en-US" dirty="0"/>
              <a:t>定理中有特殊情况存在</a:t>
            </a:r>
          </a:p>
          <a:p>
            <a:endParaRPr lang="zh-CN" altLang="en-US" dirty="0"/>
          </a:p>
        </p:txBody>
      </p:sp>
    </p:spTree>
    <p:extLst>
      <p:ext uri="{BB962C8B-B14F-4D97-AF65-F5344CB8AC3E}">
        <p14:creationId xmlns:p14="http://schemas.microsoft.com/office/powerpoint/2010/main" val="3235627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39D63B-9DF7-4A49-AAB4-A214E466EFDF}"/>
              </a:ext>
            </a:extLst>
          </p:cNvPr>
          <p:cNvSpPr>
            <a:spLocks noGrp="1"/>
          </p:cNvSpPr>
          <p:nvPr>
            <p:ph type="title"/>
          </p:nvPr>
        </p:nvSpPr>
        <p:spPr/>
        <p:txBody>
          <a:bodyPr/>
          <a:lstStyle/>
          <a:p>
            <a:r>
              <a:rPr lang="zh-CN" altLang="en-US" dirty="0"/>
              <a:t>小结</a:t>
            </a:r>
          </a:p>
        </p:txBody>
      </p:sp>
      <p:sp>
        <p:nvSpPr>
          <p:cNvPr id="3" name="内容占位符 2">
            <a:extLst>
              <a:ext uri="{FF2B5EF4-FFF2-40B4-BE49-F238E27FC236}">
                <a16:creationId xmlns:a16="http://schemas.microsoft.com/office/drawing/2014/main" id="{6458AF8A-4665-459F-8CF1-C687484FA33B}"/>
              </a:ext>
            </a:extLst>
          </p:cNvPr>
          <p:cNvSpPr>
            <a:spLocks noGrp="1"/>
          </p:cNvSpPr>
          <p:nvPr>
            <p:ph idx="1"/>
          </p:nvPr>
        </p:nvSpPr>
        <p:spPr/>
        <p:txBody>
          <a:bodyPr/>
          <a:lstStyle/>
          <a:p>
            <a:r>
              <a:rPr lang="zh-CN" altLang="en-US" dirty="0"/>
              <a:t>数学归纳法的第一步就是定义归纳假设，要决定对哪个参数进行归纳。</a:t>
            </a:r>
          </a:p>
          <a:p>
            <a:r>
              <a:rPr lang="zh-CN" altLang="en-US" dirty="0"/>
              <a:t>每次用归纳法证明都分成两步：归纳基础和归约。归纳基础一般都比较容易，核心是归约，归约的要点在于要完整地保留原命题，不能在归约后的命题里加入任何多余的假设，除非这些假设是特别包含在归纳假设中的。归约也可以被看作是扩展。对某个特定的参数，把命题从较小的值扩展到较大的值，必须保证这样的扩展覆盖了参数中所有可能的值，且扩展后的命题是定理的一般形式，没有其它多余的假设或限制。</a:t>
            </a:r>
          </a:p>
          <a:p>
            <a:endParaRPr lang="zh-CN" altLang="en-US" dirty="0"/>
          </a:p>
        </p:txBody>
      </p:sp>
    </p:spTree>
    <p:extLst>
      <p:ext uri="{BB962C8B-B14F-4D97-AF65-F5344CB8AC3E}">
        <p14:creationId xmlns:p14="http://schemas.microsoft.com/office/powerpoint/2010/main" val="235873005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304</TotalTime>
  <Words>2185</Words>
  <Application>Microsoft Office PowerPoint</Application>
  <PresentationFormat>宽屏</PresentationFormat>
  <Paragraphs>131</Paragraphs>
  <Slides>27</Slides>
  <Notes>0</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1</vt:i4>
      </vt:variant>
      <vt:variant>
        <vt:lpstr>幻灯片标题</vt:lpstr>
      </vt:variant>
      <vt:variant>
        <vt:i4>27</vt:i4>
      </vt:variant>
    </vt:vector>
  </HeadingPairs>
  <TitlesOfParts>
    <vt:vector size="32" baseType="lpstr">
      <vt:lpstr>等线</vt:lpstr>
      <vt:lpstr>等线 Light</vt:lpstr>
      <vt:lpstr>Arial</vt:lpstr>
      <vt:lpstr>Office 主题​​</vt:lpstr>
      <vt:lpstr>公式</vt:lpstr>
      <vt:lpstr>数学归纳法</vt:lpstr>
      <vt:lpstr>基本原理</vt:lpstr>
      <vt:lpstr>数学归纳法的一种简单变形(1)</vt:lpstr>
      <vt:lpstr>数学归纳法的一种简单变形(2)</vt:lpstr>
      <vt:lpstr>数学归纳法的一种简单变形(3)</vt:lpstr>
      <vt:lpstr>对什么进行归纳</vt:lpstr>
      <vt:lpstr>三个简单的例子</vt:lpstr>
      <vt:lpstr>平面内区域的计数</vt:lpstr>
      <vt:lpstr>平面内区域的计数</vt:lpstr>
      <vt:lpstr>简单的着色问题</vt:lpstr>
      <vt:lpstr>简单的着色问题</vt:lpstr>
      <vt:lpstr>一道复杂一点的加法题</vt:lpstr>
      <vt:lpstr>一道复杂一点的加法题</vt:lpstr>
      <vt:lpstr>一个简单的不等式</vt:lpstr>
      <vt:lpstr>一个简单的不等式</vt:lpstr>
      <vt:lpstr>欧拉公式</vt:lpstr>
      <vt:lpstr>欧拉公式</vt:lpstr>
      <vt:lpstr>图论中的一个问题</vt:lpstr>
      <vt:lpstr>图论中的一个问题</vt:lpstr>
      <vt:lpstr>在图上寻找无重边的路</vt:lpstr>
      <vt:lpstr>在图上寻找无重边的路</vt:lpstr>
      <vt:lpstr>数学平均数和几何平均数</vt:lpstr>
      <vt:lpstr>数学平均数和几何平均数</vt:lpstr>
      <vt:lpstr>循环不变量</vt:lpstr>
      <vt:lpstr>循环不变量：将十进制数转换为二进制数</vt:lpstr>
      <vt:lpstr>常见错误</vt:lpstr>
      <vt:lpstr>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数学归纳法</dc:title>
  <dc:creator>z r</dc:creator>
  <cp:lastModifiedBy>z r</cp:lastModifiedBy>
  <cp:revision>7</cp:revision>
  <dcterms:created xsi:type="dcterms:W3CDTF">2026-01-02T08:28:09Z</dcterms:created>
  <dcterms:modified xsi:type="dcterms:W3CDTF">2026-02-23T14:14:50Z</dcterms:modified>
</cp:coreProperties>
</file>