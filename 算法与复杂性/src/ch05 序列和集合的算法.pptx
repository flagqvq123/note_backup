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60" r:id="rId6"/>
    <p:sldId id="262" r:id="rId7"/>
    <p:sldId id="263" r:id="rId8"/>
    <p:sldId id="264" r:id="rId9"/>
    <p:sldId id="265" r:id="rId10"/>
    <p:sldId id="266" r:id="rId11"/>
    <p:sldId id="268" r:id="rId12"/>
    <p:sldId id="269" r:id="rId13"/>
    <p:sldId id="270" r:id="rId14"/>
    <p:sldId id="271" r:id="rId15"/>
    <p:sldId id="272" r:id="rId16"/>
    <p:sldId id="273" r:id="rId17"/>
    <p:sldId id="274" r:id="rId18"/>
    <p:sldId id="305" r:id="rId19"/>
    <p:sldId id="306"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82240" autoAdjust="0"/>
  </p:normalViewPr>
  <p:slideViewPr>
    <p:cSldViewPr snapToGrid="0">
      <p:cViewPr varScale="1">
        <p:scale>
          <a:sx n="63" d="100"/>
          <a:sy n="63" d="100"/>
        </p:scale>
        <p:origin x="615" y="45"/>
      </p:cViewPr>
      <p:guideLst/>
    </p:cSldViewPr>
  </p:slideViewPr>
  <p:notesTextViewPr>
    <p:cViewPr>
      <p:scale>
        <a:sx n="1" d="1"/>
        <a:sy n="1" d="1"/>
      </p:scale>
      <p:origin x="0" y="0"/>
    </p:cViewPr>
  </p:notesTextViewPr>
  <p:sorterViewPr>
    <p:cViewPr varScale="1">
      <p:scale>
        <a:sx n="100" d="100"/>
        <a:sy n="100" d="100"/>
      </p:scale>
      <p:origin x="0" y="-166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257205-F094-4163-A4F6-B59119FA394E}" type="datetimeFigureOut">
              <a:rPr lang="zh-CN" altLang="en-US" smtClean="0"/>
              <a:t>2026/3/11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523B-5B0C-43ED-A995-884FC109CF84}" type="slidenum">
              <a:rPr lang="zh-CN" altLang="en-US" smtClean="0"/>
              <a:t>‹#›</a:t>
            </a:fld>
            <a:endParaRPr lang="zh-CN" altLang="en-US"/>
          </a:p>
        </p:txBody>
      </p:sp>
    </p:spTree>
    <p:extLst>
      <p:ext uri="{BB962C8B-B14F-4D97-AF65-F5344CB8AC3E}">
        <p14:creationId xmlns:p14="http://schemas.microsoft.com/office/powerpoint/2010/main" val="396748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注意与子串的区别</a:t>
            </a:r>
          </a:p>
        </p:txBody>
      </p:sp>
      <p:sp>
        <p:nvSpPr>
          <p:cNvPr id="4" name="灯片编号占位符 3"/>
          <p:cNvSpPr>
            <a:spLocks noGrp="1"/>
          </p:cNvSpPr>
          <p:nvPr>
            <p:ph type="sldNum" sz="quarter" idx="5"/>
          </p:nvPr>
        </p:nvSpPr>
        <p:spPr/>
        <p:txBody>
          <a:bodyPr/>
          <a:lstStyle/>
          <a:p>
            <a:fld id="{C987523B-5B0C-43ED-A995-884FC109CF84}" type="slidenum">
              <a:rPr lang="zh-CN" altLang="en-US" smtClean="0"/>
              <a:t>8</a:t>
            </a:fld>
            <a:endParaRPr lang="zh-CN" altLang="en-US"/>
          </a:p>
        </p:txBody>
      </p:sp>
    </p:spTree>
    <p:extLst>
      <p:ext uri="{BB962C8B-B14F-4D97-AF65-F5344CB8AC3E}">
        <p14:creationId xmlns:p14="http://schemas.microsoft.com/office/powerpoint/2010/main" val="133646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987523B-5B0C-43ED-A995-884FC109CF84}" type="slidenum">
              <a:rPr lang="zh-CN" altLang="en-US" smtClean="0"/>
              <a:t>16</a:t>
            </a:fld>
            <a:endParaRPr lang="zh-CN" altLang="en-US"/>
          </a:p>
        </p:txBody>
      </p:sp>
    </p:spTree>
    <p:extLst>
      <p:ext uri="{BB962C8B-B14F-4D97-AF65-F5344CB8AC3E}">
        <p14:creationId xmlns:p14="http://schemas.microsoft.com/office/powerpoint/2010/main" val="798817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987523B-5B0C-43ED-A995-884FC109CF84}" type="slidenum">
              <a:rPr lang="zh-CN" altLang="en-US" smtClean="0"/>
              <a:t>32</a:t>
            </a:fld>
            <a:endParaRPr lang="zh-CN" altLang="en-US"/>
          </a:p>
        </p:txBody>
      </p:sp>
    </p:spTree>
    <p:extLst>
      <p:ext uri="{BB962C8B-B14F-4D97-AF65-F5344CB8AC3E}">
        <p14:creationId xmlns:p14="http://schemas.microsoft.com/office/powerpoint/2010/main" val="739049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即编辑距离（</a:t>
            </a:r>
            <a:r>
              <a:rPr lang="en-US" altLang="zh-CN" dirty="0" err="1"/>
              <a:t>Levenshtein</a:t>
            </a:r>
            <a:r>
              <a:rPr lang="en-US" altLang="zh-CN" dirty="0"/>
              <a:t> </a:t>
            </a:r>
            <a:r>
              <a:rPr lang="zh-CN" altLang="en-US"/>
              <a:t>距离）</a:t>
            </a:r>
          </a:p>
        </p:txBody>
      </p:sp>
      <p:sp>
        <p:nvSpPr>
          <p:cNvPr id="4" name="灯片编号占位符 3"/>
          <p:cNvSpPr>
            <a:spLocks noGrp="1"/>
          </p:cNvSpPr>
          <p:nvPr>
            <p:ph type="sldNum" sz="quarter" idx="5"/>
          </p:nvPr>
        </p:nvSpPr>
        <p:spPr/>
        <p:txBody>
          <a:bodyPr/>
          <a:lstStyle/>
          <a:p>
            <a:fld id="{C987523B-5B0C-43ED-A995-884FC109CF84}" type="slidenum">
              <a:rPr lang="zh-CN" altLang="en-US" smtClean="0"/>
              <a:t>38</a:t>
            </a:fld>
            <a:endParaRPr lang="zh-CN" altLang="en-US"/>
          </a:p>
        </p:txBody>
      </p:sp>
    </p:spTree>
    <p:extLst>
      <p:ext uri="{BB962C8B-B14F-4D97-AF65-F5344CB8AC3E}">
        <p14:creationId xmlns:p14="http://schemas.microsoft.com/office/powerpoint/2010/main" val="1690267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C3DC6-B98E-4677-9C7B-C11CE8E09EA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C1AFBC4-328B-406A-8A0E-D2E37556B6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53A93DD-2B2A-4988-ACDD-068951C86BC5}"/>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5" name="页脚占位符 4">
            <a:extLst>
              <a:ext uri="{FF2B5EF4-FFF2-40B4-BE49-F238E27FC236}">
                <a16:creationId xmlns:a16="http://schemas.microsoft.com/office/drawing/2014/main" id="{37B0A42C-56D2-4657-AE52-179F1625F1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1F8D8E-C82B-447E-8FBB-1CF061807D26}"/>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3045399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1E23F5-6E45-4C83-AE10-5C9659B25D5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2391EB-DD7D-4893-A70E-80B63AA176AB}"/>
              </a:ext>
            </a:extLst>
          </p:cNvPr>
          <p:cNvSpPr>
            <a:spLocks noGrp="1"/>
          </p:cNvSpPr>
          <p:nvPr>
            <p:ph idx="1"/>
          </p:nvPr>
        </p:nvSpPr>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79C63E4C-0EF7-4805-8C48-EDE1F04CA270}"/>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5" name="页脚占位符 4">
            <a:extLst>
              <a:ext uri="{FF2B5EF4-FFF2-40B4-BE49-F238E27FC236}">
                <a16:creationId xmlns:a16="http://schemas.microsoft.com/office/drawing/2014/main" id="{52B04039-E900-496A-9D52-51E03FD015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59D10D-E730-4040-A74F-1DE74172B2A5}"/>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280110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DD8F0-0E58-4D84-AF20-E65FF2C73E0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2763964-B437-4FFF-8E22-EE5A7437CD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C3A0C90-16A9-4E69-AC5A-63ACB9D03DDC}"/>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5" name="页脚占位符 4">
            <a:extLst>
              <a:ext uri="{FF2B5EF4-FFF2-40B4-BE49-F238E27FC236}">
                <a16:creationId xmlns:a16="http://schemas.microsoft.com/office/drawing/2014/main" id="{803830EA-C3FB-431A-826A-1926547CC7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38ED5E-5679-49DE-BB41-F3AD51A14A80}"/>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1308563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794B5-6DF9-4377-801C-EB38501962C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82615B1-CBCD-4AE8-A1AE-D4C58F594C9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357D30-D59F-4C2E-B31B-461BBFC6A82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C9F1ACE-5DFD-49E8-B533-DB53C968576D}"/>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6" name="页脚占位符 5">
            <a:extLst>
              <a:ext uri="{FF2B5EF4-FFF2-40B4-BE49-F238E27FC236}">
                <a16:creationId xmlns:a16="http://schemas.microsoft.com/office/drawing/2014/main" id="{9A8E2826-8E4C-4A8B-87C0-84B3C0FC08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26B4C0-5A87-411D-A03A-1873AB3008FC}"/>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567657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A3F23A-7E4C-4F3D-9D31-0E6335868F6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BDB9FDB-E5D6-4259-A53E-A88EFBAB08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4778C85-85A2-436F-B020-7C2B672BFAA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F6AF0F-DCFC-4A42-AD76-0A2565CBB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A60EE28-FB50-43B9-A2B5-F79996B5265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DEA2675-7820-4E9D-8858-BB2C2226E96A}"/>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8" name="页脚占位符 7">
            <a:extLst>
              <a:ext uri="{FF2B5EF4-FFF2-40B4-BE49-F238E27FC236}">
                <a16:creationId xmlns:a16="http://schemas.microsoft.com/office/drawing/2014/main" id="{F09256B6-35BF-4660-A50C-ED0382A1BC8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6D776EF-885F-4D83-B939-D7A829EFA83A}"/>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869133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ABE98-F7BA-41D7-AA57-0CF7964EE6F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85AFEF-9F41-4842-93DD-42709FF2BF06}"/>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4" name="页脚占位符 3">
            <a:extLst>
              <a:ext uri="{FF2B5EF4-FFF2-40B4-BE49-F238E27FC236}">
                <a16:creationId xmlns:a16="http://schemas.microsoft.com/office/drawing/2014/main" id="{F7518A8D-77D4-47EE-B6A3-887BD335CEC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D0374A5-DC58-4BCF-AB05-00FAB5979D13}"/>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2666089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77781C1-BAA0-432A-A30F-D3FD327357F1}"/>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3" name="页脚占位符 2">
            <a:extLst>
              <a:ext uri="{FF2B5EF4-FFF2-40B4-BE49-F238E27FC236}">
                <a16:creationId xmlns:a16="http://schemas.microsoft.com/office/drawing/2014/main" id="{D83CA4CE-2CE7-41FF-A3BC-419017C6980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E9B1196-9464-494D-AAE8-6D6E927B46A4}"/>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1410725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012CF4-458B-4FDF-B9F2-8F714468AB3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21E70E7-1F41-439D-BF5F-39A9329830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C0116C-9335-4F71-B1E1-40AFFFA630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F6709C-77A1-4F90-B900-966E3ED972D7}"/>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6" name="页脚占位符 5">
            <a:extLst>
              <a:ext uri="{FF2B5EF4-FFF2-40B4-BE49-F238E27FC236}">
                <a16:creationId xmlns:a16="http://schemas.microsoft.com/office/drawing/2014/main" id="{D629ABDB-EBC7-4BB0-BDA4-95FCED66C6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A8E95E-56DA-486A-B5AA-0607F2CD2145}"/>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2669216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D781FA-3CB0-44EA-A2E9-6A21483EC3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AADC187-BF9F-4FD7-BBE6-DB0DB33CF4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0569896-9E94-480C-A6C9-AFA803E65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5DB45AD-D79D-4E67-A6C7-F68BEF86D10E}"/>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6" name="页脚占位符 5">
            <a:extLst>
              <a:ext uri="{FF2B5EF4-FFF2-40B4-BE49-F238E27FC236}">
                <a16:creationId xmlns:a16="http://schemas.microsoft.com/office/drawing/2014/main" id="{CDB2DAB6-F206-487F-BABB-A2F26A0B9E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06F3376-50C4-4B3C-96A2-D73C3C09982B}"/>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2133268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A93B7-BDE5-4FC5-B8A0-B4034B8DA7D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82A922F-4857-4342-8446-F4D8CA94889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8E379C3-414C-4871-AAAD-8D1151198388}"/>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5" name="页脚占位符 4">
            <a:extLst>
              <a:ext uri="{FF2B5EF4-FFF2-40B4-BE49-F238E27FC236}">
                <a16:creationId xmlns:a16="http://schemas.microsoft.com/office/drawing/2014/main" id="{95AD9C91-BD38-4011-8584-1F96D50466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674EB9-CCD7-494A-86D2-3EAB0EE6A08A}"/>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131946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F8218A1-AA3B-48C0-84E9-8B2989D010D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29B361D-685C-4ABA-9D57-F423CAE8B02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CB4535D-FA8C-4991-9FF8-5E47BE5BB83E}"/>
              </a:ext>
            </a:extLst>
          </p:cNvPr>
          <p:cNvSpPr>
            <a:spLocks noGrp="1"/>
          </p:cNvSpPr>
          <p:nvPr>
            <p:ph type="dt" sz="half" idx="10"/>
          </p:nvPr>
        </p:nvSpPr>
        <p:spPr/>
        <p:txBody>
          <a:bodyPr/>
          <a:lstStyle/>
          <a:p>
            <a:fld id="{3B539226-8C16-495B-B07E-849C60A01039}" type="datetimeFigureOut">
              <a:rPr lang="zh-CN" altLang="en-US" smtClean="0"/>
              <a:t>2026/3/11</a:t>
            </a:fld>
            <a:endParaRPr lang="zh-CN" altLang="en-US"/>
          </a:p>
        </p:txBody>
      </p:sp>
      <p:sp>
        <p:nvSpPr>
          <p:cNvPr id="5" name="页脚占位符 4">
            <a:extLst>
              <a:ext uri="{FF2B5EF4-FFF2-40B4-BE49-F238E27FC236}">
                <a16:creationId xmlns:a16="http://schemas.microsoft.com/office/drawing/2014/main" id="{4E8DEBB7-E2F7-42F0-B845-BF5C9DB7F9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830CD6-D509-46C7-8469-58F91A8FC774}"/>
              </a:ext>
            </a:extLst>
          </p:cNvPr>
          <p:cNvSpPr>
            <a:spLocks noGrp="1"/>
          </p:cNvSpPr>
          <p:nvPr>
            <p:ph type="sldNum" sz="quarter" idx="12"/>
          </p:nvPr>
        </p:nvSpPr>
        <p:spPr/>
        <p:txBody>
          <a:body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3148011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574E0A0-0E3E-44B6-A9F2-9C807BB6F9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AABFA48-5DF6-4BD6-A889-CBBD4A5E0B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660A93-621B-40B5-9F07-56CD97A9C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539226-8C16-495B-B07E-849C60A01039}" type="datetimeFigureOut">
              <a:rPr lang="zh-CN" altLang="en-US" smtClean="0"/>
              <a:t>2026/3/11</a:t>
            </a:fld>
            <a:endParaRPr lang="zh-CN" altLang="en-US"/>
          </a:p>
        </p:txBody>
      </p:sp>
      <p:sp>
        <p:nvSpPr>
          <p:cNvPr id="5" name="页脚占位符 4">
            <a:extLst>
              <a:ext uri="{FF2B5EF4-FFF2-40B4-BE49-F238E27FC236}">
                <a16:creationId xmlns:a16="http://schemas.microsoft.com/office/drawing/2014/main" id="{48A046F4-BC11-433E-9216-20B6E73CF2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E5683A2-659E-4301-961C-3FF17D3ABD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3B1C52-1F3B-4A1B-AC46-1ACF07C2F293}" type="slidenum">
              <a:rPr lang="zh-CN" altLang="en-US" smtClean="0"/>
              <a:t>‹#›</a:t>
            </a:fld>
            <a:endParaRPr lang="zh-CN" altLang="en-US"/>
          </a:p>
        </p:txBody>
      </p:sp>
    </p:spTree>
    <p:extLst>
      <p:ext uri="{BB962C8B-B14F-4D97-AF65-F5344CB8AC3E}">
        <p14:creationId xmlns:p14="http://schemas.microsoft.com/office/powerpoint/2010/main" val="4140519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FF105-334E-435A-B3C9-B9CE0CBF9663}"/>
              </a:ext>
            </a:extLst>
          </p:cNvPr>
          <p:cNvSpPr>
            <a:spLocks noGrp="1"/>
          </p:cNvSpPr>
          <p:nvPr>
            <p:ph type="ctrTitle"/>
          </p:nvPr>
        </p:nvSpPr>
        <p:spPr/>
        <p:txBody>
          <a:bodyPr/>
          <a:lstStyle/>
          <a:p>
            <a:r>
              <a:rPr lang="zh-CN" altLang="en-US" dirty="0"/>
              <a:t>序列和集合的算法</a:t>
            </a:r>
          </a:p>
        </p:txBody>
      </p:sp>
      <p:sp>
        <p:nvSpPr>
          <p:cNvPr id="3" name="副标题 2">
            <a:extLst>
              <a:ext uri="{FF2B5EF4-FFF2-40B4-BE49-F238E27FC236}">
                <a16:creationId xmlns:a16="http://schemas.microsoft.com/office/drawing/2014/main" id="{705EBB0C-B7D4-44F9-A8D3-565ED69C1C36}"/>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67268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8DBA82-EE3D-4E3C-8689-132B2C1FECAA}"/>
              </a:ext>
            </a:extLst>
          </p:cNvPr>
          <p:cNvSpPr>
            <a:spLocks noGrp="1"/>
          </p:cNvSpPr>
          <p:nvPr>
            <p:ph type="title"/>
          </p:nvPr>
        </p:nvSpPr>
        <p:spPr/>
        <p:txBody>
          <a:bodyPr/>
          <a:lstStyle/>
          <a:p>
            <a:r>
              <a:rPr lang="zh-CN" altLang="en-US" dirty="0"/>
              <a:t>序列与集合</a:t>
            </a:r>
          </a:p>
        </p:txBody>
      </p:sp>
      <p:sp>
        <p:nvSpPr>
          <p:cNvPr id="3" name="内容占位符 2">
            <a:extLst>
              <a:ext uri="{FF2B5EF4-FFF2-40B4-BE49-F238E27FC236}">
                <a16:creationId xmlns:a16="http://schemas.microsoft.com/office/drawing/2014/main" id="{2E93D363-ED41-43A9-875B-901E6A67EDE8}"/>
              </a:ext>
            </a:extLst>
          </p:cNvPr>
          <p:cNvSpPr>
            <a:spLocks noGrp="1"/>
          </p:cNvSpPr>
          <p:nvPr>
            <p:ph idx="1"/>
          </p:nvPr>
        </p:nvSpPr>
        <p:spPr/>
        <p:txBody>
          <a:bodyPr>
            <a:normAutofit/>
          </a:bodyPr>
          <a:lstStyle/>
          <a:p>
            <a:r>
              <a:rPr lang="zh-CN" altLang="en-US" sz="2400" dirty="0"/>
              <a:t>序列须考虑元素的顺序，而集合则不必</a:t>
            </a:r>
          </a:p>
          <a:p>
            <a:r>
              <a:rPr lang="zh-CN" altLang="en-US" sz="2400" dirty="0"/>
              <a:t>集合中的元素不能重复出现，而序列则没有这样的限制</a:t>
            </a:r>
          </a:p>
          <a:p>
            <a:r>
              <a:rPr lang="zh-CN" altLang="en-US" sz="2400" dirty="0"/>
              <a:t>序列或集合中的元素取自全序集合（如整数集合、实数集合等），由此任意元素之间可以比较大小</a:t>
            </a:r>
          </a:p>
          <a:p>
            <a:endParaRPr lang="zh-CN" altLang="en-US" sz="2400" dirty="0"/>
          </a:p>
        </p:txBody>
      </p:sp>
    </p:spTree>
    <p:extLst>
      <p:ext uri="{BB962C8B-B14F-4D97-AF65-F5344CB8AC3E}">
        <p14:creationId xmlns:p14="http://schemas.microsoft.com/office/powerpoint/2010/main" val="1235487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5E3A3-CD6D-4E6F-AF55-2F38B064C661}"/>
              </a:ext>
            </a:extLst>
          </p:cNvPr>
          <p:cNvSpPr>
            <a:spLocks noGrp="1"/>
          </p:cNvSpPr>
          <p:nvPr>
            <p:ph type="title"/>
          </p:nvPr>
        </p:nvSpPr>
        <p:spPr/>
        <p:txBody>
          <a:bodyPr/>
          <a:lstStyle/>
          <a:p>
            <a:r>
              <a:rPr lang="zh-CN" altLang="en-US" dirty="0"/>
              <a:t>二分搜索的几种形式</a:t>
            </a:r>
          </a:p>
        </p:txBody>
      </p:sp>
      <p:sp>
        <p:nvSpPr>
          <p:cNvPr id="3" name="内容占位符 2">
            <a:extLst>
              <a:ext uri="{FF2B5EF4-FFF2-40B4-BE49-F238E27FC236}">
                <a16:creationId xmlns:a16="http://schemas.microsoft.com/office/drawing/2014/main" id="{97BC70F7-6F9A-405D-BB71-A499FCE4F755}"/>
              </a:ext>
            </a:extLst>
          </p:cNvPr>
          <p:cNvSpPr>
            <a:spLocks noGrp="1"/>
          </p:cNvSpPr>
          <p:nvPr>
            <p:ph idx="1"/>
          </p:nvPr>
        </p:nvSpPr>
        <p:spPr/>
        <p:txBody>
          <a:bodyPr>
            <a:normAutofit/>
          </a:bodyPr>
          <a:lstStyle/>
          <a:p>
            <a:r>
              <a:rPr lang="zh-CN" altLang="en-US" sz="2400" dirty="0"/>
              <a:t>二分搜索</a:t>
            </a:r>
          </a:p>
          <a:p>
            <a:r>
              <a:rPr lang="zh-CN" altLang="en-US" sz="2400" dirty="0"/>
              <a:t>循环序列的二分搜索</a:t>
            </a:r>
          </a:p>
          <a:p>
            <a:r>
              <a:rPr lang="zh-CN" altLang="en-US" sz="2400" dirty="0"/>
              <a:t>二分搜索特殊下标</a:t>
            </a:r>
          </a:p>
          <a:p>
            <a:r>
              <a:rPr lang="zh-CN" altLang="en-US" sz="2400" dirty="0"/>
              <a:t>二分搜索长度未知的序列</a:t>
            </a:r>
          </a:p>
          <a:p>
            <a:r>
              <a:rPr lang="zh-CN" altLang="en-US" sz="2400" dirty="0"/>
              <a:t>重叠子序列问题</a:t>
            </a:r>
          </a:p>
          <a:p>
            <a:r>
              <a:rPr lang="zh-CN" altLang="en-US" sz="2400" dirty="0"/>
              <a:t>方程求解</a:t>
            </a:r>
          </a:p>
          <a:p>
            <a:endParaRPr lang="zh-CN" altLang="en-US" sz="2400" dirty="0"/>
          </a:p>
        </p:txBody>
      </p:sp>
    </p:spTree>
    <p:extLst>
      <p:ext uri="{BB962C8B-B14F-4D97-AF65-F5344CB8AC3E}">
        <p14:creationId xmlns:p14="http://schemas.microsoft.com/office/powerpoint/2010/main" val="2922837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3D986A-D08D-48BC-B89A-9E27337FFCCE}"/>
              </a:ext>
            </a:extLst>
          </p:cNvPr>
          <p:cNvSpPr>
            <a:spLocks noGrp="1"/>
          </p:cNvSpPr>
          <p:nvPr>
            <p:ph type="title"/>
          </p:nvPr>
        </p:nvSpPr>
        <p:spPr/>
        <p:txBody>
          <a:bodyPr/>
          <a:lstStyle/>
          <a:p>
            <a:r>
              <a:rPr lang="zh-CN" altLang="en-US" dirty="0"/>
              <a:t>二分搜索</a:t>
            </a:r>
          </a:p>
        </p:txBody>
      </p:sp>
      <p:sp>
        <p:nvSpPr>
          <p:cNvPr id="3" name="内容占位符 2">
            <a:extLst>
              <a:ext uri="{FF2B5EF4-FFF2-40B4-BE49-F238E27FC236}">
                <a16:creationId xmlns:a16="http://schemas.microsoft.com/office/drawing/2014/main" id="{E6D958BC-C0CC-4E29-8EB3-7727E954DC30}"/>
              </a:ext>
            </a:extLst>
          </p:cNvPr>
          <p:cNvSpPr>
            <a:spLocks noGrp="1"/>
          </p:cNvSpPr>
          <p:nvPr>
            <p:ph idx="1"/>
          </p:nvPr>
        </p:nvSpPr>
        <p:spPr/>
        <p:txBody>
          <a:bodyPr>
            <a:normAutofit/>
          </a:bodyPr>
          <a:lstStyle/>
          <a:p>
            <a:r>
              <a:rPr lang="zh-CN" altLang="en-US" sz="2400" dirty="0">
                <a:solidFill>
                  <a:srgbClr val="000000"/>
                </a:solidFill>
                <a:latin typeface="+mn-ea"/>
              </a:rPr>
              <a:t>问题：给定实数序列</a:t>
            </a:r>
            <a:r>
              <a:rPr lang="en-US" altLang="zh-CN" sz="2400" dirty="0">
                <a:solidFill>
                  <a:srgbClr val="000000"/>
                </a:solidFill>
                <a:latin typeface="+mn-ea"/>
              </a:rPr>
              <a:t>x</a:t>
            </a:r>
            <a:r>
              <a:rPr lang="en-US" altLang="zh-CN" sz="2400" baseline="-25000" dirty="0">
                <a:solidFill>
                  <a:srgbClr val="000000"/>
                </a:solidFill>
                <a:latin typeface="+mn-ea"/>
              </a:rPr>
              <a:t>1</a:t>
            </a:r>
            <a:r>
              <a:rPr lang="en-US" altLang="zh-CN" sz="2400" dirty="0">
                <a:solidFill>
                  <a:srgbClr val="000000"/>
                </a:solidFill>
                <a:latin typeface="+mn-ea"/>
              </a:rPr>
              <a:t>,x</a:t>
            </a:r>
            <a:r>
              <a:rPr lang="en-US" altLang="zh-CN" sz="2400" baseline="-25000" dirty="0">
                <a:solidFill>
                  <a:srgbClr val="000000"/>
                </a:solidFill>
                <a:latin typeface="+mn-ea"/>
              </a:rPr>
              <a:t>2</a:t>
            </a:r>
            <a:r>
              <a:rPr lang="en-US" altLang="zh-CN" sz="2400" dirty="0">
                <a:solidFill>
                  <a:srgbClr val="000000"/>
                </a:solidFill>
                <a:latin typeface="+mn-ea"/>
              </a:rPr>
              <a:t>,…,</a:t>
            </a:r>
            <a:r>
              <a:rPr lang="en-US" altLang="zh-CN" sz="2400" dirty="0" err="1">
                <a:solidFill>
                  <a:srgbClr val="000000"/>
                </a:solidFill>
                <a:latin typeface="+mn-ea"/>
              </a:rPr>
              <a:t>x</a:t>
            </a:r>
            <a:r>
              <a:rPr lang="en-US" altLang="zh-CN" sz="2400" baseline="-25000" dirty="0" err="1">
                <a:solidFill>
                  <a:srgbClr val="000000"/>
                </a:solidFill>
                <a:latin typeface="+mn-ea"/>
              </a:rPr>
              <a:t>n</a:t>
            </a:r>
            <a:r>
              <a:rPr lang="zh-CN" altLang="en-US" sz="2400" dirty="0">
                <a:solidFill>
                  <a:srgbClr val="000000"/>
                </a:solidFill>
                <a:latin typeface="+mn-ea"/>
              </a:rPr>
              <a:t>，满足</a:t>
            </a:r>
            <a:r>
              <a:rPr lang="en-US" altLang="zh-CN" sz="2400" dirty="0">
                <a:solidFill>
                  <a:srgbClr val="000000"/>
                </a:solidFill>
                <a:latin typeface="+mn-ea"/>
              </a:rPr>
              <a:t>x</a:t>
            </a:r>
            <a:r>
              <a:rPr lang="en-US" altLang="zh-CN" sz="2400" baseline="-25000" dirty="0">
                <a:solidFill>
                  <a:srgbClr val="000000"/>
                </a:solidFill>
                <a:latin typeface="+mn-ea"/>
              </a:rPr>
              <a:t>1</a:t>
            </a:r>
            <a:r>
              <a:rPr lang="en-US" altLang="zh-CN" sz="2400" dirty="0">
                <a:solidFill>
                  <a:srgbClr val="000000"/>
                </a:solidFill>
                <a:latin typeface="+mn-ea"/>
              </a:rPr>
              <a:t>≤x</a:t>
            </a:r>
            <a:r>
              <a:rPr lang="en-US" altLang="zh-CN" sz="2400" baseline="-25000" dirty="0">
                <a:solidFill>
                  <a:srgbClr val="000000"/>
                </a:solidFill>
                <a:latin typeface="+mn-ea"/>
              </a:rPr>
              <a:t>2</a:t>
            </a:r>
            <a:r>
              <a:rPr lang="en-US" altLang="zh-CN" sz="2400" dirty="0">
                <a:solidFill>
                  <a:srgbClr val="000000"/>
                </a:solidFill>
                <a:latin typeface="+mn-ea"/>
              </a:rPr>
              <a:t>≤…≤</a:t>
            </a:r>
            <a:r>
              <a:rPr lang="en-US" altLang="zh-CN" sz="2400" dirty="0" err="1">
                <a:solidFill>
                  <a:srgbClr val="000000"/>
                </a:solidFill>
                <a:latin typeface="+mn-ea"/>
              </a:rPr>
              <a:t>x</a:t>
            </a:r>
            <a:r>
              <a:rPr lang="en-US" altLang="zh-CN" sz="2400" baseline="-25000" dirty="0" err="1">
                <a:solidFill>
                  <a:srgbClr val="000000"/>
                </a:solidFill>
                <a:latin typeface="+mn-ea"/>
              </a:rPr>
              <a:t>n</a:t>
            </a:r>
            <a:r>
              <a:rPr lang="zh-CN" altLang="en-US" sz="2400" dirty="0">
                <a:solidFill>
                  <a:srgbClr val="000000"/>
                </a:solidFill>
                <a:latin typeface="+mn-ea"/>
              </a:rPr>
              <a:t>。对某个实数</a:t>
            </a:r>
            <a:r>
              <a:rPr lang="en-US" altLang="zh-CN" sz="2400" dirty="0">
                <a:solidFill>
                  <a:srgbClr val="000000"/>
                </a:solidFill>
                <a:latin typeface="+mn-ea"/>
              </a:rPr>
              <a:t>z</a:t>
            </a:r>
            <a:r>
              <a:rPr lang="zh-CN" altLang="en-US" sz="2400" dirty="0">
                <a:solidFill>
                  <a:srgbClr val="000000"/>
                </a:solidFill>
                <a:latin typeface="+mn-ea"/>
              </a:rPr>
              <a:t>，试确定</a:t>
            </a:r>
            <a:r>
              <a:rPr lang="en-US" altLang="zh-CN" sz="2400" dirty="0">
                <a:solidFill>
                  <a:srgbClr val="000000"/>
                </a:solidFill>
                <a:latin typeface="+mn-ea"/>
              </a:rPr>
              <a:t>z</a:t>
            </a:r>
            <a:r>
              <a:rPr lang="zh-CN" altLang="en-US" sz="2400" dirty="0">
                <a:solidFill>
                  <a:srgbClr val="000000"/>
                </a:solidFill>
                <a:latin typeface="+mn-ea"/>
              </a:rPr>
              <a:t>是否在该序列中出现。若</a:t>
            </a:r>
            <a:r>
              <a:rPr lang="en-US" altLang="zh-CN" sz="2400" dirty="0">
                <a:solidFill>
                  <a:srgbClr val="000000"/>
                </a:solidFill>
                <a:latin typeface="+mn-ea"/>
              </a:rPr>
              <a:t>z</a:t>
            </a:r>
            <a:r>
              <a:rPr lang="zh-CN" altLang="en-US" sz="2400" dirty="0">
                <a:solidFill>
                  <a:srgbClr val="000000"/>
                </a:solidFill>
                <a:latin typeface="+mn-ea"/>
              </a:rPr>
              <a:t>出现，试确定下标</a:t>
            </a:r>
            <a:r>
              <a:rPr lang="en-US" altLang="zh-CN" sz="2400" dirty="0" err="1">
                <a:solidFill>
                  <a:srgbClr val="000000"/>
                </a:solidFill>
                <a:latin typeface="+mn-ea"/>
              </a:rPr>
              <a:t>i</a:t>
            </a:r>
            <a:r>
              <a:rPr lang="zh-CN" altLang="en-US" sz="2400" dirty="0">
                <a:solidFill>
                  <a:srgbClr val="000000"/>
                </a:solidFill>
                <a:latin typeface="+mn-ea"/>
              </a:rPr>
              <a:t>使</a:t>
            </a:r>
            <a:r>
              <a:rPr lang="en-US" altLang="zh-CN" sz="2400" dirty="0">
                <a:solidFill>
                  <a:srgbClr val="000000"/>
                </a:solidFill>
                <a:latin typeface="+mn-ea"/>
              </a:rPr>
              <a:t>x</a:t>
            </a:r>
            <a:r>
              <a:rPr lang="en-US" altLang="zh-CN" sz="2400" baseline="-25000" dirty="0">
                <a:solidFill>
                  <a:srgbClr val="000000"/>
                </a:solidFill>
                <a:latin typeface="+mn-ea"/>
              </a:rPr>
              <a:t>i</a:t>
            </a:r>
            <a:r>
              <a:rPr lang="en-US" altLang="zh-CN" sz="2400" dirty="0">
                <a:solidFill>
                  <a:srgbClr val="000000"/>
                </a:solidFill>
                <a:latin typeface="+mn-ea"/>
              </a:rPr>
              <a:t>=z</a:t>
            </a:r>
            <a:r>
              <a:rPr lang="zh-CN" altLang="en-US" sz="2400" dirty="0">
                <a:solidFill>
                  <a:srgbClr val="000000"/>
                </a:solidFill>
                <a:latin typeface="+mn-ea"/>
              </a:rPr>
              <a:t>。</a:t>
            </a:r>
          </a:p>
          <a:p>
            <a:r>
              <a:rPr lang="zh-CN" altLang="en-US" sz="2400" dirty="0">
                <a:solidFill>
                  <a:srgbClr val="000000"/>
                </a:solidFill>
                <a:latin typeface="+mn-ea"/>
              </a:rPr>
              <a:t>为简单起见，这里只查找一个满足</a:t>
            </a:r>
            <a:r>
              <a:rPr lang="en-US" altLang="zh-CN" sz="2400" dirty="0">
                <a:solidFill>
                  <a:srgbClr val="000000"/>
                </a:solidFill>
                <a:latin typeface="+mn-ea"/>
              </a:rPr>
              <a:t>x</a:t>
            </a:r>
            <a:r>
              <a:rPr lang="en-US" altLang="zh-CN" sz="2400" baseline="-25000" dirty="0">
                <a:solidFill>
                  <a:srgbClr val="000000"/>
                </a:solidFill>
                <a:latin typeface="+mn-ea"/>
              </a:rPr>
              <a:t>i</a:t>
            </a:r>
            <a:r>
              <a:rPr lang="en-US" altLang="zh-CN" sz="2400" dirty="0">
                <a:solidFill>
                  <a:srgbClr val="000000"/>
                </a:solidFill>
                <a:latin typeface="+mn-ea"/>
              </a:rPr>
              <a:t>=z</a:t>
            </a:r>
            <a:r>
              <a:rPr lang="zh-CN" altLang="en-US" sz="2400" dirty="0">
                <a:solidFill>
                  <a:srgbClr val="000000"/>
                </a:solidFill>
                <a:latin typeface="+mn-ea"/>
              </a:rPr>
              <a:t>的下标</a:t>
            </a:r>
            <a:r>
              <a:rPr lang="en-US" altLang="zh-CN" sz="2400" dirty="0" err="1">
                <a:solidFill>
                  <a:srgbClr val="000000"/>
                </a:solidFill>
                <a:latin typeface="+mn-ea"/>
              </a:rPr>
              <a:t>i</a:t>
            </a:r>
            <a:r>
              <a:rPr lang="zh-CN" altLang="en-US" sz="2400" dirty="0">
                <a:solidFill>
                  <a:srgbClr val="000000"/>
                </a:solidFill>
                <a:latin typeface="+mn-ea"/>
              </a:rPr>
              <a:t>。</a:t>
            </a:r>
          </a:p>
          <a:p>
            <a:r>
              <a:rPr lang="zh-CN" altLang="en-US" sz="2400" dirty="0">
                <a:solidFill>
                  <a:srgbClr val="000000"/>
                </a:solidFill>
                <a:latin typeface="+mn-ea"/>
              </a:rPr>
              <a:t>基本思想：通过一次查询检验中间数把搜索空间（大致）减半</a:t>
            </a:r>
          </a:p>
          <a:p>
            <a:r>
              <a:rPr lang="zh-CN" altLang="en-US" sz="2400" dirty="0">
                <a:solidFill>
                  <a:srgbClr val="000000"/>
                </a:solidFill>
                <a:latin typeface="+mn-ea"/>
              </a:rPr>
              <a:t>算法复杂度：算法每进行一次比较，搜索的范围就减半，因此，在</a:t>
            </a:r>
            <a:r>
              <a:rPr lang="en-US" altLang="zh-CN" sz="2400" dirty="0">
                <a:solidFill>
                  <a:srgbClr val="000000"/>
                </a:solidFill>
                <a:latin typeface="+mn-ea"/>
              </a:rPr>
              <a:t>n</a:t>
            </a:r>
            <a:r>
              <a:rPr lang="zh-CN" altLang="en-US" sz="2400" dirty="0">
                <a:solidFill>
                  <a:srgbClr val="000000"/>
                </a:solidFill>
                <a:latin typeface="+mn-ea"/>
              </a:rPr>
              <a:t>个元素的序列中查找某个数值需要比较</a:t>
            </a:r>
            <a:r>
              <a:rPr lang="en-US" altLang="zh-CN" sz="2400" dirty="0">
                <a:solidFill>
                  <a:srgbClr val="000000"/>
                </a:solidFill>
                <a:latin typeface="+mn-ea"/>
              </a:rPr>
              <a:t>O(log n)</a:t>
            </a:r>
            <a:r>
              <a:rPr lang="zh-CN" altLang="en-US" sz="2400" dirty="0">
                <a:solidFill>
                  <a:srgbClr val="000000"/>
                </a:solidFill>
                <a:latin typeface="+mn-ea"/>
              </a:rPr>
              <a:t>次。</a:t>
            </a:r>
          </a:p>
          <a:p>
            <a:endParaRPr lang="zh-CN" altLang="en-US" sz="2400" dirty="0"/>
          </a:p>
        </p:txBody>
      </p:sp>
    </p:spTree>
    <p:extLst>
      <p:ext uri="{BB962C8B-B14F-4D97-AF65-F5344CB8AC3E}">
        <p14:creationId xmlns:p14="http://schemas.microsoft.com/office/powerpoint/2010/main" val="3760161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0C0A9A-725D-4B71-A781-A8B2EBDA9FCE}"/>
              </a:ext>
            </a:extLst>
          </p:cNvPr>
          <p:cNvSpPr>
            <a:spLocks noGrp="1"/>
          </p:cNvSpPr>
          <p:nvPr>
            <p:ph type="title"/>
          </p:nvPr>
        </p:nvSpPr>
        <p:spPr/>
        <p:txBody>
          <a:bodyPr/>
          <a:lstStyle/>
          <a:p>
            <a:r>
              <a:rPr lang="zh-CN" altLang="en-US" dirty="0"/>
              <a:t>循环序列的二分搜索</a:t>
            </a:r>
          </a:p>
        </p:txBody>
      </p:sp>
      <p:sp>
        <p:nvSpPr>
          <p:cNvPr id="3" name="内容占位符 2">
            <a:extLst>
              <a:ext uri="{FF2B5EF4-FFF2-40B4-BE49-F238E27FC236}">
                <a16:creationId xmlns:a16="http://schemas.microsoft.com/office/drawing/2014/main" id="{208063F6-F082-4D8B-A5A9-4061DAA427BD}"/>
              </a:ext>
            </a:extLst>
          </p:cNvPr>
          <p:cNvSpPr>
            <a:spLocks noGrp="1"/>
          </p:cNvSpPr>
          <p:nvPr>
            <p:ph idx="1"/>
          </p:nvPr>
        </p:nvSpPr>
        <p:spPr>
          <a:xfrm>
            <a:off x="838200" y="1825625"/>
            <a:ext cx="5257800" cy="4351338"/>
          </a:xfrm>
        </p:spPr>
        <p:txBody>
          <a:bodyPr>
            <a:noAutofit/>
          </a:bodyPr>
          <a:lstStyle/>
          <a:p>
            <a:r>
              <a:rPr lang="zh-CN" altLang="en-US" sz="2000" dirty="0">
                <a:solidFill>
                  <a:srgbClr val="000000"/>
                </a:solidFill>
              </a:rPr>
              <a:t>如果在序列</a:t>
            </a:r>
            <a:r>
              <a:rPr lang="en-US" altLang="zh-CN" sz="2000" dirty="0">
                <a:solidFill>
                  <a:srgbClr val="000000"/>
                </a:solidFill>
              </a:rPr>
              <a:t>x</a:t>
            </a:r>
            <a:r>
              <a:rPr lang="en-US" altLang="zh-CN" sz="2000" baseline="-25000" dirty="0">
                <a:solidFill>
                  <a:srgbClr val="000000"/>
                </a:solidFill>
              </a:rPr>
              <a:t>1</a:t>
            </a:r>
            <a:r>
              <a:rPr lang="en-US" altLang="zh-CN" sz="2000" dirty="0">
                <a:solidFill>
                  <a:srgbClr val="000000"/>
                </a:solidFill>
              </a:rPr>
              <a:t>,x</a:t>
            </a:r>
            <a:r>
              <a:rPr lang="en-US" altLang="zh-CN" sz="2000" baseline="-25000" dirty="0">
                <a:solidFill>
                  <a:srgbClr val="000000"/>
                </a:solidFill>
              </a:rPr>
              <a:t>2</a:t>
            </a:r>
            <a:r>
              <a:rPr lang="en-US" altLang="zh-CN" sz="2000" dirty="0">
                <a:solidFill>
                  <a:srgbClr val="000000"/>
                </a:solidFill>
              </a:rPr>
              <a:t>,…,</a:t>
            </a:r>
            <a:r>
              <a:rPr lang="en-US" altLang="zh-CN" sz="2000" dirty="0" err="1">
                <a:solidFill>
                  <a:srgbClr val="000000"/>
                </a:solidFill>
              </a:rPr>
              <a:t>x</a:t>
            </a:r>
            <a:r>
              <a:rPr lang="en-US" altLang="zh-CN" sz="2000" baseline="-25000" dirty="0" err="1">
                <a:solidFill>
                  <a:srgbClr val="000000"/>
                </a:solidFill>
              </a:rPr>
              <a:t>n</a:t>
            </a:r>
            <a:r>
              <a:rPr lang="zh-CN" altLang="en-US" sz="2000" dirty="0">
                <a:solidFill>
                  <a:srgbClr val="000000"/>
                </a:solidFill>
              </a:rPr>
              <a:t>中，存在某个</a:t>
            </a:r>
            <a:r>
              <a:rPr lang="en-US" altLang="zh-CN" sz="2000" dirty="0" err="1">
                <a:solidFill>
                  <a:srgbClr val="000000"/>
                </a:solidFill>
              </a:rPr>
              <a:t>i</a:t>
            </a:r>
            <a:r>
              <a:rPr lang="zh-CN" altLang="en-US" sz="2000" dirty="0">
                <a:solidFill>
                  <a:srgbClr val="000000"/>
                </a:solidFill>
              </a:rPr>
              <a:t>使</a:t>
            </a:r>
            <a:r>
              <a:rPr lang="en-US" altLang="zh-CN" sz="2000" dirty="0">
                <a:solidFill>
                  <a:srgbClr val="000000"/>
                </a:solidFill>
              </a:rPr>
              <a:t>x</a:t>
            </a:r>
            <a:r>
              <a:rPr lang="en-US" altLang="zh-CN" sz="2000" baseline="-25000" dirty="0">
                <a:solidFill>
                  <a:srgbClr val="000000"/>
                </a:solidFill>
              </a:rPr>
              <a:t>i</a:t>
            </a:r>
            <a:r>
              <a:rPr lang="zh-CN" altLang="en-US" sz="2000" dirty="0">
                <a:solidFill>
                  <a:srgbClr val="000000"/>
                </a:solidFill>
              </a:rPr>
              <a:t>是序列中的最小者，且序列</a:t>
            </a:r>
            <a:r>
              <a:rPr lang="en-US" altLang="zh-CN" sz="2000" dirty="0">
                <a:solidFill>
                  <a:srgbClr val="000000"/>
                </a:solidFill>
              </a:rPr>
              <a:t>x</a:t>
            </a:r>
            <a:r>
              <a:rPr lang="en-US" altLang="zh-CN" sz="2000" baseline="-25000" dirty="0">
                <a:solidFill>
                  <a:srgbClr val="000000"/>
                </a:solidFill>
              </a:rPr>
              <a:t>i</a:t>
            </a:r>
            <a:r>
              <a:rPr lang="en-US" altLang="zh-CN" sz="2000" dirty="0">
                <a:solidFill>
                  <a:srgbClr val="000000"/>
                </a:solidFill>
              </a:rPr>
              <a:t>,x</a:t>
            </a:r>
            <a:r>
              <a:rPr lang="en-US" altLang="zh-CN" sz="2000" baseline="-25000" dirty="0">
                <a:solidFill>
                  <a:srgbClr val="000000"/>
                </a:solidFill>
              </a:rPr>
              <a:t>i+1</a:t>
            </a:r>
            <a:r>
              <a:rPr lang="en-US" altLang="zh-CN" sz="2000" dirty="0">
                <a:solidFill>
                  <a:srgbClr val="000000"/>
                </a:solidFill>
              </a:rPr>
              <a:t>,…,x</a:t>
            </a:r>
            <a:r>
              <a:rPr lang="en-US" altLang="zh-CN" sz="2000" baseline="-25000" dirty="0">
                <a:solidFill>
                  <a:srgbClr val="000000"/>
                </a:solidFill>
              </a:rPr>
              <a:t>n</a:t>
            </a:r>
            <a:r>
              <a:rPr lang="en-US" altLang="zh-CN" sz="2000" dirty="0">
                <a:solidFill>
                  <a:srgbClr val="000000"/>
                </a:solidFill>
              </a:rPr>
              <a:t>,x</a:t>
            </a:r>
            <a:r>
              <a:rPr lang="en-US" altLang="zh-CN" sz="2000" baseline="-25000" dirty="0">
                <a:solidFill>
                  <a:srgbClr val="000000"/>
                </a:solidFill>
              </a:rPr>
              <a:t>1</a:t>
            </a:r>
            <a:r>
              <a:rPr lang="en-US" altLang="zh-CN" sz="2000" dirty="0">
                <a:solidFill>
                  <a:srgbClr val="000000"/>
                </a:solidFill>
              </a:rPr>
              <a:t>,…x</a:t>
            </a:r>
            <a:r>
              <a:rPr lang="en-US" altLang="zh-CN" sz="2000" baseline="-25000" dirty="0">
                <a:solidFill>
                  <a:srgbClr val="000000"/>
                </a:solidFill>
              </a:rPr>
              <a:t>i-1</a:t>
            </a:r>
            <a:r>
              <a:rPr lang="zh-CN" altLang="en-US" sz="2000" dirty="0">
                <a:solidFill>
                  <a:srgbClr val="000000"/>
                </a:solidFill>
              </a:rPr>
              <a:t>是递增的，则称序列</a:t>
            </a:r>
            <a:r>
              <a:rPr lang="en-US" altLang="zh-CN" sz="2000" dirty="0">
                <a:solidFill>
                  <a:srgbClr val="000000"/>
                </a:solidFill>
              </a:rPr>
              <a:t>x</a:t>
            </a:r>
            <a:r>
              <a:rPr lang="en-US" altLang="zh-CN" sz="2000" baseline="-25000" dirty="0">
                <a:solidFill>
                  <a:srgbClr val="000000"/>
                </a:solidFill>
              </a:rPr>
              <a:t>1</a:t>
            </a:r>
            <a:r>
              <a:rPr lang="en-US" altLang="zh-CN" sz="2000" dirty="0">
                <a:solidFill>
                  <a:srgbClr val="000000"/>
                </a:solidFill>
              </a:rPr>
              <a:t>,x</a:t>
            </a:r>
            <a:r>
              <a:rPr lang="en-US" altLang="zh-CN" sz="2000" baseline="-25000" dirty="0">
                <a:solidFill>
                  <a:srgbClr val="000000"/>
                </a:solidFill>
              </a:rPr>
              <a:t>2</a:t>
            </a:r>
            <a:r>
              <a:rPr lang="en-US" altLang="zh-CN" sz="2000" dirty="0">
                <a:solidFill>
                  <a:srgbClr val="000000"/>
                </a:solidFill>
              </a:rPr>
              <a:t>,…,</a:t>
            </a:r>
            <a:r>
              <a:rPr lang="en-US" altLang="zh-CN" sz="2000" dirty="0" err="1">
                <a:solidFill>
                  <a:srgbClr val="000000"/>
                </a:solidFill>
              </a:rPr>
              <a:t>x</a:t>
            </a:r>
            <a:r>
              <a:rPr lang="en-US" altLang="zh-CN" sz="2000" baseline="-25000" dirty="0" err="1">
                <a:solidFill>
                  <a:srgbClr val="000000"/>
                </a:solidFill>
              </a:rPr>
              <a:t>n</a:t>
            </a:r>
            <a:r>
              <a:rPr lang="zh-CN" altLang="en-US" sz="2000" dirty="0">
                <a:solidFill>
                  <a:srgbClr val="000000"/>
                </a:solidFill>
              </a:rPr>
              <a:t>是循环序列。</a:t>
            </a:r>
          </a:p>
          <a:p>
            <a:r>
              <a:rPr lang="zh-CN" altLang="en-US" sz="2000" dirty="0">
                <a:solidFill>
                  <a:srgbClr val="000000"/>
                </a:solidFill>
              </a:rPr>
              <a:t>问题：对某个已知的循环排序的序列，找出其中最小元素的位置。为简单起见，假设该位置是唯一的。</a:t>
            </a:r>
          </a:p>
          <a:p>
            <a:r>
              <a:rPr lang="zh-CN" altLang="en-US" sz="2000" dirty="0">
                <a:solidFill>
                  <a:srgbClr val="000000"/>
                </a:solidFill>
              </a:rPr>
              <a:t>思想：利用二分搜索，通过一次比较将序列长度减半。在序列中任取两个元素</a:t>
            </a:r>
            <a:r>
              <a:rPr lang="en-US" altLang="zh-CN" sz="2000" dirty="0" err="1">
                <a:solidFill>
                  <a:srgbClr val="000000"/>
                </a:solidFill>
              </a:rPr>
              <a:t>x</a:t>
            </a:r>
            <a:r>
              <a:rPr lang="en-US" altLang="zh-CN" sz="2000" baseline="-25000" dirty="0" err="1">
                <a:solidFill>
                  <a:srgbClr val="000000"/>
                </a:solidFill>
              </a:rPr>
              <a:t>k</a:t>
            </a:r>
            <a:r>
              <a:rPr lang="zh-CN" altLang="en-US" sz="2000" dirty="0">
                <a:solidFill>
                  <a:srgbClr val="000000"/>
                </a:solidFill>
              </a:rPr>
              <a:t>和</a:t>
            </a:r>
            <a:r>
              <a:rPr lang="en-US" altLang="zh-CN" sz="2000" dirty="0" err="1">
                <a:solidFill>
                  <a:srgbClr val="000000"/>
                </a:solidFill>
              </a:rPr>
              <a:t>x</a:t>
            </a:r>
            <a:r>
              <a:rPr lang="en-US" altLang="zh-CN" sz="2000" baseline="-25000" dirty="0" err="1">
                <a:solidFill>
                  <a:srgbClr val="000000"/>
                </a:solidFill>
              </a:rPr>
              <a:t>m</a:t>
            </a:r>
            <a:r>
              <a:rPr lang="zh-CN" altLang="en-US" sz="2000" dirty="0">
                <a:solidFill>
                  <a:srgbClr val="000000"/>
                </a:solidFill>
              </a:rPr>
              <a:t>，其中</a:t>
            </a:r>
            <a:r>
              <a:rPr lang="en-US" altLang="zh-CN" sz="2000" dirty="0">
                <a:solidFill>
                  <a:srgbClr val="000000"/>
                </a:solidFill>
              </a:rPr>
              <a:t>k&lt;m</a:t>
            </a:r>
            <a:r>
              <a:rPr lang="zh-CN" altLang="en-US" sz="2000" dirty="0">
                <a:solidFill>
                  <a:srgbClr val="000000"/>
                </a:solidFill>
              </a:rPr>
              <a:t>。若</a:t>
            </a:r>
            <a:r>
              <a:rPr lang="en-US" altLang="zh-CN" sz="2000" dirty="0" err="1">
                <a:solidFill>
                  <a:srgbClr val="000000"/>
                </a:solidFill>
              </a:rPr>
              <a:t>x</a:t>
            </a:r>
            <a:r>
              <a:rPr lang="en-US" altLang="zh-CN" sz="2000" baseline="-25000" dirty="0" err="1">
                <a:solidFill>
                  <a:srgbClr val="000000"/>
                </a:solidFill>
              </a:rPr>
              <a:t>k</a:t>
            </a:r>
            <a:r>
              <a:rPr lang="en-US" altLang="zh-CN" sz="2000" dirty="0">
                <a:solidFill>
                  <a:srgbClr val="000000"/>
                </a:solidFill>
              </a:rPr>
              <a:t>&lt;</a:t>
            </a:r>
            <a:r>
              <a:rPr lang="en-US" altLang="zh-CN" sz="2000" dirty="0" err="1">
                <a:solidFill>
                  <a:srgbClr val="000000"/>
                </a:solidFill>
              </a:rPr>
              <a:t>x</a:t>
            </a:r>
            <a:r>
              <a:rPr lang="en-US" altLang="zh-CN" sz="2000" baseline="-25000" dirty="0" err="1">
                <a:solidFill>
                  <a:srgbClr val="000000"/>
                </a:solidFill>
              </a:rPr>
              <a:t>m</a:t>
            </a:r>
            <a:r>
              <a:rPr lang="zh-CN" altLang="en-US" sz="2000" dirty="0">
                <a:solidFill>
                  <a:srgbClr val="000000"/>
                </a:solidFill>
              </a:rPr>
              <a:t>，</a:t>
            </a:r>
            <a:r>
              <a:rPr lang="en-US" altLang="zh-CN" sz="2000" dirty="0" err="1">
                <a:solidFill>
                  <a:srgbClr val="000000"/>
                </a:solidFill>
              </a:rPr>
              <a:t>i</a:t>
            </a:r>
            <a:r>
              <a:rPr lang="zh-CN" altLang="en-US" sz="2000" dirty="0">
                <a:solidFill>
                  <a:srgbClr val="000000"/>
                </a:solidFill>
              </a:rPr>
              <a:t>就不可能落在</a:t>
            </a:r>
            <a:r>
              <a:rPr lang="en-US" altLang="zh-CN" sz="2000" dirty="0">
                <a:solidFill>
                  <a:srgbClr val="000000"/>
                </a:solidFill>
              </a:rPr>
              <a:t>k&lt;</a:t>
            </a:r>
            <a:r>
              <a:rPr lang="en-US" altLang="zh-CN" sz="2000" dirty="0" err="1">
                <a:solidFill>
                  <a:srgbClr val="000000"/>
                </a:solidFill>
              </a:rPr>
              <a:t>i≤m</a:t>
            </a:r>
            <a:r>
              <a:rPr lang="zh-CN" altLang="en-US" sz="2000" dirty="0">
                <a:solidFill>
                  <a:srgbClr val="000000"/>
                </a:solidFill>
              </a:rPr>
              <a:t>中，因为</a:t>
            </a:r>
            <a:r>
              <a:rPr lang="en-US" altLang="zh-CN" sz="2000" dirty="0">
                <a:solidFill>
                  <a:srgbClr val="000000"/>
                </a:solidFill>
              </a:rPr>
              <a:t>x</a:t>
            </a:r>
            <a:r>
              <a:rPr lang="en-US" altLang="zh-CN" sz="2000" baseline="-25000" dirty="0">
                <a:solidFill>
                  <a:srgbClr val="000000"/>
                </a:solidFill>
              </a:rPr>
              <a:t>i</a:t>
            </a:r>
            <a:r>
              <a:rPr lang="zh-CN" altLang="en-US" sz="2000" dirty="0">
                <a:solidFill>
                  <a:srgbClr val="000000"/>
                </a:solidFill>
              </a:rPr>
              <a:t>是序列中的最小数（注意，这里不能排除</a:t>
            </a:r>
            <a:r>
              <a:rPr lang="en-US" altLang="zh-CN" sz="2000" dirty="0" err="1">
                <a:solidFill>
                  <a:srgbClr val="000000"/>
                </a:solidFill>
              </a:rPr>
              <a:t>x</a:t>
            </a:r>
            <a:r>
              <a:rPr lang="en-US" altLang="zh-CN" sz="2000" baseline="-25000" dirty="0" err="1">
                <a:solidFill>
                  <a:srgbClr val="000000"/>
                </a:solidFill>
              </a:rPr>
              <a:t>k</a:t>
            </a:r>
            <a:r>
              <a:rPr lang="zh-CN" altLang="en-US" sz="2000" dirty="0">
                <a:solidFill>
                  <a:srgbClr val="000000"/>
                </a:solidFill>
              </a:rPr>
              <a:t>）。另一方面，若</a:t>
            </a:r>
            <a:r>
              <a:rPr lang="en-US" altLang="zh-CN" sz="2000" dirty="0" err="1">
                <a:solidFill>
                  <a:srgbClr val="000000"/>
                </a:solidFill>
              </a:rPr>
              <a:t>x</a:t>
            </a:r>
            <a:r>
              <a:rPr lang="en-US" altLang="zh-CN" sz="2000" baseline="-25000" dirty="0" err="1">
                <a:solidFill>
                  <a:srgbClr val="000000"/>
                </a:solidFill>
              </a:rPr>
              <a:t>k</a:t>
            </a:r>
            <a:r>
              <a:rPr lang="en-US" altLang="zh-CN" sz="2000" dirty="0">
                <a:solidFill>
                  <a:srgbClr val="000000"/>
                </a:solidFill>
              </a:rPr>
              <a:t>&gt;</a:t>
            </a:r>
            <a:r>
              <a:rPr lang="en-US" altLang="zh-CN" sz="2000" dirty="0" err="1">
                <a:solidFill>
                  <a:srgbClr val="000000"/>
                </a:solidFill>
              </a:rPr>
              <a:t>x</a:t>
            </a:r>
            <a:r>
              <a:rPr lang="en-US" altLang="zh-CN" sz="2000" baseline="-25000" dirty="0" err="1">
                <a:solidFill>
                  <a:srgbClr val="000000"/>
                </a:solidFill>
              </a:rPr>
              <a:t>m</a:t>
            </a:r>
            <a:r>
              <a:rPr lang="zh-CN" altLang="en-US" sz="2000" dirty="0">
                <a:solidFill>
                  <a:srgbClr val="000000"/>
                </a:solidFill>
              </a:rPr>
              <a:t>，</a:t>
            </a:r>
            <a:r>
              <a:rPr lang="en-US" altLang="zh-CN" sz="2000" dirty="0" err="1">
                <a:solidFill>
                  <a:srgbClr val="000000"/>
                </a:solidFill>
              </a:rPr>
              <a:t>i</a:t>
            </a:r>
            <a:r>
              <a:rPr lang="zh-CN" altLang="en-US" sz="2000" dirty="0">
                <a:solidFill>
                  <a:srgbClr val="000000"/>
                </a:solidFill>
              </a:rPr>
              <a:t>就一定落在</a:t>
            </a:r>
            <a:r>
              <a:rPr lang="en-US" altLang="zh-CN" sz="2000" dirty="0">
                <a:solidFill>
                  <a:srgbClr val="000000"/>
                </a:solidFill>
              </a:rPr>
              <a:t>k&lt;</a:t>
            </a:r>
            <a:r>
              <a:rPr lang="en-US" altLang="zh-CN" sz="2000" dirty="0" err="1">
                <a:solidFill>
                  <a:srgbClr val="000000"/>
                </a:solidFill>
              </a:rPr>
              <a:t>i≤m</a:t>
            </a:r>
            <a:r>
              <a:rPr lang="zh-CN" altLang="en-US" sz="2000" dirty="0">
                <a:solidFill>
                  <a:srgbClr val="000000"/>
                </a:solidFill>
              </a:rPr>
              <a:t>中，因为在这个区间内元素的顺序发生了跳变。这样一来，比较一次元素大小就能排除许多元素。通过选择恰当的</a:t>
            </a:r>
            <a:r>
              <a:rPr lang="en-US" altLang="zh-CN" sz="2000" dirty="0">
                <a:solidFill>
                  <a:srgbClr val="000000"/>
                </a:solidFill>
              </a:rPr>
              <a:t>k</a:t>
            </a:r>
            <a:r>
              <a:rPr lang="zh-CN" altLang="en-US" sz="2000" dirty="0">
                <a:solidFill>
                  <a:srgbClr val="000000"/>
                </a:solidFill>
              </a:rPr>
              <a:t>和</a:t>
            </a:r>
            <a:r>
              <a:rPr lang="en-US" altLang="zh-CN" sz="2000" dirty="0">
                <a:solidFill>
                  <a:srgbClr val="000000"/>
                </a:solidFill>
              </a:rPr>
              <a:t>m</a:t>
            </a:r>
            <a:r>
              <a:rPr lang="zh-CN" altLang="en-US" sz="2000" dirty="0">
                <a:solidFill>
                  <a:srgbClr val="000000"/>
                </a:solidFill>
              </a:rPr>
              <a:t>就能在</a:t>
            </a:r>
            <a:r>
              <a:rPr lang="en-US" altLang="zh-CN" sz="2000" dirty="0">
                <a:solidFill>
                  <a:srgbClr val="000000"/>
                </a:solidFill>
              </a:rPr>
              <a:t>O(log n)</a:t>
            </a:r>
            <a:r>
              <a:rPr lang="zh-CN" altLang="en-US" sz="2000" dirty="0">
                <a:solidFill>
                  <a:srgbClr val="000000"/>
                </a:solidFill>
              </a:rPr>
              <a:t>次比较后找到</a:t>
            </a:r>
            <a:r>
              <a:rPr lang="en-US" altLang="zh-CN" sz="2000" dirty="0" err="1">
                <a:solidFill>
                  <a:srgbClr val="000000"/>
                </a:solidFill>
              </a:rPr>
              <a:t>i</a:t>
            </a:r>
            <a:r>
              <a:rPr lang="zh-CN" altLang="en-US" sz="2000" dirty="0">
                <a:solidFill>
                  <a:srgbClr val="000000"/>
                </a:solidFill>
              </a:rPr>
              <a:t>。</a:t>
            </a:r>
          </a:p>
          <a:p>
            <a:endParaRPr lang="zh-CN" altLang="en-US" sz="2000" dirty="0"/>
          </a:p>
        </p:txBody>
      </p:sp>
      <p:sp>
        <p:nvSpPr>
          <p:cNvPr id="4" name="内容占位符 2">
            <a:extLst>
              <a:ext uri="{FF2B5EF4-FFF2-40B4-BE49-F238E27FC236}">
                <a16:creationId xmlns:a16="http://schemas.microsoft.com/office/drawing/2014/main" id="{D2FE6D5F-4978-4DC7-9418-CCB4A1338789}"/>
              </a:ext>
            </a:extLst>
          </p:cNvPr>
          <p:cNvSpPr txBox="1">
            <a:spLocks/>
          </p:cNvSpPr>
          <p:nvPr/>
        </p:nvSpPr>
        <p:spPr>
          <a:xfrm>
            <a:off x="6350000" y="1825625"/>
            <a:ext cx="5562600" cy="435133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sz="1800" dirty="0">
                <a:solidFill>
                  <a:srgbClr val="000000"/>
                </a:solidFill>
              </a:rPr>
              <a:t>Algorithm </a:t>
            </a:r>
            <a:r>
              <a:rPr lang="en-US" altLang="zh-CN" sz="1800" dirty="0" err="1">
                <a:solidFill>
                  <a:srgbClr val="000000"/>
                </a:solidFill>
              </a:rPr>
              <a:t>Cyclic_Binary_Search</a:t>
            </a:r>
            <a:r>
              <a:rPr lang="en-US" altLang="zh-CN" sz="1800" dirty="0">
                <a:solidFill>
                  <a:srgbClr val="000000"/>
                </a:solidFill>
              </a:rPr>
              <a:t>(</a:t>
            </a:r>
            <a:r>
              <a:rPr lang="en-US" altLang="zh-CN" sz="1800" dirty="0" err="1">
                <a:solidFill>
                  <a:srgbClr val="000000"/>
                </a:solidFill>
              </a:rPr>
              <a:t>X,n</a:t>
            </a:r>
            <a:r>
              <a:rPr lang="en-US" altLang="zh-CN" sz="1800" dirty="0">
                <a:solidFill>
                  <a:srgbClr val="000000"/>
                </a:solidFill>
              </a:rPr>
              <a:t>)</a:t>
            </a:r>
          </a:p>
          <a:p>
            <a:pPr>
              <a:buFont typeface="Arial" panose="020B0604020202020204" pitchFamily="34" charset="0"/>
              <a:buNone/>
            </a:pPr>
            <a:r>
              <a:rPr lang="en-US" altLang="zh-CN" sz="1800" dirty="0">
                <a:solidFill>
                  <a:srgbClr val="000000"/>
                </a:solidFill>
              </a:rPr>
              <a:t>Input: X, a cyclically sorted array in the range 1 to n of distinct elements</a:t>
            </a:r>
          </a:p>
          <a:p>
            <a:pPr>
              <a:buFont typeface="Arial" panose="020B0604020202020204" pitchFamily="34" charset="0"/>
              <a:buNone/>
            </a:pPr>
            <a:r>
              <a:rPr lang="en-US" altLang="zh-CN" sz="1800" dirty="0">
                <a:solidFill>
                  <a:srgbClr val="000000"/>
                </a:solidFill>
              </a:rPr>
              <a:t>Output: Position (the index of the minimal element)</a:t>
            </a:r>
          </a:p>
          <a:p>
            <a:pPr>
              <a:buFont typeface="Arial" panose="020B0604020202020204" pitchFamily="34" charset="0"/>
              <a:buNone/>
            </a:pPr>
            <a:r>
              <a:rPr lang="en-US" altLang="zh-CN" sz="1800" dirty="0">
                <a:solidFill>
                  <a:srgbClr val="000000"/>
                </a:solidFill>
              </a:rPr>
              <a:t>begin</a:t>
            </a:r>
          </a:p>
          <a:p>
            <a:pPr>
              <a:buFont typeface="Arial" panose="020B0604020202020204" pitchFamily="34" charset="0"/>
              <a:buNone/>
            </a:pPr>
            <a:r>
              <a:rPr lang="en-US" altLang="zh-CN" sz="1800" dirty="0">
                <a:solidFill>
                  <a:srgbClr val="000000"/>
                </a:solidFill>
              </a:rPr>
              <a:t>    Position:=</a:t>
            </a:r>
            <a:r>
              <a:rPr lang="en-US" altLang="zh-CN" sz="1800" dirty="0" err="1">
                <a:solidFill>
                  <a:srgbClr val="000000"/>
                </a:solidFill>
              </a:rPr>
              <a:t>Cyclic_Find</a:t>
            </a:r>
            <a:r>
              <a:rPr lang="en-US" altLang="zh-CN" sz="1800" dirty="0">
                <a:solidFill>
                  <a:srgbClr val="000000"/>
                </a:solidFill>
              </a:rPr>
              <a:t>(1,n);</a:t>
            </a:r>
          </a:p>
          <a:p>
            <a:pPr>
              <a:buFont typeface="Arial" panose="020B0604020202020204" pitchFamily="34" charset="0"/>
              <a:buNone/>
            </a:pPr>
            <a:r>
              <a:rPr lang="en-US" altLang="zh-CN" sz="1800" dirty="0">
                <a:solidFill>
                  <a:srgbClr val="000000"/>
                </a:solidFill>
              </a:rPr>
              <a:t>end</a:t>
            </a:r>
          </a:p>
          <a:p>
            <a:pPr>
              <a:buFont typeface="Arial" panose="020B0604020202020204" pitchFamily="34" charset="0"/>
              <a:buNone/>
            </a:pPr>
            <a:r>
              <a:rPr lang="en-US" altLang="zh-CN" sz="1800" dirty="0">
                <a:solidFill>
                  <a:srgbClr val="000000"/>
                </a:solidFill>
              </a:rPr>
              <a:t>function </a:t>
            </a:r>
            <a:r>
              <a:rPr lang="en-US" altLang="zh-CN" sz="1800" dirty="0" err="1">
                <a:solidFill>
                  <a:srgbClr val="000000"/>
                </a:solidFill>
              </a:rPr>
              <a:t>Cyclic_Find</a:t>
            </a:r>
            <a:r>
              <a:rPr lang="en-US" altLang="zh-CN" sz="1800" dirty="0">
                <a:solidFill>
                  <a:srgbClr val="000000"/>
                </a:solidFill>
              </a:rPr>
              <a:t>(</a:t>
            </a:r>
            <a:r>
              <a:rPr lang="en-US" altLang="zh-CN" sz="1800" dirty="0" err="1">
                <a:solidFill>
                  <a:srgbClr val="000000"/>
                </a:solidFill>
              </a:rPr>
              <a:t>Left,Right</a:t>
            </a:r>
            <a:r>
              <a:rPr lang="en-US" altLang="zh-CN" sz="1800" dirty="0">
                <a:solidFill>
                  <a:srgbClr val="000000"/>
                </a:solidFill>
              </a:rPr>
              <a:t>):integer;</a:t>
            </a:r>
          </a:p>
          <a:p>
            <a:pPr>
              <a:buFont typeface="Arial" panose="020B0604020202020204" pitchFamily="34" charset="0"/>
              <a:buNone/>
            </a:pPr>
            <a:r>
              <a:rPr lang="en-US" altLang="zh-CN" sz="1800" dirty="0">
                <a:solidFill>
                  <a:srgbClr val="000000"/>
                </a:solidFill>
              </a:rPr>
              <a:t>begin</a:t>
            </a:r>
          </a:p>
          <a:p>
            <a:pPr>
              <a:buFont typeface="Arial" panose="020B0604020202020204" pitchFamily="34" charset="0"/>
              <a:buNone/>
            </a:pPr>
            <a:r>
              <a:rPr lang="en-US" altLang="zh-CN" sz="1800" dirty="0">
                <a:solidFill>
                  <a:srgbClr val="000000"/>
                </a:solidFill>
              </a:rPr>
              <a:t>    if Left=Right then </a:t>
            </a:r>
            <a:r>
              <a:rPr lang="en-US" altLang="zh-CN" sz="1800" dirty="0" err="1">
                <a:solidFill>
                  <a:srgbClr val="000000"/>
                </a:solidFill>
              </a:rPr>
              <a:t>Cyclic_Find</a:t>
            </a:r>
            <a:r>
              <a:rPr lang="en-US" altLang="zh-CN" sz="1800" dirty="0">
                <a:solidFill>
                  <a:srgbClr val="000000"/>
                </a:solidFill>
              </a:rPr>
              <a:t>:=Left</a:t>
            </a:r>
          </a:p>
          <a:p>
            <a:pPr>
              <a:buFont typeface="Arial" panose="020B0604020202020204" pitchFamily="34" charset="0"/>
              <a:buNone/>
            </a:pPr>
            <a:r>
              <a:rPr lang="en-US" altLang="zh-CN" sz="1800" dirty="0">
                <a:solidFill>
                  <a:srgbClr val="000000"/>
                </a:solidFill>
              </a:rPr>
              <a:t>    else</a:t>
            </a:r>
          </a:p>
          <a:p>
            <a:pPr>
              <a:buFont typeface="Arial" panose="020B0604020202020204" pitchFamily="34" charset="0"/>
              <a:buNone/>
            </a:pPr>
            <a:r>
              <a:rPr lang="en-US" altLang="zh-CN" sz="1800" dirty="0">
                <a:solidFill>
                  <a:srgbClr val="000000"/>
                </a:solidFill>
              </a:rPr>
              <a:t>        Middle:=Left+</a:t>
            </a:r>
            <a:r>
              <a:rPr lang="en-US" altLang="zh-CN" sz="1800" dirty="0">
                <a:solidFill>
                  <a:srgbClr val="000000"/>
                </a:solidFill>
                <a:sym typeface="Symbol" pitchFamily="18" charset="2"/>
              </a:rPr>
              <a:t> </a:t>
            </a:r>
            <a:r>
              <a:rPr lang="en-US" altLang="zh-CN" sz="1800" dirty="0">
                <a:solidFill>
                  <a:srgbClr val="000000"/>
                </a:solidFill>
              </a:rPr>
              <a:t>(Right-Left)/2</a:t>
            </a:r>
            <a:r>
              <a:rPr lang="en-US" altLang="zh-CN" sz="1800" dirty="0">
                <a:solidFill>
                  <a:srgbClr val="000000"/>
                </a:solidFill>
                <a:sym typeface="Symbol" pitchFamily="18" charset="2"/>
              </a:rPr>
              <a:t>;</a:t>
            </a:r>
            <a:r>
              <a:rPr lang="en-US" altLang="zh-CN" sz="1800" dirty="0">
                <a:solidFill>
                  <a:srgbClr val="000000"/>
                </a:solidFill>
              </a:rPr>
              <a:t>      </a:t>
            </a:r>
          </a:p>
          <a:p>
            <a:pPr>
              <a:buFont typeface="Arial" panose="020B0604020202020204" pitchFamily="34" charset="0"/>
              <a:buNone/>
            </a:pPr>
            <a:r>
              <a:rPr lang="en-US" altLang="zh-CN" sz="1800" dirty="0">
                <a:solidFill>
                  <a:srgbClr val="000000"/>
                </a:solidFill>
              </a:rPr>
              <a:t>        //</a:t>
            </a:r>
            <a:r>
              <a:rPr lang="zh-CN" altLang="en-US" sz="1800" dirty="0">
                <a:solidFill>
                  <a:srgbClr val="000000"/>
                </a:solidFill>
              </a:rPr>
              <a:t>为什么不写</a:t>
            </a:r>
            <a:r>
              <a:rPr lang="en-US" altLang="zh-CN" sz="1800" dirty="0">
                <a:solidFill>
                  <a:srgbClr val="000000"/>
                </a:solidFill>
                <a:sym typeface="Symbol" pitchFamily="18" charset="2"/>
              </a:rPr>
              <a:t>(</a:t>
            </a:r>
            <a:r>
              <a:rPr lang="en-US" altLang="zh-CN" sz="1800" dirty="0" err="1">
                <a:solidFill>
                  <a:srgbClr val="000000"/>
                </a:solidFill>
                <a:sym typeface="Symbol" pitchFamily="18" charset="2"/>
              </a:rPr>
              <a:t>Left+Right</a:t>
            </a:r>
            <a:r>
              <a:rPr lang="en-US" altLang="zh-CN" sz="1800" dirty="0">
                <a:solidFill>
                  <a:srgbClr val="000000"/>
                </a:solidFill>
                <a:sym typeface="Symbol" pitchFamily="18" charset="2"/>
              </a:rPr>
              <a:t>)/2</a:t>
            </a:r>
            <a:r>
              <a:rPr lang="zh-CN" altLang="en-US" sz="1800" dirty="0">
                <a:solidFill>
                  <a:srgbClr val="000000"/>
                </a:solidFill>
                <a:sym typeface="Symbol" pitchFamily="18" charset="2"/>
              </a:rPr>
              <a:t>？</a:t>
            </a:r>
            <a:endParaRPr lang="en-US" altLang="zh-CN" sz="1800" dirty="0">
              <a:solidFill>
                <a:srgbClr val="000000"/>
              </a:solidFill>
              <a:sym typeface="Symbol" pitchFamily="18" charset="2"/>
            </a:endParaRPr>
          </a:p>
          <a:p>
            <a:pPr>
              <a:buFont typeface="Arial" panose="020B0604020202020204" pitchFamily="34" charset="0"/>
              <a:buNone/>
            </a:pPr>
            <a:r>
              <a:rPr lang="en-US" altLang="zh-CN" sz="1800" dirty="0">
                <a:solidFill>
                  <a:srgbClr val="000000"/>
                </a:solidFill>
                <a:sym typeface="Symbol" pitchFamily="18" charset="2"/>
              </a:rPr>
              <a:t>        if X[Middle]&lt;X[Right] then</a:t>
            </a:r>
          </a:p>
          <a:p>
            <a:pPr>
              <a:buFont typeface="Arial" panose="020B0604020202020204" pitchFamily="34" charset="0"/>
              <a:buNone/>
            </a:pPr>
            <a:r>
              <a:rPr lang="en-US" altLang="zh-CN" sz="1800" dirty="0">
                <a:solidFill>
                  <a:srgbClr val="000000"/>
                </a:solidFill>
                <a:sym typeface="Symbol" pitchFamily="18" charset="2"/>
              </a:rPr>
              <a:t>           </a:t>
            </a:r>
            <a:r>
              <a:rPr lang="en-US" altLang="zh-CN" sz="1800" dirty="0" err="1">
                <a:solidFill>
                  <a:srgbClr val="000000"/>
                </a:solidFill>
                <a:sym typeface="Symbol" pitchFamily="18" charset="2"/>
              </a:rPr>
              <a:t>Cyclic_Find</a:t>
            </a:r>
            <a:r>
              <a:rPr lang="en-US" altLang="zh-CN" sz="1800" dirty="0">
                <a:solidFill>
                  <a:srgbClr val="000000"/>
                </a:solidFill>
                <a:sym typeface="Symbol" pitchFamily="18" charset="2"/>
              </a:rPr>
              <a:t>:=</a:t>
            </a:r>
            <a:r>
              <a:rPr lang="en-US" altLang="zh-CN" sz="1800" dirty="0" err="1">
                <a:solidFill>
                  <a:srgbClr val="000000"/>
                </a:solidFill>
                <a:sym typeface="Symbol" pitchFamily="18" charset="2"/>
              </a:rPr>
              <a:t>Cyclic_Find</a:t>
            </a:r>
            <a:r>
              <a:rPr lang="en-US" altLang="zh-CN" sz="1800" dirty="0">
                <a:solidFill>
                  <a:srgbClr val="000000"/>
                </a:solidFill>
                <a:sym typeface="Symbol" pitchFamily="18" charset="2"/>
              </a:rPr>
              <a:t>(</a:t>
            </a:r>
            <a:r>
              <a:rPr lang="en-US" altLang="zh-CN" sz="1800" dirty="0" err="1">
                <a:solidFill>
                  <a:srgbClr val="000000"/>
                </a:solidFill>
                <a:sym typeface="Symbol" pitchFamily="18" charset="2"/>
              </a:rPr>
              <a:t>Left,Middle</a:t>
            </a:r>
            <a:r>
              <a:rPr lang="en-US" altLang="zh-CN" sz="1800" dirty="0">
                <a:solidFill>
                  <a:srgbClr val="000000"/>
                </a:solidFill>
                <a:sym typeface="Symbol" pitchFamily="18" charset="2"/>
              </a:rPr>
              <a:t>)</a:t>
            </a:r>
          </a:p>
          <a:p>
            <a:pPr>
              <a:buFont typeface="Arial" panose="020B0604020202020204" pitchFamily="34" charset="0"/>
              <a:buNone/>
            </a:pPr>
            <a:r>
              <a:rPr lang="en-US" altLang="zh-CN" sz="1800" dirty="0">
                <a:solidFill>
                  <a:srgbClr val="000000"/>
                </a:solidFill>
                <a:sym typeface="Symbol" pitchFamily="18" charset="2"/>
              </a:rPr>
              <a:t>        else</a:t>
            </a:r>
          </a:p>
          <a:p>
            <a:pPr>
              <a:buFont typeface="Arial" panose="020B0604020202020204" pitchFamily="34" charset="0"/>
              <a:buNone/>
            </a:pPr>
            <a:r>
              <a:rPr lang="en-US" altLang="zh-CN" sz="1800" dirty="0">
                <a:solidFill>
                  <a:srgbClr val="000000"/>
                </a:solidFill>
                <a:sym typeface="Symbol" pitchFamily="18" charset="2"/>
              </a:rPr>
              <a:t>            </a:t>
            </a:r>
            <a:r>
              <a:rPr lang="en-US" altLang="zh-CN" sz="1800" dirty="0" err="1">
                <a:solidFill>
                  <a:srgbClr val="000000"/>
                </a:solidFill>
                <a:sym typeface="Symbol" pitchFamily="18" charset="2"/>
              </a:rPr>
              <a:t>Cyclic_Find</a:t>
            </a:r>
            <a:r>
              <a:rPr lang="en-US" altLang="zh-CN" sz="1800" dirty="0">
                <a:solidFill>
                  <a:srgbClr val="000000"/>
                </a:solidFill>
                <a:sym typeface="Symbol" pitchFamily="18" charset="2"/>
              </a:rPr>
              <a:t>:=</a:t>
            </a:r>
            <a:r>
              <a:rPr lang="en-US" altLang="zh-CN" sz="1800" dirty="0" err="1">
                <a:solidFill>
                  <a:srgbClr val="000000"/>
                </a:solidFill>
                <a:sym typeface="Symbol" pitchFamily="18" charset="2"/>
              </a:rPr>
              <a:t>Cyclic_Find</a:t>
            </a:r>
            <a:r>
              <a:rPr lang="en-US" altLang="zh-CN" sz="1800" dirty="0">
                <a:solidFill>
                  <a:srgbClr val="000000"/>
                </a:solidFill>
                <a:sym typeface="Symbol" pitchFamily="18" charset="2"/>
              </a:rPr>
              <a:t>(Middle</a:t>
            </a:r>
            <a:r>
              <a:rPr lang="zh-CN" altLang="en-US" sz="1800" dirty="0">
                <a:solidFill>
                  <a:srgbClr val="000000"/>
                </a:solidFill>
                <a:sym typeface="Symbol" pitchFamily="18" charset="2"/>
              </a:rPr>
              <a:t>＋</a:t>
            </a:r>
            <a:r>
              <a:rPr lang="en-US" altLang="zh-CN" sz="1800" dirty="0">
                <a:solidFill>
                  <a:srgbClr val="000000"/>
                </a:solidFill>
                <a:sym typeface="Symbol" pitchFamily="18" charset="2"/>
              </a:rPr>
              <a:t>1,Right)</a:t>
            </a:r>
          </a:p>
          <a:p>
            <a:pPr>
              <a:buFont typeface="Arial" panose="020B0604020202020204" pitchFamily="34" charset="0"/>
              <a:buNone/>
            </a:pPr>
            <a:r>
              <a:rPr lang="en-US" altLang="zh-CN" sz="1800" dirty="0">
                <a:solidFill>
                  <a:srgbClr val="000000"/>
                </a:solidFill>
                <a:sym typeface="Symbol" pitchFamily="18" charset="2"/>
              </a:rPr>
              <a:t>end</a:t>
            </a:r>
          </a:p>
          <a:p>
            <a:endParaRPr lang="zh-CN" altLang="en-US" sz="1800" dirty="0"/>
          </a:p>
        </p:txBody>
      </p:sp>
    </p:spTree>
    <p:extLst>
      <p:ext uri="{BB962C8B-B14F-4D97-AF65-F5344CB8AC3E}">
        <p14:creationId xmlns:p14="http://schemas.microsoft.com/office/powerpoint/2010/main" val="2336985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05C54-9F4E-420A-BBEE-C66634056E10}"/>
              </a:ext>
            </a:extLst>
          </p:cNvPr>
          <p:cNvSpPr>
            <a:spLocks noGrp="1"/>
          </p:cNvSpPr>
          <p:nvPr>
            <p:ph type="title"/>
          </p:nvPr>
        </p:nvSpPr>
        <p:spPr/>
        <p:txBody>
          <a:bodyPr/>
          <a:lstStyle/>
          <a:p>
            <a:r>
              <a:rPr lang="zh-CN" altLang="en-US" dirty="0"/>
              <a:t>二分搜索特殊下标</a:t>
            </a:r>
          </a:p>
        </p:txBody>
      </p:sp>
      <p:sp>
        <p:nvSpPr>
          <p:cNvPr id="3" name="内容占位符 2">
            <a:extLst>
              <a:ext uri="{FF2B5EF4-FFF2-40B4-BE49-F238E27FC236}">
                <a16:creationId xmlns:a16="http://schemas.microsoft.com/office/drawing/2014/main" id="{97E91DF3-02B0-40F8-B83E-E92022305E0B}"/>
              </a:ext>
            </a:extLst>
          </p:cNvPr>
          <p:cNvSpPr>
            <a:spLocks noGrp="1"/>
          </p:cNvSpPr>
          <p:nvPr>
            <p:ph idx="1"/>
          </p:nvPr>
        </p:nvSpPr>
        <p:spPr>
          <a:xfrm>
            <a:off x="838200" y="1825625"/>
            <a:ext cx="4508500" cy="4351338"/>
          </a:xfrm>
        </p:spPr>
        <p:txBody>
          <a:bodyPr>
            <a:normAutofit/>
          </a:bodyPr>
          <a:lstStyle/>
          <a:p>
            <a:r>
              <a:rPr lang="zh-CN" altLang="en-US" sz="2000" dirty="0">
                <a:solidFill>
                  <a:srgbClr val="000000"/>
                </a:solidFill>
              </a:rPr>
              <a:t>问题：给定一个由不同整数</a:t>
            </a:r>
            <a:r>
              <a:rPr lang="en-US" altLang="zh-CN" sz="2000" dirty="0">
                <a:solidFill>
                  <a:srgbClr val="000000"/>
                </a:solidFill>
              </a:rPr>
              <a:t>a</a:t>
            </a:r>
            <a:r>
              <a:rPr lang="en-US" altLang="zh-CN" sz="2000" baseline="-25000" dirty="0">
                <a:solidFill>
                  <a:srgbClr val="000000"/>
                </a:solidFill>
              </a:rPr>
              <a:t>1</a:t>
            </a:r>
            <a:r>
              <a:rPr lang="en-US" altLang="zh-CN" sz="2000" dirty="0">
                <a:solidFill>
                  <a:srgbClr val="000000"/>
                </a:solidFill>
              </a:rPr>
              <a:t>,a</a:t>
            </a:r>
            <a:r>
              <a:rPr lang="en-US" altLang="zh-CN" sz="2000" baseline="-25000" dirty="0">
                <a:solidFill>
                  <a:srgbClr val="000000"/>
                </a:solidFill>
              </a:rPr>
              <a:t>2</a:t>
            </a:r>
            <a:r>
              <a:rPr lang="en-US" altLang="zh-CN" sz="2000" dirty="0">
                <a:solidFill>
                  <a:srgbClr val="000000"/>
                </a:solidFill>
              </a:rPr>
              <a:t>,…,a</a:t>
            </a:r>
            <a:r>
              <a:rPr lang="en-US" altLang="zh-CN" sz="2000" baseline="-25000" dirty="0">
                <a:solidFill>
                  <a:srgbClr val="000000"/>
                </a:solidFill>
              </a:rPr>
              <a:t>n</a:t>
            </a:r>
            <a:r>
              <a:rPr lang="zh-CN" altLang="en-US" sz="2000" dirty="0">
                <a:solidFill>
                  <a:srgbClr val="000000"/>
                </a:solidFill>
              </a:rPr>
              <a:t>按升序排列而成的序列，试确定是否存在某个下标</a:t>
            </a:r>
            <a:r>
              <a:rPr lang="en-US" altLang="zh-CN" sz="2000" dirty="0" err="1">
                <a:solidFill>
                  <a:srgbClr val="000000"/>
                </a:solidFill>
              </a:rPr>
              <a:t>i</a:t>
            </a:r>
            <a:r>
              <a:rPr lang="zh-CN" altLang="en-US" sz="2000" dirty="0">
                <a:solidFill>
                  <a:srgbClr val="000000"/>
                </a:solidFill>
              </a:rPr>
              <a:t>使得</a:t>
            </a:r>
            <a:r>
              <a:rPr lang="en-US" altLang="zh-CN" sz="2000" dirty="0">
                <a:solidFill>
                  <a:srgbClr val="000000"/>
                </a:solidFill>
              </a:rPr>
              <a:t>a</a:t>
            </a:r>
            <a:r>
              <a:rPr lang="en-US" altLang="zh-CN" sz="2000" baseline="-25000" dirty="0">
                <a:solidFill>
                  <a:srgbClr val="000000"/>
                </a:solidFill>
              </a:rPr>
              <a:t>i</a:t>
            </a:r>
            <a:r>
              <a:rPr lang="en-US" altLang="zh-CN" sz="2000" dirty="0">
                <a:solidFill>
                  <a:srgbClr val="000000"/>
                </a:solidFill>
              </a:rPr>
              <a:t>=</a:t>
            </a:r>
            <a:r>
              <a:rPr lang="en-US" altLang="zh-CN" sz="2000" dirty="0" err="1">
                <a:solidFill>
                  <a:srgbClr val="000000"/>
                </a:solidFill>
              </a:rPr>
              <a:t>i</a:t>
            </a:r>
            <a:r>
              <a:rPr lang="zh-CN" altLang="en-US" sz="2000" dirty="0">
                <a:solidFill>
                  <a:srgbClr val="000000"/>
                </a:solidFill>
              </a:rPr>
              <a:t>。</a:t>
            </a:r>
          </a:p>
          <a:p>
            <a:r>
              <a:rPr lang="zh-CN" altLang="en-US" sz="2000" dirty="0">
                <a:solidFill>
                  <a:srgbClr val="000000"/>
                </a:solidFill>
              </a:rPr>
              <a:t>思想：考察</a:t>
            </a:r>
            <a:r>
              <a:rPr lang="en-US" altLang="zh-CN" sz="2000" dirty="0">
                <a:solidFill>
                  <a:srgbClr val="000000"/>
                </a:solidFill>
              </a:rPr>
              <a:t>a</a:t>
            </a:r>
            <a:r>
              <a:rPr lang="en-US" altLang="zh-CN" sz="2000" baseline="-25000" dirty="0">
                <a:solidFill>
                  <a:srgbClr val="000000"/>
                </a:solidFill>
              </a:rPr>
              <a:t>n/2</a:t>
            </a:r>
            <a:r>
              <a:rPr lang="zh-CN" altLang="en-US" sz="2000" dirty="0">
                <a:solidFill>
                  <a:srgbClr val="000000"/>
                </a:solidFill>
              </a:rPr>
              <a:t>值（假设</a:t>
            </a:r>
            <a:r>
              <a:rPr lang="en-US" altLang="zh-CN" sz="2000" dirty="0">
                <a:solidFill>
                  <a:srgbClr val="000000"/>
                </a:solidFill>
              </a:rPr>
              <a:t>n</a:t>
            </a:r>
            <a:r>
              <a:rPr lang="zh-CN" altLang="en-US" sz="2000" dirty="0">
                <a:solidFill>
                  <a:srgbClr val="000000"/>
                </a:solidFill>
              </a:rPr>
              <a:t>是偶数），如果它的值恰好是</a:t>
            </a:r>
            <a:r>
              <a:rPr lang="en-US" altLang="zh-CN" sz="2000" dirty="0">
                <a:solidFill>
                  <a:srgbClr val="000000"/>
                </a:solidFill>
              </a:rPr>
              <a:t>n/2</a:t>
            </a:r>
            <a:r>
              <a:rPr lang="zh-CN" altLang="en-US" sz="2000" dirty="0">
                <a:solidFill>
                  <a:srgbClr val="000000"/>
                </a:solidFill>
              </a:rPr>
              <a:t>，则问题得解。否则的话，若该值小于</a:t>
            </a:r>
            <a:r>
              <a:rPr lang="en-US" altLang="zh-CN" sz="2000" dirty="0">
                <a:solidFill>
                  <a:srgbClr val="000000"/>
                </a:solidFill>
              </a:rPr>
              <a:t>n/2</a:t>
            </a:r>
            <a:r>
              <a:rPr lang="zh-CN" altLang="en-US" sz="2000" dirty="0">
                <a:solidFill>
                  <a:srgbClr val="000000"/>
                </a:solidFill>
              </a:rPr>
              <a:t>，则由所有元素各不相同可知，</a:t>
            </a:r>
            <a:r>
              <a:rPr lang="en-US" altLang="zh-CN" sz="2000" dirty="0">
                <a:solidFill>
                  <a:srgbClr val="000000"/>
                </a:solidFill>
              </a:rPr>
              <a:t>a</a:t>
            </a:r>
            <a:r>
              <a:rPr lang="en-US" altLang="zh-CN" sz="2000" baseline="-25000" dirty="0">
                <a:solidFill>
                  <a:srgbClr val="000000"/>
                </a:solidFill>
              </a:rPr>
              <a:t>n/2-1</a:t>
            </a:r>
            <a:r>
              <a:rPr lang="zh-CN" altLang="en-US" sz="2000" dirty="0">
                <a:solidFill>
                  <a:srgbClr val="000000"/>
                </a:solidFill>
              </a:rPr>
              <a:t>的值小于</a:t>
            </a:r>
            <a:r>
              <a:rPr lang="en-US" altLang="zh-CN" sz="2000" dirty="0">
                <a:solidFill>
                  <a:srgbClr val="000000"/>
                </a:solidFill>
              </a:rPr>
              <a:t>n/2-1</a:t>
            </a:r>
            <a:r>
              <a:rPr lang="zh-CN" altLang="en-US" sz="2000" dirty="0">
                <a:solidFill>
                  <a:srgbClr val="000000"/>
                </a:solidFill>
              </a:rPr>
              <a:t>，依次类推，前半段序列中的元素均不满足性质，可对后半段继续搜索。若该值大于</a:t>
            </a:r>
            <a:r>
              <a:rPr lang="en-US" altLang="zh-CN" sz="2000" dirty="0">
                <a:solidFill>
                  <a:srgbClr val="000000"/>
                </a:solidFill>
              </a:rPr>
              <a:t>n/2</a:t>
            </a:r>
            <a:r>
              <a:rPr lang="zh-CN" altLang="en-US" sz="2000" dirty="0">
                <a:solidFill>
                  <a:srgbClr val="000000"/>
                </a:solidFill>
              </a:rPr>
              <a:t>，则同样可以得到相似的结论。</a:t>
            </a:r>
          </a:p>
          <a:p>
            <a:endParaRPr lang="zh-CN" altLang="en-US" sz="2000" dirty="0"/>
          </a:p>
        </p:txBody>
      </p:sp>
      <p:sp>
        <p:nvSpPr>
          <p:cNvPr id="4" name="内容占位符 2">
            <a:extLst>
              <a:ext uri="{FF2B5EF4-FFF2-40B4-BE49-F238E27FC236}">
                <a16:creationId xmlns:a16="http://schemas.microsoft.com/office/drawing/2014/main" id="{3D154A12-75D1-4950-85D2-08F8616CD4D8}"/>
              </a:ext>
            </a:extLst>
          </p:cNvPr>
          <p:cNvSpPr txBox="1">
            <a:spLocks/>
          </p:cNvSpPr>
          <p:nvPr/>
        </p:nvSpPr>
        <p:spPr>
          <a:xfrm>
            <a:off x="5969000" y="1825625"/>
            <a:ext cx="5930900" cy="435133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 typeface="Arial" panose="020B0604020202020204" pitchFamily="34" charset="0"/>
              <a:buNone/>
            </a:pPr>
            <a:r>
              <a:rPr lang="en-US" altLang="zh-CN" sz="1800" dirty="0">
                <a:solidFill>
                  <a:srgbClr val="000000"/>
                </a:solidFill>
              </a:rPr>
              <a:t>Algorithm </a:t>
            </a:r>
            <a:r>
              <a:rPr lang="en-US" altLang="zh-CN" sz="1800" dirty="0" err="1">
                <a:solidFill>
                  <a:srgbClr val="000000"/>
                </a:solidFill>
              </a:rPr>
              <a:t>Special_Binary_Search</a:t>
            </a:r>
            <a:r>
              <a:rPr lang="en-US" altLang="zh-CN" sz="1800" dirty="0">
                <a:solidFill>
                  <a:srgbClr val="000000"/>
                </a:solidFill>
              </a:rPr>
              <a:t>(</a:t>
            </a:r>
            <a:r>
              <a:rPr lang="en-US" altLang="zh-CN" sz="1800" dirty="0" err="1">
                <a:solidFill>
                  <a:srgbClr val="000000"/>
                </a:solidFill>
              </a:rPr>
              <a:t>X,n</a:t>
            </a:r>
            <a:r>
              <a:rPr lang="en-US" altLang="zh-CN" sz="1800" dirty="0">
                <a:solidFill>
                  <a:srgbClr val="000000"/>
                </a:solidFill>
              </a:rPr>
              <a:t>)</a:t>
            </a:r>
          </a:p>
          <a:p>
            <a:pPr>
              <a:lnSpc>
                <a:spcPct val="90000"/>
              </a:lnSpc>
              <a:buFont typeface="Arial" panose="020B0604020202020204" pitchFamily="34" charset="0"/>
              <a:buNone/>
            </a:pPr>
            <a:r>
              <a:rPr lang="en-US" altLang="zh-CN" sz="1800" dirty="0">
                <a:solidFill>
                  <a:srgbClr val="000000"/>
                </a:solidFill>
              </a:rPr>
              <a:t>Input: X, a sorted array in the range 1 to n of distinct integers</a:t>
            </a:r>
          </a:p>
          <a:p>
            <a:pPr>
              <a:lnSpc>
                <a:spcPct val="90000"/>
              </a:lnSpc>
              <a:buFont typeface="Arial" panose="020B0604020202020204" pitchFamily="34" charset="0"/>
              <a:buNone/>
            </a:pPr>
            <a:r>
              <a:rPr lang="en-US" altLang="zh-CN" sz="1800" dirty="0">
                <a:solidFill>
                  <a:srgbClr val="000000"/>
                </a:solidFill>
              </a:rPr>
              <a:t>Output: Position (the index of satisfying A[position]=Position, or 0 if no such index exists)</a:t>
            </a:r>
          </a:p>
          <a:p>
            <a:pPr>
              <a:lnSpc>
                <a:spcPct val="90000"/>
              </a:lnSpc>
              <a:buFont typeface="Arial" panose="020B0604020202020204" pitchFamily="34" charset="0"/>
              <a:buNone/>
            </a:pPr>
            <a:r>
              <a:rPr lang="en-US" altLang="zh-CN" sz="1800" dirty="0">
                <a:solidFill>
                  <a:srgbClr val="000000"/>
                </a:solidFill>
              </a:rPr>
              <a:t>begin</a:t>
            </a:r>
          </a:p>
          <a:p>
            <a:pPr>
              <a:lnSpc>
                <a:spcPct val="90000"/>
              </a:lnSpc>
              <a:buFont typeface="Arial" panose="020B0604020202020204" pitchFamily="34" charset="0"/>
              <a:buNone/>
            </a:pPr>
            <a:r>
              <a:rPr lang="en-US" altLang="zh-CN" sz="1800" dirty="0">
                <a:solidFill>
                  <a:srgbClr val="000000"/>
                </a:solidFill>
              </a:rPr>
              <a:t>    Position:=</a:t>
            </a:r>
            <a:r>
              <a:rPr lang="en-US" altLang="zh-CN" sz="1800" dirty="0" err="1">
                <a:solidFill>
                  <a:srgbClr val="000000"/>
                </a:solidFill>
              </a:rPr>
              <a:t>Special_Find</a:t>
            </a:r>
            <a:r>
              <a:rPr lang="en-US" altLang="zh-CN" sz="1800" dirty="0">
                <a:solidFill>
                  <a:srgbClr val="000000"/>
                </a:solidFill>
              </a:rPr>
              <a:t>(1,n);</a:t>
            </a:r>
          </a:p>
          <a:p>
            <a:pPr>
              <a:lnSpc>
                <a:spcPct val="90000"/>
              </a:lnSpc>
              <a:buFont typeface="Arial" panose="020B0604020202020204" pitchFamily="34" charset="0"/>
              <a:buNone/>
            </a:pPr>
            <a:r>
              <a:rPr lang="en-US" altLang="zh-CN" sz="1800" dirty="0">
                <a:solidFill>
                  <a:srgbClr val="000000"/>
                </a:solidFill>
              </a:rPr>
              <a:t>end</a:t>
            </a:r>
          </a:p>
          <a:p>
            <a:pPr>
              <a:lnSpc>
                <a:spcPct val="90000"/>
              </a:lnSpc>
              <a:buFont typeface="Arial" panose="020B0604020202020204" pitchFamily="34" charset="0"/>
              <a:buNone/>
            </a:pPr>
            <a:r>
              <a:rPr lang="en-US" altLang="zh-CN" sz="1800" dirty="0">
                <a:solidFill>
                  <a:srgbClr val="000000"/>
                </a:solidFill>
              </a:rPr>
              <a:t>function </a:t>
            </a:r>
            <a:r>
              <a:rPr lang="en-US" altLang="zh-CN" sz="1800" dirty="0" err="1">
                <a:solidFill>
                  <a:srgbClr val="000000"/>
                </a:solidFill>
              </a:rPr>
              <a:t>Special_Find</a:t>
            </a:r>
            <a:r>
              <a:rPr lang="en-US" altLang="zh-CN" sz="1800" dirty="0">
                <a:solidFill>
                  <a:srgbClr val="000000"/>
                </a:solidFill>
              </a:rPr>
              <a:t>(</a:t>
            </a:r>
            <a:r>
              <a:rPr lang="en-US" altLang="zh-CN" sz="1800" dirty="0" err="1">
                <a:solidFill>
                  <a:srgbClr val="000000"/>
                </a:solidFill>
              </a:rPr>
              <a:t>Left,Right</a:t>
            </a:r>
            <a:r>
              <a:rPr lang="en-US" altLang="zh-CN" sz="1800" dirty="0">
                <a:solidFill>
                  <a:srgbClr val="000000"/>
                </a:solidFill>
              </a:rPr>
              <a:t>):</a:t>
            </a:r>
          </a:p>
          <a:p>
            <a:pPr>
              <a:lnSpc>
                <a:spcPct val="90000"/>
              </a:lnSpc>
              <a:buFont typeface="Arial" panose="020B0604020202020204" pitchFamily="34" charset="0"/>
              <a:buNone/>
            </a:pPr>
            <a:r>
              <a:rPr lang="en-US" altLang="zh-CN" sz="1800" dirty="0">
                <a:solidFill>
                  <a:srgbClr val="000000"/>
                </a:solidFill>
              </a:rPr>
              <a:t>begin</a:t>
            </a:r>
          </a:p>
          <a:p>
            <a:pPr>
              <a:lnSpc>
                <a:spcPct val="90000"/>
              </a:lnSpc>
              <a:buFont typeface="Arial" panose="020B0604020202020204" pitchFamily="34" charset="0"/>
              <a:buNone/>
            </a:pPr>
            <a:r>
              <a:rPr lang="en-US" altLang="zh-CN" sz="1800" dirty="0">
                <a:solidFill>
                  <a:srgbClr val="000000"/>
                </a:solidFill>
              </a:rPr>
              <a:t>    if Left=Right then</a:t>
            </a:r>
          </a:p>
          <a:p>
            <a:pPr>
              <a:lnSpc>
                <a:spcPct val="90000"/>
              </a:lnSpc>
              <a:buFont typeface="Arial" panose="020B0604020202020204" pitchFamily="34" charset="0"/>
              <a:buNone/>
            </a:pPr>
            <a:r>
              <a:rPr lang="en-US" altLang="zh-CN" sz="1800" dirty="0">
                <a:solidFill>
                  <a:srgbClr val="000000"/>
                </a:solidFill>
              </a:rPr>
              <a:t>        if A[Left]=Left then </a:t>
            </a:r>
            <a:r>
              <a:rPr lang="en-US" altLang="zh-CN" sz="1800" dirty="0" err="1">
                <a:solidFill>
                  <a:srgbClr val="000000"/>
                </a:solidFill>
              </a:rPr>
              <a:t>Special_Find</a:t>
            </a:r>
            <a:r>
              <a:rPr lang="en-US" altLang="zh-CN" sz="1800" dirty="0">
                <a:solidFill>
                  <a:srgbClr val="000000"/>
                </a:solidFill>
              </a:rPr>
              <a:t>:=Left   </a:t>
            </a:r>
          </a:p>
          <a:p>
            <a:pPr>
              <a:lnSpc>
                <a:spcPct val="90000"/>
              </a:lnSpc>
              <a:buFont typeface="Arial" panose="020B0604020202020204" pitchFamily="34" charset="0"/>
              <a:buNone/>
            </a:pPr>
            <a:r>
              <a:rPr lang="en-US" altLang="zh-CN" sz="1800" dirty="0">
                <a:solidFill>
                  <a:srgbClr val="000000"/>
                </a:solidFill>
              </a:rPr>
              <a:t>                               else  </a:t>
            </a:r>
            <a:r>
              <a:rPr lang="en-US" altLang="zh-CN" sz="1800" dirty="0" err="1">
                <a:solidFill>
                  <a:srgbClr val="000000"/>
                </a:solidFill>
              </a:rPr>
              <a:t>Special_Find</a:t>
            </a:r>
            <a:r>
              <a:rPr lang="en-US" altLang="zh-CN" sz="1800" dirty="0">
                <a:solidFill>
                  <a:srgbClr val="000000"/>
                </a:solidFill>
              </a:rPr>
              <a:t>:=0</a:t>
            </a:r>
          </a:p>
          <a:p>
            <a:pPr>
              <a:lnSpc>
                <a:spcPct val="90000"/>
              </a:lnSpc>
              <a:buFont typeface="Arial" panose="020B0604020202020204" pitchFamily="34" charset="0"/>
              <a:buNone/>
            </a:pPr>
            <a:r>
              <a:rPr lang="en-US" altLang="zh-CN" sz="1800" dirty="0">
                <a:solidFill>
                  <a:srgbClr val="000000"/>
                </a:solidFill>
              </a:rPr>
              <a:t>    else</a:t>
            </a:r>
          </a:p>
          <a:p>
            <a:pPr>
              <a:lnSpc>
                <a:spcPct val="90000"/>
              </a:lnSpc>
              <a:buFont typeface="Arial" panose="020B0604020202020204" pitchFamily="34" charset="0"/>
              <a:buNone/>
            </a:pPr>
            <a:r>
              <a:rPr lang="en-US" altLang="zh-CN" sz="1800" dirty="0">
                <a:solidFill>
                  <a:srgbClr val="000000"/>
                </a:solidFill>
              </a:rPr>
              <a:t>        Middle:= Left+</a:t>
            </a:r>
            <a:r>
              <a:rPr lang="en-US" altLang="zh-CN" sz="1800" dirty="0">
                <a:solidFill>
                  <a:srgbClr val="000000"/>
                </a:solidFill>
                <a:sym typeface="Symbol" pitchFamily="18" charset="2"/>
              </a:rPr>
              <a:t> </a:t>
            </a:r>
            <a:r>
              <a:rPr lang="en-US" altLang="zh-CN" sz="1800" dirty="0">
                <a:solidFill>
                  <a:srgbClr val="000000"/>
                </a:solidFill>
              </a:rPr>
              <a:t>(Right-Left)/2</a:t>
            </a:r>
            <a:r>
              <a:rPr lang="en-US" altLang="zh-CN" sz="1800" dirty="0">
                <a:solidFill>
                  <a:srgbClr val="000000"/>
                </a:solidFill>
                <a:sym typeface="Symbol" pitchFamily="18" charset="2"/>
              </a:rPr>
              <a:t>;</a:t>
            </a:r>
          </a:p>
          <a:p>
            <a:pPr>
              <a:lnSpc>
                <a:spcPct val="90000"/>
              </a:lnSpc>
              <a:buFont typeface="Arial" panose="020B0604020202020204" pitchFamily="34" charset="0"/>
              <a:buNone/>
            </a:pPr>
            <a:r>
              <a:rPr lang="en-US" altLang="zh-CN" sz="1800" dirty="0">
                <a:solidFill>
                  <a:srgbClr val="000000"/>
                </a:solidFill>
                <a:sym typeface="Symbol" pitchFamily="18" charset="2"/>
              </a:rPr>
              <a:t>        if X[Middle]&lt;Middle then</a:t>
            </a:r>
          </a:p>
          <a:p>
            <a:pPr>
              <a:lnSpc>
                <a:spcPct val="90000"/>
              </a:lnSpc>
              <a:buFont typeface="Arial" panose="020B0604020202020204" pitchFamily="34" charset="0"/>
              <a:buNone/>
            </a:pPr>
            <a:r>
              <a:rPr lang="en-US" altLang="zh-CN" sz="1800" dirty="0">
                <a:solidFill>
                  <a:srgbClr val="000000"/>
                </a:solidFill>
                <a:sym typeface="Symbol" pitchFamily="18" charset="2"/>
              </a:rPr>
              <a:t>            </a:t>
            </a:r>
            <a:r>
              <a:rPr lang="en-US" altLang="zh-CN" sz="1800" dirty="0">
                <a:solidFill>
                  <a:srgbClr val="000000"/>
                </a:solidFill>
              </a:rPr>
              <a:t>Special_</a:t>
            </a:r>
            <a:r>
              <a:rPr lang="en-US" altLang="zh-CN" sz="1800" dirty="0">
                <a:solidFill>
                  <a:srgbClr val="000000"/>
                </a:solidFill>
                <a:sym typeface="Symbol" pitchFamily="18" charset="2"/>
              </a:rPr>
              <a:t> Find:= </a:t>
            </a:r>
            <a:r>
              <a:rPr lang="en-US" altLang="zh-CN" sz="1800" dirty="0">
                <a:solidFill>
                  <a:srgbClr val="000000"/>
                </a:solidFill>
              </a:rPr>
              <a:t>Special_</a:t>
            </a:r>
            <a:r>
              <a:rPr lang="en-US" altLang="zh-CN" sz="1800" dirty="0">
                <a:solidFill>
                  <a:srgbClr val="000000"/>
                </a:solidFill>
                <a:sym typeface="Symbol" pitchFamily="18" charset="2"/>
              </a:rPr>
              <a:t> Find(Middle</a:t>
            </a:r>
            <a:r>
              <a:rPr lang="zh-CN" altLang="en-US" sz="1800" dirty="0">
                <a:solidFill>
                  <a:srgbClr val="000000"/>
                </a:solidFill>
                <a:sym typeface="Symbol" pitchFamily="18" charset="2"/>
              </a:rPr>
              <a:t>＋</a:t>
            </a:r>
            <a:r>
              <a:rPr lang="en-US" altLang="zh-CN" sz="1800" dirty="0">
                <a:solidFill>
                  <a:srgbClr val="000000"/>
                </a:solidFill>
                <a:sym typeface="Symbol" pitchFamily="18" charset="2"/>
              </a:rPr>
              <a:t>1,Right)</a:t>
            </a:r>
          </a:p>
          <a:p>
            <a:pPr>
              <a:lnSpc>
                <a:spcPct val="90000"/>
              </a:lnSpc>
              <a:buFont typeface="Arial" panose="020B0604020202020204" pitchFamily="34" charset="0"/>
              <a:buNone/>
            </a:pPr>
            <a:r>
              <a:rPr lang="en-US" altLang="zh-CN" sz="1800" dirty="0">
                <a:solidFill>
                  <a:srgbClr val="000000"/>
                </a:solidFill>
                <a:sym typeface="Symbol" pitchFamily="18" charset="2"/>
              </a:rPr>
              <a:t>        else</a:t>
            </a:r>
          </a:p>
          <a:p>
            <a:pPr>
              <a:lnSpc>
                <a:spcPct val="90000"/>
              </a:lnSpc>
              <a:buFont typeface="Arial" panose="020B0604020202020204" pitchFamily="34" charset="0"/>
              <a:buNone/>
            </a:pPr>
            <a:r>
              <a:rPr lang="en-US" altLang="zh-CN" sz="1800" dirty="0">
                <a:solidFill>
                  <a:srgbClr val="000000"/>
                </a:solidFill>
                <a:sym typeface="Symbol" pitchFamily="18" charset="2"/>
              </a:rPr>
              <a:t>            </a:t>
            </a:r>
            <a:r>
              <a:rPr lang="en-US" altLang="zh-CN" sz="1800" dirty="0">
                <a:solidFill>
                  <a:srgbClr val="000000"/>
                </a:solidFill>
              </a:rPr>
              <a:t>Special_</a:t>
            </a:r>
            <a:r>
              <a:rPr lang="en-US" altLang="zh-CN" sz="1800" dirty="0">
                <a:solidFill>
                  <a:srgbClr val="000000"/>
                </a:solidFill>
                <a:sym typeface="Symbol" pitchFamily="18" charset="2"/>
              </a:rPr>
              <a:t> Find:= </a:t>
            </a:r>
            <a:r>
              <a:rPr lang="en-US" altLang="zh-CN" sz="1800" dirty="0">
                <a:solidFill>
                  <a:srgbClr val="000000"/>
                </a:solidFill>
              </a:rPr>
              <a:t>Special_</a:t>
            </a:r>
            <a:r>
              <a:rPr lang="en-US" altLang="zh-CN" sz="1800" dirty="0">
                <a:solidFill>
                  <a:srgbClr val="000000"/>
                </a:solidFill>
                <a:sym typeface="Symbol" pitchFamily="18" charset="2"/>
              </a:rPr>
              <a:t> Find(</a:t>
            </a:r>
            <a:r>
              <a:rPr lang="en-US" altLang="zh-CN" sz="1800" dirty="0" err="1">
                <a:solidFill>
                  <a:srgbClr val="000000"/>
                </a:solidFill>
                <a:sym typeface="Symbol" pitchFamily="18" charset="2"/>
              </a:rPr>
              <a:t>Left,Middle</a:t>
            </a:r>
            <a:r>
              <a:rPr lang="en-US" altLang="zh-CN" sz="1800" dirty="0">
                <a:solidFill>
                  <a:srgbClr val="000000"/>
                </a:solidFill>
                <a:sym typeface="Symbol" pitchFamily="18" charset="2"/>
              </a:rPr>
              <a:t>)</a:t>
            </a:r>
          </a:p>
          <a:p>
            <a:pPr>
              <a:lnSpc>
                <a:spcPct val="90000"/>
              </a:lnSpc>
              <a:buFont typeface="Arial" panose="020B0604020202020204" pitchFamily="34" charset="0"/>
              <a:buNone/>
            </a:pPr>
            <a:r>
              <a:rPr lang="en-US" altLang="zh-CN" sz="1800" dirty="0">
                <a:solidFill>
                  <a:srgbClr val="000000"/>
                </a:solidFill>
                <a:sym typeface="Symbol" pitchFamily="18" charset="2"/>
              </a:rPr>
              <a:t>end</a:t>
            </a:r>
          </a:p>
          <a:p>
            <a:endParaRPr lang="zh-CN" altLang="en-US" sz="1800" dirty="0"/>
          </a:p>
        </p:txBody>
      </p:sp>
    </p:spTree>
    <p:extLst>
      <p:ext uri="{BB962C8B-B14F-4D97-AF65-F5344CB8AC3E}">
        <p14:creationId xmlns:p14="http://schemas.microsoft.com/office/powerpoint/2010/main" val="77090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C3F822-1279-4C0F-A61A-2A313F79348A}"/>
              </a:ext>
            </a:extLst>
          </p:cNvPr>
          <p:cNvSpPr>
            <a:spLocks noGrp="1"/>
          </p:cNvSpPr>
          <p:nvPr>
            <p:ph type="title"/>
          </p:nvPr>
        </p:nvSpPr>
        <p:spPr/>
        <p:txBody>
          <a:bodyPr/>
          <a:lstStyle/>
          <a:p>
            <a:r>
              <a:rPr lang="zh-CN" altLang="en-US" dirty="0"/>
              <a:t>二分搜索长度未知的序列</a:t>
            </a:r>
          </a:p>
        </p:txBody>
      </p:sp>
      <p:sp>
        <p:nvSpPr>
          <p:cNvPr id="3" name="内容占位符 2">
            <a:extLst>
              <a:ext uri="{FF2B5EF4-FFF2-40B4-BE49-F238E27FC236}">
                <a16:creationId xmlns:a16="http://schemas.microsoft.com/office/drawing/2014/main" id="{C236FF12-9410-4F4E-AFA1-F2372ED4E1C8}"/>
              </a:ext>
            </a:extLst>
          </p:cNvPr>
          <p:cNvSpPr>
            <a:spLocks noGrp="1"/>
          </p:cNvSpPr>
          <p:nvPr>
            <p:ph idx="1"/>
          </p:nvPr>
        </p:nvSpPr>
        <p:spPr/>
        <p:txBody>
          <a:bodyPr>
            <a:normAutofit/>
          </a:bodyPr>
          <a:lstStyle/>
          <a:p>
            <a:r>
              <a:rPr lang="zh-CN" altLang="en-US" sz="2400" dirty="0">
                <a:solidFill>
                  <a:srgbClr val="000000"/>
                </a:solidFill>
              </a:rPr>
              <a:t>考虑一般的搜索问题，但序列长度未知。</a:t>
            </a:r>
          </a:p>
          <a:p>
            <a:r>
              <a:rPr lang="zh-CN" altLang="en-US" sz="2400" dirty="0">
                <a:solidFill>
                  <a:srgbClr val="000000"/>
                </a:solidFill>
              </a:rPr>
              <a:t>此时不能把搜索空间减半，因为序列边界并不清楚。</a:t>
            </a:r>
          </a:p>
          <a:p>
            <a:r>
              <a:rPr lang="zh-CN" altLang="en-US" sz="2400" dirty="0">
                <a:solidFill>
                  <a:srgbClr val="000000"/>
                </a:solidFill>
              </a:rPr>
              <a:t>查找大于等于</a:t>
            </a:r>
            <a:r>
              <a:rPr lang="en-US" altLang="zh-CN" sz="2400" dirty="0">
                <a:solidFill>
                  <a:srgbClr val="000000"/>
                </a:solidFill>
              </a:rPr>
              <a:t>z</a:t>
            </a:r>
            <a:r>
              <a:rPr lang="zh-CN" altLang="en-US" sz="2400" dirty="0">
                <a:solidFill>
                  <a:srgbClr val="000000"/>
                </a:solidFill>
              </a:rPr>
              <a:t>的某个</a:t>
            </a:r>
            <a:r>
              <a:rPr lang="en-US" altLang="zh-CN" sz="2400" dirty="0">
                <a:solidFill>
                  <a:srgbClr val="000000"/>
                </a:solidFill>
              </a:rPr>
              <a:t>x</a:t>
            </a:r>
            <a:r>
              <a:rPr lang="en-US" altLang="zh-CN" sz="2400" baseline="-25000" dirty="0">
                <a:solidFill>
                  <a:srgbClr val="000000"/>
                </a:solidFill>
              </a:rPr>
              <a:t>i</a:t>
            </a:r>
            <a:r>
              <a:rPr lang="zh-CN" altLang="en-US" sz="2400" dirty="0">
                <a:solidFill>
                  <a:srgbClr val="000000"/>
                </a:solidFill>
              </a:rPr>
              <a:t>。如果找到了这个</a:t>
            </a:r>
            <a:r>
              <a:rPr lang="en-US" altLang="zh-CN" sz="2400" dirty="0">
                <a:solidFill>
                  <a:srgbClr val="000000"/>
                </a:solidFill>
              </a:rPr>
              <a:t>x</a:t>
            </a:r>
            <a:r>
              <a:rPr lang="en-US" altLang="zh-CN" sz="2400" baseline="-25000" dirty="0">
                <a:solidFill>
                  <a:srgbClr val="000000"/>
                </a:solidFill>
              </a:rPr>
              <a:t>i</a:t>
            </a:r>
            <a:r>
              <a:rPr lang="zh-CN" altLang="en-US" sz="2400" dirty="0">
                <a:solidFill>
                  <a:srgbClr val="000000"/>
                </a:solidFill>
              </a:rPr>
              <a:t>，就可以在下标为</a:t>
            </a:r>
            <a:r>
              <a:rPr lang="en-US" altLang="zh-CN" sz="2400" dirty="0">
                <a:solidFill>
                  <a:srgbClr val="000000"/>
                </a:solidFill>
              </a:rPr>
              <a:t>1</a:t>
            </a:r>
            <a:r>
              <a:rPr lang="zh-CN" altLang="en-US" sz="2400" dirty="0">
                <a:solidFill>
                  <a:srgbClr val="000000"/>
                </a:solidFill>
              </a:rPr>
              <a:t>到</a:t>
            </a:r>
            <a:r>
              <a:rPr lang="en-US" altLang="zh-CN" sz="2400" dirty="0" err="1">
                <a:solidFill>
                  <a:srgbClr val="000000"/>
                </a:solidFill>
              </a:rPr>
              <a:t>i</a:t>
            </a:r>
            <a:r>
              <a:rPr lang="zh-CN" altLang="en-US" sz="2400" dirty="0">
                <a:solidFill>
                  <a:srgbClr val="000000"/>
                </a:solidFill>
              </a:rPr>
              <a:t>的范围内进行二分搜索了。</a:t>
            </a:r>
          </a:p>
          <a:p>
            <a:r>
              <a:rPr lang="zh-CN" altLang="en-US" sz="2400" dirty="0">
                <a:solidFill>
                  <a:srgbClr val="000000"/>
                </a:solidFill>
              </a:rPr>
              <a:t>首先将</a:t>
            </a:r>
            <a:r>
              <a:rPr lang="en-US" altLang="zh-CN" sz="2400" dirty="0">
                <a:solidFill>
                  <a:srgbClr val="000000"/>
                </a:solidFill>
              </a:rPr>
              <a:t>z</a:t>
            </a:r>
            <a:r>
              <a:rPr lang="zh-CN" altLang="en-US" sz="2400" dirty="0">
                <a:solidFill>
                  <a:srgbClr val="000000"/>
                </a:solidFill>
              </a:rPr>
              <a:t>同</a:t>
            </a:r>
            <a:r>
              <a:rPr lang="en-US" altLang="zh-CN" sz="2400" dirty="0">
                <a:solidFill>
                  <a:srgbClr val="000000"/>
                </a:solidFill>
              </a:rPr>
              <a:t>x</a:t>
            </a:r>
            <a:r>
              <a:rPr lang="en-US" altLang="zh-CN" sz="2400" baseline="-25000" dirty="0">
                <a:solidFill>
                  <a:srgbClr val="000000"/>
                </a:solidFill>
              </a:rPr>
              <a:t>1</a:t>
            </a:r>
            <a:r>
              <a:rPr lang="zh-CN" altLang="en-US" sz="2400" dirty="0">
                <a:solidFill>
                  <a:srgbClr val="000000"/>
                </a:solidFill>
              </a:rPr>
              <a:t>比较。若</a:t>
            </a:r>
            <a:r>
              <a:rPr lang="en-US" altLang="zh-CN" sz="2400" dirty="0">
                <a:solidFill>
                  <a:srgbClr val="000000"/>
                </a:solidFill>
              </a:rPr>
              <a:t>z≤x</a:t>
            </a:r>
            <a:r>
              <a:rPr lang="en-US" altLang="zh-CN" sz="2400" baseline="-25000" dirty="0">
                <a:solidFill>
                  <a:srgbClr val="000000"/>
                </a:solidFill>
              </a:rPr>
              <a:t>1</a:t>
            </a:r>
            <a:r>
              <a:rPr lang="zh-CN" altLang="en-US" sz="2400" dirty="0">
                <a:solidFill>
                  <a:srgbClr val="000000"/>
                </a:solidFill>
              </a:rPr>
              <a:t>，则</a:t>
            </a:r>
            <a:r>
              <a:rPr lang="en-US" altLang="zh-CN" sz="2400" dirty="0">
                <a:solidFill>
                  <a:srgbClr val="000000"/>
                </a:solidFill>
              </a:rPr>
              <a:t>z</a:t>
            </a:r>
            <a:r>
              <a:rPr lang="zh-CN" altLang="en-US" sz="2400" dirty="0">
                <a:solidFill>
                  <a:srgbClr val="000000"/>
                </a:solidFill>
              </a:rPr>
              <a:t>只可能等于</a:t>
            </a:r>
            <a:r>
              <a:rPr lang="en-US" altLang="zh-CN" sz="2400" dirty="0">
                <a:solidFill>
                  <a:srgbClr val="000000"/>
                </a:solidFill>
              </a:rPr>
              <a:t>x</a:t>
            </a:r>
            <a:r>
              <a:rPr lang="en-US" altLang="zh-CN" sz="2400" baseline="-25000" dirty="0">
                <a:solidFill>
                  <a:srgbClr val="000000"/>
                </a:solidFill>
              </a:rPr>
              <a:t>1</a:t>
            </a:r>
            <a:r>
              <a:rPr lang="zh-CN" altLang="en-US" sz="2400" dirty="0">
                <a:solidFill>
                  <a:srgbClr val="000000"/>
                </a:solidFill>
              </a:rPr>
              <a:t>。借助归纳法，假设对某个</a:t>
            </a:r>
            <a:r>
              <a:rPr lang="en-US" altLang="zh-CN" sz="2400" dirty="0">
                <a:solidFill>
                  <a:srgbClr val="000000"/>
                </a:solidFill>
              </a:rPr>
              <a:t>j≥1</a:t>
            </a:r>
            <a:r>
              <a:rPr lang="zh-CN" altLang="en-US" sz="2400" dirty="0">
                <a:solidFill>
                  <a:srgbClr val="000000"/>
                </a:solidFill>
              </a:rPr>
              <a:t>有</a:t>
            </a:r>
            <a:r>
              <a:rPr lang="en-US" altLang="zh-CN" sz="2400" dirty="0">
                <a:solidFill>
                  <a:srgbClr val="000000"/>
                </a:solidFill>
              </a:rPr>
              <a:t>z&gt;</a:t>
            </a:r>
            <a:r>
              <a:rPr lang="en-US" altLang="zh-CN" sz="2400" dirty="0" err="1">
                <a:solidFill>
                  <a:srgbClr val="000000"/>
                </a:solidFill>
              </a:rPr>
              <a:t>x</a:t>
            </a:r>
            <a:r>
              <a:rPr lang="en-US" altLang="zh-CN" sz="2400" baseline="-25000" dirty="0" err="1">
                <a:solidFill>
                  <a:srgbClr val="000000"/>
                </a:solidFill>
              </a:rPr>
              <a:t>j</a:t>
            </a:r>
            <a:r>
              <a:rPr lang="zh-CN" altLang="en-US" sz="2400" dirty="0">
                <a:solidFill>
                  <a:srgbClr val="000000"/>
                </a:solidFill>
              </a:rPr>
              <a:t>，将</a:t>
            </a:r>
            <a:r>
              <a:rPr lang="en-US" altLang="zh-CN" sz="2400" dirty="0">
                <a:solidFill>
                  <a:srgbClr val="000000"/>
                </a:solidFill>
              </a:rPr>
              <a:t>z</a:t>
            </a:r>
            <a:r>
              <a:rPr lang="zh-CN" altLang="en-US" sz="2400" dirty="0">
                <a:solidFill>
                  <a:srgbClr val="000000"/>
                </a:solidFill>
              </a:rPr>
              <a:t>同</a:t>
            </a:r>
            <a:r>
              <a:rPr lang="en-US" altLang="zh-CN" sz="2400" dirty="0">
                <a:solidFill>
                  <a:srgbClr val="000000"/>
                </a:solidFill>
              </a:rPr>
              <a:t>x</a:t>
            </a:r>
            <a:r>
              <a:rPr lang="en-US" altLang="zh-CN" sz="2400" baseline="-25000" dirty="0">
                <a:solidFill>
                  <a:srgbClr val="000000"/>
                </a:solidFill>
              </a:rPr>
              <a:t>2j</a:t>
            </a:r>
            <a:r>
              <a:rPr lang="zh-CN" altLang="en-US" sz="2400" dirty="0">
                <a:solidFill>
                  <a:srgbClr val="000000"/>
                </a:solidFill>
              </a:rPr>
              <a:t>比较，搜索空间加倍。若</a:t>
            </a:r>
            <a:r>
              <a:rPr lang="en-US" altLang="zh-CN" sz="2400" dirty="0">
                <a:solidFill>
                  <a:srgbClr val="000000"/>
                </a:solidFill>
              </a:rPr>
              <a:t>z≤x</a:t>
            </a:r>
            <a:r>
              <a:rPr lang="en-US" altLang="zh-CN" sz="2400" baseline="-25000" dirty="0">
                <a:solidFill>
                  <a:srgbClr val="000000"/>
                </a:solidFill>
              </a:rPr>
              <a:t>2j</a:t>
            </a:r>
            <a:r>
              <a:rPr lang="zh-CN" altLang="en-US" sz="2400" dirty="0">
                <a:solidFill>
                  <a:srgbClr val="000000"/>
                </a:solidFill>
              </a:rPr>
              <a:t>，可推得</a:t>
            </a:r>
            <a:r>
              <a:rPr lang="en-US" altLang="zh-CN" sz="2400" dirty="0" err="1">
                <a:solidFill>
                  <a:srgbClr val="000000"/>
                </a:solidFill>
              </a:rPr>
              <a:t>x</a:t>
            </a:r>
            <a:r>
              <a:rPr lang="en-US" altLang="zh-CN" sz="2400" baseline="-25000" dirty="0" err="1">
                <a:solidFill>
                  <a:srgbClr val="000000"/>
                </a:solidFill>
              </a:rPr>
              <a:t>j</a:t>
            </a:r>
            <a:r>
              <a:rPr lang="en-US" altLang="zh-CN" sz="2400" dirty="0">
                <a:solidFill>
                  <a:srgbClr val="000000"/>
                </a:solidFill>
              </a:rPr>
              <a:t>&lt;z≤x</a:t>
            </a:r>
            <a:r>
              <a:rPr lang="en-US" altLang="zh-CN" sz="2400" baseline="-25000" dirty="0">
                <a:solidFill>
                  <a:srgbClr val="000000"/>
                </a:solidFill>
              </a:rPr>
              <a:t>2j</a:t>
            </a:r>
            <a:r>
              <a:rPr lang="zh-CN" altLang="en-US" sz="2400" dirty="0">
                <a:solidFill>
                  <a:srgbClr val="000000"/>
                </a:solidFill>
              </a:rPr>
              <a:t>，然后再通过</a:t>
            </a:r>
            <a:r>
              <a:rPr lang="en-US" altLang="zh-CN" sz="2400" dirty="0">
                <a:solidFill>
                  <a:srgbClr val="000000"/>
                </a:solidFill>
              </a:rPr>
              <a:t>O(log j)</a:t>
            </a:r>
            <a:r>
              <a:rPr lang="zh-CN" altLang="en-US" sz="2400" dirty="0">
                <a:solidFill>
                  <a:srgbClr val="000000"/>
                </a:solidFill>
              </a:rPr>
              <a:t>次比较就能找到</a:t>
            </a:r>
            <a:r>
              <a:rPr lang="en-US" altLang="zh-CN" sz="2400" dirty="0">
                <a:solidFill>
                  <a:srgbClr val="000000"/>
                </a:solidFill>
              </a:rPr>
              <a:t>z</a:t>
            </a:r>
            <a:r>
              <a:rPr lang="zh-CN" altLang="en-US" sz="2400" dirty="0">
                <a:solidFill>
                  <a:srgbClr val="000000"/>
                </a:solidFill>
              </a:rPr>
              <a:t>。</a:t>
            </a:r>
          </a:p>
          <a:p>
            <a:r>
              <a:rPr lang="zh-CN" altLang="en-US" sz="2400" dirty="0">
                <a:solidFill>
                  <a:srgbClr val="000000"/>
                </a:solidFill>
              </a:rPr>
              <a:t>总的来看，如果</a:t>
            </a:r>
            <a:r>
              <a:rPr lang="en-US" altLang="zh-CN" sz="2400" dirty="0" err="1">
                <a:solidFill>
                  <a:srgbClr val="000000"/>
                </a:solidFill>
              </a:rPr>
              <a:t>i</a:t>
            </a:r>
            <a:r>
              <a:rPr lang="zh-CN" altLang="en-US" sz="2400" dirty="0">
                <a:solidFill>
                  <a:srgbClr val="000000"/>
                </a:solidFill>
              </a:rPr>
              <a:t>是使</a:t>
            </a:r>
            <a:r>
              <a:rPr lang="en-US" altLang="zh-CN" sz="2400" dirty="0" err="1">
                <a:solidFill>
                  <a:srgbClr val="000000"/>
                </a:solidFill>
              </a:rPr>
              <a:t>z≤x</a:t>
            </a:r>
            <a:r>
              <a:rPr lang="en-US" altLang="zh-CN" sz="2400" baseline="-25000" dirty="0" err="1">
                <a:solidFill>
                  <a:srgbClr val="000000"/>
                </a:solidFill>
              </a:rPr>
              <a:t>i</a:t>
            </a:r>
            <a:r>
              <a:rPr lang="zh-CN" altLang="en-US" sz="2400" dirty="0">
                <a:solidFill>
                  <a:srgbClr val="000000"/>
                </a:solidFill>
              </a:rPr>
              <a:t>的最小下标，那么通过</a:t>
            </a:r>
            <a:r>
              <a:rPr lang="en-US" altLang="zh-CN" sz="2400" dirty="0">
                <a:solidFill>
                  <a:srgbClr val="000000"/>
                </a:solidFill>
              </a:rPr>
              <a:t>O(log </a:t>
            </a:r>
            <a:r>
              <a:rPr lang="en-US" altLang="zh-CN" sz="2400" dirty="0" err="1">
                <a:solidFill>
                  <a:srgbClr val="000000"/>
                </a:solidFill>
              </a:rPr>
              <a:t>i</a:t>
            </a:r>
            <a:r>
              <a:rPr lang="en-US" altLang="zh-CN" sz="2400" dirty="0">
                <a:solidFill>
                  <a:srgbClr val="000000"/>
                </a:solidFill>
              </a:rPr>
              <a:t>)</a:t>
            </a:r>
            <a:r>
              <a:rPr lang="zh-CN" altLang="en-US" sz="2400" dirty="0">
                <a:solidFill>
                  <a:srgbClr val="000000"/>
                </a:solidFill>
              </a:rPr>
              <a:t>次比较就能得到某个</a:t>
            </a:r>
            <a:r>
              <a:rPr lang="en-US" altLang="zh-CN" sz="2400" dirty="0" err="1">
                <a:solidFill>
                  <a:srgbClr val="000000"/>
                </a:solidFill>
              </a:rPr>
              <a:t>x</a:t>
            </a:r>
            <a:r>
              <a:rPr lang="en-US" altLang="zh-CN" sz="2400" baseline="-25000" dirty="0" err="1">
                <a:solidFill>
                  <a:srgbClr val="000000"/>
                </a:solidFill>
              </a:rPr>
              <a:t>j</a:t>
            </a:r>
            <a:r>
              <a:rPr lang="zh-CN" altLang="en-US" sz="2400" dirty="0">
                <a:solidFill>
                  <a:srgbClr val="000000"/>
                </a:solidFill>
              </a:rPr>
              <a:t>，使得</a:t>
            </a:r>
            <a:r>
              <a:rPr lang="en-US" altLang="zh-CN" sz="2400" dirty="0" err="1">
                <a:solidFill>
                  <a:srgbClr val="000000"/>
                </a:solidFill>
              </a:rPr>
              <a:t>z≤x</a:t>
            </a:r>
            <a:r>
              <a:rPr lang="en-US" altLang="zh-CN" sz="2400" baseline="-25000" dirty="0" err="1">
                <a:solidFill>
                  <a:srgbClr val="000000"/>
                </a:solidFill>
              </a:rPr>
              <a:t>j</a:t>
            </a:r>
            <a:r>
              <a:rPr lang="zh-CN" altLang="en-US" sz="2400" dirty="0">
                <a:solidFill>
                  <a:srgbClr val="000000"/>
                </a:solidFill>
              </a:rPr>
              <a:t>，然后再通过</a:t>
            </a:r>
            <a:r>
              <a:rPr lang="en-US" altLang="zh-CN" sz="2400" dirty="0">
                <a:solidFill>
                  <a:srgbClr val="000000"/>
                </a:solidFill>
              </a:rPr>
              <a:t>O(log </a:t>
            </a:r>
            <a:r>
              <a:rPr lang="en-US" altLang="zh-CN" sz="2400" dirty="0" err="1">
                <a:solidFill>
                  <a:srgbClr val="000000"/>
                </a:solidFill>
              </a:rPr>
              <a:t>i</a:t>
            </a:r>
            <a:r>
              <a:rPr lang="en-US" altLang="zh-CN" sz="2400" dirty="0">
                <a:solidFill>
                  <a:srgbClr val="000000"/>
                </a:solidFill>
              </a:rPr>
              <a:t>)</a:t>
            </a:r>
            <a:r>
              <a:rPr lang="zh-CN" altLang="en-US" sz="2400" dirty="0">
                <a:solidFill>
                  <a:srgbClr val="000000"/>
                </a:solidFill>
              </a:rPr>
              <a:t>次比较最终得到</a:t>
            </a:r>
            <a:r>
              <a:rPr lang="en-US" altLang="zh-CN" sz="2400" dirty="0" err="1">
                <a:solidFill>
                  <a:srgbClr val="000000"/>
                </a:solidFill>
              </a:rPr>
              <a:t>i</a:t>
            </a:r>
            <a:r>
              <a:rPr lang="zh-CN" altLang="en-US" sz="2400" dirty="0">
                <a:solidFill>
                  <a:srgbClr val="000000"/>
                </a:solidFill>
              </a:rPr>
              <a:t>。</a:t>
            </a:r>
          </a:p>
          <a:p>
            <a:endParaRPr lang="zh-CN" altLang="en-US" sz="2400" dirty="0"/>
          </a:p>
        </p:txBody>
      </p:sp>
    </p:spTree>
    <p:extLst>
      <p:ext uri="{BB962C8B-B14F-4D97-AF65-F5344CB8AC3E}">
        <p14:creationId xmlns:p14="http://schemas.microsoft.com/office/powerpoint/2010/main" val="247487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EE034-5388-4A4C-A787-E5D810B45C83}"/>
              </a:ext>
            </a:extLst>
          </p:cNvPr>
          <p:cNvSpPr>
            <a:spLocks noGrp="1"/>
          </p:cNvSpPr>
          <p:nvPr>
            <p:ph type="title"/>
          </p:nvPr>
        </p:nvSpPr>
        <p:spPr/>
        <p:txBody>
          <a:bodyPr/>
          <a:lstStyle/>
          <a:p>
            <a:r>
              <a:rPr lang="zh-CN" altLang="en-US" dirty="0"/>
              <a:t>重叠子序列问题</a:t>
            </a:r>
          </a:p>
        </p:txBody>
      </p:sp>
      <p:sp>
        <p:nvSpPr>
          <p:cNvPr id="3" name="内容占位符 2">
            <a:extLst>
              <a:ext uri="{FF2B5EF4-FFF2-40B4-BE49-F238E27FC236}">
                <a16:creationId xmlns:a16="http://schemas.microsoft.com/office/drawing/2014/main" id="{65419515-120E-403A-A96B-B8C7E4854402}"/>
              </a:ext>
            </a:extLst>
          </p:cNvPr>
          <p:cNvSpPr>
            <a:spLocks noGrp="1"/>
          </p:cNvSpPr>
          <p:nvPr>
            <p:ph idx="1"/>
          </p:nvPr>
        </p:nvSpPr>
        <p:spPr/>
        <p:txBody>
          <a:bodyPr>
            <a:noAutofit/>
          </a:bodyPr>
          <a:lstStyle/>
          <a:p>
            <a:r>
              <a:rPr lang="zh-CN" altLang="en-US" sz="2400" dirty="0">
                <a:solidFill>
                  <a:srgbClr val="000000"/>
                </a:solidFill>
              </a:rPr>
              <a:t>令</a:t>
            </a:r>
            <a:r>
              <a:rPr lang="it-IT" altLang="zh-CN" sz="2400" dirty="0">
                <a:solidFill>
                  <a:srgbClr val="000000"/>
                </a:solidFill>
              </a:rPr>
              <a:t>A</a:t>
            </a:r>
            <a:r>
              <a:rPr lang="zh-CN" altLang="en-US" sz="2400" dirty="0">
                <a:solidFill>
                  <a:srgbClr val="000000"/>
                </a:solidFill>
              </a:rPr>
              <a:t>和</a:t>
            </a:r>
            <a:r>
              <a:rPr lang="it-IT" altLang="zh-CN" sz="2400" dirty="0">
                <a:solidFill>
                  <a:srgbClr val="000000"/>
                </a:solidFill>
              </a:rPr>
              <a:t>B</a:t>
            </a:r>
            <a:r>
              <a:rPr lang="zh-CN" altLang="en-US" sz="2400" dirty="0">
                <a:solidFill>
                  <a:srgbClr val="000000"/>
                </a:solidFill>
              </a:rPr>
              <a:t>是有限字母表上的字符序列</a:t>
            </a:r>
            <a:r>
              <a:rPr lang="it-IT" altLang="en-US" sz="2400" dirty="0">
                <a:solidFill>
                  <a:srgbClr val="000000"/>
                </a:solidFill>
              </a:rPr>
              <a:t>，</a:t>
            </a:r>
            <a:r>
              <a:rPr lang="it-IT" altLang="zh-CN" sz="2400" dirty="0">
                <a:solidFill>
                  <a:srgbClr val="000000"/>
                </a:solidFill>
              </a:rPr>
              <a:t>A=a</a:t>
            </a:r>
            <a:r>
              <a:rPr lang="it-IT" altLang="zh-CN" sz="2400" baseline="-25000" dirty="0">
                <a:solidFill>
                  <a:srgbClr val="000000"/>
                </a:solidFill>
              </a:rPr>
              <a:t>1</a:t>
            </a:r>
            <a:r>
              <a:rPr lang="it-IT" altLang="zh-CN" sz="2400" dirty="0">
                <a:solidFill>
                  <a:srgbClr val="000000"/>
                </a:solidFill>
              </a:rPr>
              <a:t>a</a:t>
            </a:r>
            <a:r>
              <a:rPr lang="it-IT" altLang="zh-CN" sz="2400" baseline="-25000" dirty="0">
                <a:solidFill>
                  <a:srgbClr val="000000"/>
                </a:solidFill>
              </a:rPr>
              <a:t>2</a:t>
            </a:r>
            <a:r>
              <a:rPr lang="it-IT" altLang="zh-CN" sz="2400" dirty="0">
                <a:solidFill>
                  <a:srgbClr val="000000"/>
                </a:solidFill>
              </a:rPr>
              <a:t>…a</a:t>
            </a:r>
            <a:r>
              <a:rPr lang="it-IT" altLang="zh-CN" sz="2400" baseline="-25000" dirty="0">
                <a:solidFill>
                  <a:srgbClr val="000000"/>
                </a:solidFill>
              </a:rPr>
              <a:t>n</a:t>
            </a:r>
            <a:r>
              <a:rPr lang="it-IT" altLang="zh-CN" sz="2400" dirty="0">
                <a:solidFill>
                  <a:srgbClr val="000000"/>
                </a:solidFill>
              </a:rPr>
              <a:t>，B=b</a:t>
            </a:r>
            <a:r>
              <a:rPr lang="it-IT" altLang="zh-CN" sz="2400" baseline="-25000" dirty="0">
                <a:solidFill>
                  <a:srgbClr val="000000"/>
                </a:solidFill>
              </a:rPr>
              <a:t>1</a:t>
            </a:r>
            <a:r>
              <a:rPr lang="it-IT" altLang="zh-CN" sz="2400" dirty="0">
                <a:solidFill>
                  <a:srgbClr val="000000"/>
                </a:solidFill>
              </a:rPr>
              <a:t>b</a:t>
            </a:r>
            <a:r>
              <a:rPr lang="it-IT" altLang="zh-CN" sz="2400" baseline="-25000" dirty="0">
                <a:solidFill>
                  <a:srgbClr val="000000"/>
                </a:solidFill>
              </a:rPr>
              <a:t>2</a:t>
            </a:r>
            <a:r>
              <a:rPr lang="it-IT" altLang="zh-CN" sz="2400" dirty="0">
                <a:solidFill>
                  <a:srgbClr val="000000"/>
                </a:solidFill>
              </a:rPr>
              <a:t>…b</a:t>
            </a:r>
            <a:r>
              <a:rPr lang="it-IT" altLang="zh-CN" sz="2400" baseline="-25000" dirty="0">
                <a:solidFill>
                  <a:srgbClr val="000000"/>
                </a:solidFill>
              </a:rPr>
              <a:t>m</a:t>
            </a:r>
            <a:r>
              <a:rPr lang="it-IT" altLang="zh-CN" sz="2400" dirty="0">
                <a:solidFill>
                  <a:srgbClr val="000000"/>
                </a:solidFill>
              </a:rPr>
              <a:t>，</a:t>
            </a:r>
            <a:r>
              <a:rPr lang="it-IT" altLang="en-US" sz="2400" dirty="0">
                <a:solidFill>
                  <a:srgbClr val="000000"/>
                </a:solidFill>
              </a:rPr>
              <a:t>其中</a:t>
            </a:r>
            <a:r>
              <a:rPr lang="en-US" altLang="zh-CN" sz="2400" dirty="0" err="1">
                <a:solidFill>
                  <a:srgbClr val="000000"/>
                </a:solidFill>
              </a:rPr>
              <a:t>m≤n</a:t>
            </a:r>
            <a:r>
              <a:rPr lang="it-IT" altLang="zh-CN" sz="2400" dirty="0">
                <a:solidFill>
                  <a:srgbClr val="000000"/>
                </a:solidFill>
              </a:rPr>
              <a:t>。</a:t>
            </a:r>
            <a:r>
              <a:rPr lang="it-IT" altLang="en-US" sz="2400" dirty="0">
                <a:solidFill>
                  <a:srgbClr val="000000"/>
                </a:solidFill>
              </a:rPr>
              <a:t>若存在下标</a:t>
            </a:r>
            <a:r>
              <a:rPr lang="en-US" altLang="zh-CN" sz="2400" dirty="0">
                <a:solidFill>
                  <a:srgbClr val="000000"/>
                </a:solidFill>
              </a:rPr>
              <a:t>i</a:t>
            </a:r>
            <a:r>
              <a:rPr lang="en-US" altLang="zh-CN" sz="2400" baseline="-25000" dirty="0">
                <a:solidFill>
                  <a:srgbClr val="000000"/>
                </a:solidFill>
              </a:rPr>
              <a:t>1</a:t>
            </a:r>
            <a:r>
              <a:rPr lang="en-US" altLang="zh-CN" sz="2400" dirty="0">
                <a:solidFill>
                  <a:srgbClr val="000000"/>
                </a:solidFill>
              </a:rPr>
              <a:t>&lt;i</a:t>
            </a:r>
            <a:r>
              <a:rPr lang="en-US" altLang="zh-CN" sz="2400" baseline="-25000" dirty="0">
                <a:solidFill>
                  <a:srgbClr val="000000"/>
                </a:solidFill>
              </a:rPr>
              <a:t>2</a:t>
            </a:r>
            <a:r>
              <a:rPr lang="en-US" altLang="zh-CN" sz="2400" dirty="0">
                <a:solidFill>
                  <a:srgbClr val="000000"/>
                </a:solidFill>
              </a:rPr>
              <a:t>&lt;…&lt;</a:t>
            </a:r>
            <a:r>
              <a:rPr lang="en-US" altLang="zh-CN" sz="2400" dirty="0" err="1">
                <a:solidFill>
                  <a:srgbClr val="000000"/>
                </a:solidFill>
              </a:rPr>
              <a:t>i</a:t>
            </a:r>
            <a:r>
              <a:rPr lang="en-US" altLang="zh-CN" sz="2400" baseline="-25000" dirty="0" err="1">
                <a:solidFill>
                  <a:srgbClr val="000000"/>
                </a:solidFill>
              </a:rPr>
              <a:t>m</a:t>
            </a:r>
            <a:r>
              <a:rPr lang="it-IT" altLang="zh-CN" sz="2400" dirty="0">
                <a:solidFill>
                  <a:srgbClr val="000000"/>
                </a:solidFill>
              </a:rPr>
              <a:t>，</a:t>
            </a:r>
            <a:r>
              <a:rPr lang="it-IT" altLang="en-US" sz="2400" dirty="0">
                <a:solidFill>
                  <a:srgbClr val="000000"/>
                </a:solidFill>
              </a:rPr>
              <a:t>对所有的</a:t>
            </a:r>
            <a:r>
              <a:rPr lang="it-IT" altLang="zh-CN" sz="2400" dirty="0">
                <a:solidFill>
                  <a:srgbClr val="000000"/>
                </a:solidFill>
              </a:rPr>
              <a:t>j，</a:t>
            </a:r>
            <a:r>
              <a:rPr lang="en-US" altLang="zh-CN" sz="2400" dirty="0">
                <a:solidFill>
                  <a:srgbClr val="000000"/>
                </a:solidFill>
              </a:rPr>
              <a:t>1≤j≤m</a:t>
            </a:r>
            <a:r>
              <a:rPr lang="it-IT" altLang="zh-CN" sz="2400" dirty="0">
                <a:solidFill>
                  <a:srgbClr val="000000"/>
                </a:solidFill>
              </a:rPr>
              <a:t>，</a:t>
            </a:r>
            <a:r>
              <a:rPr lang="it-IT" altLang="en-US" sz="2400" dirty="0">
                <a:solidFill>
                  <a:srgbClr val="000000"/>
                </a:solidFill>
              </a:rPr>
              <a:t>有</a:t>
            </a:r>
            <a:r>
              <a:rPr lang="it-IT" altLang="zh-CN" sz="2400" dirty="0">
                <a:solidFill>
                  <a:srgbClr val="000000"/>
                </a:solidFill>
              </a:rPr>
              <a:t>b</a:t>
            </a:r>
            <a:r>
              <a:rPr lang="it-IT" altLang="zh-CN" sz="2400" baseline="-25000" dirty="0">
                <a:solidFill>
                  <a:srgbClr val="000000"/>
                </a:solidFill>
              </a:rPr>
              <a:t>j</a:t>
            </a:r>
            <a:r>
              <a:rPr lang="it-IT" altLang="zh-CN" sz="2400" dirty="0">
                <a:solidFill>
                  <a:srgbClr val="000000"/>
                </a:solidFill>
              </a:rPr>
              <a:t>= a</a:t>
            </a:r>
            <a:r>
              <a:rPr lang="it-IT" altLang="zh-CN" sz="2400" baseline="-25000" dirty="0">
                <a:solidFill>
                  <a:srgbClr val="000000"/>
                </a:solidFill>
              </a:rPr>
              <a:t>i</a:t>
            </a:r>
            <a:r>
              <a:rPr lang="it-IT" altLang="zh-CN" sz="1800" baseline="-40000" dirty="0">
                <a:solidFill>
                  <a:srgbClr val="000000"/>
                </a:solidFill>
              </a:rPr>
              <a:t>j</a:t>
            </a:r>
            <a:r>
              <a:rPr lang="it-IT" altLang="zh-CN" sz="2400" dirty="0">
                <a:solidFill>
                  <a:srgbClr val="000000"/>
                </a:solidFill>
              </a:rPr>
              <a:t>，</a:t>
            </a:r>
            <a:r>
              <a:rPr lang="it-IT" altLang="en-US" sz="2400" dirty="0">
                <a:solidFill>
                  <a:srgbClr val="000000"/>
                </a:solidFill>
              </a:rPr>
              <a:t>则称</a:t>
            </a:r>
            <a:r>
              <a:rPr lang="it-IT" altLang="zh-CN" sz="2400" dirty="0">
                <a:solidFill>
                  <a:srgbClr val="000000"/>
                </a:solidFill>
              </a:rPr>
              <a:t>B</a:t>
            </a:r>
            <a:r>
              <a:rPr lang="it-IT" altLang="en-US" sz="2400" dirty="0">
                <a:solidFill>
                  <a:srgbClr val="000000"/>
                </a:solidFill>
              </a:rPr>
              <a:t>是</a:t>
            </a:r>
            <a:r>
              <a:rPr lang="it-IT" altLang="zh-CN" sz="2400" dirty="0">
                <a:solidFill>
                  <a:srgbClr val="000000"/>
                </a:solidFill>
              </a:rPr>
              <a:t>A</a:t>
            </a:r>
            <a:r>
              <a:rPr lang="it-IT" altLang="en-US" sz="2400" dirty="0">
                <a:solidFill>
                  <a:srgbClr val="000000"/>
                </a:solidFill>
              </a:rPr>
              <a:t>的子序列</a:t>
            </a:r>
            <a:r>
              <a:rPr lang="zh-CN" altLang="en-US" sz="2400" dirty="0">
                <a:solidFill>
                  <a:srgbClr val="000000"/>
                </a:solidFill>
              </a:rPr>
              <a:t>，即</a:t>
            </a:r>
            <a:r>
              <a:rPr lang="it-IT" altLang="en-US" sz="2400" dirty="0">
                <a:solidFill>
                  <a:srgbClr val="000000"/>
                </a:solidFill>
              </a:rPr>
              <a:t>如果能把</a:t>
            </a:r>
            <a:r>
              <a:rPr lang="it-IT" altLang="zh-CN" sz="2400" dirty="0">
                <a:solidFill>
                  <a:srgbClr val="000000"/>
                </a:solidFill>
              </a:rPr>
              <a:t>B</a:t>
            </a:r>
            <a:r>
              <a:rPr lang="it-IT" altLang="en-US" sz="2400" dirty="0">
                <a:solidFill>
                  <a:srgbClr val="000000"/>
                </a:solidFill>
              </a:rPr>
              <a:t>中的字符按序嵌入</a:t>
            </a:r>
            <a:r>
              <a:rPr lang="it-IT" altLang="zh-CN" sz="2400" dirty="0">
                <a:solidFill>
                  <a:srgbClr val="000000"/>
                </a:solidFill>
              </a:rPr>
              <a:t>A</a:t>
            </a:r>
            <a:r>
              <a:rPr lang="it-IT" altLang="en-US" sz="2400" dirty="0">
                <a:solidFill>
                  <a:srgbClr val="000000"/>
                </a:solidFill>
              </a:rPr>
              <a:t>中，嵌入的位置不必连续，则</a:t>
            </a:r>
            <a:r>
              <a:rPr lang="it-IT" altLang="zh-CN" sz="2400" dirty="0">
                <a:solidFill>
                  <a:srgbClr val="000000"/>
                </a:solidFill>
              </a:rPr>
              <a:t>B</a:t>
            </a:r>
            <a:r>
              <a:rPr lang="it-IT" altLang="en-US" sz="2400" dirty="0">
                <a:solidFill>
                  <a:srgbClr val="000000"/>
                </a:solidFill>
              </a:rPr>
              <a:t>是</a:t>
            </a:r>
            <a:r>
              <a:rPr lang="it-IT" altLang="zh-CN" sz="2400" dirty="0">
                <a:solidFill>
                  <a:srgbClr val="000000"/>
                </a:solidFill>
              </a:rPr>
              <a:t>A</a:t>
            </a:r>
            <a:r>
              <a:rPr lang="it-IT" altLang="en-US" sz="2400" dirty="0">
                <a:solidFill>
                  <a:srgbClr val="000000"/>
                </a:solidFill>
              </a:rPr>
              <a:t>的子序列。</a:t>
            </a:r>
          </a:p>
          <a:p>
            <a:r>
              <a:rPr lang="it-IT" altLang="en-US" sz="2400" dirty="0">
                <a:solidFill>
                  <a:srgbClr val="000000"/>
                </a:solidFill>
              </a:rPr>
              <a:t>从头开始扫描</a:t>
            </a:r>
            <a:r>
              <a:rPr lang="it-IT" altLang="zh-CN" sz="2400" dirty="0">
                <a:solidFill>
                  <a:srgbClr val="000000"/>
                </a:solidFill>
              </a:rPr>
              <a:t>A</a:t>
            </a:r>
            <a:r>
              <a:rPr lang="it-IT" altLang="en-US" sz="2400" dirty="0">
                <a:solidFill>
                  <a:srgbClr val="000000"/>
                </a:solidFill>
              </a:rPr>
              <a:t>直到</a:t>
            </a:r>
            <a:r>
              <a:rPr lang="it-IT" altLang="zh-CN" sz="2400" dirty="0">
                <a:solidFill>
                  <a:srgbClr val="000000"/>
                </a:solidFill>
              </a:rPr>
              <a:t>b</a:t>
            </a:r>
            <a:r>
              <a:rPr lang="it-IT" altLang="zh-CN" sz="2400" baseline="-25000" dirty="0">
                <a:solidFill>
                  <a:srgbClr val="000000"/>
                </a:solidFill>
              </a:rPr>
              <a:t>1</a:t>
            </a:r>
            <a:r>
              <a:rPr lang="it-IT" altLang="en-US" sz="2400" dirty="0">
                <a:solidFill>
                  <a:srgbClr val="000000"/>
                </a:solidFill>
              </a:rPr>
              <a:t>第一次出现（如果存在的话），继续扫描直到</a:t>
            </a:r>
            <a:r>
              <a:rPr lang="it-IT" altLang="zh-CN" sz="2400" dirty="0">
                <a:solidFill>
                  <a:srgbClr val="000000"/>
                </a:solidFill>
              </a:rPr>
              <a:t>b</a:t>
            </a:r>
            <a:r>
              <a:rPr lang="it-IT" altLang="zh-CN" sz="2400" baseline="-25000" dirty="0">
                <a:solidFill>
                  <a:srgbClr val="000000"/>
                </a:solidFill>
              </a:rPr>
              <a:t>2</a:t>
            </a:r>
            <a:r>
              <a:rPr lang="it-IT" altLang="en-US" sz="2400" dirty="0">
                <a:solidFill>
                  <a:srgbClr val="000000"/>
                </a:solidFill>
              </a:rPr>
              <a:t>出现，以此类推。由于算法中包含一次对</a:t>
            </a:r>
            <a:r>
              <a:rPr lang="it-IT" altLang="zh-CN" sz="2400" dirty="0">
                <a:solidFill>
                  <a:srgbClr val="000000"/>
                </a:solidFill>
              </a:rPr>
              <a:t>A</a:t>
            </a:r>
            <a:r>
              <a:rPr lang="it-IT" altLang="en-US" sz="2400" dirty="0">
                <a:solidFill>
                  <a:srgbClr val="000000"/>
                </a:solidFill>
              </a:rPr>
              <a:t>和</a:t>
            </a:r>
            <a:r>
              <a:rPr lang="it-IT" altLang="zh-CN" sz="2400" dirty="0">
                <a:solidFill>
                  <a:srgbClr val="000000"/>
                </a:solidFill>
              </a:rPr>
              <a:t>B</a:t>
            </a:r>
            <a:r>
              <a:rPr lang="it-IT" altLang="en-US" sz="2400" dirty="0">
                <a:solidFill>
                  <a:srgbClr val="000000"/>
                </a:solidFill>
              </a:rPr>
              <a:t>的线性扫描，因而运行时间为</a:t>
            </a:r>
            <a:r>
              <a:rPr lang="it-IT" altLang="zh-CN" sz="2400" dirty="0">
                <a:solidFill>
                  <a:srgbClr val="000000"/>
                </a:solidFill>
              </a:rPr>
              <a:t>O(m+n)。</a:t>
            </a:r>
          </a:p>
          <a:p>
            <a:r>
              <a:rPr lang="it-IT" altLang="en-US" sz="2400" dirty="0">
                <a:solidFill>
                  <a:srgbClr val="000000"/>
                </a:solidFill>
              </a:rPr>
              <a:t>对已知的序列</a:t>
            </a:r>
            <a:r>
              <a:rPr lang="it-IT" altLang="zh-CN" sz="2400" dirty="0">
                <a:solidFill>
                  <a:srgbClr val="000000"/>
                </a:solidFill>
              </a:rPr>
              <a:t>B，</a:t>
            </a:r>
            <a:r>
              <a:rPr lang="it-IT" altLang="en-US" sz="2400" dirty="0">
                <a:solidFill>
                  <a:srgbClr val="000000"/>
                </a:solidFill>
              </a:rPr>
              <a:t>定义</a:t>
            </a:r>
            <a:r>
              <a:rPr lang="it-IT" altLang="zh-CN" sz="2400" dirty="0">
                <a:solidFill>
                  <a:srgbClr val="000000"/>
                </a:solidFill>
              </a:rPr>
              <a:t>B</a:t>
            </a:r>
            <a:r>
              <a:rPr lang="it-IT" altLang="zh-CN" sz="2400" baseline="30000" dirty="0">
                <a:solidFill>
                  <a:srgbClr val="000000"/>
                </a:solidFill>
              </a:rPr>
              <a:t>i</a:t>
            </a:r>
            <a:r>
              <a:rPr lang="it-IT" altLang="en-US" sz="2400" dirty="0">
                <a:solidFill>
                  <a:srgbClr val="000000"/>
                </a:solidFill>
              </a:rPr>
              <a:t>为</a:t>
            </a:r>
            <a:r>
              <a:rPr lang="it-IT" altLang="zh-CN" sz="2400" dirty="0">
                <a:solidFill>
                  <a:srgbClr val="000000"/>
                </a:solidFill>
              </a:rPr>
              <a:t>B</a:t>
            </a:r>
            <a:r>
              <a:rPr lang="it-IT" altLang="en-US" sz="2400" dirty="0">
                <a:solidFill>
                  <a:srgbClr val="000000"/>
                </a:solidFill>
              </a:rPr>
              <a:t>的每个字符连续出现</a:t>
            </a:r>
            <a:r>
              <a:rPr lang="it-IT" altLang="zh-CN" sz="2400" dirty="0">
                <a:solidFill>
                  <a:srgbClr val="000000"/>
                </a:solidFill>
              </a:rPr>
              <a:t>i</a:t>
            </a:r>
            <a:r>
              <a:rPr lang="it-IT" altLang="en-US" sz="2400" dirty="0">
                <a:solidFill>
                  <a:srgbClr val="000000"/>
                </a:solidFill>
              </a:rPr>
              <a:t>次所形成的序列。</a:t>
            </a:r>
          </a:p>
          <a:p>
            <a:r>
              <a:rPr lang="zh-CN" altLang="en-US" sz="2400" dirty="0">
                <a:solidFill>
                  <a:srgbClr val="000000"/>
                </a:solidFill>
              </a:rPr>
              <a:t>问题 ：给定两个序列</a:t>
            </a:r>
            <a:r>
              <a:rPr lang="en-US" altLang="zh-CN" sz="2400" dirty="0">
                <a:solidFill>
                  <a:srgbClr val="000000"/>
                </a:solidFill>
              </a:rPr>
              <a:t>A</a:t>
            </a:r>
            <a:r>
              <a:rPr lang="zh-CN" altLang="en-US" sz="2400" dirty="0">
                <a:solidFill>
                  <a:srgbClr val="000000"/>
                </a:solidFill>
              </a:rPr>
              <a:t>、</a:t>
            </a:r>
            <a:r>
              <a:rPr lang="en-US" altLang="zh-CN" sz="2400" dirty="0">
                <a:solidFill>
                  <a:srgbClr val="000000"/>
                </a:solidFill>
              </a:rPr>
              <a:t>B</a:t>
            </a:r>
            <a:r>
              <a:rPr lang="zh-CN" altLang="en-US" sz="2400" dirty="0">
                <a:solidFill>
                  <a:srgbClr val="000000"/>
                </a:solidFill>
              </a:rPr>
              <a:t>，试确定</a:t>
            </a:r>
            <a:r>
              <a:rPr lang="en-US" altLang="zh-CN" sz="2400" dirty="0" err="1">
                <a:solidFill>
                  <a:srgbClr val="000000"/>
                </a:solidFill>
              </a:rPr>
              <a:t>i</a:t>
            </a:r>
            <a:r>
              <a:rPr lang="zh-CN" altLang="en-US" sz="2400" dirty="0">
                <a:solidFill>
                  <a:srgbClr val="000000"/>
                </a:solidFill>
              </a:rPr>
              <a:t>的最大值，使得</a:t>
            </a:r>
            <a:r>
              <a:rPr lang="it-IT" altLang="zh-CN" sz="2400" dirty="0">
                <a:solidFill>
                  <a:srgbClr val="000000"/>
                </a:solidFill>
              </a:rPr>
              <a:t>B</a:t>
            </a:r>
            <a:r>
              <a:rPr lang="it-IT" altLang="zh-CN" sz="2400" baseline="30000" dirty="0">
                <a:solidFill>
                  <a:srgbClr val="000000"/>
                </a:solidFill>
              </a:rPr>
              <a:t>i</a:t>
            </a:r>
            <a:r>
              <a:rPr lang="zh-CN" altLang="en-US" sz="2400" dirty="0">
                <a:solidFill>
                  <a:srgbClr val="000000"/>
                </a:solidFill>
              </a:rPr>
              <a:t>是</a:t>
            </a:r>
            <a:r>
              <a:rPr lang="it-IT" altLang="zh-CN" sz="2400" dirty="0">
                <a:solidFill>
                  <a:srgbClr val="000000"/>
                </a:solidFill>
              </a:rPr>
              <a:t>A</a:t>
            </a:r>
            <a:r>
              <a:rPr lang="zh-CN" altLang="en-US" sz="2400" dirty="0">
                <a:solidFill>
                  <a:srgbClr val="000000"/>
                </a:solidFill>
              </a:rPr>
              <a:t>的子序列。</a:t>
            </a:r>
          </a:p>
          <a:p>
            <a:endParaRPr lang="zh-CN" altLang="en-US" sz="2400" dirty="0"/>
          </a:p>
        </p:txBody>
      </p:sp>
    </p:spTree>
    <p:extLst>
      <p:ext uri="{BB962C8B-B14F-4D97-AF65-F5344CB8AC3E}">
        <p14:creationId xmlns:p14="http://schemas.microsoft.com/office/powerpoint/2010/main" val="4169819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E481F-1B32-404B-89BF-DB72AC6C903C}"/>
              </a:ext>
            </a:extLst>
          </p:cNvPr>
          <p:cNvSpPr>
            <a:spLocks noGrp="1"/>
          </p:cNvSpPr>
          <p:nvPr>
            <p:ph type="title"/>
          </p:nvPr>
        </p:nvSpPr>
        <p:spPr/>
        <p:txBody>
          <a:bodyPr/>
          <a:lstStyle/>
          <a:p>
            <a:r>
              <a:rPr lang="zh-CN" altLang="en-US" dirty="0"/>
              <a:t>重叠子序列问题</a:t>
            </a:r>
          </a:p>
        </p:txBody>
      </p:sp>
      <p:sp>
        <p:nvSpPr>
          <p:cNvPr id="3" name="内容占位符 2">
            <a:extLst>
              <a:ext uri="{FF2B5EF4-FFF2-40B4-BE49-F238E27FC236}">
                <a16:creationId xmlns:a16="http://schemas.microsoft.com/office/drawing/2014/main" id="{4CFDE317-6974-4401-8FF5-A46FE1A54BB3}"/>
              </a:ext>
            </a:extLst>
          </p:cNvPr>
          <p:cNvSpPr>
            <a:spLocks noGrp="1"/>
          </p:cNvSpPr>
          <p:nvPr>
            <p:ph idx="1"/>
          </p:nvPr>
        </p:nvSpPr>
        <p:spPr/>
        <p:txBody>
          <a:bodyPr>
            <a:normAutofit/>
          </a:bodyPr>
          <a:lstStyle/>
          <a:p>
            <a:pPr algn="just"/>
            <a:r>
              <a:rPr lang="it-IT" altLang="en-US" sz="2400" dirty="0">
                <a:solidFill>
                  <a:srgbClr val="000000"/>
                </a:solidFill>
              </a:rPr>
              <a:t>对每个已知的</a:t>
            </a:r>
            <a:r>
              <a:rPr lang="it-IT" altLang="zh-CN" sz="2400" dirty="0">
                <a:solidFill>
                  <a:srgbClr val="000000"/>
                </a:solidFill>
              </a:rPr>
              <a:t>i，</a:t>
            </a:r>
            <a:r>
              <a:rPr lang="it-IT" altLang="en-US" sz="2400" dirty="0">
                <a:solidFill>
                  <a:srgbClr val="000000"/>
                </a:solidFill>
              </a:rPr>
              <a:t>构造序列</a:t>
            </a:r>
            <a:r>
              <a:rPr lang="it-IT" altLang="zh-CN" sz="2400" dirty="0">
                <a:solidFill>
                  <a:srgbClr val="000000"/>
                </a:solidFill>
              </a:rPr>
              <a:t>B</a:t>
            </a:r>
            <a:r>
              <a:rPr lang="it-IT" altLang="zh-CN" sz="2400" baseline="30000" dirty="0">
                <a:solidFill>
                  <a:srgbClr val="000000"/>
                </a:solidFill>
              </a:rPr>
              <a:t>i</a:t>
            </a:r>
            <a:r>
              <a:rPr lang="it-IT" altLang="en-US" sz="2400" dirty="0">
                <a:solidFill>
                  <a:srgbClr val="000000"/>
                </a:solidFill>
              </a:rPr>
              <a:t>是轻而易举的。</a:t>
            </a:r>
          </a:p>
          <a:p>
            <a:pPr algn="just"/>
            <a:r>
              <a:rPr lang="it-IT" altLang="en-US" sz="2400" dirty="0">
                <a:solidFill>
                  <a:srgbClr val="000000"/>
                </a:solidFill>
              </a:rPr>
              <a:t>对任意给定的</a:t>
            </a:r>
            <a:r>
              <a:rPr lang="it-IT" altLang="zh-CN" sz="2400" dirty="0">
                <a:solidFill>
                  <a:srgbClr val="000000"/>
                </a:solidFill>
              </a:rPr>
              <a:t>i，</a:t>
            </a:r>
            <a:r>
              <a:rPr lang="zh-CN" altLang="it-IT" sz="2400" dirty="0">
                <a:solidFill>
                  <a:srgbClr val="000000"/>
                </a:solidFill>
              </a:rPr>
              <a:t>也</a:t>
            </a:r>
            <a:r>
              <a:rPr lang="en-US" altLang="it-IT" sz="2400" dirty="0" err="1">
                <a:solidFill>
                  <a:srgbClr val="000000"/>
                </a:solidFill>
              </a:rPr>
              <a:t>能够判定</a:t>
            </a:r>
            <a:r>
              <a:rPr lang="it-IT" altLang="zh-CN" sz="2400" dirty="0">
                <a:solidFill>
                  <a:srgbClr val="000000"/>
                </a:solidFill>
              </a:rPr>
              <a:t>B</a:t>
            </a:r>
            <a:r>
              <a:rPr lang="it-IT" altLang="zh-CN" sz="2400" baseline="30000" dirty="0">
                <a:solidFill>
                  <a:srgbClr val="000000"/>
                </a:solidFill>
              </a:rPr>
              <a:t>i</a:t>
            </a:r>
            <a:r>
              <a:rPr lang="it-IT" altLang="en-US" sz="2400" dirty="0">
                <a:solidFill>
                  <a:srgbClr val="000000"/>
                </a:solidFill>
              </a:rPr>
              <a:t>是否为</a:t>
            </a:r>
            <a:r>
              <a:rPr lang="it-IT" altLang="zh-CN" sz="2400" dirty="0">
                <a:solidFill>
                  <a:srgbClr val="000000"/>
                </a:solidFill>
              </a:rPr>
              <a:t>A</a:t>
            </a:r>
            <a:r>
              <a:rPr lang="it-IT" altLang="en-US" sz="2400" dirty="0">
                <a:solidFill>
                  <a:srgbClr val="000000"/>
                </a:solidFill>
              </a:rPr>
              <a:t>的子序列。</a:t>
            </a:r>
          </a:p>
          <a:p>
            <a:pPr algn="just"/>
            <a:r>
              <a:rPr lang="it-IT" altLang="en-US" sz="2400" dirty="0">
                <a:solidFill>
                  <a:srgbClr val="000000"/>
                </a:solidFill>
              </a:rPr>
              <a:t>如果</a:t>
            </a:r>
            <a:r>
              <a:rPr lang="it-IT" altLang="zh-CN" sz="2400" dirty="0">
                <a:solidFill>
                  <a:srgbClr val="000000"/>
                </a:solidFill>
              </a:rPr>
              <a:t>B</a:t>
            </a:r>
            <a:r>
              <a:rPr lang="it-IT" altLang="zh-CN" sz="2400" baseline="30000" dirty="0">
                <a:solidFill>
                  <a:srgbClr val="000000"/>
                </a:solidFill>
              </a:rPr>
              <a:t>j</a:t>
            </a:r>
            <a:r>
              <a:rPr lang="it-IT" altLang="en-US" sz="2400" dirty="0">
                <a:solidFill>
                  <a:srgbClr val="000000"/>
                </a:solidFill>
              </a:rPr>
              <a:t>是</a:t>
            </a:r>
            <a:r>
              <a:rPr lang="it-IT" altLang="zh-CN" sz="2400" dirty="0">
                <a:solidFill>
                  <a:srgbClr val="000000"/>
                </a:solidFill>
              </a:rPr>
              <a:t>A</a:t>
            </a:r>
            <a:r>
              <a:rPr lang="it-IT" altLang="en-US" sz="2400" dirty="0">
                <a:solidFill>
                  <a:srgbClr val="000000"/>
                </a:solidFill>
              </a:rPr>
              <a:t>的子序列，那么对</a:t>
            </a:r>
            <a:r>
              <a:rPr lang="en-US" altLang="zh-CN" sz="2400" dirty="0">
                <a:solidFill>
                  <a:srgbClr val="000000"/>
                </a:solidFill>
              </a:rPr>
              <a:t>1≤i≤j</a:t>
            </a:r>
            <a:r>
              <a:rPr lang="it-IT" altLang="zh-CN" sz="2400" dirty="0">
                <a:solidFill>
                  <a:srgbClr val="000000"/>
                </a:solidFill>
              </a:rPr>
              <a:t>，B</a:t>
            </a:r>
            <a:r>
              <a:rPr lang="it-IT" altLang="zh-CN" sz="2400" baseline="30000" dirty="0">
                <a:solidFill>
                  <a:srgbClr val="000000"/>
                </a:solidFill>
              </a:rPr>
              <a:t>i</a:t>
            </a:r>
            <a:r>
              <a:rPr lang="it-IT" altLang="en-US" sz="2400" dirty="0">
                <a:solidFill>
                  <a:srgbClr val="000000"/>
                </a:solidFill>
              </a:rPr>
              <a:t>也是</a:t>
            </a:r>
            <a:r>
              <a:rPr lang="it-IT" altLang="zh-CN" sz="2400" dirty="0">
                <a:solidFill>
                  <a:srgbClr val="000000"/>
                </a:solidFill>
              </a:rPr>
              <a:t>A</a:t>
            </a:r>
            <a:r>
              <a:rPr lang="it-IT" altLang="en-US" sz="2400" dirty="0">
                <a:solidFill>
                  <a:srgbClr val="000000"/>
                </a:solidFill>
              </a:rPr>
              <a:t>的子序列。</a:t>
            </a:r>
          </a:p>
          <a:p>
            <a:pPr algn="just"/>
            <a:r>
              <a:rPr lang="it-IT" altLang="zh-CN" sz="2400" dirty="0">
                <a:solidFill>
                  <a:srgbClr val="000000"/>
                </a:solidFill>
              </a:rPr>
              <a:t>i</a:t>
            </a:r>
            <a:r>
              <a:rPr lang="it-IT" altLang="en-US" sz="2400" dirty="0">
                <a:solidFill>
                  <a:srgbClr val="000000"/>
                </a:solidFill>
              </a:rPr>
              <a:t>的最大值不能超过</a:t>
            </a:r>
            <a:r>
              <a:rPr lang="it-IT" altLang="zh-CN" sz="2400" dirty="0">
                <a:solidFill>
                  <a:srgbClr val="000000"/>
                </a:solidFill>
              </a:rPr>
              <a:t>n/m，</a:t>
            </a:r>
            <a:r>
              <a:rPr lang="it-IT" altLang="en-US" sz="2400" dirty="0">
                <a:solidFill>
                  <a:srgbClr val="000000"/>
                </a:solidFill>
              </a:rPr>
              <a:t>否则序列</a:t>
            </a:r>
            <a:r>
              <a:rPr lang="it-IT" altLang="zh-CN" sz="2400" dirty="0">
                <a:solidFill>
                  <a:srgbClr val="000000"/>
                </a:solidFill>
              </a:rPr>
              <a:t>B</a:t>
            </a:r>
            <a:r>
              <a:rPr lang="it-IT" altLang="zh-CN" sz="2400" baseline="30000" dirty="0">
                <a:solidFill>
                  <a:srgbClr val="000000"/>
                </a:solidFill>
              </a:rPr>
              <a:t>i</a:t>
            </a:r>
            <a:r>
              <a:rPr lang="it-IT" altLang="en-US" sz="2400" dirty="0">
                <a:solidFill>
                  <a:srgbClr val="000000"/>
                </a:solidFill>
              </a:rPr>
              <a:t>的长度就会超过</a:t>
            </a:r>
            <a:r>
              <a:rPr lang="it-IT" altLang="zh-CN" sz="2400" dirty="0">
                <a:solidFill>
                  <a:srgbClr val="000000"/>
                </a:solidFill>
              </a:rPr>
              <a:t>A。</a:t>
            </a:r>
          </a:p>
          <a:p>
            <a:pPr algn="just"/>
            <a:r>
              <a:rPr lang="it-IT" altLang="en-US" sz="2400" dirty="0">
                <a:solidFill>
                  <a:srgbClr val="000000"/>
                </a:solidFill>
              </a:rPr>
              <a:t>首先令</a:t>
            </a:r>
            <a:r>
              <a:rPr lang="it-IT" altLang="zh-CN" sz="2400" dirty="0">
                <a:solidFill>
                  <a:srgbClr val="000000"/>
                </a:solidFill>
              </a:rPr>
              <a:t>i=</a:t>
            </a:r>
            <a:r>
              <a:rPr lang="it-IT" altLang="zh-CN" sz="2400" dirty="0">
                <a:solidFill>
                  <a:srgbClr val="000000"/>
                </a:solidFill>
                <a:sym typeface="Symbol" pitchFamily="18" charset="2"/>
              </a:rPr>
              <a:t>n/m/2</a:t>
            </a:r>
            <a:r>
              <a:rPr lang="it-IT" altLang="zh-CN" sz="2400" dirty="0">
                <a:solidFill>
                  <a:srgbClr val="000000"/>
                </a:solidFill>
              </a:rPr>
              <a:t>，</a:t>
            </a:r>
            <a:r>
              <a:rPr lang="it-IT" altLang="en-US" sz="2400" dirty="0">
                <a:solidFill>
                  <a:srgbClr val="000000"/>
                </a:solidFill>
              </a:rPr>
              <a:t>检验</a:t>
            </a:r>
            <a:r>
              <a:rPr lang="it-IT" altLang="zh-CN" sz="2400" dirty="0">
                <a:solidFill>
                  <a:srgbClr val="000000"/>
                </a:solidFill>
              </a:rPr>
              <a:t>B</a:t>
            </a:r>
            <a:r>
              <a:rPr lang="it-IT" altLang="zh-CN" sz="2400" baseline="30000" dirty="0">
                <a:solidFill>
                  <a:srgbClr val="000000"/>
                </a:solidFill>
              </a:rPr>
              <a:t>i</a:t>
            </a:r>
            <a:r>
              <a:rPr lang="it-IT" altLang="en-US" sz="2400" dirty="0">
                <a:solidFill>
                  <a:srgbClr val="000000"/>
                </a:solidFill>
              </a:rPr>
              <a:t>是否为</a:t>
            </a:r>
            <a:r>
              <a:rPr lang="it-IT" altLang="zh-CN" sz="2400" dirty="0">
                <a:solidFill>
                  <a:srgbClr val="000000"/>
                </a:solidFill>
              </a:rPr>
              <a:t>A</a:t>
            </a:r>
            <a:r>
              <a:rPr lang="it-IT" altLang="en-US" sz="2400" dirty="0">
                <a:solidFill>
                  <a:srgbClr val="000000"/>
                </a:solidFill>
              </a:rPr>
              <a:t>的子序列。然后根据结果，如果它是</a:t>
            </a:r>
            <a:r>
              <a:rPr lang="it-IT" altLang="zh-CN" sz="2400" dirty="0">
                <a:solidFill>
                  <a:srgbClr val="000000"/>
                </a:solidFill>
              </a:rPr>
              <a:t>A</a:t>
            </a:r>
            <a:r>
              <a:rPr lang="it-IT" altLang="en-US" sz="2400" dirty="0">
                <a:solidFill>
                  <a:srgbClr val="000000"/>
                </a:solidFill>
              </a:rPr>
              <a:t>的子序列，</a:t>
            </a:r>
            <a:r>
              <a:rPr lang="zh-CN" altLang="en-US" sz="2400" dirty="0">
                <a:solidFill>
                  <a:srgbClr val="000000"/>
                </a:solidFill>
              </a:rPr>
              <a:t>则</a:t>
            </a:r>
            <a:r>
              <a:rPr lang="en-US" altLang="zh-CN" sz="2400" dirty="0" err="1">
                <a:solidFill>
                  <a:srgbClr val="000000"/>
                </a:solidFill>
              </a:rPr>
              <a:t>i</a:t>
            </a:r>
            <a:r>
              <a:rPr lang="zh-CN" altLang="en-US" sz="2400" dirty="0">
                <a:solidFill>
                  <a:srgbClr val="000000"/>
                </a:solidFill>
              </a:rPr>
              <a:t>介于</a:t>
            </a:r>
            <a:r>
              <a:rPr lang="it-IT" altLang="en-US" sz="2400" dirty="0">
                <a:solidFill>
                  <a:srgbClr val="000000"/>
                </a:solidFill>
                <a:sym typeface="Symbol" pitchFamily="18" charset="2"/>
              </a:rPr>
              <a:t></a:t>
            </a:r>
            <a:r>
              <a:rPr lang="it-IT" altLang="zh-CN" sz="2400" dirty="0">
                <a:solidFill>
                  <a:srgbClr val="000000"/>
                </a:solidFill>
                <a:sym typeface="Symbol" pitchFamily="18" charset="2"/>
              </a:rPr>
              <a:t>n/m/2</a:t>
            </a:r>
            <a:r>
              <a:rPr lang="zh-CN" altLang="en-US" sz="2400" dirty="0">
                <a:solidFill>
                  <a:srgbClr val="000000"/>
                </a:solidFill>
                <a:sym typeface="Symbol" pitchFamily="18" charset="2"/>
              </a:rPr>
              <a:t>和</a:t>
            </a:r>
            <a:r>
              <a:rPr lang="it-IT" altLang="en-US" sz="2400" dirty="0">
                <a:solidFill>
                  <a:srgbClr val="000000"/>
                </a:solidFill>
                <a:sym typeface="Symbol" pitchFamily="18" charset="2"/>
              </a:rPr>
              <a:t></a:t>
            </a:r>
            <a:r>
              <a:rPr lang="it-IT" altLang="zh-CN" sz="2400" dirty="0">
                <a:solidFill>
                  <a:srgbClr val="000000"/>
                </a:solidFill>
                <a:sym typeface="Symbol" pitchFamily="18" charset="2"/>
              </a:rPr>
              <a:t>n/m</a:t>
            </a:r>
            <a:r>
              <a:rPr lang="zh-CN" altLang="en-US" sz="2400" dirty="0">
                <a:solidFill>
                  <a:srgbClr val="000000"/>
                </a:solidFill>
                <a:sym typeface="Symbol" pitchFamily="18" charset="2"/>
              </a:rPr>
              <a:t>间</a:t>
            </a:r>
            <a:r>
              <a:rPr lang="it-IT" altLang="en-US" sz="2400" dirty="0">
                <a:solidFill>
                  <a:srgbClr val="000000"/>
                </a:solidFill>
              </a:rPr>
              <a:t>，否则就</a:t>
            </a:r>
            <a:r>
              <a:rPr lang="zh-CN" altLang="en-US" sz="2400" dirty="0">
                <a:solidFill>
                  <a:srgbClr val="000000"/>
                </a:solidFill>
              </a:rPr>
              <a:t>考虑</a:t>
            </a:r>
            <a:r>
              <a:rPr lang="en-US" altLang="zh-CN" sz="2400" dirty="0">
                <a:solidFill>
                  <a:srgbClr val="000000"/>
                </a:solidFill>
              </a:rPr>
              <a:t>1</a:t>
            </a:r>
            <a:r>
              <a:rPr lang="zh-CN" altLang="en-US" sz="2400" dirty="0">
                <a:solidFill>
                  <a:srgbClr val="000000"/>
                </a:solidFill>
              </a:rPr>
              <a:t>到</a:t>
            </a:r>
            <a:r>
              <a:rPr lang="it-IT" altLang="en-US" sz="2400" dirty="0">
                <a:solidFill>
                  <a:srgbClr val="000000"/>
                </a:solidFill>
                <a:sym typeface="Symbol" pitchFamily="18" charset="2"/>
              </a:rPr>
              <a:t></a:t>
            </a:r>
            <a:r>
              <a:rPr lang="it-IT" altLang="zh-CN" sz="2400" dirty="0">
                <a:solidFill>
                  <a:srgbClr val="000000"/>
                </a:solidFill>
                <a:sym typeface="Symbol" pitchFamily="18" charset="2"/>
              </a:rPr>
              <a:t>n/m/2</a:t>
            </a:r>
            <a:r>
              <a:rPr lang="zh-CN" altLang="en-US" sz="2400" dirty="0">
                <a:solidFill>
                  <a:srgbClr val="000000"/>
                </a:solidFill>
              </a:rPr>
              <a:t>的情况</a:t>
            </a:r>
            <a:r>
              <a:rPr lang="en-US" altLang="it-IT" sz="2400" dirty="0">
                <a:solidFill>
                  <a:srgbClr val="000000"/>
                </a:solidFill>
              </a:rPr>
              <a:t>。</a:t>
            </a:r>
            <a:r>
              <a:rPr lang="en-US" altLang="it-IT" sz="2400" dirty="0" err="1">
                <a:solidFill>
                  <a:srgbClr val="000000"/>
                </a:solidFill>
              </a:rPr>
              <a:t>这样共需进行</a:t>
            </a:r>
            <a:r>
              <a:rPr lang="it-IT" altLang="en-US" sz="2400" dirty="0">
                <a:solidFill>
                  <a:srgbClr val="000000"/>
                </a:solidFill>
                <a:sym typeface="Symbol" pitchFamily="18" charset="2"/>
              </a:rPr>
              <a:t></a:t>
            </a:r>
            <a:r>
              <a:rPr lang="it-IT" altLang="zh-CN" sz="2400" dirty="0">
                <a:solidFill>
                  <a:srgbClr val="000000"/>
                </a:solidFill>
                <a:sym typeface="Symbol" pitchFamily="18" charset="2"/>
              </a:rPr>
              <a:t>log(n/m)</a:t>
            </a:r>
            <a:r>
              <a:rPr lang="zh-CN" altLang="en-US" sz="2400" dirty="0">
                <a:solidFill>
                  <a:srgbClr val="000000"/>
                </a:solidFill>
              </a:rPr>
              <a:t>次检验才能确定</a:t>
            </a:r>
            <a:r>
              <a:rPr lang="en-US" altLang="zh-CN" sz="2400" dirty="0" err="1">
                <a:solidFill>
                  <a:srgbClr val="000000"/>
                </a:solidFill>
              </a:rPr>
              <a:t>i</a:t>
            </a:r>
            <a:r>
              <a:rPr lang="zh-CN" altLang="en-US" sz="2400" dirty="0">
                <a:solidFill>
                  <a:srgbClr val="000000"/>
                </a:solidFill>
              </a:rPr>
              <a:t>的最大值，耗费的总时间为</a:t>
            </a:r>
            <a:r>
              <a:rPr lang="en-US" altLang="zh-CN" sz="2400" dirty="0">
                <a:solidFill>
                  <a:srgbClr val="000000"/>
                </a:solidFill>
              </a:rPr>
              <a:t>O((</a:t>
            </a:r>
            <a:r>
              <a:rPr lang="en-US" altLang="zh-CN" sz="2400" dirty="0" err="1">
                <a:solidFill>
                  <a:srgbClr val="000000"/>
                </a:solidFill>
              </a:rPr>
              <a:t>n+m</a:t>
            </a:r>
            <a:r>
              <a:rPr lang="en-US" altLang="zh-CN" sz="2400" dirty="0">
                <a:solidFill>
                  <a:srgbClr val="000000"/>
                </a:solidFill>
              </a:rPr>
              <a:t>)log(n/m))=O(n log(n/m))</a:t>
            </a:r>
            <a:r>
              <a:rPr lang="zh-CN" altLang="en-US" sz="2400" dirty="0">
                <a:solidFill>
                  <a:srgbClr val="000000"/>
                </a:solidFill>
              </a:rPr>
              <a:t>。</a:t>
            </a:r>
          </a:p>
          <a:p>
            <a:endParaRPr lang="zh-CN" altLang="en-US" sz="2400" dirty="0"/>
          </a:p>
        </p:txBody>
      </p:sp>
    </p:spTree>
    <p:extLst>
      <p:ext uri="{BB962C8B-B14F-4D97-AF65-F5344CB8AC3E}">
        <p14:creationId xmlns:p14="http://schemas.microsoft.com/office/powerpoint/2010/main" val="80008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A84B17-8CD0-43DB-900F-F8F7ABA3A980}"/>
              </a:ext>
            </a:extLst>
          </p:cNvPr>
          <p:cNvSpPr>
            <a:spLocks noGrp="1"/>
          </p:cNvSpPr>
          <p:nvPr>
            <p:ph type="title"/>
          </p:nvPr>
        </p:nvSpPr>
        <p:spPr/>
        <p:txBody>
          <a:bodyPr/>
          <a:lstStyle/>
          <a:p>
            <a:r>
              <a:rPr lang="zh-CN" altLang="en-US" dirty="0"/>
              <a:t>由重叠子序列问题得到的启示</a:t>
            </a:r>
          </a:p>
        </p:txBody>
      </p:sp>
      <p:sp>
        <p:nvSpPr>
          <p:cNvPr id="3" name="内容占位符 2">
            <a:extLst>
              <a:ext uri="{FF2B5EF4-FFF2-40B4-BE49-F238E27FC236}">
                <a16:creationId xmlns:a16="http://schemas.microsoft.com/office/drawing/2014/main" id="{E8E563D3-3F5F-4B37-AD82-9D4A639F08FF}"/>
              </a:ext>
            </a:extLst>
          </p:cNvPr>
          <p:cNvSpPr>
            <a:spLocks noGrp="1"/>
          </p:cNvSpPr>
          <p:nvPr>
            <p:ph idx="1"/>
          </p:nvPr>
        </p:nvSpPr>
        <p:spPr/>
        <p:txBody>
          <a:bodyPr>
            <a:normAutofit/>
          </a:bodyPr>
          <a:lstStyle/>
          <a:p>
            <a:pPr algn="just"/>
            <a:r>
              <a:rPr lang="zh-CN" altLang="en-US" sz="2400" dirty="0">
                <a:solidFill>
                  <a:srgbClr val="000000"/>
                </a:solidFill>
              </a:rPr>
              <a:t>每当要查找满足某个特定性质的最大</a:t>
            </a:r>
            <a:r>
              <a:rPr lang="en-US" altLang="zh-CN" sz="2400" dirty="0" err="1">
                <a:solidFill>
                  <a:srgbClr val="000000"/>
                </a:solidFill>
              </a:rPr>
              <a:t>i</a:t>
            </a:r>
            <a:r>
              <a:rPr lang="zh-CN" altLang="en-US" sz="2400" dirty="0">
                <a:solidFill>
                  <a:srgbClr val="000000"/>
                </a:solidFill>
              </a:rPr>
              <a:t>，首先需要一个能判断</a:t>
            </a:r>
            <a:r>
              <a:rPr lang="en-US" altLang="zh-CN" sz="2400" dirty="0" err="1">
                <a:solidFill>
                  <a:srgbClr val="000000"/>
                </a:solidFill>
              </a:rPr>
              <a:t>i</a:t>
            </a:r>
            <a:r>
              <a:rPr lang="zh-CN" altLang="en-US" sz="2400" dirty="0">
                <a:solidFill>
                  <a:srgbClr val="000000"/>
                </a:solidFill>
              </a:rPr>
              <a:t>是否满足该性质的算法。</a:t>
            </a:r>
          </a:p>
          <a:p>
            <a:pPr algn="just"/>
            <a:r>
              <a:rPr lang="zh-CN" altLang="en-US" sz="2400" dirty="0">
                <a:solidFill>
                  <a:srgbClr val="000000"/>
                </a:solidFill>
              </a:rPr>
              <a:t>如果</a:t>
            </a:r>
            <a:r>
              <a:rPr lang="en-US" altLang="zh-CN" sz="2400" dirty="0" err="1">
                <a:solidFill>
                  <a:srgbClr val="000000"/>
                </a:solidFill>
              </a:rPr>
              <a:t>i</a:t>
            </a:r>
            <a:r>
              <a:rPr lang="zh-CN" altLang="en-US" sz="2400" dirty="0">
                <a:solidFill>
                  <a:srgbClr val="000000"/>
                </a:solidFill>
              </a:rPr>
              <a:t>有上界：若</a:t>
            </a:r>
            <a:r>
              <a:rPr lang="en-US" altLang="zh-CN" sz="2400" dirty="0" err="1">
                <a:solidFill>
                  <a:srgbClr val="000000"/>
                </a:solidFill>
              </a:rPr>
              <a:t>i</a:t>
            </a:r>
            <a:r>
              <a:rPr lang="zh-CN" altLang="en-US" sz="2400" dirty="0">
                <a:solidFill>
                  <a:srgbClr val="000000"/>
                </a:solidFill>
              </a:rPr>
              <a:t>满足该性质，对</a:t>
            </a:r>
            <a:r>
              <a:rPr lang="en-US" altLang="zh-CN" sz="2400" dirty="0">
                <a:solidFill>
                  <a:srgbClr val="000000"/>
                </a:solidFill>
              </a:rPr>
              <a:t>1≤j≤i</a:t>
            </a:r>
            <a:r>
              <a:rPr lang="zh-CN" altLang="en-US" sz="2400" dirty="0">
                <a:solidFill>
                  <a:srgbClr val="000000"/>
                </a:solidFill>
              </a:rPr>
              <a:t>，</a:t>
            </a:r>
            <a:r>
              <a:rPr lang="en-US" altLang="zh-CN" sz="2400" dirty="0">
                <a:solidFill>
                  <a:srgbClr val="000000"/>
                </a:solidFill>
              </a:rPr>
              <a:t>j</a:t>
            </a:r>
            <a:r>
              <a:rPr lang="zh-CN" altLang="en-US" sz="2400" dirty="0">
                <a:solidFill>
                  <a:srgbClr val="000000"/>
                </a:solidFill>
              </a:rPr>
              <a:t>也满足，那么接下来就可以借助二分搜索来解决。</a:t>
            </a:r>
          </a:p>
          <a:p>
            <a:pPr algn="just"/>
            <a:r>
              <a:rPr lang="zh-CN" altLang="en-US" sz="2400" dirty="0">
                <a:solidFill>
                  <a:srgbClr val="000000"/>
                </a:solidFill>
              </a:rPr>
              <a:t>若</a:t>
            </a:r>
            <a:r>
              <a:rPr lang="en-US" altLang="zh-CN" sz="2400" dirty="0" err="1">
                <a:solidFill>
                  <a:srgbClr val="000000"/>
                </a:solidFill>
              </a:rPr>
              <a:t>i</a:t>
            </a:r>
            <a:r>
              <a:rPr lang="zh-CN" altLang="en-US" sz="2400" dirty="0">
                <a:solidFill>
                  <a:srgbClr val="000000"/>
                </a:solidFill>
              </a:rPr>
              <a:t>的上界未知：可以采取加倍法。即从</a:t>
            </a:r>
            <a:r>
              <a:rPr lang="en-US" altLang="zh-CN" sz="2400" dirty="0" err="1">
                <a:solidFill>
                  <a:srgbClr val="000000"/>
                </a:solidFill>
              </a:rPr>
              <a:t>i</a:t>
            </a:r>
            <a:r>
              <a:rPr lang="en-US" altLang="zh-CN" sz="2400" dirty="0">
                <a:solidFill>
                  <a:srgbClr val="000000"/>
                </a:solidFill>
              </a:rPr>
              <a:t>=1</a:t>
            </a:r>
            <a:r>
              <a:rPr lang="zh-CN" altLang="en-US" sz="2400" dirty="0">
                <a:solidFill>
                  <a:srgbClr val="000000"/>
                </a:solidFill>
              </a:rPr>
              <a:t>开始，对</a:t>
            </a:r>
            <a:r>
              <a:rPr lang="en-US" altLang="zh-CN" sz="2400" dirty="0" err="1">
                <a:solidFill>
                  <a:srgbClr val="000000"/>
                </a:solidFill>
              </a:rPr>
              <a:t>i</a:t>
            </a:r>
            <a:r>
              <a:rPr lang="zh-CN" altLang="en-US" sz="2400" dirty="0">
                <a:solidFill>
                  <a:srgbClr val="000000"/>
                </a:solidFill>
              </a:rPr>
              <a:t>的值加倍直至找到合适的范围。</a:t>
            </a:r>
          </a:p>
          <a:p>
            <a:endParaRPr lang="zh-CN" altLang="en-US" sz="2400" dirty="0"/>
          </a:p>
        </p:txBody>
      </p:sp>
    </p:spTree>
    <p:extLst>
      <p:ext uri="{BB962C8B-B14F-4D97-AF65-F5344CB8AC3E}">
        <p14:creationId xmlns:p14="http://schemas.microsoft.com/office/powerpoint/2010/main" val="713393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8EC73C-70F8-44F1-9299-53B9F1426CE2}"/>
              </a:ext>
            </a:extLst>
          </p:cNvPr>
          <p:cNvSpPr>
            <a:spLocks noGrp="1"/>
          </p:cNvSpPr>
          <p:nvPr>
            <p:ph type="title"/>
          </p:nvPr>
        </p:nvSpPr>
        <p:spPr/>
        <p:txBody>
          <a:bodyPr/>
          <a:lstStyle/>
          <a:p>
            <a:r>
              <a:rPr lang="zh-CN" altLang="en-US" dirty="0"/>
              <a:t>方程求解</a:t>
            </a:r>
          </a:p>
        </p:txBody>
      </p:sp>
      <p:sp>
        <p:nvSpPr>
          <p:cNvPr id="3" name="内容占位符 2">
            <a:extLst>
              <a:ext uri="{FF2B5EF4-FFF2-40B4-BE49-F238E27FC236}">
                <a16:creationId xmlns:a16="http://schemas.microsoft.com/office/drawing/2014/main" id="{5760403C-B17A-4A96-8371-4E17BF77579B}"/>
              </a:ext>
            </a:extLst>
          </p:cNvPr>
          <p:cNvSpPr>
            <a:spLocks noGrp="1"/>
          </p:cNvSpPr>
          <p:nvPr>
            <p:ph idx="1"/>
          </p:nvPr>
        </p:nvSpPr>
        <p:spPr/>
        <p:txBody>
          <a:bodyPr>
            <a:normAutofit/>
          </a:bodyPr>
          <a:lstStyle/>
          <a:p>
            <a:r>
              <a:rPr lang="zh-CN" altLang="en-US" sz="2400" dirty="0">
                <a:solidFill>
                  <a:srgbClr val="000000"/>
                </a:solidFill>
              </a:rPr>
              <a:t>设欲解方程</a:t>
            </a:r>
            <a:r>
              <a:rPr lang="en-US" altLang="zh-CN" sz="2400" dirty="0">
                <a:solidFill>
                  <a:srgbClr val="000000"/>
                </a:solidFill>
              </a:rPr>
              <a:t>f(x)=0</a:t>
            </a:r>
            <a:r>
              <a:rPr lang="zh-CN" altLang="en-US" sz="2400" dirty="0">
                <a:solidFill>
                  <a:srgbClr val="000000"/>
                </a:solidFill>
              </a:rPr>
              <a:t>，其中</a:t>
            </a:r>
            <a:r>
              <a:rPr lang="en-US" altLang="zh-CN" sz="2400" dirty="0">
                <a:solidFill>
                  <a:srgbClr val="000000"/>
                </a:solidFill>
              </a:rPr>
              <a:t>f</a:t>
            </a:r>
            <a:r>
              <a:rPr lang="zh-CN" altLang="en-US" sz="2400" dirty="0">
                <a:solidFill>
                  <a:srgbClr val="000000"/>
                </a:solidFill>
              </a:rPr>
              <a:t>是可计算的连续函数。现已知</a:t>
            </a:r>
            <a:r>
              <a:rPr lang="en-US" altLang="zh-CN" sz="2400" dirty="0">
                <a:solidFill>
                  <a:srgbClr val="000000"/>
                </a:solidFill>
              </a:rPr>
              <a:t>x</a:t>
            </a:r>
            <a:r>
              <a:rPr lang="zh-CN" altLang="en-US" sz="2400" dirty="0">
                <a:solidFill>
                  <a:srgbClr val="000000"/>
                </a:solidFill>
              </a:rPr>
              <a:t>落在区间</a:t>
            </a:r>
            <a:r>
              <a:rPr lang="en-US" altLang="zh-CN" sz="2400" dirty="0">
                <a:solidFill>
                  <a:srgbClr val="000000"/>
                </a:solidFill>
              </a:rPr>
              <a:t>[</a:t>
            </a:r>
            <a:r>
              <a:rPr lang="en-US" altLang="zh-CN" sz="2400" dirty="0" err="1">
                <a:solidFill>
                  <a:srgbClr val="000000"/>
                </a:solidFill>
              </a:rPr>
              <a:t>a,b</a:t>
            </a:r>
            <a:r>
              <a:rPr lang="en-US" altLang="zh-CN" sz="2400" dirty="0">
                <a:solidFill>
                  <a:srgbClr val="000000"/>
                </a:solidFill>
              </a:rPr>
              <a:t>]</a:t>
            </a:r>
            <a:r>
              <a:rPr lang="zh-CN" altLang="en-US" sz="2400" dirty="0">
                <a:solidFill>
                  <a:srgbClr val="000000"/>
                </a:solidFill>
              </a:rPr>
              <a:t>中（</a:t>
            </a:r>
            <a:r>
              <a:rPr lang="en-US" altLang="zh-CN" sz="2400" dirty="0" err="1">
                <a:solidFill>
                  <a:srgbClr val="000000"/>
                </a:solidFill>
              </a:rPr>
              <a:t>a≤x≤b</a:t>
            </a:r>
            <a:r>
              <a:rPr lang="zh-CN" altLang="en-US" sz="2400" dirty="0">
                <a:solidFill>
                  <a:srgbClr val="000000"/>
                </a:solidFill>
              </a:rPr>
              <a:t>），且</a:t>
            </a:r>
            <a:r>
              <a:rPr lang="en-US" altLang="zh-CN" sz="2400" dirty="0">
                <a:solidFill>
                  <a:srgbClr val="000000"/>
                </a:solidFill>
              </a:rPr>
              <a:t>f(a)∙f(b)&lt;0</a:t>
            </a:r>
            <a:r>
              <a:rPr lang="zh-CN" altLang="en-US" sz="2400" dirty="0">
                <a:solidFill>
                  <a:srgbClr val="000000"/>
                </a:solidFill>
              </a:rPr>
              <a:t>。求该方程在指定精度下的解。</a:t>
            </a:r>
          </a:p>
          <a:p>
            <a:r>
              <a:rPr lang="zh-CN" altLang="en-US" sz="2400" dirty="0">
                <a:solidFill>
                  <a:srgbClr val="000000"/>
                </a:solidFill>
              </a:rPr>
              <a:t>由函数的连续性可知区间</a:t>
            </a:r>
            <a:r>
              <a:rPr lang="en-US" altLang="zh-CN" sz="2400" dirty="0">
                <a:solidFill>
                  <a:srgbClr val="000000"/>
                </a:solidFill>
              </a:rPr>
              <a:t>[</a:t>
            </a:r>
            <a:r>
              <a:rPr lang="en-US" altLang="zh-CN" sz="2400" dirty="0" err="1">
                <a:solidFill>
                  <a:srgbClr val="000000"/>
                </a:solidFill>
              </a:rPr>
              <a:t>a,b</a:t>
            </a:r>
            <a:r>
              <a:rPr lang="en-US" altLang="zh-CN" sz="2400" dirty="0">
                <a:solidFill>
                  <a:srgbClr val="000000"/>
                </a:solidFill>
              </a:rPr>
              <a:t>]</a:t>
            </a:r>
            <a:r>
              <a:rPr lang="zh-CN" altLang="en-US" sz="2400" dirty="0">
                <a:solidFill>
                  <a:srgbClr val="000000"/>
                </a:solidFill>
              </a:rPr>
              <a:t>中一定有解。于是就可以利用二分搜索的变形二分法来求解。</a:t>
            </a:r>
          </a:p>
          <a:p>
            <a:r>
              <a:rPr lang="zh-CN" altLang="en-US" sz="2400" dirty="0">
                <a:solidFill>
                  <a:srgbClr val="000000"/>
                </a:solidFill>
              </a:rPr>
              <a:t>取</a:t>
            </a:r>
            <a:r>
              <a:rPr lang="it-IT" altLang="zh-CN" sz="2400" dirty="0">
                <a:solidFill>
                  <a:srgbClr val="000000"/>
                </a:solidFill>
              </a:rPr>
              <a:t>x</a:t>
            </a:r>
            <a:r>
              <a:rPr lang="it-IT" altLang="zh-CN" sz="2400" baseline="-25000" dirty="0">
                <a:solidFill>
                  <a:srgbClr val="000000"/>
                </a:solidFill>
              </a:rPr>
              <a:t>1</a:t>
            </a:r>
            <a:r>
              <a:rPr lang="en-US" altLang="zh-CN" sz="2400" dirty="0">
                <a:solidFill>
                  <a:srgbClr val="000000"/>
                </a:solidFill>
              </a:rPr>
              <a:t>=a+(b-a)/2</a:t>
            </a:r>
            <a:r>
              <a:rPr lang="zh-CN" altLang="en-US" sz="2400" dirty="0">
                <a:solidFill>
                  <a:srgbClr val="000000"/>
                </a:solidFill>
              </a:rPr>
              <a:t>，若</a:t>
            </a:r>
            <a:r>
              <a:rPr lang="en-US" altLang="zh-CN" sz="2400" dirty="0">
                <a:solidFill>
                  <a:srgbClr val="000000"/>
                </a:solidFill>
              </a:rPr>
              <a:t>f(</a:t>
            </a:r>
            <a:r>
              <a:rPr lang="it-IT" altLang="zh-CN" sz="2400" dirty="0">
                <a:solidFill>
                  <a:srgbClr val="000000"/>
                </a:solidFill>
              </a:rPr>
              <a:t>x</a:t>
            </a:r>
            <a:r>
              <a:rPr lang="it-IT" altLang="zh-CN" sz="2400" baseline="-25000" dirty="0">
                <a:solidFill>
                  <a:srgbClr val="000000"/>
                </a:solidFill>
              </a:rPr>
              <a:t>1</a:t>
            </a:r>
            <a:r>
              <a:rPr lang="en-US" altLang="zh-CN" sz="2400" dirty="0">
                <a:solidFill>
                  <a:srgbClr val="000000"/>
                </a:solidFill>
              </a:rPr>
              <a:t>)=0</a:t>
            </a:r>
            <a:r>
              <a:rPr lang="zh-CN" altLang="en-US" sz="2400" dirty="0">
                <a:solidFill>
                  <a:srgbClr val="000000"/>
                </a:solidFill>
              </a:rPr>
              <a:t>（在给定的精度下），</a:t>
            </a:r>
            <a:r>
              <a:rPr lang="it-IT" altLang="zh-CN" sz="2400" dirty="0">
                <a:solidFill>
                  <a:srgbClr val="000000"/>
                </a:solidFill>
              </a:rPr>
              <a:t>x</a:t>
            </a:r>
            <a:r>
              <a:rPr lang="it-IT" altLang="zh-CN" sz="2400" baseline="-25000" dirty="0">
                <a:solidFill>
                  <a:srgbClr val="000000"/>
                </a:solidFill>
              </a:rPr>
              <a:t>1</a:t>
            </a:r>
            <a:r>
              <a:rPr lang="zh-CN" altLang="en-US" sz="2400" dirty="0">
                <a:solidFill>
                  <a:srgbClr val="000000"/>
                </a:solidFill>
              </a:rPr>
              <a:t>就是方程的解。否则解一定在</a:t>
            </a:r>
            <a:r>
              <a:rPr lang="en-US" altLang="zh-CN" sz="2400" dirty="0">
                <a:solidFill>
                  <a:srgbClr val="000000"/>
                </a:solidFill>
              </a:rPr>
              <a:t>[</a:t>
            </a:r>
            <a:r>
              <a:rPr lang="en-US" altLang="zh-CN" sz="2400" dirty="0" err="1">
                <a:solidFill>
                  <a:srgbClr val="000000"/>
                </a:solidFill>
              </a:rPr>
              <a:t>a,b</a:t>
            </a:r>
            <a:r>
              <a:rPr lang="en-US" altLang="zh-CN" sz="2400" dirty="0">
                <a:solidFill>
                  <a:srgbClr val="000000"/>
                </a:solidFill>
              </a:rPr>
              <a:t>]</a:t>
            </a:r>
            <a:r>
              <a:rPr lang="zh-CN" altLang="en-US" sz="2400" dirty="0">
                <a:solidFill>
                  <a:srgbClr val="000000"/>
                </a:solidFill>
              </a:rPr>
              <a:t>的半区间</a:t>
            </a:r>
            <a:r>
              <a:rPr lang="en-US" altLang="zh-CN" sz="2400" dirty="0">
                <a:solidFill>
                  <a:srgbClr val="000000"/>
                </a:solidFill>
              </a:rPr>
              <a:t>[a,</a:t>
            </a:r>
            <a:r>
              <a:rPr lang="it-IT" altLang="zh-CN" sz="2400" dirty="0">
                <a:solidFill>
                  <a:srgbClr val="000000"/>
                </a:solidFill>
              </a:rPr>
              <a:t> x</a:t>
            </a:r>
            <a:r>
              <a:rPr lang="it-IT" altLang="zh-CN" sz="2400" baseline="-25000" dirty="0">
                <a:solidFill>
                  <a:srgbClr val="000000"/>
                </a:solidFill>
              </a:rPr>
              <a:t>1</a:t>
            </a:r>
            <a:r>
              <a:rPr lang="en-US" altLang="zh-CN" sz="2400" dirty="0">
                <a:solidFill>
                  <a:srgbClr val="000000"/>
                </a:solidFill>
              </a:rPr>
              <a:t>]</a:t>
            </a:r>
            <a:r>
              <a:rPr lang="zh-CN" altLang="en-US" sz="2400" dirty="0">
                <a:solidFill>
                  <a:srgbClr val="000000"/>
                </a:solidFill>
              </a:rPr>
              <a:t>或</a:t>
            </a:r>
            <a:r>
              <a:rPr lang="en-US" altLang="zh-CN" sz="2400" dirty="0">
                <a:solidFill>
                  <a:srgbClr val="000000"/>
                </a:solidFill>
              </a:rPr>
              <a:t>[</a:t>
            </a:r>
            <a:r>
              <a:rPr lang="it-IT" altLang="zh-CN" sz="2400" dirty="0">
                <a:solidFill>
                  <a:srgbClr val="000000"/>
                </a:solidFill>
              </a:rPr>
              <a:t>x</a:t>
            </a:r>
            <a:r>
              <a:rPr lang="it-IT" altLang="zh-CN" sz="2400" baseline="-25000" dirty="0">
                <a:solidFill>
                  <a:srgbClr val="000000"/>
                </a:solidFill>
              </a:rPr>
              <a:t>1</a:t>
            </a:r>
            <a:r>
              <a:rPr lang="en-US" altLang="zh-CN" sz="2400" dirty="0">
                <a:solidFill>
                  <a:srgbClr val="000000"/>
                </a:solidFill>
              </a:rPr>
              <a:t>,b]</a:t>
            </a:r>
            <a:r>
              <a:rPr lang="zh-CN" altLang="en-US" sz="2400" dirty="0">
                <a:solidFill>
                  <a:srgbClr val="000000"/>
                </a:solidFill>
              </a:rPr>
              <a:t>中，取区间端点函数值一正一负的那个区间继续进行上述过程，直到求得给定精度下的解。在</a:t>
            </a:r>
            <a:r>
              <a:rPr lang="en-US" altLang="zh-CN" sz="2400" dirty="0">
                <a:solidFill>
                  <a:srgbClr val="000000"/>
                </a:solidFill>
              </a:rPr>
              <a:t>k</a:t>
            </a:r>
            <a:r>
              <a:rPr lang="zh-CN" altLang="en-US" sz="2400" dirty="0">
                <a:solidFill>
                  <a:srgbClr val="000000"/>
                </a:solidFill>
              </a:rPr>
              <a:t>步之后，含解区间的长度为</a:t>
            </a:r>
            <a:r>
              <a:rPr lang="en-US" altLang="zh-CN" sz="2400" dirty="0">
                <a:solidFill>
                  <a:srgbClr val="000000"/>
                </a:solidFill>
              </a:rPr>
              <a:t>(b-a)/2</a:t>
            </a:r>
            <a:r>
              <a:rPr lang="en-US" altLang="zh-CN" sz="2400" baseline="30000" dirty="0">
                <a:solidFill>
                  <a:srgbClr val="000000"/>
                </a:solidFill>
              </a:rPr>
              <a:t>k</a:t>
            </a:r>
            <a:r>
              <a:rPr lang="zh-CN" altLang="en-US" sz="2400" dirty="0">
                <a:solidFill>
                  <a:srgbClr val="000000"/>
                </a:solidFill>
              </a:rPr>
              <a:t>。</a:t>
            </a:r>
          </a:p>
          <a:p>
            <a:endParaRPr lang="en-US" altLang="zh-CN" sz="2400" dirty="0">
              <a:solidFill>
                <a:srgbClr val="000000"/>
              </a:solidFill>
            </a:endParaRPr>
          </a:p>
          <a:p>
            <a:r>
              <a:rPr lang="zh-CN" altLang="en-US" sz="2400" dirty="0">
                <a:solidFill>
                  <a:srgbClr val="000000"/>
                </a:solidFill>
              </a:rPr>
              <a:t>推广：如何求</a:t>
            </a:r>
            <a:r>
              <a:rPr lang="en-US" altLang="zh-CN" sz="2400" dirty="0">
                <a:solidFill>
                  <a:srgbClr val="000000"/>
                </a:solidFill>
              </a:rPr>
              <a:t>sqrt(x)</a:t>
            </a:r>
            <a:endParaRPr lang="zh-CN" altLang="en-US" sz="2400" dirty="0">
              <a:solidFill>
                <a:srgbClr val="000000"/>
              </a:solidFill>
            </a:endParaRPr>
          </a:p>
          <a:p>
            <a:endParaRPr lang="zh-CN" altLang="en-US" sz="2400" dirty="0"/>
          </a:p>
        </p:txBody>
      </p:sp>
    </p:spTree>
    <p:extLst>
      <p:ext uri="{BB962C8B-B14F-4D97-AF65-F5344CB8AC3E}">
        <p14:creationId xmlns:p14="http://schemas.microsoft.com/office/powerpoint/2010/main" val="27396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05E71C-F363-42AC-B669-644DDB95AB3D}"/>
              </a:ext>
            </a:extLst>
          </p:cNvPr>
          <p:cNvSpPr>
            <a:spLocks noGrp="1"/>
          </p:cNvSpPr>
          <p:nvPr>
            <p:ph type="title"/>
          </p:nvPr>
        </p:nvSpPr>
        <p:spPr/>
        <p:txBody>
          <a:bodyPr/>
          <a:lstStyle/>
          <a:p>
            <a:r>
              <a:rPr lang="zh-CN" altLang="en-US" dirty="0"/>
              <a:t>二分搜索的几种形式</a:t>
            </a:r>
          </a:p>
        </p:txBody>
      </p:sp>
      <p:sp>
        <p:nvSpPr>
          <p:cNvPr id="3" name="内容占位符 2">
            <a:extLst>
              <a:ext uri="{FF2B5EF4-FFF2-40B4-BE49-F238E27FC236}">
                <a16:creationId xmlns:a16="http://schemas.microsoft.com/office/drawing/2014/main" id="{5F1F9CE1-0DCC-4BF7-920D-3D63C983BC02}"/>
              </a:ext>
            </a:extLst>
          </p:cNvPr>
          <p:cNvSpPr>
            <a:spLocks noGrp="1"/>
          </p:cNvSpPr>
          <p:nvPr>
            <p:ph idx="1"/>
          </p:nvPr>
        </p:nvSpPr>
        <p:spPr/>
        <p:txBody>
          <a:bodyPr>
            <a:normAutofit/>
          </a:bodyPr>
          <a:lstStyle/>
          <a:p>
            <a:r>
              <a:rPr lang="zh-CN" altLang="en-US" sz="2400" dirty="0"/>
              <a:t>二分搜索</a:t>
            </a:r>
          </a:p>
          <a:p>
            <a:r>
              <a:rPr lang="zh-CN" altLang="en-US" sz="2400" dirty="0"/>
              <a:t>循环序列的二分搜索</a:t>
            </a:r>
          </a:p>
          <a:p>
            <a:r>
              <a:rPr lang="zh-CN" altLang="en-US" sz="2400" dirty="0"/>
              <a:t>二分搜索特殊下标</a:t>
            </a:r>
          </a:p>
          <a:p>
            <a:r>
              <a:rPr lang="zh-CN" altLang="en-US" sz="2400" dirty="0"/>
              <a:t>二分搜索长度未知的序列</a:t>
            </a:r>
          </a:p>
          <a:p>
            <a:r>
              <a:rPr lang="zh-CN" altLang="en-US" sz="2400" dirty="0"/>
              <a:t>重叠子序列问题</a:t>
            </a:r>
          </a:p>
          <a:p>
            <a:r>
              <a:rPr lang="zh-CN" altLang="en-US" sz="2400" dirty="0"/>
              <a:t>方程求解</a:t>
            </a:r>
          </a:p>
          <a:p>
            <a:endParaRPr lang="zh-CN" altLang="en-US" sz="2400" dirty="0"/>
          </a:p>
        </p:txBody>
      </p:sp>
    </p:spTree>
    <p:extLst>
      <p:ext uri="{BB962C8B-B14F-4D97-AF65-F5344CB8AC3E}">
        <p14:creationId xmlns:p14="http://schemas.microsoft.com/office/powerpoint/2010/main" val="1127746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77F6CF-FB1F-4FD8-B501-81C17A57E70F}"/>
              </a:ext>
            </a:extLst>
          </p:cNvPr>
          <p:cNvSpPr>
            <a:spLocks noGrp="1"/>
          </p:cNvSpPr>
          <p:nvPr>
            <p:ph type="title"/>
          </p:nvPr>
        </p:nvSpPr>
        <p:spPr/>
        <p:txBody>
          <a:bodyPr/>
          <a:lstStyle/>
          <a:p>
            <a:r>
              <a:rPr lang="zh-CN" altLang="en-US" dirty="0"/>
              <a:t>内插搜索</a:t>
            </a:r>
          </a:p>
        </p:txBody>
      </p:sp>
      <p:sp>
        <p:nvSpPr>
          <p:cNvPr id="3" name="内容占位符 2">
            <a:extLst>
              <a:ext uri="{FF2B5EF4-FFF2-40B4-BE49-F238E27FC236}">
                <a16:creationId xmlns:a16="http://schemas.microsoft.com/office/drawing/2014/main" id="{A8B9618C-9AD1-49CA-ADFB-90BAD43C73C7}"/>
              </a:ext>
            </a:extLst>
          </p:cNvPr>
          <p:cNvSpPr>
            <a:spLocks noGrp="1"/>
          </p:cNvSpPr>
          <p:nvPr>
            <p:ph idx="1"/>
          </p:nvPr>
        </p:nvSpPr>
        <p:spPr>
          <a:xfrm>
            <a:off x="838200" y="1825625"/>
            <a:ext cx="4889500" cy="4351338"/>
          </a:xfrm>
        </p:spPr>
        <p:txBody>
          <a:bodyPr>
            <a:noAutofit/>
          </a:bodyPr>
          <a:lstStyle/>
          <a:p>
            <a:r>
              <a:rPr lang="zh-CN" altLang="en-US" sz="2000" dirty="0">
                <a:solidFill>
                  <a:srgbClr val="000000"/>
                </a:solidFill>
              </a:rPr>
              <a:t>二分搜索总是把搜索空间减半，从而保证其性能是对数级的。而当某一步所得到的值十分接近目标值时，在该值的邻域内搜索似乎比盲目地减半搜索空间更加合理。</a:t>
            </a:r>
          </a:p>
          <a:p>
            <a:r>
              <a:rPr lang="zh-CN" altLang="en-US" sz="2000" dirty="0">
                <a:solidFill>
                  <a:srgbClr val="000000"/>
                </a:solidFill>
              </a:rPr>
              <a:t>内插搜索的性能不仅取决于序列的长度，还和序列自身的特点有关。对有些序列，内插搜索不得不一一检查其中的每个数，而对于</a:t>
            </a:r>
            <a:r>
              <a:rPr lang="zh-CN" altLang="en-US" sz="2000" dirty="0">
                <a:solidFill>
                  <a:srgbClr val="FF0000"/>
                </a:solidFill>
              </a:rPr>
              <a:t>数据分布相对均匀</a:t>
            </a:r>
            <a:r>
              <a:rPr lang="zh-CN" altLang="en-US" sz="2000" dirty="0">
                <a:solidFill>
                  <a:srgbClr val="000000"/>
                </a:solidFill>
              </a:rPr>
              <a:t>的序列，内插搜索就十分高效。</a:t>
            </a:r>
          </a:p>
          <a:p>
            <a:r>
              <a:rPr lang="zh-CN" altLang="en-US" sz="2000" dirty="0">
                <a:solidFill>
                  <a:srgbClr val="000000"/>
                </a:solidFill>
              </a:rPr>
              <a:t>内插搜索的平均比较次数是</a:t>
            </a:r>
            <a:r>
              <a:rPr lang="en-US" altLang="zh-CN" sz="2000" dirty="0">
                <a:solidFill>
                  <a:srgbClr val="000000"/>
                </a:solidFill>
              </a:rPr>
              <a:t>O (log </a:t>
            </a:r>
            <a:r>
              <a:rPr lang="en-US" altLang="zh-CN" sz="2000" dirty="0" err="1">
                <a:solidFill>
                  <a:srgbClr val="000000"/>
                </a:solidFill>
              </a:rPr>
              <a:t>log</a:t>
            </a:r>
            <a:r>
              <a:rPr lang="en-US" altLang="zh-CN" sz="2000" dirty="0">
                <a:solidFill>
                  <a:srgbClr val="000000"/>
                </a:solidFill>
              </a:rPr>
              <a:t> n)</a:t>
            </a:r>
            <a:r>
              <a:rPr lang="zh-CN" altLang="en-US" sz="2000" dirty="0">
                <a:solidFill>
                  <a:srgbClr val="000000"/>
                </a:solidFill>
              </a:rPr>
              <a:t>。尽管内插搜索比二分搜索在性能上有指数阶的进步，但在实际性能上并无多大改善：</a:t>
            </a:r>
            <a:r>
              <a:rPr lang="en-US" altLang="zh-CN" sz="2000" dirty="0">
                <a:solidFill>
                  <a:srgbClr val="000000"/>
                </a:solidFill>
              </a:rPr>
              <a:t>1)</a:t>
            </a:r>
            <a:r>
              <a:rPr lang="zh-CN" altLang="en-US" sz="2000" dirty="0">
                <a:solidFill>
                  <a:srgbClr val="000000"/>
                </a:solidFill>
              </a:rPr>
              <a:t>除非</a:t>
            </a:r>
            <a:r>
              <a:rPr lang="en-US" altLang="zh-CN" sz="2000" dirty="0">
                <a:solidFill>
                  <a:srgbClr val="000000"/>
                </a:solidFill>
              </a:rPr>
              <a:t>n</a:t>
            </a:r>
            <a:r>
              <a:rPr lang="zh-CN" altLang="en-US" sz="2000" dirty="0">
                <a:solidFill>
                  <a:srgbClr val="000000"/>
                </a:solidFill>
              </a:rPr>
              <a:t>很大，否则</a:t>
            </a:r>
            <a:r>
              <a:rPr lang="en-US" altLang="zh-CN" sz="2000" dirty="0" err="1">
                <a:solidFill>
                  <a:srgbClr val="000000"/>
                </a:solidFill>
              </a:rPr>
              <a:t>logn</a:t>
            </a:r>
            <a:r>
              <a:rPr lang="zh-CN" altLang="en-US" sz="2000" dirty="0">
                <a:solidFill>
                  <a:srgbClr val="000000"/>
                </a:solidFill>
              </a:rPr>
              <a:t>已经足够小以至于其对数并不比其本身小多少；</a:t>
            </a:r>
            <a:r>
              <a:rPr lang="en-US" altLang="zh-CN" sz="2000" dirty="0">
                <a:solidFill>
                  <a:srgbClr val="000000"/>
                </a:solidFill>
              </a:rPr>
              <a:t>2)</a:t>
            </a:r>
            <a:r>
              <a:rPr lang="zh-CN" altLang="en-US" sz="2000" dirty="0">
                <a:solidFill>
                  <a:srgbClr val="000000"/>
                </a:solidFill>
              </a:rPr>
              <a:t>内插搜索需要更复杂的数值运算。</a:t>
            </a:r>
          </a:p>
          <a:p>
            <a:endParaRPr lang="zh-CN" altLang="en-US" sz="2000" dirty="0"/>
          </a:p>
        </p:txBody>
      </p:sp>
      <p:sp>
        <p:nvSpPr>
          <p:cNvPr id="4" name="Rectangle 3">
            <a:extLst>
              <a:ext uri="{FF2B5EF4-FFF2-40B4-BE49-F238E27FC236}">
                <a16:creationId xmlns:a16="http://schemas.microsoft.com/office/drawing/2014/main" id="{F3D0B1F4-1D3F-42A4-A83A-CF38A92A6CEB}"/>
              </a:ext>
            </a:extLst>
          </p:cNvPr>
          <p:cNvSpPr txBox="1">
            <a:spLocks noChangeArrowheads="1"/>
          </p:cNvSpPr>
          <p:nvPr/>
        </p:nvSpPr>
        <p:spPr>
          <a:xfrm>
            <a:off x="6248400" y="1825625"/>
            <a:ext cx="5943600" cy="41148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sz="1600" dirty="0">
                <a:solidFill>
                  <a:srgbClr val="000000"/>
                </a:solidFill>
              </a:rPr>
              <a:t>Algorithm </a:t>
            </a:r>
            <a:r>
              <a:rPr lang="en-US" altLang="zh-CN" sz="1600" dirty="0" err="1">
                <a:solidFill>
                  <a:srgbClr val="000000"/>
                </a:solidFill>
              </a:rPr>
              <a:t>Interpolation_Search</a:t>
            </a:r>
            <a:r>
              <a:rPr lang="en-US" altLang="zh-CN" sz="1600" dirty="0">
                <a:solidFill>
                  <a:srgbClr val="000000"/>
                </a:solidFill>
              </a:rPr>
              <a:t>(</a:t>
            </a:r>
            <a:r>
              <a:rPr lang="en-US" altLang="zh-CN" sz="1600" dirty="0" err="1">
                <a:solidFill>
                  <a:srgbClr val="000000"/>
                </a:solidFill>
              </a:rPr>
              <a:t>X,n,z</a:t>
            </a:r>
            <a:r>
              <a:rPr lang="en-US" altLang="zh-CN" sz="1600" dirty="0">
                <a:solidFill>
                  <a:srgbClr val="000000"/>
                </a:solidFill>
              </a:rPr>
              <a:t>)</a:t>
            </a:r>
          </a:p>
          <a:p>
            <a:pPr>
              <a:buFont typeface="Arial" panose="020B0604020202020204" pitchFamily="34" charset="0"/>
              <a:buNone/>
            </a:pPr>
            <a:r>
              <a:rPr lang="en-US" altLang="zh-CN" sz="1600" dirty="0">
                <a:solidFill>
                  <a:srgbClr val="000000"/>
                </a:solidFill>
              </a:rPr>
              <a:t>Input: X (a sorted array in the range 1 to n), z (the search key)</a:t>
            </a:r>
          </a:p>
          <a:p>
            <a:pPr>
              <a:buFont typeface="Arial" panose="020B0604020202020204" pitchFamily="34" charset="0"/>
              <a:buNone/>
            </a:pPr>
            <a:r>
              <a:rPr lang="en-US" altLang="zh-CN" sz="1600" dirty="0">
                <a:solidFill>
                  <a:srgbClr val="000000"/>
                </a:solidFill>
              </a:rPr>
              <a:t>Output: Position (an index </a:t>
            </a:r>
            <a:r>
              <a:rPr lang="en-US" altLang="zh-CN" sz="1600" dirty="0" err="1">
                <a:solidFill>
                  <a:srgbClr val="000000"/>
                </a:solidFill>
              </a:rPr>
              <a:t>i</a:t>
            </a:r>
            <a:r>
              <a:rPr lang="en-US" altLang="zh-CN" sz="1600" dirty="0">
                <a:solidFill>
                  <a:srgbClr val="000000"/>
                </a:solidFill>
              </a:rPr>
              <a:t> such that X[</a:t>
            </a:r>
            <a:r>
              <a:rPr lang="en-US" altLang="zh-CN" sz="1600" dirty="0" err="1">
                <a:solidFill>
                  <a:srgbClr val="000000"/>
                </a:solidFill>
              </a:rPr>
              <a:t>i</a:t>
            </a:r>
            <a:r>
              <a:rPr lang="en-US" altLang="zh-CN" sz="1600" dirty="0">
                <a:solidFill>
                  <a:srgbClr val="000000"/>
                </a:solidFill>
              </a:rPr>
              <a:t>]=z, or 0 if no such index exist)</a:t>
            </a:r>
          </a:p>
          <a:p>
            <a:pPr>
              <a:buFont typeface="Arial" panose="020B0604020202020204" pitchFamily="34" charset="0"/>
              <a:buNone/>
            </a:pPr>
            <a:r>
              <a:rPr lang="en-US" altLang="zh-CN" sz="1600" dirty="0">
                <a:solidFill>
                  <a:srgbClr val="000000"/>
                </a:solidFill>
              </a:rPr>
              <a:t>begin</a:t>
            </a:r>
          </a:p>
          <a:p>
            <a:pPr>
              <a:buFont typeface="Arial" panose="020B0604020202020204" pitchFamily="34" charset="0"/>
              <a:buNone/>
            </a:pPr>
            <a:r>
              <a:rPr lang="en-US" altLang="zh-CN" sz="1600" dirty="0">
                <a:solidFill>
                  <a:srgbClr val="000000"/>
                </a:solidFill>
              </a:rPr>
              <a:t>    if z&lt;X[1] or Z&gt;X[n] then position:=0</a:t>
            </a:r>
          </a:p>
          <a:p>
            <a:pPr>
              <a:buFont typeface="Arial" panose="020B0604020202020204" pitchFamily="34" charset="0"/>
              <a:buNone/>
            </a:pPr>
            <a:r>
              <a:rPr lang="en-US" altLang="zh-CN" sz="1600" dirty="0">
                <a:solidFill>
                  <a:srgbClr val="000000"/>
                </a:solidFill>
              </a:rPr>
              <a:t>    else Position:=</a:t>
            </a:r>
            <a:r>
              <a:rPr lang="en-US" altLang="zh-CN" sz="1600" dirty="0" err="1">
                <a:solidFill>
                  <a:srgbClr val="000000"/>
                </a:solidFill>
              </a:rPr>
              <a:t>Int_Find</a:t>
            </a:r>
            <a:r>
              <a:rPr lang="en-US" altLang="zh-CN" sz="1600" dirty="0">
                <a:solidFill>
                  <a:srgbClr val="000000"/>
                </a:solidFill>
              </a:rPr>
              <a:t>(z,1,n)</a:t>
            </a:r>
          </a:p>
          <a:p>
            <a:pPr>
              <a:buFont typeface="Arial" panose="020B0604020202020204" pitchFamily="34" charset="0"/>
              <a:buNone/>
            </a:pPr>
            <a:r>
              <a:rPr lang="en-US" altLang="zh-CN" sz="1600" dirty="0">
                <a:solidFill>
                  <a:srgbClr val="000000"/>
                </a:solidFill>
              </a:rPr>
              <a:t>end</a:t>
            </a:r>
          </a:p>
          <a:p>
            <a:pPr>
              <a:buFont typeface="Arial" panose="020B0604020202020204" pitchFamily="34" charset="0"/>
              <a:buNone/>
            </a:pPr>
            <a:endParaRPr lang="en-US" altLang="zh-CN" sz="1600" dirty="0">
              <a:solidFill>
                <a:srgbClr val="000000"/>
              </a:solidFill>
            </a:endParaRPr>
          </a:p>
          <a:p>
            <a:pPr>
              <a:buFont typeface="Arial" panose="020B0604020202020204" pitchFamily="34" charset="0"/>
              <a:buNone/>
            </a:pPr>
            <a:r>
              <a:rPr lang="en-US" altLang="zh-CN" sz="1600" dirty="0">
                <a:solidFill>
                  <a:srgbClr val="000000"/>
                </a:solidFill>
              </a:rPr>
              <a:t>function </a:t>
            </a:r>
            <a:r>
              <a:rPr lang="en-US" altLang="zh-CN" sz="1600" dirty="0" err="1">
                <a:solidFill>
                  <a:srgbClr val="000000"/>
                </a:solidFill>
              </a:rPr>
              <a:t>Int_Find</a:t>
            </a:r>
            <a:r>
              <a:rPr lang="en-US" altLang="zh-CN" sz="1600" dirty="0">
                <a:solidFill>
                  <a:srgbClr val="000000"/>
                </a:solidFill>
              </a:rPr>
              <a:t>(</a:t>
            </a:r>
            <a:r>
              <a:rPr lang="en-US" altLang="zh-CN" sz="1600" dirty="0" err="1">
                <a:solidFill>
                  <a:srgbClr val="000000"/>
                </a:solidFill>
              </a:rPr>
              <a:t>z,Left,Right</a:t>
            </a:r>
            <a:r>
              <a:rPr lang="en-US" altLang="zh-CN" sz="1600" dirty="0">
                <a:solidFill>
                  <a:srgbClr val="000000"/>
                </a:solidFill>
              </a:rPr>
              <a:t>):integer;</a:t>
            </a:r>
          </a:p>
          <a:p>
            <a:pPr>
              <a:buFont typeface="Arial" panose="020B0604020202020204" pitchFamily="34" charset="0"/>
              <a:buNone/>
            </a:pPr>
            <a:r>
              <a:rPr lang="en-US" altLang="zh-CN" sz="1600" dirty="0">
                <a:solidFill>
                  <a:srgbClr val="000000"/>
                </a:solidFill>
              </a:rPr>
              <a:t>begin</a:t>
            </a:r>
          </a:p>
          <a:p>
            <a:pPr>
              <a:buFont typeface="Arial" panose="020B0604020202020204" pitchFamily="34" charset="0"/>
              <a:buNone/>
            </a:pPr>
            <a:r>
              <a:rPr lang="en-US" altLang="zh-CN" sz="1600" dirty="0">
                <a:solidFill>
                  <a:srgbClr val="000000"/>
                </a:solidFill>
              </a:rPr>
              <a:t>    if X[Left]=z then </a:t>
            </a:r>
            <a:r>
              <a:rPr lang="en-US" altLang="zh-CN" sz="1600" dirty="0" err="1">
                <a:solidFill>
                  <a:srgbClr val="000000"/>
                </a:solidFill>
              </a:rPr>
              <a:t>Int_Find</a:t>
            </a:r>
            <a:r>
              <a:rPr lang="en-US" altLang="zh-CN" sz="1600" dirty="0">
                <a:solidFill>
                  <a:srgbClr val="000000"/>
                </a:solidFill>
              </a:rPr>
              <a:t>:=Left</a:t>
            </a:r>
          </a:p>
          <a:p>
            <a:pPr>
              <a:buFont typeface="Arial" panose="020B0604020202020204" pitchFamily="34" charset="0"/>
              <a:buNone/>
            </a:pPr>
            <a:r>
              <a:rPr lang="en-US" altLang="zh-CN" sz="1600" dirty="0">
                <a:solidFill>
                  <a:srgbClr val="000000"/>
                </a:solidFill>
              </a:rPr>
              <a:t>    else if Left=Right or X[Left]=X[Right] then  </a:t>
            </a:r>
            <a:r>
              <a:rPr lang="en-US" altLang="zh-CN" sz="1600" dirty="0" err="1">
                <a:solidFill>
                  <a:srgbClr val="000000"/>
                </a:solidFill>
              </a:rPr>
              <a:t>Int_Find</a:t>
            </a:r>
            <a:r>
              <a:rPr lang="en-US" altLang="zh-CN" sz="1600" dirty="0">
                <a:solidFill>
                  <a:srgbClr val="000000"/>
                </a:solidFill>
              </a:rPr>
              <a:t>:=0</a:t>
            </a:r>
          </a:p>
          <a:p>
            <a:pPr>
              <a:buFont typeface="Arial" panose="020B0604020202020204" pitchFamily="34" charset="0"/>
              <a:buNone/>
            </a:pPr>
            <a:r>
              <a:rPr lang="en-US" altLang="zh-CN" sz="1600" dirty="0">
                <a:solidFill>
                  <a:srgbClr val="000000"/>
                </a:solidFill>
              </a:rPr>
              <a:t>    else</a:t>
            </a:r>
          </a:p>
          <a:p>
            <a:pPr>
              <a:buFont typeface="Arial" panose="020B0604020202020204" pitchFamily="34" charset="0"/>
              <a:buNone/>
            </a:pPr>
            <a:r>
              <a:rPr lang="en-US" altLang="zh-CN" sz="1600" dirty="0">
                <a:solidFill>
                  <a:srgbClr val="000000"/>
                </a:solidFill>
              </a:rPr>
              <a:t>        </a:t>
            </a:r>
            <a:r>
              <a:rPr lang="en-US" altLang="zh-CN" sz="1600" dirty="0" err="1">
                <a:solidFill>
                  <a:srgbClr val="000000"/>
                </a:solidFill>
              </a:rPr>
              <a:t>Next_Guess</a:t>
            </a:r>
            <a:r>
              <a:rPr lang="en-US" altLang="zh-CN" sz="1600" dirty="0">
                <a:solidFill>
                  <a:srgbClr val="000000"/>
                </a:solidFill>
              </a:rPr>
              <a:t>:=</a:t>
            </a:r>
            <a:r>
              <a:rPr lang="en-US" altLang="zh-CN" sz="1600" dirty="0">
                <a:solidFill>
                  <a:srgbClr val="000000"/>
                </a:solidFill>
                <a:sym typeface="Symbol" pitchFamily="18" charset="2"/>
              </a:rPr>
              <a:t>Left+(z-X[Left])(Right-Left)/(X[Right]-X[Left]);</a:t>
            </a:r>
          </a:p>
          <a:p>
            <a:pPr>
              <a:buFont typeface="Arial" panose="020B0604020202020204" pitchFamily="34" charset="0"/>
              <a:buNone/>
            </a:pPr>
            <a:r>
              <a:rPr lang="en-US" altLang="zh-CN" sz="1600" dirty="0">
                <a:solidFill>
                  <a:srgbClr val="000000"/>
                </a:solidFill>
                <a:sym typeface="Symbol" pitchFamily="18" charset="2"/>
              </a:rPr>
              <a:t>        if z&lt;X[</a:t>
            </a:r>
            <a:r>
              <a:rPr lang="en-US" altLang="zh-CN" sz="1600" dirty="0" err="1">
                <a:solidFill>
                  <a:srgbClr val="000000"/>
                </a:solidFill>
                <a:sym typeface="Symbol" pitchFamily="18" charset="2"/>
              </a:rPr>
              <a:t>Next_Guess</a:t>
            </a:r>
            <a:r>
              <a:rPr lang="en-US" altLang="zh-CN" sz="1600" dirty="0">
                <a:solidFill>
                  <a:srgbClr val="000000"/>
                </a:solidFill>
                <a:sym typeface="Symbol" pitchFamily="18" charset="2"/>
              </a:rPr>
              <a:t>] then         </a:t>
            </a:r>
          </a:p>
          <a:p>
            <a:pPr>
              <a:buFont typeface="Arial" panose="020B0604020202020204" pitchFamily="34" charset="0"/>
              <a:buNone/>
            </a:pPr>
            <a:r>
              <a:rPr lang="en-US" altLang="zh-CN" sz="1600" dirty="0">
                <a:solidFill>
                  <a:srgbClr val="000000"/>
                </a:solidFill>
                <a:sym typeface="Symbol" pitchFamily="18" charset="2"/>
              </a:rPr>
              <a:t>            </a:t>
            </a:r>
            <a:r>
              <a:rPr lang="en-US" altLang="zh-CN" sz="1600" dirty="0" err="1">
                <a:solidFill>
                  <a:srgbClr val="000000"/>
                </a:solidFill>
                <a:sym typeface="Symbol" pitchFamily="18" charset="2"/>
              </a:rPr>
              <a:t>Int_Find</a:t>
            </a:r>
            <a:r>
              <a:rPr lang="en-US" altLang="zh-CN" sz="1600" dirty="0">
                <a:solidFill>
                  <a:srgbClr val="000000"/>
                </a:solidFill>
                <a:sym typeface="Symbol" pitchFamily="18" charset="2"/>
              </a:rPr>
              <a:t>:=</a:t>
            </a:r>
            <a:r>
              <a:rPr lang="en-US" altLang="zh-CN" sz="1600" dirty="0" err="1">
                <a:solidFill>
                  <a:srgbClr val="000000"/>
                </a:solidFill>
                <a:sym typeface="Symbol" pitchFamily="18" charset="2"/>
              </a:rPr>
              <a:t>Int_Find</a:t>
            </a:r>
            <a:r>
              <a:rPr lang="en-US" altLang="zh-CN" sz="1600" dirty="0">
                <a:solidFill>
                  <a:srgbClr val="000000"/>
                </a:solidFill>
                <a:sym typeface="Symbol" pitchFamily="18" charset="2"/>
              </a:rPr>
              <a:t>(z,Left,Next_Guess-1)</a:t>
            </a:r>
          </a:p>
          <a:p>
            <a:pPr>
              <a:buFont typeface="Arial" panose="020B0604020202020204" pitchFamily="34" charset="0"/>
              <a:buNone/>
            </a:pPr>
            <a:r>
              <a:rPr lang="en-US" altLang="zh-CN" sz="1600" dirty="0">
                <a:solidFill>
                  <a:srgbClr val="000000"/>
                </a:solidFill>
                <a:sym typeface="Symbol" pitchFamily="18" charset="2"/>
              </a:rPr>
              <a:t>        else</a:t>
            </a:r>
          </a:p>
          <a:p>
            <a:pPr>
              <a:buFont typeface="Arial" panose="020B0604020202020204" pitchFamily="34" charset="0"/>
              <a:buNone/>
            </a:pPr>
            <a:r>
              <a:rPr lang="en-US" altLang="zh-CN" sz="1600" dirty="0">
                <a:solidFill>
                  <a:srgbClr val="000000"/>
                </a:solidFill>
                <a:sym typeface="Symbol" pitchFamily="18" charset="2"/>
              </a:rPr>
              <a:t>            </a:t>
            </a:r>
            <a:r>
              <a:rPr lang="en-US" altLang="zh-CN" sz="1600" dirty="0" err="1">
                <a:solidFill>
                  <a:srgbClr val="000000"/>
                </a:solidFill>
                <a:sym typeface="Symbol" pitchFamily="18" charset="2"/>
              </a:rPr>
              <a:t>Int_Find</a:t>
            </a:r>
            <a:r>
              <a:rPr lang="en-US" altLang="zh-CN" sz="1600" dirty="0">
                <a:solidFill>
                  <a:srgbClr val="000000"/>
                </a:solidFill>
                <a:sym typeface="Symbol" pitchFamily="18" charset="2"/>
              </a:rPr>
              <a:t>:=</a:t>
            </a:r>
            <a:r>
              <a:rPr lang="en-US" altLang="zh-CN" sz="1600" dirty="0" err="1">
                <a:solidFill>
                  <a:srgbClr val="000000"/>
                </a:solidFill>
                <a:sym typeface="Symbol" pitchFamily="18" charset="2"/>
              </a:rPr>
              <a:t>Int_Find</a:t>
            </a:r>
            <a:r>
              <a:rPr lang="en-US" altLang="zh-CN" sz="1600" dirty="0">
                <a:solidFill>
                  <a:srgbClr val="000000"/>
                </a:solidFill>
                <a:sym typeface="Symbol" pitchFamily="18" charset="2"/>
              </a:rPr>
              <a:t>(</a:t>
            </a:r>
            <a:r>
              <a:rPr lang="en-US" altLang="zh-CN" sz="1600" dirty="0" err="1">
                <a:solidFill>
                  <a:srgbClr val="000000"/>
                </a:solidFill>
                <a:sym typeface="Symbol" pitchFamily="18" charset="2"/>
              </a:rPr>
              <a:t>z,Next_Guess,Right</a:t>
            </a:r>
            <a:r>
              <a:rPr lang="en-US" altLang="zh-CN" sz="1600" dirty="0">
                <a:solidFill>
                  <a:srgbClr val="000000"/>
                </a:solidFill>
                <a:sym typeface="Symbol" pitchFamily="18" charset="2"/>
              </a:rPr>
              <a:t>)</a:t>
            </a:r>
          </a:p>
          <a:p>
            <a:pPr>
              <a:buFont typeface="Arial" panose="020B0604020202020204" pitchFamily="34" charset="0"/>
              <a:buNone/>
            </a:pPr>
            <a:r>
              <a:rPr lang="en-US" altLang="zh-CN" sz="1600" dirty="0">
                <a:solidFill>
                  <a:srgbClr val="000000"/>
                </a:solidFill>
                <a:sym typeface="Symbol" pitchFamily="18" charset="2"/>
              </a:rPr>
              <a:t>end</a:t>
            </a:r>
            <a:endParaRPr lang="en-US" altLang="zh-CN" sz="1600" dirty="0">
              <a:solidFill>
                <a:srgbClr val="000000"/>
              </a:solidFill>
            </a:endParaRPr>
          </a:p>
        </p:txBody>
      </p:sp>
    </p:spTree>
    <p:extLst>
      <p:ext uri="{BB962C8B-B14F-4D97-AF65-F5344CB8AC3E}">
        <p14:creationId xmlns:p14="http://schemas.microsoft.com/office/powerpoint/2010/main" val="2548736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266D14-D6B7-4362-911D-204A294A7D3E}"/>
              </a:ext>
            </a:extLst>
          </p:cNvPr>
          <p:cNvSpPr>
            <a:spLocks noGrp="1"/>
          </p:cNvSpPr>
          <p:nvPr>
            <p:ph type="title"/>
          </p:nvPr>
        </p:nvSpPr>
        <p:spPr/>
        <p:txBody>
          <a:bodyPr/>
          <a:lstStyle/>
          <a:p>
            <a:r>
              <a:rPr lang="zh-CN" altLang="en-US" dirty="0"/>
              <a:t>排序</a:t>
            </a:r>
          </a:p>
        </p:txBody>
      </p:sp>
      <p:sp>
        <p:nvSpPr>
          <p:cNvPr id="3" name="内容占位符 2">
            <a:extLst>
              <a:ext uri="{FF2B5EF4-FFF2-40B4-BE49-F238E27FC236}">
                <a16:creationId xmlns:a16="http://schemas.microsoft.com/office/drawing/2014/main" id="{B064AA2B-1063-448E-8709-39F1EC8D44D9}"/>
              </a:ext>
            </a:extLst>
          </p:cNvPr>
          <p:cNvSpPr>
            <a:spLocks noGrp="1"/>
          </p:cNvSpPr>
          <p:nvPr>
            <p:ph idx="1"/>
          </p:nvPr>
        </p:nvSpPr>
        <p:spPr/>
        <p:txBody>
          <a:bodyPr>
            <a:normAutofit/>
          </a:bodyPr>
          <a:lstStyle/>
          <a:p>
            <a:pPr algn="just"/>
            <a:r>
              <a:rPr lang="zh-CN" altLang="en-US" sz="2400" dirty="0">
                <a:solidFill>
                  <a:srgbClr val="000000"/>
                </a:solidFill>
              </a:rPr>
              <a:t>问题：对已知的</a:t>
            </a:r>
            <a:r>
              <a:rPr lang="en-US" altLang="zh-CN" sz="2400" dirty="0">
                <a:solidFill>
                  <a:srgbClr val="000000"/>
                </a:solidFill>
              </a:rPr>
              <a:t>n</a:t>
            </a:r>
            <a:r>
              <a:rPr lang="zh-CN" altLang="en-US" sz="2400" dirty="0">
                <a:solidFill>
                  <a:srgbClr val="000000"/>
                </a:solidFill>
              </a:rPr>
              <a:t>个数</a:t>
            </a:r>
            <a:r>
              <a:rPr lang="en-US" altLang="zh-CN" sz="2400" dirty="0">
                <a:solidFill>
                  <a:srgbClr val="000000"/>
                </a:solidFill>
              </a:rPr>
              <a:t>x</a:t>
            </a:r>
            <a:r>
              <a:rPr lang="en-US" altLang="zh-CN" sz="2400" baseline="-25000" dirty="0">
                <a:solidFill>
                  <a:srgbClr val="000000"/>
                </a:solidFill>
              </a:rPr>
              <a:t>1</a:t>
            </a:r>
            <a:r>
              <a:rPr lang="en-US" altLang="zh-CN" sz="2400" dirty="0">
                <a:solidFill>
                  <a:srgbClr val="000000"/>
                </a:solidFill>
              </a:rPr>
              <a:t>,x</a:t>
            </a:r>
            <a:r>
              <a:rPr lang="en-US" altLang="zh-CN" sz="2400" baseline="-25000" dirty="0">
                <a:solidFill>
                  <a:srgbClr val="000000"/>
                </a:solidFill>
              </a:rPr>
              <a:t>2</a:t>
            </a:r>
            <a:r>
              <a:rPr lang="en-US" altLang="zh-CN" sz="2400" dirty="0">
                <a:solidFill>
                  <a:srgbClr val="000000"/>
                </a:solidFill>
              </a:rPr>
              <a:t>,…,</a:t>
            </a:r>
            <a:r>
              <a:rPr lang="en-US" altLang="zh-CN" sz="2400" dirty="0" err="1">
                <a:solidFill>
                  <a:srgbClr val="000000"/>
                </a:solidFill>
              </a:rPr>
              <a:t>x</a:t>
            </a:r>
            <a:r>
              <a:rPr lang="en-US" altLang="zh-CN" sz="2400" baseline="-25000" dirty="0" err="1">
                <a:solidFill>
                  <a:srgbClr val="000000"/>
                </a:solidFill>
              </a:rPr>
              <a:t>n</a:t>
            </a:r>
            <a:r>
              <a:rPr lang="zh-CN" altLang="en-US" sz="2400" dirty="0">
                <a:solidFill>
                  <a:srgbClr val="000000"/>
                </a:solidFill>
              </a:rPr>
              <a:t>从小到大排序，也就是要找到由</a:t>
            </a:r>
            <a:r>
              <a:rPr lang="en-US" altLang="zh-CN" sz="2400" dirty="0">
                <a:solidFill>
                  <a:srgbClr val="000000"/>
                </a:solidFill>
              </a:rPr>
              <a:t>n</a:t>
            </a:r>
            <a:r>
              <a:rPr lang="zh-CN" altLang="en-US" sz="2400" dirty="0">
                <a:solidFill>
                  <a:srgbClr val="000000"/>
                </a:solidFill>
              </a:rPr>
              <a:t>个不同的下标所组成的序列</a:t>
            </a:r>
            <a:r>
              <a:rPr lang="en-US" altLang="zh-CN" sz="2400" dirty="0">
                <a:solidFill>
                  <a:srgbClr val="000000"/>
                </a:solidFill>
              </a:rPr>
              <a:t>1≤i</a:t>
            </a:r>
            <a:r>
              <a:rPr lang="en-US" altLang="zh-CN" sz="2400" baseline="-25000" dirty="0">
                <a:solidFill>
                  <a:srgbClr val="000000"/>
                </a:solidFill>
              </a:rPr>
              <a:t>1</a:t>
            </a:r>
            <a:r>
              <a:rPr lang="en-US" altLang="zh-CN" sz="2400" dirty="0">
                <a:solidFill>
                  <a:srgbClr val="000000"/>
                </a:solidFill>
              </a:rPr>
              <a:t>&lt;i</a:t>
            </a:r>
            <a:r>
              <a:rPr lang="en-US" altLang="zh-CN" sz="2400" baseline="-25000" dirty="0">
                <a:solidFill>
                  <a:srgbClr val="000000"/>
                </a:solidFill>
              </a:rPr>
              <a:t>2</a:t>
            </a:r>
            <a:r>
              <a:rPr lang="en-US" altLang="zh-CN" sz="2400" dirty="0">
                <a:solidFill>
                  <a:srgbClr val="000000"/>
                </a:solidFill>
              </a:rPr>
              <a:t>&lt;…&lt;</a:t>
            </a:r>
            <a:r>
              <a:rPr lang="en-US" altLang="zh-CN" sz="2400" dirty="0" err="1">
                <a:solidFill>
                  <a:srgbClr val="000000"/>
                </a:solidFill>
              </a:rPr>
              <a:t>i</a:t>
            </a:r>
            <a:r>
              <a:rPr lang="en-US" altLang="zh-CN" sz="2400" baseline="-25000" dirty="0" err="1">
                <a:solidFill>
                  <a:srgbClr val="000000"/>
                </a:solidFill>
              </a:rPr>
              <a:t>m</a:t>
            </a:r>
            <a:r>
              <a:rPr lang="en-US" altLang="zh-CN" sz="2400" dirty="0" err="1">
                <a:solidFill>
                  <a:srgbClr val="000000"/>
                </a:solidFill>
              </a:rPr>
              <a:t>≤n</a:t>
            </a:r>
            <a:r>
              <a:rPr lang="zh-CN" altLang="en-US" sz="2400" dirty="0">
                <a:solidFill>
                  <a:srgbClr val="000000"/>
                </a:solidFill>
              </a:rPr>
              <a:t>，使得</a:t>
            </a:r>
            <a:r>
              <a:rPr lang="en-US" altLang="zh-CN" sz="2400" dirty="0">
                <a:solidFill>
                  <a:srgbClr val="000000"/>
                </a:solidFill>
              </a:rPr>
              <a:t>x</a:t>
            </a:r>
            <a:r>
              <a:rPr lang="en-US" altLang="zh-CN" sz="2400" baseline="-25000" dirty="0">
                <a:solidFill>
                  <a:srgbClr val="000000"/>
                </a:solidFill>
              </a:rPr>
              <a:t>i</a:t>
            </a:r>
            <a:r>
              <a:rPr lang="en-US" altLang="zh-CN" sz="2400" baseline="-40000" dirty="0">
                <a:solidFill>
                  <a:srgbClr val="000000"/>
                </a:solidFill>
              </a:rPr>
              <a:t>1</a:t>
            </a:r>
            <a:r>
              <a:rPr lang="en-US" altLang="zh-CN" sz="2400" dirty="0">
                <a:solidFill>
                  <a:srgbClr val="000000"/>
                </a:solidFill>
              </a:rPr>
              <a:t>≤x</a:t>
            </a:r>
            <a:r>
              <a:rPr lang="en-US" altLang="zh-CN" sz="2400" baseline="-25000" dirty="0">
                <a:solidFill>
                  <a:srgbClr val="000000"/>
                </a:solidFill>
              </a:rPr>
              <a:t>i</a:t>
            </a:r>
            <a:r>
              <a:rPr lang="en-US" altLang="zh-CN" sz="2400" baseline="-40000" dirty="0">
                <a:solidFill>
                  <a:srgbClr val="000000"/>
                </a:solidFill>
              </a:rPr>
              <a:t>2</a:t>
            </a:r>
            <a:r>
              <a:rPr lang="en-US" altLang="zh-CN" sz="2400" dirty="0">
                <a:solidFill>
                  <a:srgbClr val="000000"/>
                </a:solidFill>
              </a:rPr>
              <a:t>≤…≤</a:t>
            </a:r>
            <a:r>
              <a:rPr lang="en-US" altLang="zh-CN" sz="2400" dirty="0" err="1">
                <a:solidFill>
                  <a:srgbClr val="000000"/>
                </a:solidFill>
              </a:rPr>
              <a:t>x</a:t>
            </a:r>
            <a:r>
              <a:rPr lang="en-US" altLang="zh-CN" sz="2400" baseline="-25000" dirty="0" err="1">
                <a:solidFill>
                  <a:srgbClr val="000000"/>
                </a:solidFill>
              </a:rPr>
              <a:t>i</a:t>
            </a:r>
            <a:r>
              <a:rPr lang="en-US" altLang="zh-CN" sz="2400" baseline="-40000" dirty="0" err="1">
                <a:solidFill>
                  <a:srgbClr val="000000"/>
                </a:solidFill>
              </a:rPr>
              <a:t>m</a:t>
            </a:r>
            <a:endParaRPr lang="en-US" altLang="zh-CN" sz="2400" dirty="0">
              <a:solidFill>
                <a:srgbClr val="000000"/>
              </a:solidFill>
            </a:endParaRPr>
          </a:p>
          <a:p>
            <a:pPr algn="just"/>
            <a:r>
              <a:rPr lang="zh-CN" altLang="en-US" sz="2400" dirty="0">
                <a:solidFill>
                  <a:srgbClr val="000000"/>
                </a:solidFill>
              </a:rPr>
              <a:t>为简单起见，</a:t>
            </a:r>
            <a:r>
              <a:rPr lang="zh-CN" altLang="en-US" sz="2400" dirty="0">
                <a:solidFill>
                  <a:srgbClr val="FF0000"/>
                </a:solidFill>
              </a:rPr>
              <a:t>假设数据均不相同</a:t>
            </a:r>
            <a:r>
              <a:rPr lang="zh-CN" altLang="en-US" sz="2400" dirty="0">
                <a:solidFill>
                  <a:srgbClr val="000000"/>
                </a:solidFill>
              </a:rPr>
              <a:t>。</a:t>
            </a:r>
          </a:p>
          <a:p>
            <a:pPr algn="just"/>
            <a:r>
              <a:rPr lang="zh-CN" altLang="en-US" sz="2400" dirty="0">
                <a:solidFill>
                  <a:srgbClr val="000000"/>
                </a:solidFill>
              </a:rPr>
              <a:t>如果某个排序算法除存储原始数据的数组之外不再借用额外的工作空间，则称之为原地置换排序算法。</a:t>
            </a:r>
          </a:p>
          <a:p>
            <a:endParaRPr lang="zh-CN" altLang="en-US" sz="2400" dirty="0"/>
          </a:p>
        </p:txBody>
      </p:sp>
    </p:spTree>
    <p:extLst>
      <p:ext uri="{BB962C8B-B14F-4D97-AF65-F5344CB8AC3E}">
        <p14:creationId xmlns:p14="http://schemas.microsoft.com/office/powerpoint/2010/main" val="1647581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705F5A-E1DA-419C-B8B0-430D07F13E05}"/>
              </a:ext>
            </a:extLst>
          </p:cNvPr>
          <p:cNvSpPr>
            <a:spLocks noGrp="1"/>
          </p:cNvSpPr>
          <p:nvPr>
            <p:ph type="title"/>
          </p:nvPr>
        </p:nvSpPr>
        <p:spPr/>
        <p:txBody>
          <a:bodyPr/>
          <a:lstStyle/>
          <a:p>
            <a:r>
              <a:rPr lang="zh-CN" altLang="en-US" dirty="0"/>
              <a:t>排序</a:t>
            </a:r>
          </a:p>
        </p:txBody>
      </p:sp>
      <p:graphicFrame>
        <p:nvGraphicFramePr>
          <p:cNvPr id="4" name="Object 6">
            <a:extLst>
              <a:ext uri="{FF2B5EF4-FFF2-40B4-BE49-F238E27FC236}">
                <a16:creationId xmlns:a16="http://schemas.microsoft.com/office/drawing/2014/main" id="{F07EFBB2-5911-44CC-8A5A-45F2FD6F8FD1}"/>
              </a:ext>
            </a:extLst>
          </p:cNvPr>
          <p:cNvGraphicFramePr>
            <a:graphicFrameLocks noChangeAspect="1"/>
          </p:cNvGraphicFramePr>
          <p:nvPr>
            <p:extLst>
              <p:ext uri="{D42A27DB-BD31-4B8C-83A1-F6EECF244321}">
                <p14:modId xmlns:p14="http://schemas.microsoft.com/office/powerpoint/2010/main" val="3943698471"/>
              </p:ext>
            </p:extLst>
          </p:nvPr>
        </p:nvGraphicFramePr>
        <p:xfrm>
          <a:off x="741760" y="1539404"/>
          <a:ext cx="6834188" cy="4375150"/>
        </p:xfrm>
        <a:graphic>
          <a:graphicData uri="http://schemas.openxmlformats.org/presentationml/2006/ole">
            <mc:AlternateContent xmlns:mc="http://schemas.openxmlformats.org/markup-compatibility/2006">
              <mc:Choice xmlns:v="urn:schemas-microsoft-com:vml" Requires="v">
                <p:oleObj spid="_x0000_s1037" name="Visio" r:id="rId3" imgW="4362258" imgH="2791030" progId="Visio.Drawing.11">
                  <p:embed/>
                </p:oleObj>
              </mc:Choice>
              <mc:Fallback>
                <p:oleObj name="Visio" r:id="rId3" imgW="4362258" imgH="2791030" progId="Visio.Drawing.11">
                  <p:embed/>
                  <p:pic>
                    <p:nvPicPr>
                      <p:cNvPr id="102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760" y="1539404"/>
                        <a:ext cx="6834188" cy="437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图片 4">
            <a:extLst>
              <a:ext uri="{FF2B5EF4-FFF2-40B4-BE49-F238E27FC236}">
                <a16:creationId xmlns:a16="http://schemas.microsoft.com/office/drawing/2014/main" id="{82DC872B-0FB7-4774-A4D5-1EB60264816C}"/>
              </a:ext>
            </a:extLst>
          </p:cNvPr>
          <p:cNvPicPr>
            <a:picLocks noChangeAspect="1"/>
          </p:cNvPicPr>
          <p:nvPr/>
        </p:nvPicPr>
        <p:blipFill>
          <a:blip r:embed="rId5"/>
          <a:stretch>
            <a:fillRect/>
          </a:stretch>
        </p:blipFill>
        <p:spPr>
          <a:xfrm>
            <a:off x="7169548" y="4053477"/>
            <a:ext cx="4711942" cy="2171812"/>
          </a:xfrm>
          <a:prstGeom prst="rect">
            <a:avLst/>
          </a:prstGeom>
        </p:spPr>
      </p:pic>
    </p:spTree>
    <p:extLst>
      <p:ext uri="{BB962C8B-B14F-4D97-AF65-F5344CB8AC3E}">
        <p14:creationId xmlns:p14="http://schemas.microsoft.com/office/powerpoint/2010/main" val="3464103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A994F-A47E-480C-BDAB-8ACE98B9662C}"/>
              </a:ext>
            </a:extLst>
          </p:cNvPr>
          <p:cNvSpPr>
            <a:spLocks noGrp="1"/>
          </p:cNvSpPr>
          <p:nvPr>
            <p:ph type="title"/>
          </p:nvPr>
        </p:nvSpPr>
        <p:spPr/>
        <p:txBody>
          <a:bodyPr/>
          <a:lstStyle/>
          <a:p>
            <a:r>
              <a:rPr lang="zh-CN" altLang="en-US" dirty="0"/>
              <a:t>快速排序</a:t>
            </a:r>
          </a:p>
        </p:txBody>
      </p:sp>
      <p:sp>
        <p:nvSpPr>
          <p:cNvPr id="3" name="内容占位符 2">
            <a:extLst>
              <a:ext uri="{FF2B5EF4-FFF2-40B4-BE49-F238E27FC236}">
                <a16:creationId xmlns:a16="http://schemas.microsoft.com/office/drawing/2014/main" id="{1759E169-7371-4097-B5C9-5262ADAEBD32}"/>
              </a:ext>
            </a:extLst>
          </p:cNvPr>
          <p:cNvSpPr>
            <a:spLocks noGrp="1"/>
          </p:cNvSpPr>
          <p:nvPr>
            <p:ph idx="1"/>
          </p:nvPr>
        </p:nvSpPr>
        <p:spPr/>
        <p:txBody>
          <a:bodyPr/>
          <a:lstStyle/>
          <a:p>
            <a:r>
              <a:rPr lang="zh-CN" altLang="en-US" dirty="0"/>
              <a:t>快速排序算法在最坏情况下的运行时间为</a:t>
            </a:r>
            <a:r>
              <a:rPr lang="en-US" altLang="zh-CN" dirty="0"/>
              <a:t>O(n^2)</a:t>
            </a:r>
            <a:r>
              <a:rPr lang="zh-CN" altLang="en-US" dirty="0"/>
              <a:t>。</a:t>
            </a:r>
          </a:p>
          <a:p>
            <a:r>
              <a:rPr lang="zh-CN" altLang="en-US" dirty="0"/>
              <a:t>若始终选择中位数作为基准值，则时间复杂度为</a:t>
            </a:r>
            <a:r>
              <a:rPr lang="en-US" altLang="zh-CN" dirty="0"/>
              <a:t>O(</a:t>
            </a:r>
            <a:r>
              <a:rPr lang="en-US" altLang="zh-CN" dirty="0" err="1"/>
              <a:t>nlogn</a:t>
            </a:r>
            <a:r>
              <a:rPr lang="en-US" altLang="zh-CN" dirty="0"/>
              <a:t>)</a:t>
            </a:r>
            <a:r>
              <a:rPr lang="zh-CN" altLang="en-US" dirty="0"/>
              <a:t>。</a:t>
            </a:r>
          </a:p>
          <a:p>
            <a:r>
              <a:rPr lang="zh-CN" altLang="en-US" dirty="0"/>
              <a:t>快速排序算法对</a:t>
            </a:r>
            <a:r>
              <a:rPr lang="en-US" altLang="zh-CN" dirty="0"/>
              <a:t>n</a:t>
            </a:r>
            <a:r>
              <a:rPr lang="zh-CN" altLang="en-US" dirty="0"/>
              <a:t>个元素的数组进行排序时，平均比较次数为</a:t>
            </a:r>
            <a:r>
              <a:rPr lang="en-US" altLang="zh-CN" dirty="0"/>
              <a:t>O(</a:t>
            </a:r>
            <a:r>
              <a:rPr lang="en-US" altLang="zh-CN" dirty="0" err="1"/>
              <a:t>nlogn</a:t>
            </a:r>
            <a:r>
              <a:rPr lang="en-US" altLang="zh-CN" dirty="0"/>
              <a:t>)</a:t>
            </a:r>
            <a:r>
              <a:rPr lang="zh-CN" altLang="en-US" dirty="0"/>
              <a:t>。</a:t>
            </a:r>
          </a:p>
          <a:p>
            <a:r>
              <a:rPr lang="zh-CN" altLang="en-US" dirty="0"/>
              <a:t>当数组</a:t>
            </a:r>
            <a:r>
              <a:rPr lang="en-US" altLang="zh-CN" dirty="0"/>
              <a:t>X</a:t>
            </a:r>
            <a:r>
              <a:rPr lang="zh-CN" altLang="en-US" dirty="0"/>
              <a:t>中所有元素值相同时，运行时间为</a:t>
            </a:r>
            <a:r>
              <a:rPr lang="en-US" altLang="zh-CN" dirty="0"/>
              <a:t>O(n^2)</a:t>
            </a:r>
            <a:endParaRPr lang="zh-CN" altLang="en-US" dirty="0"/>
          </a:p>
        </p:txBody>
      </p:sp>
    </p:spTree>
    <p:extLst>
      <p:ext uri="{BB962C8B-B14F-4D97-AF65-F5344CB8AC3E}">
        <p14:creationId xmlns:p14="http://schemas.microsoft.com/office/powerpoint/2010/main" val="3919483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1E9177-1E59-4F21-93D3-0C9AE59C4540}"/>
              </a:ext>
            </a:extLst>
          </p:cNvPr>
          <p:cNvSpPr>
            <a:spLocks noGrp="1"/>
          </p:cNvSpPr>
          <p:nvPr>
            <p:ph type="title"/>
          </p:nvPr>
        </p:nvSpPr>
        <p:spPr/>
        <p:txBody>
          <a:bodyPr/>
          <a:lstStyle/>
          <a:p>
            <a:r>
              <a:rPr lang="zh-CN" altLang="en-US" dirty="0"/>
              <a:t>堆排序</a:t>
            </a:r>
          </a:p>
        </p:txBody>
      </p:sp>
      <p:sp>
        <p:nvSpPr>
          <p:cNvPr id="3" name="内容占位符 2">
            <a:extLst>
              <a:ext uri="{FF2B5EF4-FFF2-40B4-BE49-F238E27FC236}">
                <a16:creationId xmlns:a16="http://schemas.microsoft.com/office/drawing/2014/main" id="{6B0E1BE6-5610-4CD3-BCF9-13CF14934EE8}"/>
              </a:ext>
            </a:extLst>
          </p:cNvPr>
          <p:cNvSpPr>
            <a:spLocks noGrp="1"/>
          </p:cNvSpPr>
          <p:nvPr>
            <p:ph idx="1"/>
          </p:nvPr>
        </p:nvSpPr>
        <p:spPr/>
        <p:txBody>
          <a:bodyPr>
            <a:normAutofit/>
          </a:bodyPr>
          <a:lstStyle/>
          <a:p>
            <a:r>
              <a:rPr lang="zh-CN" altLang="en-US" sz="2400" dirty="0"/>
              <a:t>建堆：已知数组</a:t>
            </a:r>
            <a:r>
              <a:rPr lang="en-US" altLang="zh-CN" sz="2400" dirty="0"/>
              <a:t>A[1..n]</a:t>
            </a:r>
            <a:r>
              <a:rPr lang="zh-CN" altLang="en-US" sz="2400" dirty="0"/>
              <a:t>的元素按任意顺序排列，重新排列这些元素使其满足堆的性质。</a:t>
            </a:r>
          </a:p>
          <a:p>
            <a:r>
              <a:rPr lang="zh-CN" altLang="en-US" sz="2400" dirty="0"/>
              <a:t>自顶向下法和自底向上是两个很自然的建堆方法，它们分别对应着两种不同的对数组的扫描方式：自左向右或自右向左。</a:t>
            </a:r>
          </a:p>
          <a:p>
            <a:endParaRPr lang="zh-CN" altLang="en-US" sz="2400" dirty="0"/>
          </a:p>
        </p:txBody>
      </p:sp>
      <p:pic>
        <p:nvPicPr>
          <p:cNvPr id="4" name="图片 4">
            <a:extLst>
              <a:ext uri="{FF2B5EF4-FFF2-40B4-BE49-F238E27FC236}">
                <a16:creationId xmlns:a16="http://schemas.microsoft.com/office/drawing/2014/main" id="{33F7BFF9-70E3-4AA4-9F05-4A0F70114C7F}"/>
              </a:ext>
            </a:extLst>
          </p:cNvPr>
          <p:cNvPicPr>
            <a:picLocks noChangeAspect="1"/>
          </p:cNvPicPr>
          <p:nvPr/>
        </p:nvPicPr>
        <p:blipFill>
          <a:blip r:embed="rId2" cstate="print"/>
          <a:srcRect/>
          <a:stretch>
            <a:fillRect/>
          </a:stretch>
        </p:blipFill>
        <p:spPr bwMode="auto">
          <a:xfrm>
            <a:off x="3719513" y="4275138"/>
            <a:ext cx="4248150" cy="2178050"/>
          </a:xfrm>
          <a:prstGeom prst="rect">
            <a:avLst/>
          </a:prstGeom>
          <a:noFill/>
          <a:ln w="9525">
            <a:noFill/>
            <a:miter lim="800000"/>
            <a:headEnd/>
            <a:tailEnd/>
          </a:ln>
        </p:spPr>
      </p:pic>
    </p:spTree>
    <p:extLst>
      <p:ext uri="{BB962C8B-B14F-4D97-AF65-F5344CB8AC3E}">
        <p14:creationId xmlns:p14="http://schemas.microsoft.com/office/powerpoint/2010/main" val="3694232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46A546-79CC-4583-963B-7D7987554CF9}"/>
              </a:ext>
            </a:extLst>
          </p:cNvPr>
          <p:cNvSpPr>
            <a:spLocks noGrp="1"/>
          </p:cNvSpPr>
          <p:nvPr>
            <p:ph type="title"/>
          </p:nvPr>
        </p:nvSpPr>
        <p:spPr/>
        <p:txBody>
          <a:bodyPr/>
          <a:lstStyle/>
          <a:p>
            <a:r>
              <a:rPr lang="zh-CN" altLang="en-US" dirty="0"/>
              <a:t>堆排序</a:t>
            </a:r>
          </a:p>
        </p:txBody>
      </p:sp>
      <p:sp>
        <p:nvSpPr>
          <p:cNvPr id="3" name="内容占位符 2">
            <a:extLst>
              <a:ext uri="{FF2B5EF4-FFF2-40B4-BE49-F238E27FC236}">
                <a16:creationId xmlns:a16="http://schemas.microsoft.com/office/drawing/2014/main" id="{972D9132-800B-4077-9DED-7F716A4AEEB0}"/>
              </a:ext>
            </a:extLst>
          </p:cNvPr>
          <p:cNvSpPr>
            <a:spLocks noGrp="1"/>
          </p:cNvSpPr>
          <p:nvPr>
            <p:ph idx="1"/>
          </p:nvPr>
        </p:nvSpPr>
        <p:spPr>
          <a:xfrm>
            <a:off x="5471160" y="1825625"/>
            <a:ext cx="5524500" cy="4351338"/>
          </a:xfrm>
        </p:spPr>
        <p:txBody>
          <a:bodyPr>
            <a:noAutofit/>
          </a:bodyPr>
          <a:lstStyle/>
          <a:p>
            <a:pPr algn="just"/>
            <a:r>
              <a:rPr lang="zh-CN" altLang="en-US" sz="1800" dirty="0">
                <a:solidFill>
                  <a:srgbClr val="000000"/>
                </a:solidFill>
              </a:rPr>
              <a:t>从右到左对数组进行扫描（对应自底向上建堆法）</a:t>
            </a:r>
            <a:endParaRPr lang="en-US" altLang="zh-CN" sz="1800" dirty="0">
              <a:solidFill>
                <a:srgbClr val="000000"/>
              </a:solidFill>
            </a:endParaRPr>
          </a:p>
          <a:p>
            <a:pPr algn="just"/>
            <a:r>
              <a:rPr lang="zh-CN" altLang="en-US" sz="1800" dirty="0">
                <a:solidFill>
                  <a:srgbClr val="000000"/>
                </a:solidFill>
              </a:rPr>
              <a:t>试图说明数组</a:t>
            </a:r>
            <a:r>
              <a:rPr lang="en-US" altLang="zh-CN" sz="1800" dirty="0">
                <a:solidFill>
                  <a:srgbClr val="000000"/>
                </a:solidFill>
              </a:rPr>
              <a:t>A[i+1..n]</a:t>
            </a:r>
            <a:r>
              <a:rPr lang="zh-CN" altLang="en-US" sz="1800" dirty="0">
                <a:solidFill>
                  <a:srgbClr val="000000"/>
                </a:solidFill>
              </a:rPr>
              <a:t>是堆，然后如何在堆中插入</a:t>
            </a:r>
            <a:r>
              <a:rPr lang="en-US" altLang="zh-CN" sz="1800" dirty="0">
                <a:solidFill>
                  <a:srgbClr val="000000"/>
                </a:solidFill>
              </a:rPr>
              <a:t>A[</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。可是，</a:t>
            </a:r>
            <a:r>
              <a:rPr lang="en-US" altLang="zh-CN" sz="1800" dirty="0">
                <a:solidFill>
                  <a:srgbClr val="000000"/>
                </a:solidFill>
              </a:rPr>
              <a:t>A[i+1..n]</a:t>
            </a:r>
            <a:r>
              <a:rPr lang="zh-CN" altLang="en-US" sz="1800" dirty="0">
                <a:solidFill>
                  <a:srgbClr val="000000"/>
                </a:solidFill>
              </a:rPr>
              <a:t>并不代表某个堆，它对应着</a:t>
            </a:r>
            <a:r>
              <a:rPr lang="zh-CN" altLang="en-US" sz="1800" dirty="0">
                <a:solidFill>
                  <a:srgbClr val="FF0000"/>
                </a:solidFill>
              </a:rPr>
              <a:t>数个堆</a:t>
            </a:r>
            <a:r>
              <a:rPr lang="zh-CN" altLang="en-US" sz="1800" dirty="0">
                <a:solidFill>
                  <a:srgbClr val="000000"/>
                </a:solidFill>
              </a:rPr>
              <a:t>。</a:t>
            </a:r>
          </a:p>
          <a:p>
            <a:pPr algn="just"/>
            <a:r>
              <a:rPr lang="zh-CN" altLang="en-US" sz="1800" dirty="0">
                <a:solidFill>
                  <a:srgbClr val="000000"/>
                </a:solidFill>
              </a:rPr>
              <a:t>归纳假设</a:t>
            </a:r>
            <a:r>
              <a:rPr lang="en-US" altLang="zh-CN" sz="1800" dirty="0">
                <a:solidFill>
                  <a:srgbClr val="000000"/>
                </a:solidFill>
              </a:rPr>
              <a:t>(</a:t>
            </a:r>
            <a:r>
              <a:rPr lang="zh-CN" altLang="en-US" sz="1800" dirty="0">
                <a:solidFill>
                  <a:srgbClr val="000000"/>
                </a:solidFill>
              </a:rPr>
              <a:t>自底向上</a:t>
            </a:r>
            <a:r>
              <a:rPr lang="en-US" altLang="zh-CN" sz="1800" dirty="0">
                <a:solidFill>
                  <a:srgbClr val="000000"/>
                </a:solidFill>
              </a:rPr>
              <a:t>)</a:t>
            </a:r>
            <a:r>
              <a:rPr lang="zh-CN" altLang="en-US" sz="1800" dirty="0">
                <a:solidFill>
                  <a:srgbClr val="000000"/>
                </a:solidFill>
              </a:rPr>
              <a:t>：</a:t>
            </a:r>
            <a:r>
              <a:rPr lang="en-US" altLang="zh-CN" sz="1800" dirty="0">
                <a:solidFill>
                  <a:srgbClr val="000000"/>
                </a:solidFill>
              </a:rPr>
              <a:t>A[i+1..n]</a:t>
            </a:r>
            <a:r>
              <a:rPr lang="zh-CN" altLang="en-US" sz="1800" dirty="0">
                <a:solidFill>
                  <a:srgbClr val="000000"/>
                </a:solidFill>
              </a:rPr>
              <a:t>代表的所有树都满足堆的性质。</a:t>
            </a:r>
          </a:p>
          <a:p>
            <a:pPr algn="just"/>
            <a:r>
              <a:rPr lang="en-US" altLang="zh-CN" sz="1800" dirty="0">
                <a:solidFill>
                  <a:srgbClr val="000000"/>
                </a:solidFill>
              </a:rPr>
              <a:t>A[n]</a:t>
            </a:r>
            <a:r>
              <a:rPr lang="zh-CN" altLang="en-US" sz="1800" dirty="0">
                <a:solidFill>
                  <a:srgbClr val="000000"/>
                </a:solidFill>
              </a:rPr>
              <a:t>本身是堆，归纳基础成立。数组</a:t>
            </a:r>
            <a:r>
              <a:rPr lang="en-US" altLang="zh-CN" sz="1800" dirty="0">
                <a:solidFill>
                  <a:srgbClr val="000000"/>
                </a:solidFill>
              </a:rPr>
              <a:t>A[</a:t>
            </a:r>
            <a:r>
              <a:rPr lang="en-US" altLang="zh-CN" sz="1800" dirty="0">
                <a:solidFill>
                  <a:srgbClr val="000000"/>
                </a:solidFill>
                <a:sym typeface="Symbol" pitchFamily="18" charset="2"/>
              </a:rPr>
              <a:t>n/2+1..n</a:t>
            </a:r>
            <a:r>
              <a:rPr lang="en-US" altLang="zh-CN" sz="1800" dirty="0">
                <a:solidFill>
                  <a:srgbClr val="000000"/>
                </a:solidFill>
              </a:rPr>
              <a:t>]</a:t>
            </a:r>
            <a:r>
              <a:rPr lang="zh-CN" altLang="en-US" sz="1800" dirty="0">
                <a:solidFill>
                  <a:srgbClr val="000000"/>
                </a:solidFill>
              </a:rPr>
              <a:t>表示树上的叶节点，对应着</a:t>
            </a:r>
            <a:r>
              <a:rPr lang="en-US" altLang="zh-CN" sz="1800" dirty="0">
                <a:solidFill>
                  <a:srgbClr val="000000"/>
                </a:solidFill>
              </a:rPr>
              <a:t>A[</a:t>
            </a:r>
            <a:r>
              <a:rPr lang="en-US" altLang="zh-CN" sz="1800" dirty="0">
                <a:solidFill>
                  <a:srgbClr val="000000"/>
                </a:solidFill>
                <a:sym typeface="Symbol" pitchFamily="18" charset="2"/>
              </a:rPr>
              <a:t>n/2+1..n</a:t>
            </a:r>
            <a:r>
              <a:rPr lang="en-US" altLang="zh-CN" sz="1800" dirty="0">
                <a:solidFill>
                  <a:srgbClr val="000000"/>
                </a:solidFill>
              </a:rPr>
              <a:t> ]</a:t>
            </a:r>
            <a:r>
              <a:rPr lang="zh-CN" altLang="en-US" sz="1800" dirty="0">
                <a:solidFill>
                  <a:srgbClr val="000000"/>
                </a:solidFill>
              </a:rPr>
              <a:t>的树都是单节点树，自然满足堆的性质。因此只需从</a:t>
            </a:r>
            <a:r>
              <a:rPr lang="zh-CN" altLang="en-US" sz="1800" dirty="0">
                <a:solidFill>
                  <a:srgbClr val="FF0000"/>
                </a:solidFill>
                <a:sym typeface="Symbol" pitchFamily="18" charset="2"/>
              </a:rPr>
              <a:t></a:t>
            </a:r>
            <a:r>
              <a:rPr lang="en-US" altLang="zh-CN" sz="1800" dirty="0">
                <a:solidFill>
                  <a:srgbClr val="FF0000"/>
                </a:solidFill>
                <a:sym typeface="Symbol" pitchFamily="18" charset="2"/>
              </a:rPr>
              <a:t>n/2</a:t>
            </a:r>
            <a:r>
              <a:rPr lang="zh-CN" altLang="en-US" sz="1800" dirty="0">
                <a:solidFill>
                  <a:srgbClr val="000000"/>
                </a:solidFill>
              </a:rPr>
              <a:t>开始归纳。</a:t>
            </a:r>
          </a:p>
          <a:p>
            <a:pPr algn="just"/>
            <a:r>
              <a:rPr lang="zh-CN" altLang="en-US" sz="1800" dirty="0">
                <a:solidFill>
                  <a:srgbClr val="000000"/>
                </a:solidFill>
              </a:rPr>
              <a:t>考察</a:t>
            </a:r>
            <a:r>
              <a:rPr lang="en-US" altLang="zh-CN" sz="1800" dirty="0">
                <a:solidFill>
                  <a:srgbClr val="000000"/>
                </a:solidFill>
              </a:rPr>
              <a:t>A[</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，它最多只能有两个子节点</a:t>
            </a:r>
            <a:r>
              <a:rPr lang="en-US" altLang="zh-CN" sz="1800" dirty="0">
                <a:solidFill>
                  <a:srgbClr val="000000"/>
                </a:solidFill>
              </a:rPr>
              <a:t>(A[2i]</a:t>
            </a:r>
            <a:r>
              <a:rPr lang="zh-CN" altLang="en-US" sz="1800" dirty="0">
                <a:solidFill>
                  <a:srgbClr val="000000"/>
                </a:solidFill>
              </a:rPr>
              <a:t>和</a:t>
            </a:r>
            <a:r>
              <a:rPr lang="en-US" altLang="zh-CN" sz="1800" dirty="0">
                <a:solidFill>
                  <a:srgbClr val="000000"/>
                </a:solidFill>
              </a:rPr>
              <a:t>A[2i+1])</a:t>
            </a:r>
            <a:r>
              <a:rPr lang="zh-CN" altLang="en-US" sz="1800" dirty="0">
                <a:solidFill>
                  <a:srgbClr val="000000"/>
                </a:solidFill>
              </a:rPr>
              <a:t>，且都是其他某个堆的根节点。</a:t>
            </a:r>
            <a:r>
              <a:rPr lang="en-US" altLang="zh-CN" sz="1800" dirty="0">
                <a:solidFill>
                  <a:srgbClr val="000000"/>
                </a:solidFill>
              </a:rPr>
              <a:t>A[</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先同它最大的子节点比较，如果有必要就和那个最大的子节点交换。沿着树自上而下不断交换直到原先的</a:t>
            </a:r>
            <a:r>
              <a:rPr lang="en-US" altLang="zh-CN" sz="1800" dirty="0">
                <a:solidFill>
                  <a:srgbClr val="000000"/>
                </a:solidFill>
              </a:rPr>
              <a:t>A[</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值大于其现在两个子节点的值。由于</a:t>
            </a:r>
            <a:r>
              <a:rPr lang="en-US" altLang="zh-CN" sz="1800" dirty="0">
                <a:solidFill>
                  <a:srgbClr val="000000"/>
                </a:solidFill>
              </a:rPr>
              <a:t>A[</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的高度是</a:t>
            </a:r>
            <a:r>
              <a:rPr lang="zh-CN" altLang="en-US" sz="1800" dirty="0">
                <a:solidFill>
                  <a:srgbClr val="000000"/>
                </a:solidFill>
                <a:sym typeface="Symbol" pitchFamily="18" charset="2"/>
              </a:rPr>
              <a:t></a:t>
            </a:r>
            <a:r>
              <a:rPr lang="en-US" altLang="zh-CN" sz="1800" dirty="0">
                <a:solidFill>
                  <a:srgbClr val="000000"/>
                </a:solidFill>
                <a:sym typeface="Symbol" pitchFamily="18" charset="2"/>
              </a:rPr>
              <a:t>log(n/</a:t>
            </a:r>
            <a:r>
              <a:rPr lang="en-US" altLang="zh-CN" sz="1800" dirty="0" err="1">
                <a:solidFill>
                  <a:srgbClr val="000000"/>
                </a:solidFill>
                <a:sym typeface="Symbol" pitchFamily="18" charset="2"/>
              </a:rPr>
              <a:t>i</a:t>
            </a:r>
            <a:r>
              <a:rPr lang="en-US" altLang="zh-CN" sz="1800" dirty="0">
                <a:solidFill>
                  <a:srgbClr val="000000"/>
                </a:solidFill>
                <a:sym typeface="Symbol" pitchFamily="18" charset="2"/>
              </a:rPr>
              <a:t>)</a:t>
            </a:r>
            <a:r>
              <a:rPr lang="zh-CN" altLang="en-US" sz="1800" dirty="0">
                <a:solidFill>
                  <a:srgbClr val="000000"/>
                </a:solidFill>
              </a:rPr>
              <a:t>，最坏情况下的比较次数是</a:t>
            </a:r>
            <a:r>
              <a:rPr lang="en-US" altLang="zh-CN" sz="1800" dirty="0">
                <a:solidFill>
                  <a:srgbClr val="000000"/>
                </a:solidFill>
              </a:rPr>
              <a:t>2</a:t>
            </a:r>
            <a:r>
              <a:rPr lang="en-US" altLang="zh-CN" sz="1800" dirty="0">
                <a:solidFill>
                  <a:srgbClr val="000000"/>
                </a:solidFill>
                <a:sym typeface="Symbol" pitchFamily="18" charset="2"/>
              </a:rPr>
              <a:t>log(n/</a:t>
            </a:r>
            <a:r>
              <a:rPr lang="en-US" altLang="zh-CN" sz="1800" dirty="0" err="1">
                <a:solidFill>
                  <a:srgbClr val="000000"/>
                </a:solidFill>
                <a:sym typeface="Symbol" pitchFamily="18" charset="2"/>
              </a:rPr>
              <a:t>i</a:t>
            </a:r>
            <a:r>
              <a:rPr lang="en-US" altLang="zh-CN" sz="1800" dirty="0">
                <a:solidFill>
                  <a:srgbClr val="000000"/>
                </a:solidFill>
                <a:sym typeface="Symbol" pitchFamily="18" charset="2"/>
              </a:rPr>
              <a:t>)</a:t>
            </a:r>
            <a:r>
              <a:rPr lang="en-US" altLang="zh-CN" sz="1800" dirty="0">
                <a:solidFill>
                  <a:srgbClr val="000000"/>
                </a:solidFill>
              </a:rPr>
              <a:t> </a:t>
            </a:r>
            <a:r>
              <a:rPr lang="zh-CN" altLang="en-US" sz="1800" dirty="0">
                <a:solidFill>
                  <a:srgbClr val="000000"/>
                </a:solidFill>
              </a:rPr>
              <a:t>。</a:t>
            </a:r>
          </a:p>
          <a:p>
            <a:endParaRPr lang="zh-CN" altLang="en-US" sz="1800" dirty="0"/>
          </a:p>
        </p:txBody>
      </p:sp>
      <p:sp>
        <p:nvSpPr>
          <p:cNvPr id="4" name="内容占位符 2">
            <a:extLst>
              <a:ext uri="{FF2B5EF4-FFF2-40B4-BE49-F238E27FC236}">
                <a16:creationId xmlns:a16="http://schemas.microsoft.com/office/drawing/2014/main" id="{7ED12915-E1C2-4FCB-A03A-D875B3791584}"/>
              </a:ext>
            </a:extLst>
          </p:cNvPr>
          <p:cNvSpPr txBox="1">
            <a:spLocks/>
          </p:cNvSpPr>
          <p:nvPr/>
        </p:nvSpPr>
        <p:spPr>
          <a:xfrm>
            <a:off x="861060" y="1825625"/>
            <a:ext cx="4046220" cy="435133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rgbClr val="000000"/>
                </a:solidFill>
              </a:rPr>
              <a:t>从左到右对数组进行扫描（对应自顶向下建堆法）。</a:t>
            </a:r>
          </a:p>
          <a:p>
            <a:pPr algn="just"/>
            <a:r>
              <a:rPr lang="zh-CN" altLang="en-US" sz="1800" dirty="0">
                <a:solidFill>
                  <a:srgbClr val="000000"/>
                </a:solidFill>
              </a:rPr>
              <a:t>归纳假设</a:t>
            </a:r>
            <a:r>
              <a:rPr lang="en-US" altLang="zh-CN" sz="1800" dirty="0">
                <a:solidFill>
                  <a:srgbClr val="000000"/>
                </a:solidFill>
              </a:rPr>
              <a:t>(</a:t>
            </a:r>
            <a:r>
              <a:rPr lang="zh-CN" altLang="en-US" sz="1800" dirty="0">
                <a:solidFill>
                  <a:srgbClr val="000000"/>
                </a:solidFill>
              </a:rPr>
              <a:t>自顶向下</a:t>
            </a:r>
            <a:r>
              <a:rPr lang="en-US" altLang="zh-CN" sz="1800" dirty="0">
                <a:solidFill>
                  <a:srgbClr val="000000"/>
                </a:solidFill>
              </a:rPr>
              <a:t>)</a:t>
            </a:r>
            <a:r>
              <a:rPr lang="zh-CN" altLang="en-US" sz="1800" dirty="0">
                <a:solidFill>
                  <a:srgbClr val="000000"/>
                </a:solidFill>
              </a:rPr>
              <a:t>：数组</a:t>
            </a:r>
            <a:r>
              <a:rPr lang="en-US" altLang="zh-CN" sz="1800" dirty="0">
                <a:solidFill>
                  <a:srgbClr val="000000"/>
                </a:solidFill>
              </a:rPr>
              <a:t>A[1..i]</a:t>
            </a:r>
            <a:r>
              <a:rPr lang="zh-CN" altLang="en-US" sz="1800" dirty="0">
                <a:solidFill>
                  <a:srgbClr val="000000"/>
                </a:solidFill>
              </a:rPr>
              <a:t>是堆。</a:t>
            </a:r>
          </a:p>
          <a:p>
            <a:pPr algn="just"/>
            <a:r>
              <a:rPr lang="zh-CN" altLang="en-US" sz="1800" dirty="0">
                <a:solidFill>
                  <a:srgbClr val="000000"/>
                </a:solidFill>
              </a:rPr>
              <a:t>归纳基础是显见的，因为</a:t>
            </a:r>
            <a:r>
              <a:rPr lang="en-US" altLang="zh-CN" sz="1800" dirty="0">
                <a:solidFill>
                  <a:srgbClr val="000000"/>
                </a:solidFill>
              </a:rPr>
              <a:t>A[1]</a:t>
            </a:r>
            <a:r>
              <a:rPr lang="zh-CN" altLang="en-US" sz="1800" dirty="0">
                <a:solidFill>
                  <a:srgbClr val="000000"/>
                </a:solidFill>
              </a:rPr>
              <a:t>本身一定是堆。</a:t>
            </a:r>
            <a:endParaRPr lang="en-US" altLang="zh-CN" sz="1800" dirty="0">
              <a:solidFill>
                <a:srgbClr val="000000"/>
              </a:solidFill>
            </a:endParaRPr>
          </a:p>
          <a:p>
            <a:pPr algn="just"/>
            <a:r>
              <a:rPr lang="zh-CN" altLang="en-US" sz="1800" dirty="0">
                <a:solidFill>
                  <a:srgbClr val="000000"/>
                </a:solidFill>
              </a:rPr>
              <a:t>如何把</a:t>
            </a:r>
            <a:r>
              <a:rPr lang="en-US" altLang="zh-CN" sz="1800" dirty="0">
                <a:solidFill>
                  <a:srgbClr val="000000"/>
                </a:solidFill>
              </a:rPr>
              <a:t>A[i+1]</a:t>
            </a:r>
            <a:r>
              <a:rPr lang="zh-CN" altLang="en-US" sz="1800" dirty="0">
                <a:solidFill>
                  <a:srgbClr val="000000"/>
                </a:solidFill>
              </a:rPr>
              <a:t>放到堆</a:t>
            </a:r>
            <a:r>
              <a:rPr lang="en-US" altLang="zh-CN" sz="1800" dirty="0">
                <a:solidFill>
                  <a:srgbClr val="000000"/>
                </a:solidFill>
              </a:rPr>
              <a:t>A[1..i]</a:t>
            </a:r>
            <a:r>
              <a:rPr lang="zh-CN" altLang="en-US" sz="1800" dirty="0">
                <a:solidFill>
                  <a:srgbClr val="000000"/>
                </a:solidFill>
              </a:rPr>
              <a:t>中去，即如何在堆中插入</a:t>
            </a:r>
            <a:r>
              <a:rPr lang="en-US" altLang="zh-CN" sz="1800" dirty="0">
                <a:solidFill>
                  <a:srgbClr val="000000"/>
                </a:solidFill>
              </a:rPr>
              <a:t>A[i+1]</a:t>
            </a:r>
            <a:r>
              <a:rPr lang="zh-CN" altLang="en-US" sz="1800" dirty="0">
                <a:solidFill>
                  <a:srgbClr val="000000"/>
                </a:solidFill>
              </a:rPr>
              <a:t>：将</a:t>
            </a:r>
            <a:r>
              <a:rPr lang="en-US" altLang="zh-CN" sz="1800" dirty="0">
                <a:solidFill>
                  <a:srgbClr val="000000"/>
                </a:solidFill>
              </a:rPr>
              <a:t>A[i+1]</a:t>
            </a:r>
            <a:r>
              <a:rPr lang="zh-CN" altLang="en-US" sz="1800" dirty="0">
                <a:solidFill>
                  <a:srgbClr val="000000"/>
                </a:solidFill>
              </a:rPr>
              <a:t>与其父节点比较，然后不断交换节点的位置，直到新的父节点大与其自身。最坏情况下的比较次数是</a:t>
            </a:r>
            <a:r>
              <a:rPr lang="zh-CN" altLang="en-US" sz="1800" dirty="0">
                <a:solidFill>
                  <a:srgbClr val="000000"/>
                </a:solidFill>
                <a:sym typeface="Symbol" pitchFamily="18" charset="2"/>
              </a:rPr>
              <a:t></a:t>
            </a:r>
            <a:r>
              <a:rPr lang="en-US" altLang="zh-CN" sz="1800" dirty="0">
                <a:solidFill>
                  <a:srgbClr val="000000"/>
                </a:solidFill>
                <a:sym typeface="Symbol" pitchFamily="18" charset="2"/>
              </a:rPr>
              <a:t>log(i+1)</a:t>
            </a:r>
            <a:r>
              <a:rPr lang="zh-CN" altLang="en-US" sz="1800" dirty="0">
                <a:solidFill>
                  <a:srgbClr val="000000"/>
                </a:solidFill>
              </a:rPr>
              <a:t>。</a:t>
            </a:r>
          </a:p>
        </p:txBody>
      </p:sp>
      <p:pic>
        <p:nvPicPr>
          <p:cNvPr id="5" name="图片 4">
            <a:extLst>
              <a:ext uri="{FF2B5EF4-FFF2-40B4-BE49-F238E27FC236}">
                <a16:creationId xmlns:a16="http://schemas.microsoft.com/office/drawing/2014/main" id="{23FAEECB-4B24-4E78-9B5A-7A0D6BE8780D}"/>
              </a:ext>
            </a:extLst>
          </p:cNvPr>
          <p:cNvPicPr>
            <a:picLocks noChangeAspect="1"/>
          </p:cNvPicPr>
          <p:nvPr/>
        </p:nvPicPr>
        <p:blipFill>
          <a:blip r:embed="rId2" cstate="print"/>
          <a:srcRect/>
          <a:stretch>
            <a:fillRect/>
          </a:stretch>
        </p:blipFill>
        <p:spPr bwMode="auto">
          <a:xfrm>
            <a:off x="2427979" y="5242560"/>
            <a:ext cx="2926023" cy="1500188"/>
          </a:xfrm>
          <a:prstGeom prst="rect">
            <a:avLst/>
          </a:prstGeom>
          <a:noFill/>
          <a:ln w="9525">
            <a:noFill/>
            <a:miter lim="800000"/>
            <a:headEnd/>
            <a:tailEnd/>
          </a:ln>
        </p:spPr>
      </p:pic>
    </p:spTree>
    <p:extLst>
      <p:ext uri="{BB962C8B-B14F-4D97-AF65-F5344CB8AC3E}">
        <p14:creationId xmlns:p14="http://schemas.microsoft.com/office/powerpoint/2010/main" val="201836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46A546-79CC-4583-963B-7D7987554CF9}"/>
              </a:ext>
            </a:extLst>
          </p:cNvPr>
          <p:cNvSpPr>
            <a:spLocks noGrp="1"/>
          </p:cNvSpPr>
          <p:nvPr>
            <p:ph type="title"/>
          </p:nvPr>
        </p:nvSpPr>
        <p:spPr/>
        <p:txBody>
          <a:bodyPr/>
          <a:lstStyle/>
          <a:p>
            <a:r>
              <a:rPr lang="zh-CN" altLang="en-US" dirty="0"/>
              <a:t>堆排序</a:t>
            </a:r>
          </a:p>
        </p:txBody>
      </p:sp>
      <p:sp>
        <p:nvSpPr>
          <p:cNvPr id="3" name="内容占位符 2">
            <a:extLst>
              <a:ext uri="{FF2B5EF4-FFF2-40B4-BE49-F238E27FC236}">
                <a16:creationId xmlns:a16="http://schemas.microsoft.com/office/drawing/2014/main" id="{972D9132-800B-4077-9DED-7F716A4AEEB0}"/>
              </a:ext>
            </a:extLst>
          </p:cNvPr>
          <p:cNvSpPr>
            <a:spLocks noGrp="1"/>
          </p:cNvSpPr>
          <p:nvPr>
            <p:ph idx="1"/>
          </p:nvPr>
        </p:nvSpPr>
        <p:spPr>
          <a:xfrm>
            <a:off x="5471160" y="1825625"/>
            <a:ext cx="5524500" cy="4351338"/>
          </a:xfrm>
        </p:spPr>
        <p:txBody>
          <a:bodyPr>
            <a:noAutofit/>
          </a:bodyPr>
          <a:lstStyle/>
          <a:p>
            <a:r>
              <a:rPr lang="zh-CN" altLang="en-US" sz="1800" dirty="0">
                <a:solidFill>
                  <a:srgbClr val="000000"/>
                </a:solidFill>
              </a:rPr>
              <a:t>自底向上</a:t>
            </a:r>
            <a:endParaRPr lang="en-US" altLang="zh-CN" sz="1800" dirty="0">
              <a:solidFill>
                <a:srgbClr val="000000"/>
              </a:solidFill>
            </a:endParaRPr>
          </a:p>
          <a:p>
            <a:r>
              <a:rPr lang="zh-CN" altLang="en-US" sz="1800" dirty="0">
                <a:solidFill>
                  <a:srgbClr val="000000"/>
                </a:solidFill>
              </a:rPr>
              <a:t>每一步比较次数最多是相应节点高度的两倍，所以算法复杂度最多是树上所有节点高度和的两倍。首先考察满二叉树，记</a:t>
            </a:r>
            <a:r>
              <a:rPr lang="en-US" altLang="zh-CN" sz="1800" dirty="0">
                <a:solidFill>
                  <a:srgbClr val="000000"/>
                </a:solidFill>
              </a:rPr>
              <a:t>H(</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是高度为</a:t>
            </a:r>
            <a:r>
              <a:rPr lang="en-US" altLang="zh-CN" sz="1800" dirty="0" err="1">
                <a:solidFill>
                  <a:srgbClr val="000000"/>
                </a:solidFill>
              </a:rPr>
              <a:t>i</a:t>
            </a:r>
            <a:r>
              <a:rPr lang="zh-CN" altLang="en-US" sz="1800" dirty="0">
                <a:solidFill>
                  <a:srgbClr val="000000"/>
                </a:solidFill>
              </a:rPr>
              <a:t>的满二叉树所有节点的高度之和，并把高为</a:t>
            </a:r>
            <a:r>
              <a:rPr lang="en-US" altLang="zh-CN" sz="1800" dirty="0" err="1">
                <a:solidFill>
                  <a:srgbClr val="000000"/>
                </a:solidFill>
              </a:rPr>
              <a:t>i</a:t>
            </a:r>
            <a:r>
              <a:rPr lang="zh-CN" altLang="en-US" sz="1800" dirty="0">
                <a:solidFill>
                  <a:srgbClr val="000000"/>
                </a:solidFill>
              </a:rPr>
              <a:t>的树看作两棵高为</a:t>
            </a:r>
            <a:r>
              <a:rPr lang="en-US" altLang="zh-CN" sz="1800" dirty="0">
                <a:solidFill>
                  <a:srgbClr val="000000"/>
                </a:solidFill>
              </a:rPr>
              <a:t>i-1</a:t>
            </a:r>
            <a:r>
              <a:rPr lang="zh-CN" altLang="en-US" sz="1800" dirty="0">
                <a:solidFill>
                  <a:srgbClr val="000000"/>
                </a:solidFill>
              </a:rPr>
              <a:t>的树再加上一个根节点。于是</a:t>
            </a:r>
            <a:r>
              <a:rPr lang="en-US" altLang="zh-CN" sz="1800" dirty="0">
                <a:solidFill>
                  <a:srgbClr val="000000"/>
                </a:solidFill>
              </a:rPr>
              <a:t>H(</a:t>
            </a:r>
            <a:r>
              <a:rPr lang="en-US" altLang="zh-CN" sz="1800" dirty="0" err="1">
                <a:solidFill>
                  <a:srgbClr val="000000"/>
                </a:solidFill>
              </a:rPr>
              <a:t>i</a:t>
            </a:r>
            <a:r>
              <a:rPr lang="en-US" altLang="zh-CN" sz="1800" dirty="0">
                <a:solidFill>
                  <a:srgbClr val="000000"/>
                </a:solidFill>
              </a:rPr>
              <a:t>)=2H(i-1)+</a:t>
            </a:r>
            <a:r>
              <a:rPr lang="en-US" altLang="zh-CN" sz="1800" dirty="0" err="1">
                <a:solidFill>
                  <a:srgbClr val="000000"/>
                </a:solidFill>
              </a:rPr>
              <a:t>i</a:t>
            </a:r>
            <a:r>
              <a:rPr lang="en-US" altLang="zh-CN" sz="1800" dirty="0">
                <a:solidFill>
                  <a:srgbClr val="000000"/>
                </a:solidFill>
              </a:rPr>
              <a:t>, H(0)=0</a:t>
            </a:r>
            <a:r>
              <a:rPr lang="zh-CN" altLang="en-US" sz="1800" dirty="0">
                <a:solidFill>
                  <a:srgbClr val="000000"/>
                </a:solidFill>
              </a:rPr>
              <a:t>。可以证明该递归关系式的解是</a:t>
            </a:r>
            <a:r>
              <a:rPr lang="en-US" altLang="zh-CN" sz="1800" dirty="0">
                <a:solidFill>
                  <a:srgbClr val="000000"/>
                </a:solidFill>
              </a:rPr>
              <a:t>H(</a:t>
            </a:r>
            <a:r>
              <a:rPr lang="en-US" altLang="zh-CN" sz="1800" dirty="0" err="1">
                <a:solidFill>
                  <a:srgbClr val="000000"/>
                </a:solidFill>
              </a:rPr>
              <a:t>i</a:t>
            </a:r>
            <a:r>
              <a:rPr lang="en-US" altLang="zh-CN" sz="1800" dirty="0">
                <a:solidFill>
                  <a:srgbClr val="000000"/>
                </a:solidFill>
              </a:rPr>
              <a:t>)=2</a:t>
            </a:r>
            <a:r>
              <a:rPr lang="en-US" altLang="zh-CN" sz="1800" baseline="30000" dirty="0">
                <a:solidFill>
                  <a:srgbClr val="000000"/>
                </a:solidFill>
              </a:rPr>
              <a:t>i+1</a:t>
            </a:r>
            <a:r>
              <a:rPr lang="en-US" altLang="zh-CN" sz="1800" dirty="0">
                <a:solidFill>
                  <a:srgbClr val="000000"/>
                </a:solidFill>
              </a:rPr>
              <a:t>-(i+2)</a:t>
            </a:r>
            <a:r>
              <a:rPr lang="zh-CN" altLang="en-US" sz="1800" dirty="0">
                <a:solidFill>
                  <a:srgbClr val="000000"/>
                </a:solidFill>
              </a:rPr>
              <a:t>。因为高为</a:t>
            </a:r>
            <a:r>
              <a:rPr lang="en-US" altLang="zh-CN" sz="1800" dirty="0" err="1">
                <a:solidFill>
                  <a:srgbClr val="000000"/>
                </a:solidFill>
              </a:rPr>
              <a:t>i</a:t>
            </a:r>
            <a:r>
              <a:rPr lang="zh-CN" altLang="en-US" sz="1800" dirty="0">
                <a:solidFill>
                  <a:srgbClr val="000000"/>
                </a:solidFill>
              </a:rPr>
              <a:t>的满二叉树有</a:t>
            </a:r>
            <a:r>
              <a:rPr lang="en-US" altLang="zh-CN" sz="1800" dirty="0">
                <a:solidFill>
                  <a:srgbClr val="000000"/>
                </a:solidFill>
              </a:rPr>
              <a:t>2</a:t>
            </a:r>
            <a:r>
              <a:rPr lang="en-US" altLang="zh-CN" sz="1800" baseline="30000" dirty="0">
                <a:solidFill>
                  <a:srgbClr val="000000"/>
                </a:solidFill>
              </a:rPr>
              <a:t>i</a:t>
            </a:r>
            <a:r>
              <a:rPr lang="en-US" altLang="zh-CN" sz="1800" dirty="0">
                <a:solidFill>
                  <a:srgbClr val="000000"/>
                </a:solidFill>
              </a:rPr>
              <a:t>-1</a:t>
            </a:r>
            <a:r>
              <a:rPr lang="zh-CN" altLang="en-US" sz="1800" dirty="0">
                <a:solidFill>
                  <a:srgbClr val="000000"/>
                </a:solidFill>
              </a:rPr>
              <a:t>个子节点，可推得满二叉树（即有</a:t>
            </a:r>
            <a:r>
              <a:rPr lang="en-US" altLang="zh-CN" sz="1800" dirty="0">
                <a:solidFill>
                  <a:srgbClr val="000000"/>
                </a:solidFill>
              </a:rPr>
              <a:t>2</a:t>
            </a:r>
            <a:r>
              <a:rPr lang="en-US" altLang="zh-CN" sz="1800" baseline="30000" dirty="0">
                <a:solidFill>
                  <a:srgbClr val="000000"/>
                </a:solidFill>
              </a:rPr>
              <a:t>k</a:t>
            </a:r>
            <a:r>
              <a:rPr lang="en-US" altLang="zh-CN" sz="1800" dirty="0">
                <a:solidFill>
                  <a:srgbClr val="000000"/>
                </a:solidFill>
              </a:rPr>
              <a:t>-1</a:t>
            </a:r>
            <a:r>
              <a:rPr lang="zh-CN" altLang="en-US" sz="1800" dirty="0">
                <a:solidFill>
                  <a:srgbClr val="000000"/>
                </a:solidFill>
              </a:rPr>
              <a:t>个节点的堆）自底向上建堆的算法复杂度是</a:t>
            </a:r>
            <a:r>
              <a:rPr lang="en-US" altLang="zh-CN" sz="1800" dirty="0">
                <a:solidFill>
                  <a:srgbClr val="000000"/>
                </a:solidFill>
              </a:rPr>
              <a:t>O(n)</a:t>
            </a:r>
            <a:r>
              <a:rPr lang="zh-CN" altLang="en-US" sz="1800" dirty="0">
                <a:solidFill>
                  <a:srgbClr val="000000"/>
                </a:solidFill>
              </a:rPr>
              <a:t>。那么为有</a:t>
            </a:r>
            <a:r>
              <a:rPr lang="en-US" altLang="zh-CN" sz="1800" dirty="0">
                <a:solidFill>
                  <a:srgbClr val="000000"/>
                </a:solidFill>
              </a:rPr>
              <a:t>n</a:t>
            </a:r>
            <a:r>
              <a:rPr lang="zh-CN" altLang="en-US" sz="1800" dirty="0">
                <a:solidFill>
                  <a:srgbClr val="000000"/>
                </a:solidFill>
              </a:rPr>
              <a:t>个节点的二叉树建堆，</a:t>
            </a:r>
            <a:r>
              <a:rPr lang="en-US" altLang="zh-CN" sz="1800" dirty="0">
                <a:solidFill>
                  <a:srgbClr val="000000"/>
                </a:solidFill>
              </a:rPr>
              <a:t>2</a:t>
            </a:r>
            <a:r>
              <a:rPr lang="en-US" altLang="zh-CN" sz="1800" baseline="30000" dirty="0">
                <a:solidFill>
                  <a:srgbClr val="000000"/>
                </a:solidFill>
              </a:rPr>
              <a:t>k</a:t>
            </a:r>
            <a:r>
              <a:rPr lang="en-US" altLang="zh-CN" sz="1800" dirty="0">
                <a:solidFill>
                  <a:srgbClr val="000000"/>
                </a:solidFill>
              </a:rPr>
              <a:t> ≤ n &lt; 2</a:t>
            </a:r>
            <a:r>
              <a:rPr lang="en-US" altLang="zh-CN" sz="1800" baseline="30000" dirty="0">
                <a:solidFill>
                  <a:srgbClr val="000000"/>
                </a:solidFill>
              </a:rPr>
              <a:t>k+1</a:t>
            </a:r>
            <a:r>
              <a:rPr lang="en-US" altLang="zh-CN" sz="1800" dirty="0">
                <a:solidFill>
                  <a:srgbClr val="000000"/>
                </a:solidFill>
              </a:rPr>
              <a:t>-1</a:t>
            </a:r>
            <a:r>
              <a:rPr lang="zh-CN" altLang="en-US" sz="1800" dirty="0">
                <a:solidFill>
                  <a:srgbClr val="000000"/>
                </a:solidFill>
              </a:rPr>
              <a:t>，其算法复杂度不会超过</a:t>
            </a:r>
            <a:r>
              <a:rPr lang="en-US" altLang="zh-CN" sz="1800" dirty="0">
                <a:solidFill>
                  <a:srgbClr val="000000"/>
                </a:solidFill>
              </a:rPr>
              <a:t>2</a:t>
            </a:r>
            <a:r>
              <a:rPr lang="en-US" altLang="zh-CN" sz="1800" baseline="30000" dirty="0">
                <a:solidFill>
                  <a:srgbClr val="000000"/>
                </a:solidFill>
              </a:rPr>
              <a:t>k+1</a:t>
            </a:r>
            <a:r>
              <a:rPr lang="en-US" altLang="zh-CN" sz="1800" dirty="0">
                <a:solidFill>
                  <a:srgbClr val="000000"/>
                </a:solidFill>
              </a:rPr>
              <a:t>-1</a:t>
            </a:r>
            <a:r>
              <a:rPr lang="zh-CN" altLang="en-US" sz="1800" dirty="0">
                <a:solidFill>
                  <a:srgbClr val="000000"/>
                </a:solidFill>
              </a:rPr>
              <a:t>个节点的堆，故仍为</a:t>
            </a:r>
            <a:r>
              <a:rPr lang="en-US" altLang="zh-CN" sz="1800" dirty="0">
                <a:solidFill>
                  <a:srgbClr val="000000"/>
                </a:solidFill>
              </a:rPr>
              <a:t>O(n)</a:t>
            </a:r>
            <a:r>
              <a:rPr lang="zh-CN" altLang="en-US" sz="1800" dirty="0">
                <a:solidFill>
                  <a:srgbClr val="000000"/>
                </a:solidFill>
              </a:rPr>
              <a:t>。</a:t>
            </a:r>
          </a:p>
          <a:p>
            <a:r>
              <a:rPr lang="zh-CN" altLang="en-US" sz="1800" dirty="0">
                <a:solidFill>
                  <a:srgbClr val="000000"/>
                </a:solidFill>
              </a:rPr>
              <a:t>自底向上法比自顶向下法快主要是因为树底部的节点多于顶部，所以简化对底部节点的处理可得到更好的结果。</a:t>
            </a:r>
          </a:p>
        </p:txBody>
      </p:sp>
      <p:sp>
        <p:nvSpPr>
          <p:cNvPr id="4" name="内容占位符 2">
            <a:extLst>
              <a:ext uri="{FF2B5EF4-FFF2-40B4-BE49-F238E27FC236}">
                <a16:creationId xmlns:a16="http://schemas.microsoft.com/office/drawing/2014/main" id="{7ED12915-E1C2-4FCB-A03A-D875B3791584}"/>
              </a:ext>
            </a:extLst>
          </p:cNvPr>
          <p:cNvSpPr txBox="1">
            <a:spLocks/>
          </p:cNvSpPr>
          <p:nvPr/>
        </p:nvSpPr>
        <p:spPr>
          <a:xfrm>
            <a:off x="861060" y="1825625"/>
            <a:ext cx="4046220" cy="435133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rgbClr val="000000"/>
                </a:solidFill>
              </a:rPr>
              <a:t>自顶向下</a:t>
            </a:r>
            <a:endParaRPr lang="en-US" altLang="zh-CN" sz="1800" dirty="0">
              <a:solidFill>
                <a:srgbClr val="000000"/>
              </a:solidFill>
            </a:endParaRPr>
          </a:p>
          <a:p>
            <a:r>
              <a:rPr lang="zh-CN" altLang="en-US" sz="1800" dirty="0">
                <a:solidFill>
                  <a:srgbClr val="000000"/>
                </a:solidFill>
              </a:rPr>
              <a:t>第</a:t>
            </a:r>
            <a:r>
              <a:rPr lang="en-US" altLang="zh-CN" sz="1800" dirty="0" err="1">
                <a:solidFill>
                  <a:srgbClr val="000000"/>
                </a:solidFill>
              </a:rPr>
              <a:t>i</a:t>
            </a:r>
            <a:r>
              <a:rPr lang="zh-CN" altLang="en-US" sz="1800" dirty="0">
                <a:solidFill>
                  <a:srgbClr val="000000"/>
                </a:solidFill>
              </a:rPr>
              <a:t>步最多需要</a:t>
            </a:r>
            <a:r>
              <a:rPr lang="zh-CN" altLang="en-US" sz="1800" dirty="0">
                <a:solidFill>
                  <a:srgbClr val="000000"/>
                </a:solidFill>
                <a:sym typeface="Symbol" pitchFamily="18" charset="2"/>
              </a:rPr>
              <a:t></a:t>
            </a:r>
            <a:r>
              <a:rPr lang="en-US" altLang="zh-CN" sz="1800" dirty="0" err="1">
                <a:solidFill>
                  <a:srgbClr val="000000"/>
                </a:solidFill>
                <a:sym typeface="Symbol" pitchFamily="18" charset="2"/>
              </a:rPr>
              <a:t>logi</a:t>
            </a:r>
            <a:r>
              <a:rPr lang="en-US" altLang="zh-CN" sz="1800" dirty="0">
                <a:solidFill>
                  <a:srgbClr val="000000"/>
                </a:solidFill>
                <a:sym typeface="Symbol" pitchFamily="18" charset="2"/>
              </a:rPr>
              <a:t></a:t>
            </a:r>
            <a:r>
              <a:rPr lang="zh-CN" altLang="en-US" sz="1800" dirty="0">
                <a:solidFill>
                  <a:srgbClr val="000000"/>
                </a:solidFill>
              </a:rPr>
              <a:t>次比较，故运行时间为</a:t>
            </a:r>
            <a:r>
              <a:rPr lang="en-US" altLang="zh-CN" sz="1800" dirty="0">
                <a:solidFill>
                  <a:srgbClr val="000000"/>
                </a:solidFill>
                <a:sym typeface="Symbol" pitchFamily="18" charset="2"/>
              </a:rPr>
              <a:t>O</a:t>
            </a:r>
            <a:r>
              <a:rPr lang="en-US" altLang="zh-CN" sz="1800" dirty="0">
                <a:solidFill>
                  <a:srgbClr val="000000"/>
                </a:solidFill>
              </a:rPr>
              <a:t>(</a:t>
            </a:r>
            <a:r>
              <a:rPr lang="en-US" altLang="zh-CN" sz="1800" dirty="0" err="1">
                <a:solidFill>
                  <a:srgbClr val="000000"/>
                </a:solidFill>
              </a:rPr>
              <a:t>nlogn</a:t>
            </a:r>
            <a:r>
              <a:rPr lang="en-US" altLang="zh-CN" sz="1800" dirty="0">
                <a:solidFill>
                  <a:srgbClr val="000000"/>
                </a:solidFill>
              </a:rPr>
              <a:t>)</a:t>
            </a:r>
          </a:p>
        </p:txBody>
      </p:sp>
    </p:spTree>
    <p:extLst>
      <p:ext uri="{BB962C8B-B14F-4D97-AF65-F5344CB8AC3E}">
        <p14:creationId xmlns:p14="http://schemas.microsoft.com/office/powerpoint/2010/main" val="2836636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22A3D-1A69-4EA4-B83F-F01CBE3087C5}"/>
              </a:ext>
            </a:extLst>
          </p:cNvPr>
          <p:cNvSpPr>
            <a:spLocks noGrp="1"/>
          </p:cNvSpPr>
          <p:nvPr>
            <p:ph type="title"/>
          </p:nvPr>
        </p:nvSpPr>
        <p:spPr/>
        <p:txBody>
          <a:bodyPr/>
          <a:lstStyle/>
          <a:p>
            <a:r>
              <a:rPr lang="zh-CN" altLang="en-US" dirty="0"/>
              <a:t>决策树</a:t>
            </a:r>
          </a:p>
        </p:txBody>
      </p:sp>
      <p:sp>
        <p:nvSpPr>
          <p:cNvPr id="3" name="内容占位符 2">
            <a:extLst>
              <a:ext uri="{FF2B5EF4-FFF2-40B4-BE49-F238E27FC236}">
                <a16:creationId xmlns:a16="http://schemas.microsoft.com/office/drawing/2014/main" id="{76E4D613-A929-46F4-958A-79D5473BF0E6}"/>
              </a:ext>
            </a:extLst>
          </p:cNvPr>
          <p:cNvSpPr>
            <a:spLocks noGrp="1"/>
          </p:cNvSpPr>
          <p:nvPr>
            <p:ph idx="1"/>
          </p:nvPr>
        </p:nvSpPr>
        <p:spPr/>
        <p:txBody>
          <a:bodyPr>
            <a:noAutofit/>
          </a:bodyPr>
          <a:lstStyle/>
          <a:p>
            <a:pPr algn="just"/>
            <a:r>
              <a:rPr lang="zh-CN" altLang="en-US" sz="2000" dirty="0">
                <a:solidFill>
                  <a:srgbClr val="000000"/>
                </a:solidFill>
              </a:rPr>
              <a:t>决策树是由内部节点和叶子节点构成的二叉树。每个内部节点都是一个查询，查询结果有两种可能，分别由该节点发出的两条边表示，每个叶子节点都是一种可能的输出。</a:t>
            </a:r>
          </a:p>
          <a:p>
            <a:pPr algn="just"/>
            <a:r>
              <a:rPr lang="zh-CN" altLang="en-US" sz="2000" dirty="0">
                <a:solidFill>
                  <a:srgbClr val="000000"/>
                </a:solidFill>
              </a:rPr>
              <a:t>设算法的输入是序列</a:t>
            </a:r>
            <a:r>
              <a:rPr lang="en-US" altLang="zh-CN" sz="2000" dirty="0">
                <a:solidFill>
                  <a:srgbClr val="000000"/>
                </a:solidFill>
              </a:rPr>
              <a:t>x</a:t>
            </a:r>
            <a:r>
              <a:rPr lang="en-US" altLang="zh-CN" sz="2000" baseline="-25000" dirty="0">
                <a:solidFill>
                  <a:srgbClr val="000000"/>
                </a:solidFill>
              </a:rPr>
              <a:t>1</a:t>
            </a:r>
            <a:r>
              <a:rPr lang="en-US" altLang="zh-CN" sz="2000" dirty="0">
                <a:solidFill>
                  <a:srgbClr val="000000"/>
                </a:solidFill>
              </a:rPr>
              <a:t>,x</a:t>
            </a:r>
            <a:r>
              <a:rPr lang="en-US" altLang="zh-CN" sz="2000" baseline="-25000" dirty="0">
                <a:solidFill>
                  <a:srgbClr val="000000"/>
                </a:solidFill>
              </a:rPr>
              <a:t>2</a:t>
            </a:r>
            <a:r>
              <a:rPr lang="en-US" altLang="zh-CN" sz="2000" dirty="0">
                <a:solidFill>
                  <a:srgbClr val="000000"/>
                </a:solidFill>
              </a:rPr>
              <a:t>,…,</a:t>
            </a:r>
            <a:r>
              <a:rPr lang="en-US" altLang="zh-CN" sz="2000" dirty="0" err="1">
                <a:solidFill>
                  <a:srgbClr val="000000"/>
                </a:solidFill>
              </a:rPr>
              <a:t>x</a:t>
            </a:r>
            <a:r>
              <a:rPr lang="en-US" altLang="zh-CN" sz="2000" baseline="-25000" dirty="0" err="1">
                <a:solidFill>
                  <a:srgbClr val="000000"/>
                </a:solidFill>
              </a:rPr>
              <a:t>n</a:t>
            </a:r>
            <a:r>
              <a:rPr lang="zh-CN" altLang="en-US" sz="2000" dirty="0">
                <a:solidFill>
                  <a:srgbClr val="000000"/>
                </a:solidFill>
              </a:rPr>
              <a:t>。计算过程从根节点开始，每个节点对输入进行查询，根据查询结果选择左、右分支，直到到达某个叶子节点，把该叶子节点的输出作为整个计算过程的输出。最坏情况下的运行时间是</a:t>
            </a:r>
            <a:r>
              <a:rPr lang="en-US" altLang="zh-CN" sz="2000" dirty="0">
                <a:solidFill>
                  <a:srgbClr val="000000"/>
                </a:solidFill>
              </a:rPr>
              <a:t>T</a:t>
            </a:r>
            <a:r>
              <a:rPr lang="zh-CN" altLang="en-US" sz="2000" dirty="0">
                <a:solidFill>
                  <a:srgbClr val="000000"/>
                </a:solidFill>
              </a:rPr>
              <a:t>的高度，相当于输入最多所需查询的次数。因此决策树事实上对应着算法，尽管它不能模拟所有的算法（比如说，决策树无法计算平方根），但是对于基于比较的算法而言，它的确是一个很合适的模型。由决策树所取得的下界意味着不存在比决策树更好、跟它的形式相同的算法。</a:t>
            </a:r>
            <a:endParaRPr lang="zh-CN" altLang="en-US" sz="2000" dirty="0"/>
          </a:p>
          <a:p>
            <a:endParaRPr lang="zh-CN" altLang="en-US" sz="2000" dirty="0"/>
          </a:p>
        </p:txBody>
      </p:sp>
      <p:graphicFrame>
        <p:nvGraphicFramePr>
          <p:cNvPr id="4" name="Object 1">
            <a:extLst>
              <a:ext uri="{FF2B5EF4-FFF2-40B4-BE49-F238E27FC236}">
                <a16:creationId xmlns:a16="http://schemas.microsoft.com/office/drawing/2014/main" id="{3BD87303-5CB4-4E3A-A837-DA9141852FB6}"/>
              </a:ext>
            </a:extLst>
          </p:cNvPr>
          <p:cNvGraphicFramePr>
            <a:graphicFrameLocks noChangeAspect="1"/>
          </p:cNvGraphicFramePr>
          <p:nvPr>
            <p:extLst>
              <p:ext uri="{D42A27DB-BD31-4B8C-83A1-F6EECF244321}">
                <p14:modId xmlns:p14="http://schemas.microsoft.com/office/powerpoint/2010/main" val="1320745023"/>
              </p:ext>
            </p:extLst>
          </p:nvPr>
        </p:nvGraphicFramePr>
        <p:xfrm>
          <a:off x="5156199" y="4374425"/>
          <a:ext cx="6772275" cy="2285139"/>
        </p:xfrm>
        <a:graphic>
          <a:graphicData uri="http://schemas.openxmlformats.org/presentationml/2006/ole">
            <mc:AlternateContent xmlns:mc="http://schemas.openxmlformats.org/markup-compatibility/2006">
              <mc:Choice xmlns:v="urn:schemas-microsoft-com:vml" Requires="v">
                <p:oleObj spid="_x0000_s2061" name="Visio" r:id="rId3" imgW="5877094" imgH="1990578" progId="Visio.Drawing.11">
                  <p:embed/>
                </p:oleObj>
              </mc:Choice>
              <mc:Fallback>
                <p:oleObj name="Visio" r:id="rId3" imgW="5877094" imgH="1990578" progId="Visio.Drawing.11">
                  <p:embed/>
                  <p:pic>
                    <p:nvPicPr>
                      <p:cNvPr id="205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199" y="4374425"/>
                        <a:ext cx="6772275" cy="2285139"/>
                      </a:xfrm>
                      <a:prstGeom prst="rect">
                        <a:avLst/>
                      </a:prstGeom>
                      <a:noFill/>
                    </p:spPr>
                  </p:pic>
                </p:oleObj>
              </mc:Fallback>
            </mc:AlternateContent>
          </a:graphicData>
        </a:graphic>
      </p:graphicFrame>
    </p:spTree>
    <p:extLst>
      <p:ext uri="{BB962C8B-B14F-4D97-AF65-F5344CB8AC3E}">
        <p14:creationId xmlns:p14="http://schemas.microsoft.com/office/powerpoint/2010/main" val="824283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B2F5CD-B4A1-4A08-B22B-4474D0FB439C}"/>
              </a:ext>
            </a:extLst>
          </p:cNvPr>
          <p:cNvSpPr>
            <a:spLocks noGrp="1"/>
          </p:cNvSpPr>
          <p:nvPr>
            <p:ph type="title"/>
          </p:nvPr>
        </p:nvSpPr>
        <p:spPr/>
        <p:txBody>
          <a:bodyPr/>
          <a:lstStyle/>
          <a:p>
            <a:r>
              <a:rPr lang="zh-CN" altLang="en-US" dirty="0"/>
              <a:t>决策树</a:t>
            </a:r>
          </a:p>
        </p:txBody>
      </p:sp>
      <p:sp>
        <p:nvSpPr>
          <p:cNvPr id="3" name="内容占位符 2">
            <a:extLst>
              <a:ext uri="{FF2B5EF4-FFF2-40B4-BE49-F238E27FC236}">
                <a16:creationId xmlns:a16="http://schemas.microsoft.com/office/drawing/2014/main" id="{48498DFE-3C7E-4702-A932-7EC1A848C170}"/>
              </a:ext>
            </a:extLst>
          </p:cNvPr>
          <p:cNvSpPr>
            <a:spLocks noGrp="1"/>
          </p:cNvSpPr>
          <p:nvPr>
            <p:ph idx="1"/>
          </p:nvPr>
        </p:nvSpPr>
        <p:spPr/>
        <p:txBody>
          <a:bodyPr>
            <a:normAutofit/>
          </a:bodyPr>
          <a:lstStyle/>
          <a:p>
            <a:pPr algn="just"/>
            <a:r>
              <a:rPr lang="zh-CN" altLang="en-US" sz="2400" dirty="0">
                <a:solidFill>
                  <a:srgbClr val="000000"/>
                </a:solidFill>
              </a:rPr>
              <a:t>定理</a:t>
            </a:r>
            <a:r>
              <a:rPr lang="en-US" altLang="zh-CN" sz="2400" dirty="0">
                <a:solidFill>
                  <a:srgbClr val="000000"/>
                </a:solidFill>
              </a:rPr>
              <a:t>6.1</a:t>
            </a:r>
            <a:r>
              <a:rPr lang="zh-CN" altLang="en-US" sz="2400" dirty="0">
                <a:solidFill>
                  <a:srgbClr val="000000"/>
                </a:solidFill>
              </a:rPr>
              <a:t>：任意一个排序算法的决策树高度为</a:t>
            </a:r>
            <a:r>
              <a:rPr lang="en-US" altLang="zh-CN" sz="2400" dirty="0">
                <a:solidFill>
                  <a:srgbClr val="000000"/>
                </a:solidFill>
              </a:rPr>
              <a:t>Ω(</a:t>
            </a:r>
            <a:r>
              <a:rPr lang="en-US" altLang="zh-CN" sz="2400" dirty="0" err="1">
                <a:solidFill>
                  <a:srgbClr val="000000"/>
                </a:solidFill>
              </a:rPr>
              <a:t>nlogn</a:t>
            </a:r>
            <a:r>
              <a:rPr lang="en-US" altLang="zh-CN" sz="2400" dirty="0">
                <a:solidFill>
                  <a:srgbClr val="000000"/>
                </a:solidFill>
              </a:rPr>
              <a:t>)</a:t>
            </a:r>
            <a:r>
              <a:rPr lang="zh-CN" altLang="en-US" sz="2400" dirty="0">
                <a:solidFill>
                  <a:srgbClr val="000000"/>
                </a:solidFill>
              </a:rPr>
              <a:t>。</a:t>
            </a:r>
          </a:p>
          <a:p>
            <a:pPr algn="just"/>
            <a:r>
              <a:rPr lang="zh-CN" altLang="en-US" sz="2400" dirty="0">
                <a:solidFill>
                  <a:srgbClr val="000000"/>
                </a:solidFill>
              </a:rPr>
              <a:t>此下界称为信息论下界，它和计算过程完全无关（请注意刚才甚至没有定义内部节点允许的查询种类），只和输出信息量有关。</a:t>
            </a:r>
          </a:p>
          <a:p>
            <a:pPr algn="just"/>
            <a:r>
              <a:rPr lang="zh-CN" altLang="en-US" sz="2400" dirty="0">
                <a:solidFill>
                  <a:srgbClr val="000000"/>
                </a:solidFill>
              </a:rPr>
              <a:t>问题下界的证明说明了</a:t>
            </a:r>
            <a:r>
              <a:rPr lang="zh-CN" altLang="en-US" sz="2400" dirty="0">
                <a:solidFill>
                  <a:srgbClr val="FF0000"/>
                </a:solidFill>
              </a:rPr>
              <a:t>基于比较</a:t>
            </a:r>
            <a:r>
              <a:rPr lang="zh-CN" altLang="en-US" sz="2400" dirty="0">
                <a:solidFill>
                  <a:srgbClr val="000000"/>
                </a:solidFill>
              </a:rPr>
              <a:t>的排序算法不可能比</a:t>
            </a:r>
            <a:r>
              <a:rPr lang="en-US" altLang="zh-CN" sz="2400" dirty="0">
                <a:solidFill>
                  <a:srgbClr val="000000"/>
                </a:solidFill>
              </a:rPr>
              <a:t>Ω(</a:t>
            </a:r>
            <a:r>
              <a:rPr lang="en-US" altLang="zh-CN" sz="2400" dirty="0" err="1">
                <a:solidFill>
                  <a:srgbClr val="000000"/>
                </a:solidFill>
              </a:rPr>
              <a:t>nlogn</a:t>
            </a:r>
            <a:r>
              <a:rPr lang="en-US" altLang="zh-CN" sz="2400" dirty="0">
                <a:solidFill>
                  <a:srgbClr val="000000"/>
                </a:solidFill>
              </a:rPr>
              <a:t>)</a:t>
            </a:r>
            <a:r>
              <a:rPr lang="zh-CN" altLang="en-US" sz="2400" dirty="0">
                <a:solidFill>
                  <a:srgbClr val="000000"/>
                </a:solidFill>
              </a:rPr>
              <a:t>快，不过可以通过利用关键字的特殊性质或者对关键字进行代数运算来加快排序速度。</a:t>
            </a:r>
          </a:p>
          <a:p>
            <a:pPr algn="just"/>
            <a:r>
              <a:rPr lang="zh-CN" altLang="en-US" sz="2400" dirty="0">
                <a:solidFill>
                  <a:srgbClr val="000000"/>
                </a:solidFill>
              </a:rPr>
              <a:t>如果问题的下界和某个算法的上界相等，那么这个下界就意味着算法不可能进一步优化。</a:t>
            </a:r>
          </a:p>
          <a:p>
            <a:endParaRPr lang="zh-CN" altLang="en-US" sz="2400" dirty="0"/>
          </a:p>
        </p:txBody>
      </p:sp>
    </p:spTree>
    <p:extLst>
      <p:ext uri="{BB962C8B-B14F-4D97-AF65-F5344CB8AC3E}">
        <p14:creationId xmlns:p14="http://schemas.microsoft.com/office/powerpoint/2010/main" val="1962018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32123D-E181-4A3E-8591-2FE0798FB89B}"/>
              </a:ext>
            </a:extLst>
          </p:cNvPr>
          <p:cNvSpPr>
            <a:spLocks noGrp="1"/>
          </p:cNvSpPr>
          <p:nvPr>
            <p:ph type="title"/>
          </p:nvPr>
        </p:nvSpPr>
        <p:spPr/>
        <p:txBody>
          <a:bodyPr/>
          <a:lstStyle/>
          <a:p>
            <a:r>
              <a:rPr lang="zh-CN" altLang="en-US" dirty="0"/>
              <a:t>计数排序</a:t>
            </a:r>
          </a:p>
        </p:txBody>
      </p:sp>
      <p:sp>
        <p:nvSpPr>
          <p:cNvPr id="3" name="内容占位符 2">
            <a:extLst>
              <a:ext uri="{FF2B5EF4-FFF2-40B4-BE49-F238E27FC236}">
                <a16:creationId xmlns:a16="http://schemas.microsoft.com/office/drawing/2014/main" id="{3398FAEB-2EF6-48B2-A4BF-FB3C12F610BE}"/>
              </a:ext>
            </a:extLst>
          </p:cNvPr>
          <p:cNvSpPr>
            <a:spLocks noGrp="1"/>
          </p:cNvSpPr>
          <p:nvPr>
            <p:ph idx="1"/>
          </p:nvPr>
        </p:nvSpPr>
        <p:spPr>
          <a:xfrm>
            <a:off x="838200" y="1825625"/>
            <a:ext cx="4864100" cy="4351338"/>
          </a:xfrm>
        </p:spPr>
        <p:txBody>
          <a:bodyPr>
            <a:noAutofit/>
          </a:bodyPr>
          <a:lstStyle/>
          <a:p>
            <a:pPr algn="just"/>
            <a:r>
              <a:rPr lang="zh-CN" altLang="en-US" sz="2000" dirty="0">
                <a:solidFill>
                  <a:srgbClr val="000000"/>
                </a:solidFill>
              </a:rPr>
              <a:t>前提：假设有</a:t>
            </a:r>
            <a:r>
              <a:rPr lang="en-US" altLang="zh-CN" sz="2000" dirty="0">
                <a:solidFill>
                  <a:srgbClr val="000000"/>
                </a:solidFill>
              </a:rPr>
              <a:t>n</a:t>
            </a:r>
            <a:r>
              <a:rPr lang="zh-CN" altLang="en-US" sz="2000" dirty="0">
                <a:solidFill>
                  <a:srgbClr val="000000"/>
                </a:solidFill>
              </a:rPr>
              <a:t>个取值范围为</a:t>
            </a:r>
            <a:r>
              <a:rPr lang="en-US" altLang="zh-CN" sz="2000" dirty="0">
                <a:solidFill>
                  <a:srgbClr val="000000"/>
                </a:solidFill>
              </a:rPr>
              <a:t>1</a:t>
            </a:r>
            <a:r>
              <a:rPr lang="zh-CN" altLang="en-US" sz="2000" dirty="0">
                <a:solidFill>
                  <a:srgbClr val="000000"/>
                </a:solidFill>
              </a:rPr>
              <a:t>至</a:t>
            </a:r>
            <a:r>
              <a:rPr lang="en-US" altLang="zh-CN" sz="2000" dirty="0">
                <a:solidFill>
                  <a:srgbClr val="000000"/>
                </a:solidFill>
              </a:rPr>
              <a:t>k</a:t>
            </a:r>
            <a:r>
              <a:rPr lang="zh-CN" altLang="en-US" sz="2000" dirty="0">
                <a:solidFill>
                  <a:srgbClr val="000000"/>
                </a:solidFill>
              </a:rPr>
              <a:t>的元素，当</a:t>
            </a:r>
            <a:r>
              <a:rPr lang="en-US" altLang="zh-CN" sz="2000" dirty="0">
                <a:solidFill>
                  <a:srgbClr val="000000"/>
                </a:solidFill>
              </a:rPr>
              <a:t>k=O(n)</a:t>
            </a:r>
            <a:r>
              <a:rPr lang="zh-CN" altLang="en-US" sz="2000" dirty="0">
                <a:solidFill>
                  <a:srgbClr val="000000"/>
                </a:solidFill>
              </a:rPr>
              <a:t>时，运行时间</a:t>
            </a:r>
            <a:r>
              <a:rPr lang="en-US" altLang="zh-CN" sz="2000" dirty="0">
                <a:solidFill>
                  <a:srgbClr val="000000"/>
                </a:solidFill>
              </a:rPr>
              <a:t>O(n)</a:t>
            </a:r>
          </a:p>
          <a:p>
            <a:pPr algn="just"/>
            <a:r>
              <a:rPr lang="zh-CN" altLang="en-US" sz="2000" dirty="0">
                <a:solidFill>
                  <a:srgbClr val="000000"/>
                </a:solidFill>
              </a:rPr>
              <a:t>基本思想：对每一个</a:t>
            </a:r>
            <a:r>
              <a:rPr lang="en-US" altLang="zh-CN" sz="2000" dirty="0">
                <a:solidFill>
                  <a:srgbClr val="000000"/>
                </a:solidFill>
              </a:rPr>
              <a:t>x</a:t>
            </a:r>
            <a:r>
              <a:rPr lang="zh-CN" altLang="en-US" sz="2000" dirty="0">
                <a:solidFill>
                  <a:srgbClr val="000000"/>
                </a:solidFill>
              </a:rPr>
              <a:t>，求出小于</a:t>
            </a:r>
            <a:r>
              <a:rPr lang="en-US" altLang="zh-CN" sz="2000" dirty="0">
                <a:solidFill>
                  <a:srgbClr val="000000"/>
                </a:solidFill>
              </a:rPr>
              <a:t>x</a:t>
            </a:r>
            <a:r>
              <a:rPr lang="zh-CN" altLang="en-US" sz="2000" dirty="0">
                <a:solidFill>
                  <a:srgbClr val="000000"/>
                </a:solidFill>
              </a:rPr>
              <a:t>的元素个数。有了这个信息就可把</a:t>
            </a:r>
            <a:r>
              <a:rPr lang="en-US" altLang="zh-CN" sz="2000" dirty="0">
                <a:solidFill>
                  <a:srgbClr val="000000"/>
                </a:solidFill>
              </a:rPr>
              <a:t>x</a:t>
            </a:r>
            <a:r>
              <a:rPr lang="zh-CN" altLang="en-US" sz="2000" dirty="0">
                <a:solidFill>
                  <a:srgbClr val="000000"/>
                </a:solidFill>
              </a:rPr>
              <a:t>直接放到其在最终输出数组中的位置上</a:t>
            </a:r>
            <a:endParaRPr lang="en-US" altLang="zh-CN" sz="2000" dirty="0">
              <a:solidFill>
                <a:srgbClr val="000000"/>
              </a:solidFill>
            </a:endParaRPr>
          </a:p>
          <a:p>
            <a:pPr algn="just"/>
            <a:endParaRPr lang="en-US" altLang="zh-CN" sz="2000" dirty="0">
              <a:solidFill>
                <a:srgbClr val="000000"/>
              </a:solidFill>
            </a:endParaRPr>
          </a:p>
          <a:p>
            <a:pPr algn="just"/>
            <a:endParaRPr lang="zh-CN" altLang="en-US" sz="2000" dirty="0">
              <a:solidFill>
                <a:srgbClr val="000000"/>
              </a:solidFill>
            </a:endParaRPr>
          </a:p>
          <a:p>
            <a:r>
              <a:rPr lang="zh-CN" altLang="en-US" sz="2000" dirty="0">
                <a:solidFill>
                  <a:srgbClr val="000000"/>
                </a:solidFill>
              </a:rPr>
              <a:t>复杂度：</a:t>
            </a:r>
            <a:r>
              <a:rPr lang="en-US" altLang="zh-CN" sz="2000" dirty="0">
                <a:solidFill>
                  <a:srgbClr val="000000"/>
                </a:solidFill>
              </a:rPr>
              <a:t>O(</a:t>
            </a:r>
            <a:r>
              <a:rPr lang="en-US" altLang="zh-CN" sz="2000" dirty="0" err="1">
                <a:solidFill>
                  <a:srgbClr val="000000"/>
                </a:solidFill>
              </a:rPr>
              <a:t>n+k</a:t>
            </a:r>
            <a:r>
              <a:rPr lang="en-US" altLang="zh-CN" sz="2000" dirty="0">
                <a:solidFill>
                  <a:srgbClr val="000000"/>
                </a:solidFill>
              </a:rPr>
              <a:t>)</a:t>
            </a:r>
          </a:p>
          <a:p>
            <a:pPr eaLnBrk="1" hangingPunct="1"/>
            <a:r>
              <a:rPr lang="zh-CN" altLang="en-US" sz="2000" dirty="0"/>
              <a:t>不出现输入元素间的比较，而利用输入元素的实际值来确定它们在数组中的位置</a:t>
            </a:r>
          </a:p>
          <a:p>
            <a:pPr eaLnBrk="1" hangingPunct="1"/>
            <a:r>
              <a:rPr lang="zh-CN" altLang="en-US" sz="2000" dirty="0"/>
              <a:t>具有相同值的元素在输出数组中的相对次序与它们在输入数组中的相对次序相同－－稳定性</a:t>
            </a:r>
          </a:p>
          <a:p>
            <a:endParaRPr lang="zh-CN" altLang="en-US" sz="2000" dirty="0"/>
          </a:p>
        </p:txBody>
      </p:sp>
      <p:sp>
        <p:nvSpPr>
          <p:cNvPr id="4" name="Rectangle 3">
            <a:extLst>
              <a:ext uri="{FF2B5EF4-FFF2-40B4-BE49-F238E27FC236}">
                <a16:creationId xmlns:a16="http://schemas.microsoft.com/office/drawing/2014/main" id="{6E5024C7-E7BB-4780-B229-F819B9332C93}"/>
              </a:ext>
            </a:extLst>
          </p:cNvPr>
          <p:cNvSpPr txBox="1">
            <a:spLocks noChangeArrowheads="1"/>
          </p:cNvSpPr>
          <p:nvPr/>
        </p:nvSpPr>
        <p:spPr>
          <a:xfrm>
            <a:off x="6235700" y="1825625"/>
            <a:ext cx="5511800" cy="411480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sz="1800" dirty="0">
                <a:solidFill>
                  <a:srgbClr val="000000"/>
                </a:solidFill>
              </a:rPr>
              <a:t>Algorithm </a:t>
            </a:r>
            <a:r>
              <a:rPr lang="en-US" altLang="zh-CN" sz="1800" dirty="0" err="1">
                <a:solidFill>
                  <a:srgbClr val="000000"/>
                </a:solidFill>
              </a:rPr>
              <a:t>CountingSort</a:t>
            </a:r>
            <a:r>
              <a:rPr lang="en-US" altLang="zh-CN" sz="1800" dirty="0">
                <a:solidFill>
                  <a:srgbClr val="000000"/>
                </a:solidFill>
              </a:rPr>
              <a:t>(</a:t>
            </a:r>
            <a:r>
              <a:rPr lang="en-US" altLang="zh-CN" sz="1800" dirty="0" err="1">
                <a:solidFill>
                  <a:srgbClr val="000000"/>
                </a:solidFill>
              </a:rPr>
              <a:t>A,n,k</a:t>
            </a:r>
            <a:r>
              <a:rPr lang="en-US" altLang="zh-CN" sz="1800" dirty="0">
                <a:solidFill>
                  <a:srgbClr val="000000"/>
                </a:solidFill>
              </a:rPr>
              <a:t>)</a:t>
            </a:r>
          </a:p>
          <a:p>
            <a:pPr>
              <a:buFont typeface="Arial" panose="020B0604020202020204" pitchFamily="34" charset="0"/>
              <a:buNone/>
            </a:pPr>
            <a:r>
              <a:rPr lang="en-US" altLang="zh-CN" sz="1800" dirty="0">
                <a:solidFill>
                  <a:srgbClr val="000000"/>
                </a:solidFill>
              </a:rPr>
              <a:t>Input: A (an array in the range 1 to n)</a:t>
            </a:r>
          </a:p>
          <a:p>
            <a:pPr>
              <a:buFont typeface="Arial" panose="020B0604020202020204" pitchFamily="34" charset="0"/>
              <a:buNone/>
            </a:pPr>
            <a:r>
              <a:rPr lang="en-US" altLang="zh-CN" sz="1800" dirty="0">
                <a:solidFill>
                  <a:srgbClr val="000000"/>
                </a:solidFill>
              </a:rPr>
              <a:t>Output: B (the array in the sorted order)</a:t>
            </a:r>
          </a:p>
          <a:p>
            <a:pPr>
              <a:buFont typeface="Arial" panose="020B0604020202020204" pitchFamily="34" charset="0"/>
              <a:buNone/>
            </a:pPr>
            <a:r>
              <a:rPr lang="en-US" altLang="zh-CN" sz="1800" dirty="0">
                <a:solidFill>
                  <a:srgbClr val="000000"/>
                </a:solidFill>
              </a:rPr>
              <a:t>begin</a:t>
            </a:r>
          </a:p>
          <a:p>
            <a:pPr>
              <a:buFont typeface="Arial" panose="020B0604020202020204" pitchFamily="34" charset="0"/>
              <a:buNone/>
            </a:pPr>
            <a:r>
              <a:rPr lang="en-US" altLang="zh-CN" sz="1800" dirty="0">
                <a:solidFill>
                  <a:srgbClr val="000000"/>
                </a:solidFill>
              </a:rPr>
              <a:t>  for i:=1 to </a:t>
            </a:r>
            <a:r>
              <a:rPr lang="en-US" altLang="zh-CN" sz="1800" dirty="0">
                <a:solidFill>
                  <a:srgbClr val="FF0000"/>
                </a:solidFill>
              </a:rPr>
              <a:t>k</a:t>
            </a:r>
          </a:p>
          <a:p>
            <a:pPr>
              <a:buFont typeface="Arial" panose="020B0604020202020204" pitchFamily="34" charset="0"/>
              <a:buNone/>
            </a:pPr>
            <a:r>
              <a:rPr lang="en-US" altLang="zh-CN" sz="1800" dirty="0">
                <a:solidFill>
                  <a:srgbClr val="000000"/>
                </a:solidFill>
              </a:rPr>
              <a:t>      C[</a:t>
            </a:r>
            <a:r>
              <a:rPr lang="en-US" altLang="zh-CN" sz="1800" dirty="0" err="1">
                <a:solidFill>
                  <a:srgbClr val="000000"/>
                </a:solidFill>
              </a:rPr>
              <a:t>i</a:t>
            </a:r>
            <a:r>
              <a:rPr lang="en-US" altLang="zh-CN" sz="1800" dirty="0">
                <a:solidFill>
                  <a:srgbClr val="000000"/>
                </a:solidFill>
              </a:rPr>
              <a:t>]=0</a:t>
            </a:r>
          </a:p>
          <a:p>
            <a:pPr>
              <a:buFont typeface="Arial" panose="020B0604020202020204" pitchFamily="34" charset="0"/>
              <a:buNone/>
            </a:pPr>
            <a:r>
              <a:rPr lang="en-US" altLang="zh-CN" sz="1800" dirty="0">
                <a:solidFill>
                  <a:srgbClr val="000000"/>
                </a:solidFill>
              </a:rPr>
              <a:t>  for j:=1 to </a:t>
            </a:r>
            <a:r>
              <a:rPr lang="en-US" altLang="zh-CN" sz="1800" dirty="0">
                <a:solidFill>
                  <a:srgbClr val="FF0000"/>
                </a:solidFill>
              </a:rPr>
              <a:t>n</a:t>
            </a:r>
          </a:p>
          <a:p>
            <a:pPr>
              <a:buFont typeface="Arial" panose="020B0604020202020204" pitchFamily="34" charset="0"/>
              <a:buNone/>
            </a:pPr>
            <a:r>
              <a:rPr lang="en-US" altLang="zh-CN" sz="1800" dirty="0">
                <a:solidFill>
                  <a:srgbClr val="000000"/>
                </a:solidFill>
              </a:rPr>
              <a:t>      C[A[j]]=C[A[j]]+1  {C[</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值为</a:t>
            </a:r>
            <a:r>
              <a:rPr lang="en-US" altLang="zh-CN" sz="1800" dirty="0" err="1">
                <a:solidFill>
                  <a:srgbClr val="000000"/>
                </a:solidFill>
              </a:rPr>
              <a:t>i</a:t>
            </a:r>
            <a:r>
              <a:rPr lang="zh-CN" altLang="en-US" sz="1800" dirty="0">
                <a:solidFill>
                  <a:srgbClr val="000000"/>
                </a:solidFill>
              </a:rPr>
              <a:t>的元素个数</a:t>
            </a:r>
            <a:r>
              <a:rPr lang="en-US" altLang="zh-CN" sz="1800" dirty="0">
                <a:solidFill>
                  <a:srgbClr val="000000"/>
                </a:solidFill>
              </a:rPr>
              <a:t>}</a:t>
            </a:r>
          </a:p>
          <a:p>
            <a:pPr>
              <a:buFont typeface="Arial" panose="020B0604020202020204" pitchFamily="34" charset="0"/>
              <a:buNone/>
            </a:pPr>
            <a:r>
              <a:rPr lang="en-US" altLang="zh-CN" sz="1800" dirty="0">
                <a:solidFill>
                  <a:srgbClr val="000000"/>
                </a:solidFill>
              </a:rPr>
              <a:t>  for i:=2 to </a:t>
            </a:r>
            <a:r>
              <a:rPr lang="en-US" altLang="zh-CN" sz="1800" dirty="0">
                <a:solidFill>
                  <a:srgbClr val="FF0000"/>
                </a:solidFill>
              </a:rPr>
              <a:t>k</a:t>
            </a:r>
          </a:p>
          <a:p>
            <a:pPr>
              <a:buFont typeface="Arial" panose="020B0604020202020204" pitchFamily="34" charset="0"/>
              <a:buNone/>
            </a:pPr>
            <a:r>
              <a:rPr lang="en-US" altLang="zh-CN" sz="1800" dirty="0">
                <a:solidFill>
                  <a:srgbClr val="000000"/>
                </a:solidFill>
              </a:rPr>
              <a:t>      C[</a:t>
            </a:r>
            <a:r>
              <a:rPr lang="en-US" altLang="zh-CN" sz="1800" dirty="0" err="1">
                <a:solidFill>
                  <a:srgbClr val="000000"/>
                </a:solidFill>
              </a:rPr>
              <a:t>i</a:t>
            </a:r>
            <a:r>
              <a:rPr lang="en-US" altLang="zh-CN" sz="1800" dirty="0">
                <a:solidFill>
                  <a:srgbClr val="000000"/>
                </a:solidFill>
              </a:rPr>
              <a:t>]=C[</a:t>
            </a:r>
            <a:r>
              <a:rPr lang="en-US" altLang="zh-CN" sz="1800" dirty="0" err="1">
                <a:solidFill>
                  <a:srgbClr val="000000"/>
                </a:solidFill>
              </a:rPr>
              <a:t>i</a:t>
            </a:r>
            <a:r>
              <a:rPr lang="en-US" altLang="zh-CN" sz="1800" dirty="0">
                <a:solidFill>
                  <a:srgbClr val="000000"/>
                </a:solidFill>
              </a:rPr>
              <a:t>]+C[i-1] {C[</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值小于等于</a:t>
            </a:r>
            <a:r>
              <a:rPr lang="en-US" altLang="zh-CN" sz="1800" dirty="0" err="1">
                <a:solidFill>
                  <a:srgbClr val="000000"/>
                </a:solidFill>
              </a:rPr>
              <a:t>i</a:t>
            </a:r>
            <a:r>
              <a:rPr lang="zh-CN" altLang="en-US" sz="1800" dirty="0">
                <a:solidFill>
                  <a:srgbClr val="000000"/>
                </a:solidFill>
              </a:rPr>
              <a:t>的元素个数</a:t>
            </a:r>
            <a:r>
              <a:rPr lang="en-US" altLang="zh-CN" sz="1800" dirty="0">
                <a:solidFill>
                  <a:srgbClr val="000000"/>
                </a:solidFill>
              </a:rPr>
              <a:t>}</a:t>
            </a:r>
          </a:p>
          <a:p>
            <a:pPr>
              <a:buFont typeface="Arial" panose="020B0604020202020204" pitchFamily="34" charset="0"/>
              <a:buNone/>
            </a:pPr>
            <a:r>
              <a:rPr lang="en-US" altLang="zh-CN" sz="1800" dirty="0">
                <a:solidFill>
                  <a:srgbClr val="000000"/>
                </a:solidFill>
              </a:rPr>
              <a:t>  for j:=</a:t>
            </a:r>
            <a:r>
              <a:rPr lang="en-US" altLang="zh-CN" sz="1800" dirty="0">
                <a:solidFill>
                  <a:srgbClr val="FF0000"/>
                </a:solidFill>
              </a:rPr>
              <a:t>n</a:t>
            </a:r>
            <a:r>
              <a:rPr lang="en-US" altLang="zh-CN" sz="1800" dirty="0">
                <a:solidFill>
                  <a:srgbClr val="000000"/>
                </a:solidFill>
              </a:rPr>
              <a:t> </a:t>
            </a:r>
            <a:r>
              <a:rPr lang="en-US" altLang="zh-CN" sz="1800" dirty="0" err="1">
                <a:solidFill>
                  <a:srgbClr val="000000"/>
                </a:solidFill>
              </a:rPr>
              <a:t>downto</a:t>
            </a:r>
            <a:r>
              <a:rPr lang="en-US" altLang="zh-CN" sz="1800" dirty="0">
                <a:solidFill>
                  <a:srgbClr val="000000"/>
                </a:solidFill>
              </a:rPr>
              <a:t> 1</a:t>
            </a:r>
          </a:p>
          <a:p>
            <a:pPr>
              <a:buFont typeface="Arial" panose="020B0604020202020204" pitchFamily="34" charset="0"/>
              <a:buNone/>
            </a:pPr>
            <a:r>
              <a:rPr lang="en-US" altLang="zh-CN" sz="1800" dirty="0">
                <a:solidFill>
                  <a:srgbClr val="000000"/>
                </a:solidFill>
              </a:rPr>
              <a:t>      B[C[A[j]]]=A[j];</a:t>
            </a:r>
          </a:p>
          <a:p>
            <a:pPr>
              <a:buFont typeface="Arial" panose="020B0604020202020204" pitchFamily="34" charset="0"/>
              <a:buNone/>
            </a:pPr>
            <a:r>
              <a:rPr lang="en-US" altLang="zh-CN" sz="1800" dirty="0">
                <a:solidFill>
                  <a:srgbClr val="000000"/>
                </a:solidFill>
              </a:rPr>
              <a:t>      C[A[j]]=C[A[j]]-1;</a:t>
            </a:r>
          </a:p>
          <a:p>
            <a:pPr>
              <a:buFont typeface="Arial" panose="020B0604020202020204" pitchFamily="34" charset="0"/>
              <a:buNone/>
            </a:pPr>
            <a:r>
              <a:rPr lang="en-US" altLang="zh-CN" sz="1800" dirty="0">
                <a:solidFill>
                  <a:srgbClr val="000000"/>
                </a:solidFill>
              </a:rPr>
              <a:t>end</a:t>
            </a:r>
          </a:p>
        </p:txBody>
      </p:sp>
    </p:spTree>
    <p:extLst>
      <p:ext uri="{BB962C8B-B14F-4D97-AF65-F5344CB8AC3E}">
        <p14:creationId xmlns:p14="http://schemas.microsoft.com/office/powerpoint/2010/main" val="1881819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8B2510-0AEA-492A-9ADB-30DA22A8FBF3}"/>
              </a:ext>
            </a:extLst>
          </p:cNvPr>
          <p:cNvSpPr>
            <a:spLocks noGrp="1"/>
          </p:cNvSpPr>
          <p:nvPr>
            <p:ph type="title"/>
          </p:nvPr>
        </p:nvSpPr>
        <p:spPr/>
        <p:txBody>
          <a:bodyPr/>
          <a:lstStyle/>
          <a:p>
            <a:r>
              <a:rPr lang="zh-CN" altLang="en-US" dirty="0"/>
              <a:t>桶排序算法</a:t>
            </a:r>
          </a:p>
        </p:txBody>
      </p:sp>
      <p:sp>
        <p:nvSpPr>
          <p:cNvPr id="3" name="内容占位符 2">
            <a:extLst>
              <a:ext uri="{FF2B5EF4-FFF2-40B4-BE49-F238E27FC236}">
                <a16:creationId xmlns:a16="http://schemas.microsoft.com/office/drawing/2014/main" id="{CE7967E4-F68B-46EE-975F-6C56D0AD3B02}"/>
              </a:ext>
            </a:extLst>
          </p:cNvPr>
          <p:cNvSpPr>
            <a:spLocks noGrp="1"/>
          </p:cNvSpPr>
          <p:nvPr>
            <p:ph idx="1"/>
          </p:nvPr>
        </p:nvSpPr>
        <p:spPr/>
        <p:txBody>
          <a:bodyPr>
            <a:normAutofit/>
          </a:bodyPr>
          <a:lstStyle/>
          <a:p>
            <a:pPr>
              <a:lnSpc>
                <a:spcPct val="90000"/>
              </a:lnSpc>
            </a:pPr>
            <a:r>
              <a:rPr lang="zh-CN" altLang="en-US" sz="2400" dirty="0">
                <a:solidFill>
                  <a:srgbClr val="000000"/>
                </a:solidFill>
              </a:rPr>
              <a:t>假设有</a:t>
            </a:r>
            <a:r>
              <a:rPr lang="en-US" altLang="zh-CN" sz="2400" dirty="0">
                <a:solidFill>
                  <a:srgbClr val="000000"/>
                </a:solidFill>
              </a:rPr>
              <a:t>n</a:t>
            </a:r>
            <a:r>
              <a:rPr lang="zh-CN" altLang="en-US" sz="2400" dirty="0">
                <a:solidFill>
                  <a:srgbClr val="000000"/>
                </a:solidFill>
              </a:rPr>
              <a:t>个取值范围为</a:t>
            </a:r>
            <a:r>
              <a:rPr lang="en-US" altLang="zh-CN" sz="2400" dirty="0">
                <a:solidFill>
                  <a:srgbClr val="000000"/>
                </a:solidFill>
              </a:rPr>
              <a:t>1</a:t>
            </a:r>
            <a:r>
              <a:rPr lang="zh-CN" altLang="en-US" sz="2400" dirty="0">
                <a:solidFill>
                  <a:srgbClr val="000000"/>
                </a:solidFill>
              </a:rPr>
              <a:t>至</a:t>
            </a:r>
            <a:r>
              <a:rPr lang="en-US" altLang="zh-CN" sz="2400" dirty="0">
                <a:solidFill>
                  <a:srgbClr val="000000"/>
                </a:solidFill>
              </a:rPr>
              <a:t>m</a:t>
            </a:r>
            <a:r>
              <a:rPr lang="zh-CN" altLang="en-US" sz="2400" dirty="0">
                <a:solidFill>
                  <a:srgbClr val="000000"/>
                </a:solidFill>
              </a:rPr>
              <a:t>的元素。为它们分配</a:t>
            </a:r>
            <a:r>
              <a:rPr lang="en-US" altLang="zh-CN" sz="2400" dirty="0">
                <a:solidFill>
                  <a:srgbClr val="000000"/>
                </a:solidFill>
              </a:rPr>
              <a:t>m</a:t>
            </a:r>
            <a:r>
              <a:rPr lang="zh-CN" altLang="en-US" sz="2400" dirty="0">
                <a:solidFill>
                  <a:srgbClr val="000000"/>
                </a:solidFill>
              </a:rPr>
              <a:t>个桶，然后对每个</a:t>
            </a:r>
            <a:r>
              <a:rPr lang="en-US" altLang="zh-CN" sz="2400" dirty="0" err="1">
                <a:solidFill>
                  <a:srgbClr val="000000"/>
                </a:solidFill>
              </a:rPr>
              <a:t>i</a:t>
            </a:r>
            <a:r>
              <a:rPr lang="zh-CN" altLang="en-US" sz="2400" dirty="0">
                <a:solidFill>
                  <a:srgbClr val="000000"/>
                </a:solidFill>
              </a:rPr>
              <a:t>，根据</a:t>
            </a:r>
            <a:r>
              <a:rPr lang="en-US" altLang="zh-CN" sz="2400" dirty="0">
                <a:solidFill>
                  <a:srgbClr val="000000"/>
                </a:solidFill>
              </a:rPr>
              <a:t>x</a:t>
            </a:r>
            <a:r>
              <a:rPr lang="en-US" altLang="zh-CN" sz="2400" baseline="-25000" dirty="0">
                <a:solidFill>
                  <a:srgbClr val="000000"/>
                </a:solidFill>
              </a:rPr>
              <a:t>i</a:t>
            </a:r>
            <a:r>
              <a:rPr lang="zh-CN" altLang="en-US" sz="2400" dirty="0">
                <a:solidFill>
                  <a:srgbClr val="000000"/>
                </a:solidFill>
              </a:rPr>
              <a:t>的值，把</a:t>
            </a:r>
            <a:r>
              <a:rPr lang="en-US" altLang="zh-CN" sz="2400" dirty="0">
                <a:solidFill>
                  <a:srgbClr val="000000"/>
                </a:solidFill>
              </a:rPr>
              <a:t>x</a:t>
            </a:r>
            <a:r>
              <a:rPr lang="en-US" altLang="zh-CN" sz="2400" baseline="-25000" dirty="0">
                <a:solidFill>
                  <a:srgbClr val="000000"/>
                </a:solidFill>
              </a:rPr>
              <a:t>i</a:t>
            </a:r>
            <a:r>
              <a:rPr lang="zh-CN" altLang="en-US" sz="2400" dirty="0">
                <a:solidFill>
                  <a:srgbClr val="000000"/>
                </a:solidFill>
              </a:rPr>
              <a:t>放到相应的桶中去。最后按序扫描每个桶，并把桶中的元素收集起来。</a:t>
            </a:r>
          </a:p>
          <a:p>
            <a:pPr>
              <a:lnSpc>
                <a:spcPct val="90000"/>
              </a:lnSpc>
            </a:pPr>
            <a:r>
              <a:rPr lang="zh-CN" altLang="en-US" sz="2400" dirty="0">
                <a:solidFill>
                  <a:srgbClr val="000000"/>
                </a:solidFill>
              </a:rPr>
              <a:t>算法复杂度为</a:t>
            </a:r>
            <a:r>
              <a:rPr lang="en-US" altLang="zh-CN" sz="2400" dirty="0">
                <a:solidFill>
                  <a:srgbClr val="000000"/>
                </a:solidFill>
              </a:rPr>
              <a:t>O(</a:t>
            </a:r>
            <a:r>
              <a:rPr lang="en-US" altLang="zh-CN" sz="2400" dirty="0" err="1">
                <a:solidFill>
                  <a:srgbClr val="000000"/>
                </a:solidFill>
              </a:rPr>
              <a:t>m+n</a:t>
            </a:r>
            <a:r>
              <a:rPr lang="en-US" altLang="zh-CN" sz="2400" dirty="0">
                <a:solidFill>
                  <a:srgbClr val="000000"/>
                </a:solidFill>
              </a:rPr>
              <a:t>)</a:t>
            </a:r>
            <a:r>
              <a:rPr lang="zh-CN" altLang="en-US" sz="2400" dirty="0">
                <a:solidFill>
                  <a:srgbClr val="000000"/>
                </a:solidFill>
              </a:rPr>
              <a:t>。一方面，若</a:t>
            </a:r>
            <a:r>
              <a:rPr lang="en-US" altLang="zh-CN" sz="2400" dirty="0">
                <a:solidFill>
                  <a:srgbClr val="000000"/>
                </a:solidFill>
              </a:rPr>
              <a:t>m=O(n)</a:t>
            </a:r>
            <a:r>
              <a:rPr lang="zh-CN" altLang="en-US" sz="2400" dirty="0">
                <a:solidFill>
                  <a:srgbClr val="000000"/>
                </a:solidFill>
              </a:rPr>
              <a:t>，算法就演化成线性时间排序算法；另一方面，若</a:t>
            </a:r>
            <a:r>
              <a:rPr lang="en-US" altLang="zh-CN" sz="2400" dirty="0">
                <a:solidFill>
                  <a:srgbClr val="000000"/>
                </a:solidFill>
              </a:rPr>
              <a:t>m</a:t>
            </a:r>
            <a:r>
              <a:rPr lang="zh-CN" altLang="en-US" sz="2400" dirty="0">
                <a:solidFill>
                  <a:srgbClr val="000000"/>
                </a:solidFill>
              </a:rPr>
              <a:t>相对于</a:t>
            </a:r>
            <a:r>
              <a:rPr lang="en-US" altLang="zh-CN" sz="2400" dirty="0">
                <a:solidFill>
                  <a:srgbClr val="000000"/>
                </a:solidFill>
              </a:rPr>
              <a:t>n</a:t>
            </a:r>
            <a:r>
              <a:rPr lang="zh-CN" altLang="en-US" sz="2400" dirty="0">
                <a:solidFill>
                  <a:srgbClr val="000000"/>
                </a:solidFill>
              </a:rPr>
              <a:t>很大，则</a:t>
            </a:r>
            <a:r>
              <a:rPr lang="en-US" altLang="zh-CN" sz="2400" dirty="0">
                <a:solidFill>
                  <a:srgbClr val="000000"/>
                </a:solidFill>
              </a:rPr>
              <a:t>O(m)</a:t>
            </a:r>
            <a:r>
              <a:rPr lang="zh-CN" altLang="en-US" sz="2400" dirty="0">
                <a:solidFill>
                  <a:srgbClr val="000000"/>
                </a:solidFill>
              </a:rPr>
              <a:t>也会很大，而且算法需要</a:t>
            </a:r>
            <a:r>
              <a:rPr lang="en-US" altLang="zh-CN" sz="2400" dirty="0">
                <a:solidFill>
                  <a:srgbClr val="000000"/>
                </a:solidFill>
              </a:rPr>
              <a:t>O(m)</a:t>
            </a:r>
            <a:r>
              <a:rPr lang="zh-CN" altLang="en-US" sz="2400" dirty="0">
                <a:solidFill>
                  <a:srgbClr val="000000"/>
                </a:solidFill>
              </a:rPr>
              <a:t>的存储空间，这比</a:t>
            </a:r>
            <a:r>
              <a:rPr lang="en-US" altLang="zh-CN" sz="2400" dirty="0">
                <a:solidFill>
                  <a:srgbClr val="000000"/>
                </a:solidFill>
              </a:rPr>
              <a:t>m</a:t>
            </a:r>
            <a:r>
              <a:rPr lang="zh-CN" altLang="en-US" sz="2400" dirty="0">
                <a:solidFill>
                  <a:srgbClr val="000000"/>
                </a:solidFill>
              </a:rPr>
              <a:t>自身很大更让人头疼。</a:t>
            </a:r>
          </a:p>
          <a:p>
            <a:endParaRPr lang="zh-CN" altLang="en-US" sz="2400" dirty="0"/>
          </a:p>
        </p:txBody>
      </p:sp>
    </p:spTree>
    <p:extLst>
      <p:ext uri="{BB962C8B-B14F-4D97-AF65-F5344CB8AC3E}">
        <p14:creationId xmlns:p14="http://schemas.microsoft.com/office/powerpoint/2010/main" val="2409714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00862-239E-4047-B0C4-5BF821F0052A}"/>
              </a:ext>
            </a:extLst>
          </p:cNvPr>
          <p:cNvSpPr>
            <a:spLocks noGrp="1"/>
          </p:cNvSpPr>
          <p:nvPr>
            <p:ph type="title"/>
          </p:nvPr>
        </p:nvSpPr>
        <p:spPr/>
        <p:txBody>
          <a:bodyPr/>
          <a:lstStyle/>
          <a:p>
            <a:r>
              <a:rPr lang="zh-CN" altLang="en-US" dirty="0"/>
              <a:t>桶排序算法的一个拓展</a:t>
            </a:r>
          </a:p>
        </p:txBody>
      </p:sp>
      <p:sp>
        <p:nvSpPr>
          <p:cNvPr id="3" name="内容占位符 2">
            <a:extLst>
              <a:ext uri="{FF2B5EF4-FFF2-40B4-BE49-F238E27FC236}">
                <a16:creationId xmlns:a16="http://schemas.microsoft.com/office/drawing/2014/main" id="{DB595838-57D4-4D27-805E-EC485AD1BF0F}"/>
              </a:ext>
            </a:extLst>
          </p:cNvPr>
          <p:cNvSpPr>
            <a:spLocks noGrp="1"/>
          </p:cNvSpPr>
          <p:nvPr>
            <p:ph idx="1"/>
          </p:nvPr>
        </p:nvSpPr>
        <p:spPr/>
        <p:txBody>
          <a:bodyPr>
            <a:noAutofit/>
          </a:bodyPr>
          <a:lstStyle/>
          <a:p>
            <a:r>
              <a:rPr lang="zh-CN" altLang="en-US" sz="2000" dirty="0">
                <a:solidFill>
                  <a:srgbClr val="000000"/>
                </a:solidFill>
              </a:rPr>
              <a:t>假设有</a:t>
            </a:r>
            <a:r>
              <a:rPr lang="en-US" altLang="zh-CN" sz="2000" dirty="0">
                <a:solidFill>
                  <a:srgbClr val="000000"/>
                </a:solidFill>
              </a:rPr>
              <a:t>n</a:t>
            </a:r>
            <a:r>
              <a:rPr lang="zh-CN" altLang="en-US" sz="2000" dirty="0">
                <a:solidFill>
                  <a:srgbClr val="000000"/>
                </a:solidFill>
              </a:rPr>
              <a:t>个元素，均匀分布在区间</a:t>
            </a:r>
            <a:r>
              <a:rPr lang="en-US" altLang="zh-CN" sz="2000" dirty="0">
                <a:solidFill>
                  <a:srgbClr val="000000"/>
                </a:solidFill>
              </a:rPr>
              <a:t>[0,1)</a:t>
            </a:r>
            <a:r>
              <a:rPr lang="zh-CN" altLang="en-US" sz="2000" dirty="0">
                <a:solidFill>
                  <a:srgbClr val="000000"/>
                </a:solidFill>
              </a:rPr>
              <a:t>上。</a:t>
            </a:r>
          </a:p>
          <a:p>
            <a:r>
              <a:rPr lang="zh-CN" altLang="en-US" sz="2000" dirty="0">
                <a:solidFill>
                  <a:srgbClr val="000000"/>
                </a:solidFill>
              </a:rPr>
              <a:t>把区间</a:t>
            </a:r>
            <a:r>
              <a:rPr lang="en-US" altLang="zh-CN" sz="2000" dirty="0">
                <a:solidFill>
                  <a:srgbClr val="000000"/>
                </a:solidFill>
              </a:rPr>
              <a:t>[0,1)</a:t>
            </a:r>
            <a:r>
              <a:rPr lang="zh-CN" altLang="en-US" sz="2000" dirty="0">
                <a:solidFill>
                  <a:srgbClr val="000000"/>
                </a:solidFill>
              </a:rPr>
              <a:t>划分成</a:t>
            </a:r>
            <a:r>
              <a:rPr lang="en-US" altLang="zh-CN" sz="2000" dirty="0">
                <a:solidFill>
                  <a:srgbClr val="000000"/>
                </a:solidFill>
              </a:rPr>
              <a:t>n</a:t>
            </a:r>
            <a:r>
              <a:rPr lang="zh-CN" altLang="en-US" sz="2000" dirty="0">
                <a:solidFill>
                  <a:srgbClr val="000000"/>
                </a:solidFill>
              </a:rPr>
              <a:t>个相同大小的区间</a:t>
            </a:r>
            <a:r>
              <a:rPr lang="en-US" altLang="zh-CN" sz="2000" dirty="0">
                <a:solidFill>
                  <a:srgbClr val="000000"/>
                </a:solidFill>
              </a:rPr>
              <a:t>/</a:t>
            </a:r>
            <a:r>
              <a:rPr lang="zh-CN" altLang="en-US" sz="2000" dirty="0">
                <a:solidFill>
                  <a:srgbClr val="000000"/>
                </a:solidFill>
              </a:rPr>
              <a:t>桶，然后根据</a:t>
            </a:r>
            <a:r>
              <a:rPr lang="en-US" altLang="zh-CN" sz="2000" dirty="0">
                <a:solidFill>
                  <a:srgbClr val="000000"/>
                </a:solidFill>
              </a:rPr>
              <a:t>x</a:t>
            </a:r>
            <a:r>
              <a:rPr lang="en-US" altLang="zh-CN" sz="2000" baseline="-25000" dirty="0">
                <a:solidFill>
                  <a:srgbClr val="000000"/>
                </a:solidFill>
              </a:rPr>
              <a:t>i</a:t>
            </a:r>
            <a:r>
              <a:rPr lang="zh-CN" altLang="en-US" sz="2000" dirty="0">
                <a:solidFill>
                  <a:srgbClr val="000000"/>
                </a:solidFill>
              </a:rPr>
              <a:t>的值，把</a:t>
            </a:r>
            <a:r>
              <a:rPr lang="en-US" altLang="zh-CN" sz="2000" dirty="0">
                <a:solidFill>
                  <a:srgbClr val="000000"/>
                </a:solidFill>
              </a:rPr>
              <a:t>x</a:t>
            </a:r>
            <a:r>
              <a:rPr lang="en-US" altLang="zh-CN" sz="2000" baseline="-25000" dirty="0">
                <a:solidFill>
                  <a:srgbClr val="000000"/>
                </a:solidFill>
              </a:rPr>
              <a:t>i</a:t>
            </a:r>
            <a:r>
              <a:rPr lang="zh-CN" altLang="en-US" sz="2000" dirty="0">
                <a:solidFill>
                  <a:srgbClr val="000000"/>
                </a:solidFill>
              </a:rPr>
              <a:t>放到相应的桶中去。由于输入元素是均匀分布的，一般不会有很多数落在一个桶中。先对每个桶中的数进行排序，最后按序扫描每个桶，把桶中的元素收集起来。</a:t>
            </a:r>
          </a:p>
          <a:p>
            <a:pPr marL="457200" lvl="1" indent="0">
              <a:buNone/>
            </a:pPr>
            <a:r>
              <a:rPr lang="en-US" altLang="zh-CN" sz="2000" dirty="0">
                <a:solidFill>
                  <a:srgbClr val="000000"/>
                </a:solidFill>
              </a:rPr>
              <a:t>for i:=1 to n</a:t>
            </a:r>
          </a:p>
          <a:p>
            <a:pPr marL="457200" lvl="1" indent="0">
              <a:buNone/>
            </a:pPr>
            <a:r>
              <a:rPr lang="en-US" altLang="zh-CN" sz="2000" dirty="0">
                <a:solidFill>
                  <a:srgbClr val="000000"/>
                </a:solidFill>
              </a:rPr>
              <a:t>      </a:t>
            </a:r>
            <a:r>
              <a:rPr lang="zh-CN" altLang="en-US" sz="2000" dirty="0">
                <a:solidFill>
                  <a:srgbClr val="000000"/>
                </a:solidFill>
              </a:rPr>
              <a:t>将</a:t>
            </a:r>
            <a:r>
              <a:rPr lang="en-US" altLang="zh-CN" sz="2000" dirty="0">
                <a:solidFill>
                  <a:srgbClr val="000000"/>
                </a:solidFill>
              </a:rPr>
              <a:t>A[</a:t>
            </a:r>
            <a:r>
              <a:rPr lang="en-US" altLang="zh-CN" sz="2000" dirty="0" err="1">
                <a:solidFill>
                  <a:srgbClr val="000000"/>
                </a:solidFill>
              </a:rPr>
              <a:t>i</a:t>
            </a:r>
            <a:r>
              <a:rPr lang="en-US" altLang="zh-CN" sz="2000" dirty="0">
                <a:solidFill>
                  <a:srgbClr val="000000"/>
                </a:solidFill>
              </a:rPr>
              <a:t>]</a:t>
            </a:r>
            <a:r>
              <a:rPr lang="zh-CN" altLang="en-US" sz="2000" dirty="0">
                <a:solidFill>
                  <a:srgbClr val="000000"/>
                </a:solidFill>
              </a:rPr>
              <a:t>插入到表</a:t>
            </a:r>
            <a:r>
              <a:rPr lang="en-US" altLang="zh-CN" sz="2000" dirty="0">
                <a:solidFill>
                  <a:srgbClr val="000000"/>
                </a:solidFill>
              </a:rPr>
              <a:t>B[</a:t>
            </a:r>
            <a:r>
              <a:rPr lang="en-US" altLang="zh-CN" sz="2000" dirty="0">
                <a:solidFill>
                  <a:srgbClr val="000000"/>
                </a:solidFill>
                <a:sym typeface="Symbol" pitchFamily="18" charset="2"/>
              </a:rPr>
              <a:t>n*A[</a:t>
            </a:r>
            <a:r>
              <a:rPr lang="en-US" altLang="zh-CN" sz="2000" dirty="0" err="1">
                <a:solidFill>
                  <a:srgbClr val="000000"/>
                </a:solidFill>
                <a:sym typeface="Symbol" pitchFamily="18" charset="2"/>
              </a:rPr>
              <a:t>i</a:t>
            </a:r>
            <a:r>
              <a:rPr lang="en-US" altLang="zh-CN" sz="2000" dirty="0">
                <a:solidFill>
                  <a:srgbClr val="000000"/>
                </a:solidFill>
                <a:sym typeface="Symbol" pitchFamily="18" charset="2"/>
              </a:rPr>
              <a:t>]</a:t>
            </a:r>
            <a:r>
              <a:rPr lang="zh-CN" altLang="en-US" sz="2000" dirty="0">
                <a:solidFill>
                  <a:srgbClr val="000000"/>
                </a:solidFill>
                <a:sym typeface="Symbol" pitchFamily="18" charset="2"/>
              </a:rPr>
              <a:t>中</a:t>
            </a:r>
          </a:p>
          <a:p>
            <a:pPr marL="457200" lvl="1" indent="0">
              <a:buNone/>
            </a:pPr>
            <a:r>
              <a:rPr lang="en-US" altLang="zh-CN" sz="2000" dirty="0">
                <a:solidFill>
                  <a:srgbClr val="000000"/>
                </a:solidFill>
              </a:rPr>
              <a:t>for i:=0 to n-1</a:t>
            </a:r>
          </a:p>
          <a:p>
            <a:pPr marL="457200" lvl="1" indent="0">
              <a:buNone/>
            </a:pPr>
            <a:r>
              <a:rPr lang="en-US" altLang="zh-CN" sz="2000" dirty="0">
                <a:solidFill>
                  <a:srgbClr val="000000"/>
                </a:solidFill>
              </a:rPr>
              <a:t>      </a:t>
            </a:r>
            <a:r>
              <a:rPr lang="zh-CN" altLang="en-US" sz="2000" dirty="0">
                <a:solidFill>
                  <a:srgbClr val="000000"/>
                </a:solidFill>
              </a:rPr>
              <a:t>用插入排序对表</a:t>
            </a:r>
            <a:r>
              <a:rPr lang="en-US" altLang="zh-CN" sz="2000" dirty="0">
                <a:solidFill>
                  <a:srgbClr val="000000"/>
                </a:solidFill>
              </a:rPr>
              <a:t>B[</a:t>
            </a:r>
            <a:r>
              <a:rPr lang="en-US" altLang="zh-CN" sz="2000" dirty="0" err="1">
                <a:solidFill>
                  <a:srgbClr val="000000"/>
                </a:solidFill>
                <a:sym typeface="Symbol" pitchFamily="18" charset="2"/>
              </a:rPr>
              <a:t>i</a:t>
            </a:r>
            <a:r>
              <a:rPr lang="en-US" altLang="zh-CN" sz="2000" dirty="0">
                <a:solidFill>
                  <a:srgbClr val="000000"/>
                </a:solidFill>
                <a:sym typeface="Symbol" pitchFamily="18" charset="2"/>
              </a:rPr>
              <a:t>]</a:t>
            </a:r>
            <a:r>
              <a:rPr lang="zh-CN" altLang="en-US" sz="2000" dirty="0">
                <a:solidFill>
                  <a:srgbClr val="000000"/>
                </a:solidFill>
                <a:sym typeface="Symbol" pitchFamily="18" charset="2"/>
              </a:rPr>
              <a:t>进行排序</a:t>
            </a:r>
          </a:p>
          <a:p>
            <a:pPr marL="457200" lvl="1" indent="0">
              <a:buNone/>
            </a:pPr>
            <a:r>
              <a:rPr lang="zh-CN" altLang="en-US" sz="2000" dirty="0">
                <a:solidFill>
                  <a:srgbClr val="000000"/>
                </a:solidFill>
                <a:sym typeface="Symbol" pitchFamily="18" charset="2"/>
              </a:rPr>
              <a:t>将表</a:t>
            </a:r>
            <a:r>
              <a:rPr lang="en-US" altLang="zh-CN" sz="2000" dirty="0">
                <a:solidFill>
                  <a:srgbClr val="000000"/>
                </a:solidFill>
                <a:sym typeface="Symbol" pitchFamily="18" charset="2"/>
              </a:rPr>
              <a:t>B[0], B[1],…,B[n-1]</a:t>
            </a:r>
            <a:r>
              <a:rPr lang="zh-CN" altLang="en-US" sz="2000" dirty="0">
                <a:solidFill>
                  <a:srgbClr val="000000"/>
                </a:solidFill>
                <a:sym typeface="Symbol" pitchFamily="18" charset="2"/>
              </a:rPr>
              <a:t>按顺序合并</a:t>
            </a:r>
          </a:p>
          <a:p>
            <a:r>
              <a:rPr lang="zh-CN" altLang="en-US" sz="2000" dirty="0">
                <a:solidFill>
                  <a:srgbClr val="000000"/>
                </a:solidFill>
                <a:sym typeface="Symbol" pitchFamily="18" charset="2"/>
              </a:rPr>
              <a:t>平均时间复杂性：</a:t>
            </a:r>
            <a:r>
              <a:rPr lang="en-US" altLang="zh-CN" sz="2000" dirty="0">
                <a:solidFill>
                  <a:srgbClr val="000000"/>
                </a:solidFill>
                <a:sym typeface="Symbol" pitchFamily="18" charset="2"/>
              </a:rPr>
              <a:t>O(n)</a:t>
            </a:r>
          </a:p>
          <a:p>
            <a:r>
              <a:rPr lang="zh-CN" altLang="en-US" sz="2000" dirty="0">
                <a:solidFill>
                  <a:srgbClr val="000000"/>
                </a:solidFill>
                <a:sym typeface="Symbol" pitchFamily="18" charset="2"/>
              </a:rPr>
              <a:t>最坏时间复杂性：</a:t>
            </a:r>
            <a:r>
              <a:rPr lang="en-US" altLang="zh-CN" sz="2000" dirty="0">
                <a:solidFill>
                  <a:srgbClr val="000000"/>
                </a:solidFill>
                <a:sym typeface="Symbol" pitchFamily="18" charset="2"/>
              </a:rPr>
              <a:t>O(n^2)    </a:t>
            </a:r>
            <a:r>
              <a:rPr lang="zh-CN" altLang="en-US" sz="2000" dirty="0">
                <a:solidFill>
                  <a:srgbClr val="000000"/>
                </a:solidFill>
                <a:sym typeface="Symbol" pitchFamily="18" charset="2"/>
              </a:rPr>
              <a:t>数据不均匀，很多数落在一个桶里</a:t>
            </a:r>
            <a:endParaRPr lang="en-US" altLang="zh-CN" sz="2000" dirty="0">
              <a:solidFill>
                <a:srgbClr val="000000"/>
              </a:solidFill>
              <a:sym typeface="Symbol" pitchFamily="18" charset="2"/>
            </a:endParaRPr>
          </a:p>
          <a:p>
            <a:endParaRPr lang="zh-CN" altLang="en-US" sz="2000" dirty="0"/>
          </a:p>
        </p:txBody>
      </p:sp>
    </p:spTree>
    <p:extLst>
      <p:ext uri="{BB962C8B-B14F-4D97-AF65-F5344CB8AC3E}">
        <p14:creationId xmlns:p14="http://schemas.microsoft.com/office/powerpoint/2010/main" val="2439994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0255E-360D-45C6-A5A9-5C47F310A2C4}"/>
              </a:ext>
            </a:extLst>
          </p:cNvPr>
          <p:cNvSpPr>
            <a:spLocks noGrp="1"/>
          </p:cNvSpPr>
          <p:nvPr>
            <p:ph type="title"/>
          </p:nvPr>
        </p:nvSpPr>
        <p:spPr/>
        <p:txBody>
          <a:bodyPr/>
          <a:lstStyle/>
          <a:p>
            <a:r>
              <a:rPr lang="zh-CN" altLang="en-US" dirty="0"/>
              <a:t>桶排序算法</a:t>
            </a:r>
            <a:r>
              <a:rPr lang="en-US" altLang="zh-CN" dirty="0"/>
              <a:t>-&gt;</a:t>
            </a:r>
            <a:r>
              <a:rPr lang="zh-CN" altLang="en-US" dirty="0"/>
              <a:t>基数排序</a:t>
            </a:r>
          </a:p>
        </p:txBody>
      </p:sp>
      <p:sp>
        <p:nvSpPr>
          <p:cNvPr id="3" name="内容占位符 2">
            <a:extLst>
              <a:ext uri="{FF2B5EF4-FFF2-40B4-BE49-F238E27FC236}">
                <a16:creationId xmlns:a16="http://schemas.microsoft.com/office/drawing/2014/main" id="{C39A4590-DEEB-44AB-BD7D-2AC6B618256F}"/>
              </a:ext>
            </a:extLst>
          </p:cNvPr>
          <p:cNvSpPr>
            <a:spLocks noGrp="1"/>
          </p:cNvSpPr>
          <p:nvPr>
            <p:ph idx="1"/>
          </p:nvPr>
        </p:nvSpPr>
        <p:spPr/>
        <p:txBody>
          <a:bodyPr>
            <a:normAutofit/>
          </a:bodyPr>
          <a:lstStyle/>
          <a:p>
            <a:pPr algn="just"/>
            <a:r>
              <a:rPr lang="zh-CN" altLang="en-US" sz="2000" dirty="0">
                <a:solidFill>
                  <a:srgbClr val="000000"/>
                </a:solidFill>
              </a:rPr>
              <a:t>假设元素都是</a:t>
            </a:r>
            <a:r>
              <a:rPr lang="en-US" altLang="zh-CN" sz="2000" dirty="0">
                <a:solidFill>
                  <a:srgbClr val="000000"/>
                </a:solidFill>
              </a:rPr>
              <a:t>k</a:t>
            </a:r>
            <a:r>
              <a:rPr lang="zh-CN" altLang="en-US" sz="2000" dirty="0">
                <a:solidFill>
                  <a:srgbClr val="000000"/>
                </a:solidFill>
              </a:rPr>
              <a:t>位数的较大整数，每一位的取值范围为</a:t>
            </a:r>
            <a:r>
              <a:rPr lang="en-US" altLang="zh-CN" sz="2000" dirty="0">
                <a:solidFill>
                  <a:srgbClr val="000000"/>
                </a:solidFill>
              </a:rPr>
              <a:t>0</a:t>
            </a:r>
            <a:r>
              <a:rPr lang="zh-CN" altLang="en-US" sz="2000" dirty="0">
                <a:solidFill>
                  <a:srgbClr val="000000"/>
                </a:solidFill>
              </a:rPr>
              <a:t>到</a:t>
            </a:r>
            <a:r>
              <a:rPr lang="en-US" altLang="zh-CN" sz="2000" dirty="0">
                <a:solidFill>
                  <a:srgbClr val="000000"/>
                </a:solidFill>
              </a:rPr>
              <a:t>d-1</a:t>
            </a:r>
            <a:r>
              <a:rPr lang="zh-CN" altLang="en-US" sz="2000" dirty="0">
                <a:solidFill>
                  <a:srgbClr val="000000"/>
                </a:solidFill>
              </a:rPr>
              <a:t>。</a:t>
            </a:r>
          </a:p>
          <a:p>
            <a:pPr algn="just"/>
            <a:r>
              <a:rPr lang="zh-CN" altLang="en-US" sz="2000" dirty="0">
                <a:solidFill>
                  <a:srgbClr val="000000"/>
                </a:solidFill>
              </a:rPr>
              <a:t>归纳假设：知道该怎样用</a:t>
            </a:r>
            <a:r>
              <a:rPr lang="en-US" altLang="zh-CN" sz="2000" dirty="0">
                <a:solidFill>
                  <a:srgbClr val="000000"/>
                </a:solidFill>
              </a:rPr>
              <a:t>&lt;k</a:t>
            </a:r>
            <a:r>
              <a:rPr lang="zh-CN" altLang="en-US" sz="2000" dirty="0">
                <a:solidFill>
                  <a:srgbClr val="000000"/>
                </a:solidFill>
              </a:rPr>
              <a:t>位的元素进行排序。以字典序排序的序列，最高位决定了元素排列的顺序，同其他位无关。另一方面，如果两个元素的最高位相同，则由归纳假设，在最后一步之前，它们已经按正确的顺序排列。因此，仅需保证其排列顺序不变。</a:t>
            </a:r>
          </a:p>
          <a:p>
            <a:pPr algn="just"/>
            <a:r>
              <a:rPr lang="zh-CN" altLang="en-US" sz="2000" dirty="0">
                <a:solidFill>
                  <a:srgbClr val="000000"/>
                </a:solidFill>
              </a:rPr>
              <a:t>关键：同一个桶内的元素排列顺序不变。</a:t>
            </a:r>
            <a:endParaRPr lang="en-US" altLang="zh-CN" sz="2000" dirty="0">
              <a:solidFill>
                <a:srgbClr val="000000"/>
              </a:solidFill>
            </a:endParaRPr>
          </a:p>
          <a:p>
            <a:pPr algn="just"/>
            <a:endParaRPr lang="en-US" altLang="zh-CN" sz="2000" dirty="0">
              <a:solidFill>
                <a:srgbClr val="000000"/>
              </a:solidFill>
            </a:endParaRPr>
          </a:p>
          <a:p>
            <a:pPr algn="just"/>
            <a:r>
              <a:rPr lang="zh-CN" altLang="en-US" sz="2000" dirty="0">
                <a:solidFill>
                  <a:srgbClr val="000000"/>
                </a:solidFill>
              </a:rPr>
              <a:t>基数排序是现在只有在计算机博物馆才能看到的卡片排序机所使用的算法。卡片有 </a:t>
            </a:r>
            <a:r>
              <a:rPr lang="en-US" altLang="zh-CN" sz="2000" dirty="0">
                <a:solidFill>
                  <a:srgbClr val="000000"/>
                </a:solidFill>
              </a:rPr>
              <a:t>80 </a:t>
            </a:r>
            <a:r>
              <a:rPr lang="zh-CN" altLang="en-US" sz="2000" dirty="0">
                <a:solidFill>
                  <a:srgbClr val="000000"/>
                </a:solidFill>
              </a:rPr>
              <a:t>列，机器可以在每一列的 </a:t>
            </a:r>
            <a:r>
              <a:rPr lang="en-US" altLang="zh-CN" sz="2000" dirty="0">
                <a:solidFill>
                  <a:srgbClr val="000000"/>
                </a:solidFill>
              </a:rPr>
              <a:t>12 </a:t>
            </a:r>
            <a:r>
              <a:rPr lang="zh-CN" altLang="en-US" sz="2000" dirty="0">
                <a:solidFill>
                  <a:srgbClr val="000000"/>
                </a:solidFill>
              </a:rPr>
              <a:t>个地方打孔。分拣机可以通过机械 “编程 ”来检查一组卡片中每张卡片的某一列，并根据打孔的位置将卡片分配到 </a:t>
            </a:r>
            <a:r>
              <a:rPr lang="en-US" altLang="zh-CN" sz="2000" dirty="0">
                <a:solidFill>
                  <a:srgbClr val="000000"/>
                </a:solidFill>
              </a:rPr>
              <a:t>12 </a:t>
            </a:r>
            <a:r>
              <a:rPr lang="zh-CN" altLang="en-US" sz="2000" dirty="0">
                <a:solidFill>
                  <a:srgbClr val="000000"/>
                </a:solidFill>
              </a:rPr>
              <a:t>个仓位中的一个。然后，操作员就可以把卡片一张一张地收集起来，这样，第一处打孔的纸牌就会放在第二处打孔的纸牌上面，以此类推。</a:t>
            </a:r>
          </a:p>
          <a:p>
            <a:pPr algn="just"/>
            <a:r>
              <a:rPr lang="en-US" altLang="zh-CN" sz="2000" dirty="0">
                <a:solidFill>
                  <a:srgbClr val="000000"/>
                </a:solidFill>
              </a:rPr>
              <a:t>https://www.columbia.edu/cu/computinghistory/sorter.html</a:t>
            </a:r>
          </a:p>
          <a:p>
            <a:pPr algn="just"/>
            <a:r>
              <a:rPr lang="zh-CN" altLang="en-US" sz="2000" dirty="0">
                <a:solidFill>
                  <a:srgbClr val="000000"/>
                </a:solidFill>
              </a:rPr>
              <a:t>应用：日期排序，先排日，然后月，最后年</a:t>
            </a:r>
          </a:p>
          <a:p>
            <a:pPr algn="just"/>
            <a:endParaRPr lang="zh-CN" altLang="en-US" sz="2000" dirty="0">
              <a:solidFill>
                <a:srgbClr val="000000"/>
              </a:solidFill>
            </a:endParaRPr>
          </a:p>
          <a:p>
            <a:endParaRPr lang="zh-CN" altLang="en-US" sz="2000" dirty="0"/>
          </a:p>
        </p:txBody>
      </p:sp>
    </p:spTree>
    <p:extLst>
      <p:ext uri="{BB962C8B-B14F-4D97-AF65-F5344CB8AC3E}">
        <p14:creationId xmlns:p14="http://schemas.microsoft.com/office/powerpoint/2010/main" val="2817168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586C7E-B0E2-482F-8B4E-7C410FB5CB6F}"/>
              </a:ext>
            </a:extLst>
          </p:cNvPr>
          <p:cNvSpPr>
            <a:spLocks noGrp="1"/>
          </p:cNvSpPr>
          <p:nvPr>
            <p:ph type="title"/>
          </p:nvPr>
        </p:nvSpPr>
        <p:spPr/>
        <p:txBody>
          <a:bodyPr/>
          <a:lstStyle/>
          <a:p>
            <a:r>
              <a:rPr lang="zh-CN" altLang="en-US" dirty="0"/>
              <a:t>基数排序</a:t>
            </a:r>
          </a:p>
        </p:txBody>
      </p:sp>
      <p:sp>
        <p:nvSpPr>
          <p:cNvPr id="4" name="Text Box 4">
            <a:extLst>
              <a:ext uri="{FF2B5EF4-FFF2-40B4-BE49-F238E27FC236}">
                <a16:creationId xmlns:a16="http://schemas.microsoft.com/office/drawing/2014/main" id="{D90AB63C-21AA-45DA-B8FA-39409664B59F}"/>
              </a:ext>
            </a:extLst>
          </p:cNvPr>
          <p:cNvSpPr txBox="1">
            <a:spLocks noChangeArrowheads="1"/>
          </p:cNvSpPr>
          <p:nvPr/>
        </p:nvSpPr>
        <p:spPr bwMode="auto">
          <a:xfrm>
            <a:off x="2209800" y="2041678"/>
            <a:ext cx="1371600" cy="4339650"/>
          </a:xfrm>
          <a:prstGeom prst="rect">
            <a:avLst/>
          </a:prstGeom>
          <a:noFill/>
          <a:ln w="9525">
            <a:noFill/>
            <a:miter lim="800000"/>
            <a:headEnd/>
            <a:tailEnd/>
          </a:ln>
        </p:spPr>
        <p:txBody>
          <a:bodyPr>
            <a:spAutoFit/>
          </a:bodyPr>
          <a:lstStyle/>
          <a:p>
            <a:pPr eaLnBrk="1" hangingPunct="1">
              <a:spcBef>
                <a:spcPct val="50000"/>
              </a:spcBef>
            </a:pPr>
            <a:r>
              <a:rPr lang="en-US" altLang="zh-CN" sz="2400" dirty="0"/>
              <a:t>7467</a:t>
            </a:r>
          </a:p>
          <a:p>
            <a:pPr eaLnBrk="1" hangingPunct="1">
              <a:spcBef>
                <a:spcPct val="50000"/>
              </a:spcBef>
            </a:pPr>
            <a:r>
              <a:rPr lang="en-US" altLang="zh-CN" sz="2400" dirty="0"/>
              <a:t>1247</a:t>
            </a:r>
          </a:p>
          <a:p>
            <a:pPr eaLnBrk="1" hangingPunct="1">
              <a:spcBef>
                <a:spcPct val="50000"/>
              </a:spcBef>
            </a:pPr>
            <a:r>
              <a:rPr lang="en-US" altLang="zh-CN" sz="2400" dirty="0"/>
              <a:t>3275</a:t>
            </a:r>
          </a:p>
          <a:p>
            <a:pPr eaLnBrk="1" hangingPunct="1">
              <a:spcBef>
                <a:spcPct val="50000"/>
              </a:spcBef>
            </a:pPr>
            <a:r>
              <a:rPr lang="en-US" altLang="zh-CN" sz="2400" dirty="0"/>
              <a:t>6792</a:t>
            </a:r>
          </a:p>
          <a:p>
            <a:pPr eaLnBrk="1" hangingPunct="1">
              <a:spcBef>
                <a:spcPct val="50000"/>
              </a:spcBef>
            </a:pPr>
            <a:r>
              <a:rPr lang="en-US" altLang="zh-CN" sz="2400" dirty="0"/>
              <a:t>9187</a:t>
            </a:r>
          </a:p>
          <a:p>
            <a:pPr eaLnBrk="1" hangingPunct="1">
              <a:spcBef>
                <a:spcPct val="50000"/>
              </a:spcBef>
            </a:pPr>
            <a:r>
              <a:rPr lang="en-US" altLang="zh-CN" sz="2400" dirty="0"/>
              <a:t>9134</a:t>
            </a:r>
          </a:p>
          <a:p>
            <a:pPr eaLnBrk="1" hangingPunct="1">
              <a:spcBef>
                <a:spcPct val="50000"/>
              </a:spcBef>
            </a:pPr>
            <a:r>
              <a:rPr lang="en-US" altLang="zh-CN" sz="2400" dirty="0"/>
              <a:t>4675</a:t>
            </a:r>
          </a:p>
          <a:p>
            <a:pPr eaLnBrk="1" hangingPunct="1">
              <a:spcBef>
                <a:spcPct val="50000"/>
              </a:spcBef>
            </a:pPr>
            <a:r>
              <a:rPr lang="en-US" altLang="zh-CN" sz="2400" dirty="0"/>
              <a:t>1239</a:t>
            </a:r>
          </a:p>
        </p:txBody>
      </p:sp>
      <p:sp>
        <p:nvSpPr>
          <p:cNvPr id="5" name="Text Box 5">
            <a:extLst>
              <a:ext uri="{FF2B5EF4-FFF2-40B4-BE49-F238E27FC236}">
                <a16:creationId xmlns:a16="http://schemas.microsoft.com/office/drawing/2014/main" id="{3DBB5BC2-1DD9-4B07-9F99-7203B87F4E78}"/>
              </a:ext>
            </a:extLst>
          </p:cNvPr>
          <p:cNvSpPr txBox="1">
            <a:spLocks noChangeArrowheads="1"/>
          </p:cNvSpPr>
          <p:nvPr/>
        </p:nvSpPr>
        <p:spPr bwMode="auto">
          <a:xfrm>
            <a:off x="3886200" y="2017866"/>
            <a:ext cx="1143000" cy="4339650"/>
          </a:xfrm>
          <a:prstGeom prst="rect">
            <a:avLst/>
          </a:prstGeom>
          <a:noFill/>
          <a:ln w="9525">
            <a:noFill/>
            <a:miter lim="800000"/>
            <a:headEnd/>
            <a:tailEnd/>
          </a:ln>
        </p:spPr>
        <p:txBody>
          <a:bodyPr>
            <a:spAutoFit/>
          </a:bodyPr>
          <a:lstStyle/>
          <a:p>
            <a:pPr eaLnBrk="1" hangingPunct="1">
              <a:spcBef>
                <a:spcPct val="50000"/>
              </a:spcBef>
            </a:pPr>
            <a:r>
              <a:rPr lang="en-US" altLang="zh-CN" sz="2400" dirty="0"/>
              <a:t>6792</a:t>
            </a:r>
          </a:p>
          <a:p>
            <a:pPr eaLnBrk="1" hangingPunct="1">
              <a:spcBef>
                <a:spcPct val="50000"/>
              </a:spcBef>
            </a:pPr>
            <a:r>
              <a:rPr lang="en-US" altLang="zh-CN" sz="2400" dirty="0"/>
              <a:t>9134</a:t>
            </a:r>
          </a:p>
          <a:p>
            <a:pPr eaLnBrk="1" hangingPunct="1">
              <a:spcBef>
                <a:spcPct val="50000"/>
              </a:spcBef>
            </a:pPr>
            <a:r>
              <a:rPr lang="en-US" altLang="zh-CN" sz="2400" dirty="0"/>
              <a:t>3275</a:t>
            </a:r>
          </a:p>
          <a:p>
            <a:pPr eaLnBrk="1" hangingPunct="1">
              <a:spcBef>
                <a:spcPct val="50000"/>
              </a:spcBef>
            </a:pPr>
            <a:r>
              <a:rPr lang="en-US" altLang="zh-CN" sz="2400" dirty="0"/>
              <a:t>4675</a:t>
            </a:r>
          </a:p>
          <a:p>
            <a:pPr eaLnBrk="1" hangingPunct="1">
              <a:spcBef>
                <a:spcPct val="50000"/>
              </a:spcBef>
            </a:pPr>
            <a:r>
              <a:rPr lang="en-US" altLang="zh-CN" sz="2400" dirty="0"/>
              <a:t>7467</a:t>
            </a:r>
          </a:p>
          <a:p>
            <a:pPr eaLnBrk="1" hangingPunct="1">
              <a:spcBef>
                <a:spcPct val="50000"/>
              </a:spcBef>
            </a:pPr>
            <a:r>
              <a:rPr lang="en-US" altLang="zh-CN" sz="2400" dirty="0"/>
              <a:t>1247</a:t>
            </a:r>
          </a:p>
          <a:p>
            <a:pPr eaLnBrk="1" hangingPunct="1">
              <a:spcBef>
                <a:spcPct val="50000"/>
              </a:spcBef>
            </a:pPr>
            <a:r>
              <a:rPr lang="en-US" altLang="zh-CN" sz="2400" dirty="0"/>
              <a:t>9187</a:t>
            </a:r>
          </a:p>
          <a:p>
            <a:pPr eaLnBrk="1" hangingPunct="1">
              <a:spcBef>
                <a:spcPct val="50000"/>
              </a:spcBef>
            </a:pPr>
            <a:r>
              <a:rPr lang="en-US" altLang="zh-CN" sz="2400" dirty="0"/>
              <a:t>1239</a:t>
            </a:r>
          </a:p>
        </p:txBody>
      </p:sp>
      <p:sp>
        <p:nvSpPr>
          <p:cNvPr id="6" name="Text Box 6">
            <a:extLst>
              <a:ext uri="{FF2B5EF4-FFF2-40B4-BE49-F238E27FC236}">
                <a16:creationId xmlns:a16="http://schemas.microsoft.com/office/drawing/2014/main" id="{DF177A07-2522-4466-8861-C13F1DFF7A0A}"/>
              </a:ext>
            </a:extLst>
          </p:cNvPr>
          <p:cNvSpPr txBox="1">
            <a:spLocks noChangeArrowheads="1"/>
          </p:cNvSpPr>
          <p:nvPr/>
        </p:nvSpPr>
        <p:spPr bwMode="auto">
          <a:xfrm>
            <a:off x="5638800" y="2041678"/>
            <a:ext cx="1524000" cy="4339650"/>
          </a:xfrm>
          <a:prstGeom prst="rect">
            <a:avLst/>
          </a:prstGeom>
          <a:noFill/>
          <a:ln w="9525">
            <a:noFill/>
            <a:miter lim="800000"/>
            <a:headEnd/>
            <a:tailEnd/>
          </a:ln>
        </p:spPr>
        <p:txBody>
          <a:bodyPr>
            <a:spAutoFit/>
          </a:bodyPr>
          <a:lstStyle/>
          <a:p>
            <a:pPr eaLnBrk="1" hangingPunct="1">
              <a:spcBef>
                <a:spcPct val="50000"/>
              </a:spcBef>
            </a:pPr>
            <a:r>
              <a:rPr lang="en-US" altLang="zh-CN" sz="2400"/>
              <a:t>9134</a:t>
            </a:r>
          </a:p>
          <a:p>
            <a:pPr eaLnBrk="1" hangingPunct="1">
              <a:spcBef>
                <a:spcPct val="50000"/>
              </a:spcBef>
            </a:pPr>
            <a:r>
              <a:rPr lang="en-US" altLang="zh-CN" sz="2400"/>
              <a:t>1239</a:t>
            </a:r>
          </a:p>
          <a:p>
            <a:pPr eaLnBrk="1" hangingPunct="1">
              <a:spcBef>
                <a:spcPct val="50000"/>
              </a:spcBef>
            </a:pPr>
            <a:r>
              <a:rPr lang="en-US" altLang="zh-CN" sz="2400"/>
              <a:t>1247</a:t>
            </a:r>
          </a:p>
          <a:p>
            <a:pPr eaLnBrk="1" hangingPunct="1">
              <a:spcBef>
                <a:spcPct val="50000"/>
              </a:spcBef>
            </a:pPr>
            <a:r>
              <a:rPr lang="en-US" altLang="zh-CN" sz="2400"/>
              <a:t>7467</a:t>
            </a:r>
          </a:p>
          <a:p>
            <a:pPr eaLnBrk="1" hangingPunct="1">
              <a:spcBef>
                <a:spcPct val="50000"/>
              </a:spcBef>
            </a:pPr>
            <a:r>
              <a:rPr lang="en-US" altLang="zh-CN" sz="2400"/>
              <a:t>3275</a:t>
            </a:r>
          </a:p>
          <a:p>
            <a:pPr eaLnBrk="1" hangingPunct="1">
              <a:spcBef>
                <a:spcPct val="50000"/>
              </a:spcBef>
            </a:pPr>
            <a:r>
              <a:rPr lang="en-US" altLang="zh-CN" sz="2400"/>
              <a:t>4675</a:t>
            </a:r>
          </a:p>
          <a:p>
            <a:pPr eaLnBrk="1" hangingPunct="1">
              <a:spcBef>
                <a:spcPct val="50000"/>
              </a:spcBef>
            </a:pPr>
            <a:r>
              <a:rPr lang="en-US" altLang="zh-CN" sz="2400"/>
              <a:t>9187</a:t>
            </a:r>
          </a:p>
          <a:p>
            <a:pPr eaLnBrk="1" hangingPunct="1">
              <a:spcBef>
                <a:spcPct val="50000"/>
              </a:spcBef>
            </a:pPr>
            <a:r>
              <a:rPr lang="en-US" altLang="zh-CN" sz="2400"/>
              <a:t>6792</a:t>
            </a:r>
          </a:p>
        </p:txBody>
      </p:sp>
      <p:sp>
        <p:nvSpPr>
          <p:cNvPr id="7" name="Text Box 7">
            <a:extLst>
              <a:ext uri="{FF2B5EF4-FFF2-40B4-BE49-F238E27FC236}">
                <a16:creationId xmlns:a16="http://schemas.microsoft.com/office/drawing/2014/main" id="{58DE0B54-9BE7-4F55-A842-170B2B3B2C72}"/>
              </a:ext>
            </a:extLst>
          </p:cNvPr>
          <p:cNvSpPr txBox="1">
            <a:spLocks noChangeArrowheads="1"/>
          </p:cNvSpPr>
          <p:nvPr/>
        </p:nvSpPr>
        <p:spPr bwMode="auto">
          <a:xfrm>
            <a:off x="7239000" y="2041678"/>
            <a:ext cx="990600" cy="4339650"/>
          </a:xfrm>
          <a:prstGeom prst="rect">
            <a:avLst/>
          </a:prstGeom>
          <a:noFill/>
          <a:ln w="9525">
            <a:noFill/>
            <a:miter lim="800000"/>
            <a:headEnd/>
            <a:tailEnd/>
          </a:ln>
        </p:spPr>
        <p:txBody>
          <a:bodyPr>
            <a:spAutoFit/>
          </a:bodyPr>
          <a:lstStyle/>
          <a:p>
            <a:pPr eaLnBrk="1" hangingPunct="1">
              <a:spcBef>
                <a:spcPct val="50000"/>
              </a:spcBef>
            </a:pPr>
            <a:r>
              <a:rPr lang="en-US" altLang="zh-CN" sz="2400"/>
              <a:t>9134</a:t>
            </a:r>
          </a:p>
          <a:p>
            <a:pPr eaLnBrk="1" hangingPunct="1">
              <a:spcBef>
                <a:spcPct val="50000"/>
              </a:spcBef>
            </a:pPr>
            <a:r>
              <a:rPr lang="en-US" altLang="zh-CN" sz="2400"/>
              <a:t>9187</a:t>
            </a:r>
          </a:p>
          <a:p>
            <a:pPr eaLnBrk="1" hangingPunct="1">
              <a:spcBef>
                <a:spcPct val="50000"/>
              </a:spcBef>
            </a:pPr>
            <a:r>
              <a:rPr lang="en-US" altLang="zh-CN" sz="2400"/>
              <a:t>1239</a:t>
            </a:r>
          </a:p>
          <a:p>
            <a:pPr eaLnBrk="1" hangingPunct="1">
              <a:spcBef>
                <a:spcPct val="50000"/>
              </a:spcBef>
            </a:pPr>
            <a:r>
              <a:rPr lang="en-US" altLang="zh-CN" sz="2400"/>
              <a:t>1247</a:t>
            </a:r>
          </a:p>
          <a:p>
            <a:pPr eaLnBrk="1" hangingPunct="1">
              <a:spcBef>
                <a:spcPct val="50000"/>
              </a:spcBef>
            </a:pPr>
            <a:r>
              <a:rPr lang="en-US" altLang="zh-CN" sz="2400"/>
              <a:t>3275</a:t>
            </a:r>
          </a:p>
          <a:p>
            <a:pPr eaLnBrk="1" hangingPunct="1">
              <a:spcBef>
                <a:spcPct val="50000"/>
              </a:spcBef>
            </a:pPr>
            <a:r>
              <a:rPr lang="en-US" altLang="zh-CN" sz="2400"/>
              <a:t>7467</a:t>
            </a:r>
          </a:p>
          <a:p>
            <a:pPr eaLnBrk="1" hangingPunct="1">
              <a:spcBef>
                <a:spcPct val="50000"/>
              </a:spcBef>
            </a:pPr>
            <a:r>
              <a:rPr lang="en-US" altLang="zh-CN" sz="2400"/>
              <a:t>4675</a:t>
            </a:r>
          </a:p>
          <a:p>
            <a:pPr eaLnBrk="1" hangingPunct="1">
              <a:spcBef>
                <a:spcPct val="50000"/>
              </a:spcBef>
            </a:pPr>
            <a:r>
              <a:rPr lang="en-US" altLang="zh-CN" sz="2400"/>
              <a:t>6792</a:t>
            </a:r>
          </a:p>
        </p:txBody>
      </p:sp>
      <p:sp>
        <p:nvSpPr>
          <p:cNvPr id="8" name="Text Box 8">
            <a:extLst>
              <a:ext uri="{FF2B5EF4-FFF2-40B4-BE49-F238E27FC236}">
                <a16:creationId xmlns:a16="http://schemas.microsoft.com/office/drawing/2014/main" id="{B6605CFC-9460-45BE-BDC9-24B065031263}"/>
              </a:ext>
            </a:extLst>
          </p:cNvPr>
          <p:cNvSpPr txBox="1">
            <a:spLocks noChangeArrowheads="1"/>
          </p:cNvSpPr>
          <p:nvPr/>
        </p:nvSpPr>
        <p:spPr bwMode="auto">
          <a:xfrm>
            <a:off x="8839200" y="2041678"/>
            <a:ext cx="1219200" cy="4339650"/>
          </a:xfrm>
          <a:prstGeom prst="rect">
            <a:avLst/>
          </a:prstGeom>
          <a:noFill/>
          <a:ln w="9525">
            <a:noFill/>
            <a:miter lim="800000"/>
            <a:headEnd/>
            <a:tailEnd/>
          </a:ln>
        </p:spPr>
        <p:txBody>
          <a:bodyPr>
            <a:spAutoFit/>
          </a:bodyPr>
          <a:lstStyle/>
          <a:p>
            <a:pPr eaLnBrk="1" hangingPunct="1">
              <a:spcBef>
                <a:spcPct val="50000"/>
              </a:spcBef>
            </a:pPr>
            <a:r>
              <a:rPr lang="en-US" altLang="zh-CN" sz="2400"/>
              <a:t>1239</a:t>
            </a:r>
          </a:p>
          <a:p>
            <a:pPr eaLnBrk="1" hangingPunct="1">
              <a:spcBef>
                <a:spcPct val="50000"/>
              </a:spcBef>
            </a:pPr>
            <a:r>
              <a:rPr lang="en-US" altLang="zh-CN" sz="2400"/>
              <a:t>1247</a:t>
            </a:r>
          </a:p>
          <a:p>
            <a:pPr eaLnBrk="1" hangingPunct="1">
              <a:spcBef>
                <a:spcPct val="50000"/>
              </a:spcBef>
            </a:pPr>
            <a:r>
              <a:rPr lang="en-US" altLang="zh-CN" sz="2400"/>
              <a:t>3275</a:t>
            </a:r>
          </a:p>
          <a:p>
            <a:pPr eaLnBrk="1" hangingPunct="1">
              <a:spcBef>
                <a:spcPct val="50000"/>
              </a:spcBef>
            </a:pPr>
            <a:r>
              <a:rPr lang="en-US" altLang="zh-CN" sz="2400"/>
              <a:t>4675</a:t>
            </a:r>
          </a:p>
          <a:p>
            <a:pPr eaLnBrk="1" hangingPunct="1">
              <a:spcBef>
                <a:spcPct val="50000"/>
              </a:spcBef>
            </a:pPr>
            <a:r>
              <a:rPr lang="en-US" altLang="zh-CN" sz="2400"/>
              <a:t>6792</a:t>
            </a:r>
          </a:p>
          <a:p>
            <a:pPr eaLnBrk="1" hangingPunct="1">
              <a:spcBef>
                <a:spcPct val="50000"/>
              </a:spcBef>
            </a:pPr>
            <a:r>
              <a:rPr lang="en-US" altLang="zh-CN" sz="2400"/>
              <a:t>7467</a:t>
            </a:r>
          </a:p>
          <a:p>
            <a:pPr eaLnBrk="1" hangingPunct="1">
              <a:spcBef>
                <a:spcPct val="50000"/>
              </a:spcBef>
            </a:pPr>
            <a:r>
              <a:rPr lang="en-US" altLang="zh-CN" sz="2400"/>
              <a:t>9134</a:t>
            </a:r>
          </a:p>
          <a:p>
            <a:pPr eaLnBrk="1" hangingPunct="1">
              <a:spcBef>
                <a:spcPct val="50000"/>
              </a:spcBef>
            </a:pPr>
            <a:r>
              <a:rPr lang="en-US" altLang="zh-CN" sz="2400"/>
              <a:t>9187</a:t>
            </a:r>
          </a:p>
        </p:txBody>
      </p:sp>
    </p:spTree>
    <p:extLst>
      <p:ext uri="{BB962C8B-B14F-4D97-AF65-F5344CB8AC3E}">
        <p14:creationId xmlns:p14="http://schemas.microsoft.com/office/powerpoint/2010/main" val="4009522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1792AB-B8F3-4DD3-82E4-FFA764DB01AA}"/>
              </a:ext>
            </a:extLst>
          </p:cNvPr>
          <p:cNvSpPr>
            <a:spLocks noGrp="1"/>
          </p:cNvSpPr>
          <p:nvPr>
            <p:ph type="title"/>
          </p:nvPr>
        </p:nvSpPr>
        <p:spPr/>
        <p:txBody>
          <a:bodyPr/>
          <a:lstStyle/>
          <a:p>
            <a:r>
              <a:rPr lang="zh-CN" altLang="en-US" dirty="0"/>
              <a:t>基数排序</a:t>
            </a:r>
          </a:p>
        </p:txBody>
      </p:sp>
      <p:sp>
        <p:nvSpPr>
          <p:cNvPr id="3" name="内容占位符 2">
            <a:extLst>
              <a:ext uri="{FF2B5EF4-FFF2-40B4-BE49-F238E27FC236}">
                <a16:creationId xmlns:a16="http://schemas.microsoft.com/office/drawing/2014/main" id="{6AAD9CB0-3489-4417-AE7B-26B7DAC5B31D}"/>
              </a:ext>
            </a:extLst>
          </p:cNvPr>
          <p:cNvSpPr>
            <a:spLocks noGrp="1"/>
          </p:cNvSpPr>
          <p:nvPr>
            <p:ph idx="1"/>
          </p:nvPr>
        </p:nvSpPr>
        <p:spPr/>
        <p:txBody>
          <a:bodyPr>
            <a:noAutofit/>
          </a:bodyPr>
          <a:lstStyle/>
          <a:p>
            <a:pPr lvl="0" eaLnBrk="1" hangingPunct="1">
              <a:spcBef>
                <a:spcPts val="0"/>
              </a:spcBef>
              <a:buNone/>
            </a:pPr>
            <a:r>
              <a:rPr lang="en-US" altLang="zh-CN" sz="1800" dirty="0">
                <a:solidFill>
                  <a:srgbClr val="000000"/>
                </a:solidFill>
              </a:rPr>
              <a:t>Algorithm </a:t>
            </a:r>
            <a:r>
              <a:rPr lang="en-US" altLang="zh-CN" sz="1800" dirty="0" err="1">
                <a:solidFill>
                  <a:srgbClr val="000000"/>
                </a:solidFill>
              </a:rPr>
              <a:t>Straight_Radix</a:t>
            </a:r>
            <a:r>
              <a:rPr lang="en-US" altLang="zh-CN" sz="1800" dirty="0">
                <a:solidFill>
                  <a:srgbClr val="000000"/>
                </a:solidFill>
              </a:rPr>
              <a:t>(</a:t>
            </a:r>
            <a:r>
              <a:rPr lang="en-US" altLang="zh-CN" sz="1800" dirty="0" err="1">
                <a:solidFill>
                  <a:srgbClr val="000000"/>
                </a:solidFill>
              </a:rPr>
              <a:t>X,n,k</a:t>
            </a:r>
            <a:r>
              <a:rPr lang="en-US" altLang="zh-CN" sz="1800" dirty="0">
                <a:solidFill>
                  <a:srgbClr val="000000"/>
                </a:solidFill>
              </a:rPr>
              <a:t>)</a:t>
            </a:r>
          </a:p>
          <a:p>
            <a:pPr lvl="0" eaLnBrk="1" hangingPunct="1">
              <a:spcBef>
                <a:spcPts val="0"/>
              </a:spcBef>
              <a:buNone/>
            </a:pPr>
            <a:r>
              <a:rPr lang="en-US" altLang="zh-CN" sz="1800" dirty="0">
                <a:solidFill>
                  <a:srgbClr val="000000"/>
                </a:solidFill>
              </a:rPr>
              <a:t>Input: X (an array of  n integers, each with k digits, in the range 1 to d)</a:t>
            </a:r>
          </a:p>
          <a:p>
            <a:pPr lvl="0" eaLnBrk="1" hangingPunct="1">
              <a:spcBef>
                <a:spcPts val="0"/>
              </a:spcBef>
              <a:buNone/>
            </a:pPr>
            <a:r>
              <a:rPr lang="en-US" altLang="zh-CN" sz="1800" dirty="0">
                <a:solidFill>
                  <a:srgbClr val="000000"/>
                </a:solidFill>
              </a:rPr>
              <a:t>Output: X (the array in sorted order)</a:t>
            </a:r>
          </a:p>
          <a:p>
            <a:pPr lvl="0" eaLnBrk="1" hangingPunct="1">
              <a:spcBef>
                <a:spcPts val="0"/>
              </a:spcBef>
              <a:buNone/>
            </a:pPr>
            <a:r>
              <a:rPr lang="en-US" altLang="zh-CN" sz="1800" dirty="0">
                <a:solidFill>
                  <a:srgbClr val="000000"/>
                </a:solidFill>
              </a:rPr>
              <a:t>begin</a:t>
            </a:r>
          </a:p>
          <a:p>
            <a:pPr lvl="0" eaLnBrk="1" hangingPunct="1">
              <a:spcBef>
                <a:spcPts val="0"/>
              </a:spcBef>
              <a:buNone/>
            </a:pPr>
            <a:r>
              <a:rPr lang="en-US" altLang="zh-CN" sz="1800" dirty="0">
                <a:solidFill>
                  <a:srgbClr val="000000"/>
                </a:solidFill>
              </a:rPr>
              <a:t>    Assume all elements are initially in a global queue GQ;</a:t>
            </a:r>
          </a:p>
          <a:p>
            <a:pPr lvl="0" eaLnBrk="1" hangingPunct="1">
              <a:spcBef>
                <a:spcPts val="0"/>
              </a:spcBef>
              <a:buNone/>
            </a:pPr>
            <a:r>
              <a:rPr lang="en-US" altLang="zh-CN" sz="1800" dirty="0">
                <a:solidFill>
                  <a:srgbClr val="000000"/>
                </a:solidFill>
              </a:rPr>
              <a:t>    for i:=1 to d do      {d is the number of possible digits}</a:t>
            </a:r>
          </a:p>
          <a:p>
            <a:pPr lvl="0" eaLnBrk="1" hangingPunct="1">
              <a:spcBef>
                <a:spcPts val="0"/>
              </a:spcBef>
              <a:buNone/>
            </a:pPr>
            <a:r>
              <a:rPr lang="en-US" altLang="zh-CN" sz="1800" dirty="0">
                <a:solidFill>
                  <a:srgbClr val="000000"/>
                </a:solidFill>
              </a:rPr>
              <a:t>        initialize queue Q[</a:t>
            </a:r>
            <a:r>
              <a:rPr lang="en-US" altLang="zh-CN" sz="1800" dirty="0" err="1">
                <a:solidFill>
                  <a:srgbClr val="000000"/>
                </a:solidFill>
              </a:rPr>
              <a:t>i</a:t>
            </a:r>
            <a:r>
              <a:rPr lang="en-US" altLang="zh-CN" sz="1800" dirty="0">
                <a:solidFill>
                  <a:srgbClr val="000000"/>
                </a:solidFill>
              </a:rPr>
              <a:t>] to be empty;</a:t>
            </a:r>
          </a:p>
          <a:p>
            <a:pPr lvl="0" eaLnBrk="1" hangingPunct="1">
              <a:spcBef>
                <a:spcPts val="0"/>
              </a:spcBef>
              <a:buNone/>
            </a:pPr>
            <a:r>
              <a:rPr lang="en-US" altLang="zh-CN" sz="1800" dirty="0">
                <a:solidFill>
                  <a:srgbClr val="000000"/>
                </a:solidFill>
              </a:rPr>
              <a:t>    for i:=k </a:t>
            </a:r>
            <a:r>
              <a:rPr lang="en-US" altLang="zh-CN" sz="1800" dirty="0" err="1">
                <a:solidFill>
                  <a:srgbClr val="000000"/>
                </a:solidFill>
              </a:rPr>
              <a:t>downto</a:t>
            </a:r>
            <a:r>
              <a:rPr lang="en-US" altLang="zh-CN" sz="1800" dirty="0">
                <a:solidFill>
                  <a:srgbClr val="000000"/>
                </a:solidFill>
              </a:rPr>
              <a:t> 1 do</a:t>
            </a:r>
          </a:p>
          <a:p>
            <a:pPr lvl="0" eaLnBrk="1" hangingPunct="1">
              <a:spcBef>
                <a:spcPts val="0"/>
              </a:spcBef>
              <a:buNone/>
            </a:pPr>
            <a:r>
              <a:rPr lang="en-US" altLang="zh-CN" sz="1800" dirty="0">
                <a:solidFill>
                  <a:srgbClr val="000000"/>
                </a:solidFill>
              </a:rPr>
              <a:t>        while GQ is not empty do</a:t>
            </a:r>
          </a:p>
          <a:p>
            <a:pPr lvl="0" eaLnBrk="1" hangingPunct="1">
              <a:spcBef>
                <a:spcPts val="0"/>
              </a:spcBef>
              <a:buNone/>
            </a:pPr>
            <a:r>
              <a:rPr lang="en-US" altLang="zh-CN" sz="1800" dirty="0">
                <a:solidFill>
                  <a:srgbClr val="000000"/>
                </a:solidFill>
              </a:rPr>
              <a:t>            pop x from GQ;</a:t>
            </a:r>
          </a:p>
          <a:p>
            <a:pPr lvl="0" eaLnBrk="1" hangingPunct="1">
              <a:spcBef>
                <a:spcPts val="0"/>
              </a:spcBef>
              <a:buNone/>
            </a:pPr>
            <a:r>
              <a:rPr lang="en-US" altLang="zh-CN" sz="1800" dirty="0">
                <a:solidFill>
                  <a:srgbClr val="000000"/>
                </a:solidFill>
              </a:rPr>
              <a:t>            f:=the </a:t>
            </a:r>
            <a:r>
              <a:rPr lang="en-US" altLang="zh-CN" sz="1800" i="1" dirty="0" err="1">
                <a:solidFill>
                  <a:srgbClr val="000000"/>
                </a:solidFill>
              </a:rPr>
              <a:t>i</a:t>
            </a:r>
            <a:r>
              <a:rPr lang="en-US" altLang="zh-CN" sz="1800" dirty="0" err="1">
                <a:solidFill>
                  <a:srgbClr val="000000"/>
                </a:solidFill>
              </a:rPr>
              <a:t>th</a:t>
            </a:r>
            <a:r>
              <a:rPr lang="en-US" altLang="zh-CN" sz="1800" dirty="0">
                <a:solidFill>
                  <a:srgbClr val="000000"/>
                </a:solidFill>
              </a:rPr>
              <a:t> digit of x;</a:t>
            </a:r>
          </a:p>
          <a:p>
            <a:pPr lvl="0" eaLnBrk="1" hangingPunct="1">
              <a:spcBef>
                <a:spcPts val="0"/>
              </a:spcBef>
              <a:buNone/>
            </a:pPr>
            <a:r>
              <a:rPr lang="en-US" altLang="zh-CN" sz="1800" dirty="0">
                <a:solidFill>
                  <a:srgbClr val="000000"/>
                </a:solidFill>
              </a:rPr>
              <a:t>            insert x into Q[f];</a:t>
            </a:r>
          </a:p>
          <a:p>
            <a:pPr lvl="0" eaLnBrk="1" hangingPunct="1">
              <a:spcBef>
                <a:spcPts val="0"/>
              </a:spcBef>
              <a:buNone/>
            </a:pPr>
            <a:r>
              <a:rPr lang="en-US" altLang="zh-CN" sz="1800" dirty="0">
                <a:solidFill>
                  <a:srgbClr val="000000"/>
                </a:solidFill>
              </a:rPr>
              <a:t>        for t:=1 to d do</a:t>
            </a:r>
          </a:p>
          <a:p>
            <a:pPr lvl="0" eaLnBrk="1" hangingPunct="1">
              <a:spcBef>
                <a:spcPts val="0"/>
              </a:spcBef>
              <a:buNone/>
            </a:pPr>
            <a:r>
              <a:rPr lang="en-US" altLang="zh-CN" sz="1800" dirty="0">
                <a:solidFill>
                  <a:srgbClr val="000000"/>
                </a:solidFill>
              </a:rPr>
              <a:t>            insert Q[t] into GQ;</a:t>
            </a:r>
          </a:p>
          <a:p>
            <a:pPr lvl="0" eaLnBrk="1" hangingPunct="1">
              <a:spcBef>
                <a:spcPts val="0"/>
              </a:spcBef>
              <a:buNone/>
            </a:pPr>
            <a:r>
              <a:rPr lang="en-US" altLang="zh-CN" sz="1800" dirty="0">
                <a:solidFill>
                  <a:srgbClr val="000000"/>
                </a:solidFill>
              </a:rPr>
              <a:t>    for i:= 1 to n do</a:t>
            </a:r>
          </a:p>
          <a:p>
            <a:pPr lvl="0" eaLnBrk="1" hangingPunct="1">
              <a:spcBef>
                <a:spcPts val="0"/>
              </a:spcBef>
              <a:buNone/>
            </a:pPr>
            <a:r>
              <a:rPr lang="en-US" altLang="zh-CN" sz="1800" dirty="0">
                <a:solidFill>
                  <a:srgbClr val="000000"/>
                </a:solidFill>
              </a:rPr>
              <a:t>        pop X[</a:t>
            </a:r>
            <a:r>
              <a:rPr lang="en-US" altLang="zh-CN" sz="1800" dirty="0" err="1">
                <a:solidFill>
                  <a:srgbClr val="000000"/>
                </a:solidFill>
              </a:rPr>
              <a:t>i</a:t>
            </a:r>
            <a:r>
              <a:rPr lang="en-US" altLang="zh-CN" sz="1800" dirty="0">
                <a:solidFill>
                  <a:srgbClr val="000000"/>
                </a:solidFill>
              </a:rPr>
              <a:t>] from GQ</a:t>
            </a:r>
          </a:p>
          <a:p>
            <a:pPr lvl="0" eaLnBrk="1" hangingPunct="1">
              <a:spcBef>
                <a:spcPts val="0"/>
              </a:spcBef>
              <a:buNone/>
            </a:pPr>
            <a:r>
              <a:rPr lang="en-US" altLang="zh-CN" sz="1800" dirty="0">
                <a:solidFill>
                  <a:srgbClr val="000000"/>
                </a:solidFill>
              </a:rPr>
              <a:t>end</a:t>
            </a:r>
          </a:p>
          <a:p>
            <a:endParaRPr lang="zh-CN" altLang="en-US" sz="1800" dirty="0"/>
          </a:p>
        </p:txBody>
      </p:sp>
      <p:sp>
        <p:nvSpPr>
          <p:cNvPr id="4" name="Text Box 3">
            <a:extLst>
              <a:ext uri="{FF2B5EF4-FFF2-40B4-BE49-F238E27FC236}">
                <a16:creationId xmlns:a16="http://schemas.microsoft.com/office/drawing/2014/main" id="{4A636079-82F6-4C86-B5FE-C48A7651AFFC}"/>
              </a:ext>
            </a:extLst>
          </p:cNvPr>
          <p:cNvSpPr txBox="1">
            <a:spLocks noChangeArrowheads="1"/>
          </p:cNvSpPr>
          <p:nvPr/>
        </p:nvSpPr>
        <p:spPr bwMode="auto">
          <a:xfrm>
            <a:off x="6629400" y="4114800"/>
            <a:ext cx="2514600" cy="427038"/>
          </a:xfrm>
          <a:prstGeom prst="rect">
            <a:avLst/>
          </a:prstGeom>
          <a:noFill/>
          <a:ln w="9525">
            <a:noFill/>
            <a:miter lim="800000"/>
            <a:headEnd/>
            <a:tailEnd/>
          </a:ln>
        </p:spPr>
        <p:txBody>
          <a:bodyPr>
            <a:spAutoFit/>
          </a:bodyPr>
          <a:lstStyle/>
          <a:p>
            <a:pPr eaLnBrk="1" hangingPunct="1">
              <a:spcBef>
                <a:spcPct val="50000"/>
              </a:spcBef>
            </a:pPr>
            <a:r>
              <a:rPr lang="zh-CN" altLang="en-US" sz="2200" dirty="0">
                <a:solidFill>
                  <a:srgbClr val="000000"/>
                </a:solidFill>
              </a:rPr>
              <a:t>复杂度：</a:t>
            </a:r>
            <a:r>
              <a:rPr lang="en-US" altLang="zh-CN" sz="2200" dirty="0">
                <a:solidFill>
                  <a:srgbClr val="000000"/>
                </a:solidFill>
              </a:rPr>
              <a:t>O(</a:t>
            </a:r>
            <a:r>
              <a:rPr lang="en-US" altLang="zh-CN" sz="2200" dirty="0" err="1">
                <a:solidFill>
                  <a:srgbClr val="000000"/>
                </a:solidFill>
              </a:rPr>
              <a:t>nk</a:t>
            </a:r>
            <a:r>
              <a:rPr lang="en-US" altLang="zh-CN" sz="2200" dirty="0">
                <a:solidFill>
                  <a:srgbClr val="000000"/>
                </a:solidFill>
              </a:rPr>
              <a:t>)</a:t>
            </a:r>
            <a:endParaRPr lang="en-US" altLang="zh-CN" dirty="0">
              <a:solidFill>
                <a:srgbClr val="000000"/>
              </a:solidFill>
            </a:endParaRPr>
          </a:p>
        </p:txBody>
      </p:sp>
    </p:spTree>
    <p:extLst>
      <p:ext uri="{BB962C8B-B14F-4D97-AF65-F5344CB8AC3E}">
        <p14:creationId xmlns:p14="http://schemas.microsoft.com/office/powerpoint/2010/main" val="1451431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D2E264-51FD-4C05-8BF6-E593D639F06F}"/>
              </a:ext>
            </a:extLst>
          </p:cNvPr>
          <p:cNvSpPr>
            <a:spLocks noGrp="1"/>
          </p:cNvSpPr>
          <p:nvPr>
            <p:ph type="title"/>
          </p:nvPr>
        </p:nvSpPr>
        <p:spPr/>
        <p:txBody>
          <a:bodyPr/>
          <a:lstStyle/>
          <a:p>
            <a:r>
              <a:rPr lang="zh-CN" altLang="en-US" dirty="0"/>
              <a:t>秩</a:t>
            </a:r>
          </a:p>
        </p:txBody>
      </p:sp>
      <p:sp>
        <p:nvSpPr>
          <p:cNvPr id="3" name="内容占位符 2">
            <a:extLst>
              <a:ext uri="{FF2B5EF4-FFF2-40B4-BE49-F238E27FC236}">
                <a16:creationId xmlns:a16="http://schemas.microsoft.com/office/drawing/2014/main" id="{D24BF674-70E0-496E-89A1-90B2AB605231}"/>
              </a:ext>
            </a:extLst>
          </p:cNvPr>
          <p:cNvSpPr>
            <a:spLocks noGrp="1"/>
          </p:cNvSpPr>
          <p:nvPr>
            <p:ph idx="1"/>
          </p:nvPr>
        </p:nvSpPr>
        <p:spPr/>
        <p:txBody>
          <a:bodyPr>
            <a:normAutofit/>
          </a:bodyPr>
          <a:lstStyle/>
          <a:p>
            <a:r>
              <a:rPr lang="zh-CN" altLang="en-US" sz="2400" dirty="0">
                <a:solidFill>
                  <a:srgbClr val="000000"/>
                </a:solidFill>
              </a:rPr>
              <a:t>已知序列</a:t>
            </a:r>
            <a:r>
              <a:rPr lang="en-US" altLang="zh-CN" sz="2400" dirty="0">
                <a:solidFill>
                  <a:srgbClr val="000000"/>
                </a:solidFill>
              </a:rPr>
              <a:t>S= x</a:t>
            </a:r>
            <a:r>
              <a:rPr lang="en-US" altLang="zh-CN" sz="2400" baseline="-25000" dirty="0">
                <a:solidFill>
                  <a:srgbClr val="000000"/>
                </a:solidFill>
              </a:rPr>
              <a:t>1</a:t>
            </a:r>
            <a:r>
              <a:rPr lang="en-US" altLang="zh-CN" sz="2400" dirty="0">
                <a:solidFill>
                  <a:srgbClr val="000000"/>
                </a:solidFill>
              </a:rPr>
              <a:t>,x</a:t>
            </a:r>
            <a:r>
              <a:rPr lang="en-US" altLang="zh-CN" sz="2400" baseline="-25000" dirty="0">
                <a:solidFill>
                  <a:srgbClr val="000000"/>
                </a:solidFill>
              </a:rPr>
              <a:t>2</a:t>
            </a:r>
            <a:r>
              <a:rPr lang="en-US" altLang="zh-CN" sz="2400" dirty="0">
                <a:solidFill>
                  <a:srgbClr val="000000"/>
                </a:solidFill>
              </a:rPr>
              <a:t>,…,</a:t>
            </a:r>
            <a:r>
              <a:rPr lang="en-US" altLang="zh-CN" sz="2400" dirty="0" err="1">
                <a:solidFill>
                  <a:srgbClr val="000000"/>
                </a:solidFill>
              </a:rPr>
              <a:t>x</a:t>
            </a:r>
            <a:r>
              <a:rPr lang="en-US" altLang="zh-CN" sz="2400" baseline="-25000" dirty="0" err="1">
                <a:solidFill>
                  <a:srgbClr val="000000"/>
                </a:solidFill>
              </a:rPr>
              <a:t>n</a:t>
            </a:r>
            <a:r>
              <a:rPr lang="zh-CN" altLang="en-US" sz="2400" dirty="0">
                <a:solidFill>
                  <a:srgbClr val="000000"/>
                </a:solidFill>
              </a:rPr>
              <a:t>。若</a:t>
            </a:r>
            <a:r>
              <a:rPr lang="en-US" altLang="zh-CN" sz="2400" dirty="0">
                <a:solidFill>
                  <a:srgbClr val="000000"/>
                </a:solidFill>
              </a:rPr>
              <a:t>x</a:t>
            </a:r>
            <a:r>
              <a:rPr lang="en-US" altLang="zh-CN" sz="2400" baseline="-25000" dirty="0">
                <a:solidFill>
                  <a:srgbClr val="000000"/>
                </a:solidFill>
              </a:rPr>
              <a:t>i</a:t>
            </a:r>
            <a:r>
              <a:rPr lang="zh-CN" altLang="en-US" sz="2400" dirty="0">
                <a:solidFill>
                  <a:srgbClr val="000000"/>
                </a:solidFill>
              </a:rPr>
              <a:t>是</a:t>
            </a:r>
            <a:r>
              <a:rPr lang="en-US" altLang="zh-CN" sz="2400" dirty="0">
                <a:solidFill>
                  <a:srgbClr val="000000"/>
                </a:solidFill>
              </a:rPr>
              <a:t>S</a:t>
            </a:r>
            <a:r>
              <a:rPr lang="zh-CN" altLang="en-US" sz="2400" dirty="0">
                <a:solidFill>
                  <a:srgbClr val="000000"/>
                </a:solidFill>
              </a:rPr>
              <a:t>中第</a:t>
            </a:r>
            <a:r>
              <a:rPr lang="en-US" altLang="zh-CN" sz="2400" dirty="0">
                <a:solidFill>
                  <a:srgbClr val="000000"/>
                </a:solidFill>
              </a:rPr>
              <a:t>k</a:t>
            </a:r>
            <a:r>
              <a:rPr lang="zh-CN" altLang="en-US" sz="2400" dirty="0">
                <a:solidFill>
                  <a:srgbClr val="000000"/>
                </a:solidFill>
              </a:rPr>
              <a:t>小的数，称</a:t>
            </a:r>
            <a:r>
              <a:rPr lang="en-US" altLang="zh-CN" sz="2400" dirty="0">
                <a:solidFill>
                  <a:srgbClr val="000000"/>
                </a:solidFill>
              </a:rPr>
              <a:t>x</a:t>
            </a:r>
            <a:r>
              <a:rPr lang="en-US" altLang="zh-CN" sz="2400" baseline="-25000" dirty="0">
                <a:solidFill>
                  <a:srgbClr val="000000"/>
                </a:solidFill>
              </a:rPr>
              <a:t>i</a:t>
            </a:r>
            <a:r>
              <a:rPr lang="zh-CN" altLang="en-US" sz="2400" dirty="0">
                <a:solidFill>
                  <a:srgbClr val="000000"/>
                </a:solidFill>
              </a:rPr>
              <a:t>在</a:t>
            </a:r>
            <a:r>
              <a:rPr lang="en-US" altLang="zh-CN" sz="2400" dirty="0">
                <a:solidFill>
                  <a:srgbClr val="000000"/>
                </a:solidFill>
              </a:rPr>
              <a:t>S</a:t>
            </a:r>
            <a:r>
              <a:rPr lang="zh-CN" altLang="en-US" sz="2400" dirty="0">
                <a:solidFill>
                  <a:srgbClr val="000000"/>
                </a:solidFill>
              </a:rPr>
              <a:t>中的秩是</a:t>
            </a:r>
            <a:r>
              <a:rPr lang="en-US" altLang="zh-CN" sz="2400" dirty="0">
                <a:solidFill>
                  <a:srgbClr val="000000"/>
                </a:solidFill>
              </a:rPr>
              <a:t>k</a:t>
            </a:r>
            <a:r>
              <a:rPr lang="zh-CN" altLang="en-US" sz="2400" dirty="0">
                <a:solidFill>
                  <a:srgbClr val="000000"/>
                </a:solidFill>
              </a:rPr>
              <a:t>。通过排序，很容易就能知道每个数在序列中的秩，然而有些关于秩的问题不用排序也能解决。</a:t>
            </a:r>
          </a:p>
          <a:p>
            <a:endParaRPr lang="zh-CN" altLang="en-US" sz="2400" dirty="0"/>
          </a:p>
        </p:txBody>
      </p:sp>
    </p:spTree>
    <p:extLst>
      <p:ext uri="{BB962C8B-B14F-4D97-AF65-F5344CB8AC3E}">
        <p14:creationId xmlns:p14="http://schemas.microsoft.com/office/powerpoint/2010/main" val="2756156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3A9B0-15D1-4AAD-90A6-900F0269C601}"/>
              </a:ext>
            </a:extLst>
          </p:cNvPr>
          <p:cNvSpPr>
            <a:spLocks noGrp="1"/>
          </p:cNvSpPr>
          <p:nvPr>
            <p:ph type="title"/>
          </p:nvPr>
        </p:nvSpPr>
        <p:spPr/>
        <p:txBody>
          <a:bodyPr/>
          <a:lstStyle/>
          <a:p>
            <a:r>
              <a:rPr lang="zh-CN" altLang="en-US" dirty="0"/>
              <a:t>最大和最小数</a:t>
            </a:r>
          </a:p>
        </p:txBody>
      </p:sp>
      <p:sp>
        <p:nvSpPr>
          <p:cNvPr id="3" name="内容占位符 2">
            <a:extLst>
              <a:ext uri="{FF2B5EF4-FFF2-40B4-BE49-F238E27FC236}">
                <a16:creationId xmlns:a16="http://schemas.microsoft.com/office/drawing/2014/main" id="{51CE7AF9-1AE4-4F70-BAEF-BAEFA616263D}"/>
              </a:ext>
            </a:extLst>
          </p:cNvPr>
          <p:cNvSpPr>
            <a:spLocks noGrp="1"/>
          </p:cNvSpPr>
          <p:nvPr>
            <p:ph idx="1"/>
          </p:nvPr>
        </p:nvSpPr>
        <p:spPr/>
        <p:txBody>
          <a:bodyPr>
            <a:normAutofit/>
          </a:bodyPr>
          <a:lstStyle/>
          <a:p>
            <a:r>
              <a:rPr lang="zh-CN" altLang="en-US" sz="2400" dirty="0">
                <a:solidFill>
                  <a:srgbClr val="000000"/>
                </a:solidFill>
              </a:rPr>
              <a:t>单独查找序列中的最大和最小数是很方便的。如果知道前</a:t>
            </a:r>
            <a:r>
              <a:rPr lang="en-US" altLang="zh-CN" sz="2400" dirty="0">
                <a:solidFill>
                  <a:srgbClr val="000000"/>
                </a:solidFill>
              </a:rPr>
              <a:t>n-1</a:t>
            </a:r>
            <a:r>
              <a:rPr lang="zh-CN" altLang="en-US" sz="2400" dirty="0">
                <a:solidFill>
                  <a:srgbClr val="000000"/>
                </a:solidFill>
              </a:rPr>
              <a:t>个数构成的序列中的最大数，就只需将这个最大数同第</a:t>
            </a:r>
            <a:r>
              <a:rPr lang="en-US" altLang="zh-CN" sz="2400" dirty="0">
                <a:solidFill>
                  <a:srgbClr val="000000"/>
                </a:solidFill>
              </a:rPr>
              <a:t>n</a:t>
            </a:r>
            <a:r>
              <a:rPr lang="zh-CN" altLang="en-US" sz="2400" dirty="0">
                <a:solidFill>
                  <a:srgbClr val="000000"/>
                </a:solidFill>
              </a:rPr>
              <a:t>个数作比较，从而得到这</a:t>
            </a:r>
            <a:r>
              <a:rPr lang="en-US" altLang="zh-CN" sz="2400" dirty="0">
                <a:solidFill>
                  <a:srgbClr val="000000"/>
                </a:solidFill>
              </a:rPr>
              <a:t>n</a:t>
            </a:r>
            <a:r>
              <a:rPr lang="zh-CN" altLang="en-US" sz="2400" dirty="0">
                <a:solidFill>
                  <a:srgbClr val="000000"/>
                </a:solidFill>
              </a:rPr>
              <a:t>个数中的最大数（查找</a:t>
            </a:r>
            <a:r>
              <a:rPr lang="en-US" altLang="zh-CN" sz="2400" dirty="0">
                <a:solidFill>
                  <a:srgbClr val="000000"/>
                </a:solidFill>
              </a:rPr>
              <a:t>1</a:t>
            </a:r>
            <a:r>
              <a:rPr lang="zh-CN" altLang="en-US" sz="2400" dirty="0">
                <a:solidFill>
                  <a:srgbClr val="000000"/>
                </a:solidFill>
              </a:rPr>
              <a:t>个数构成的序列中的最大数是显然的）。以上过程中从第</a:t>
            </a:r>
            <a:r>
              <a:rPr lang="en-US" altLang="zh-CN" sz="2400" dirty="0">
                <a:solidFill>
                  <a:srgbClr val="000000"/>
                </a:solidFill>
              </a:rPr>
              <a:t>2</a:t>
            </a:r>
            <a:r>
              <a:rPr lang="zh-CN" altLang="en-US" sz="2400" dirty="0">
                <a:solidFill>
                  <a:srgbClr val="000000"/>
                </a:solidFill>
              </a:rPr>
              <a:t>个数开始，每个数比较一次，因此共需比较</a:t>
            </a:r>
            <a:r>
              <a:rPr lang="en-US" altLang="zh-CN" sz="2400" dirty="0">
                <a:solidFill>
                  <a:srgbClr val="000000"/>
                </a:solidFill>
              </a:rPr>
              <a:t>n-1</a:t>
            </a:r>
            <a:r>
              <a:rPr lang="zh-CN" altLang="en-US" sz="2400" dirty="0">
                <a:solidFill>
                  <a:srgbClr val="000000"/>
                </a:solidFill>
              </a:rPr>
              <a:t>次。</a:t>
            </a:r>
          </a:p>
          <a:p>
            <a:r>
              <a:rPr lang="zh-CN" altLang="en-US" sz="2400" dirty="0">
                <a:solidFill>
                  <a:srgbClr val="000000"/>
                </a:solidFill>
              </a:rPr>
              <a:t>问题：在已知的某个序列中查找最大和最小数。</a:t>
            </a:r>
          </a:p>
          <a:p>
            <a:r>
              <a:rPr lang="zh-CN" altLang="en-US" sz="2400" dirty="0">
                <a:solidFill>
                  <a:srgbClr val="000000"/>
                </a:solidFill>
              </a:rPr>
              <a:t>直接法：分别查找最大数和最小数。这样一共要作</a:t>
            </a:r>
            <a:r>
              <a:rPr lang="en-US" altLang="zh-CN" sz="2400" dirty="0">
                <a:solidFill>
                  <a:srgbClr val="000000"/>
                </a:solidFill>
              </a:rPr>
              <a:t>2n-3</a:t>
            </a:r>
            <a:r>
              <a:rPr lang="zh-CN" altLang="en-US" sz="2400" dirty="0">
                <a:solidFill>
                  <a:srgbClr val="000000"/>
                </a:solidFill>
              </a:rPr>
              <a:t>次比较：</a:t>
            </a:r>
            <a:r>
              <a:rPr lang="en-US" altLang="zh-CN" sz="2400" dirty="0">
                <a:solidFill>
                  <a:srgbClr val="000000"/>
                </a:solidFill>
              </a:rPr>
              <a:t>n-1</a:t>
            </a:r>
            <a:r>
              <a:rPr lang="zh-CN" altLang="en-US" sz="2400" dirty="0">
                <a:solidFill>
                  <a:srgbClr val="000000"/>
                </a:solidFill>
              </a:rPr>
              <a:t>次找到最大数，</a:t>
            </a:r>
            <a:r>
              <a:rPr lang="en-US" altLang="zh-CN" sz="2400" dirty="0">
                <a:solidFill>
                  <a:srgbClr val="000000"/>
                </a:solidFill>
              </a:rPr>
              <a:t>n-2</a:t>
            </a:r>
            <a:r>
              <a:rPr lang="zh-CN" altLang="en-US" sz="2400" dirty="0">
                <a:solidFill>
                  <a:srgbClr val="000000"/>
                </a:solidFill>
              </a:rPr>
              <a:t>次找到最小数（因为此时可以排除最大数）。</a:t>
            </a:r>
          </a:p>
          <a:p>
            <a:endParaRPr lang="zh-CN" altLang="en-US" sz="2400" dirty="0"/>
          </a:p>
        </p:txBody>
      </p:sp>
    </p:spTree>
    <p:extLst>
      <p:ext uri="{BB962C8B-B14F-4D97-AF65-F5344CB8AC3E}">
        <p14:creationId xmlns:p14="http://schemas.microsoft.com/office/powerpoint/2010/main" val="2364070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47F799-547B-4FD9-B224-4BA22C6819A2}"/>
              </a:ext>
            </a:extLst>
          </p:cNvPr>
          <p:cNvSpPr>
            <a:spLocks noGrp="1"/>
          </p:cNvSpPr>
          <p:nvPr>
            <p:ph type="title"/>
          </p:nvPr>
        </p:nvSpPr>
        <p:spPr/>
        <p:txBody>
          <a:bodyPr/>
          <a:lstStyle/>
          <a:p>
            <a:r>
              <a:rPr lang="zh-CN" altLang="en-US" dirty="0"/>
              <a:t>最大和最小数</a:t>
            </a:r>
          </a:p>
        </p:txBody>
      </p:sp>
      <p:sp>
        <p:nvSpPr>
          <p:cNvPr id="3" name="内容占位符 2">
            <a:extLst>
              <a:ext uri="{FF2B5EF4-FFF2-40B4-BE49-F238E27FC236}">
                <a16:creationId xmlns:a16="http://schemas.microsoft.com/office/drawing/2014/main" id="{956ADFAA-4735-4B1D-9565-3F17F1D0881E}"/>
              </a:ext>
            </a:extLst>
          </p:cNvPr>
          <p:cNvSpPr>
            <a:spLocks noGrp="1"/>
          </p:cNvSpPr>
          <p:nvPr>
            <p:ph idx="1"/>
          </p:nvPr>
        </p:nvSpPr>
        <p:spPr/>
        <p:txBody>
          <a:bodyPr>
            <a:noAutofit/>
          </a:bodyPr>
          <a:lstStyle/>
          <a:p>
            <a:r>
              <a:rPr lang="zh-CN" altLang="en-US" sz="2000" dirty="0">
                <a:solidFill>
                  <a:srgbClr val="000000"/>
                </a:solidFill>
              </a:rPr>
              <a:t>归纳法：设知道</a:t>
            </a:r>
            <a:r>
              <a:rPr lang="en-US" altLang="zh-CN" sz="2000" dirty="0">
                <a:solidFill>
                  <a:srgbClr val="000000"/>
                </a:solidFill>
              </a:rPr>
              <a:t>n-1</a:t>
            </a:r>
            <a:r>
              <a:rPr lang="zh-CN" altLang="en-US" sz="2000" dirty="0">
                <a:solidFill>
                  <a:srgbClr val="000000"/>
                </a:solidFill>
              </a:rPr>
              <a:t>个数时问题的解，现在求</a:t>
            </a:r>
            <a:r>
              <a:rPr lang="en-US" altLang="zh-CN" sz="2000" dirty="0">
                <a:solidFill>
                  <a:srgbClr val="000000"/>
                </a:solidFill>
              </a:rPr>
              <a:t>n</a:t>
            </a:r>
            <a:r>
              <a:rPr lang="zh-CN" altLang="en-US" sz="2000" dirty="0">
                <a:solidFill>
                  <a:srgbClr val="000000"/>
                </a:solidFill>
              </a:rPr>
              <a:t>个数时的解。那么就只需要把第</a:t>
            </a:r>
            <a:r>
              <a:rPr lang="en-US" altLang="zh-CN" sz="2000" dirty="0">
                <a:solidFill>
                  <a:srgbClr val="000000"/>
                </a:solidFill>
              </a:rPr>
              <a:t>n</a:t>
            </a:r>
            <a:r>
              <a:rPr lang="zh-CN" altLang="en-US" sz="2000" dirty="0">
                <a:solidFill>
                  <a:srgbClr val="000000"/>
                </a:solidFill>
              </a:rPr>
              <a:t>个数与当前找到的最大、最小数分别比较。这样，每个数需两次比较，可以推得总共仍需</a:t>
            </a:r>
            <a:r>
              <a:rPr lang="en-US" altLang="zh-CN" sz="2000" dirty="0">
                <a:solidFill>
                  <a:srgbClr val="000000"/>
                </a:solidFill>
              </a:rPr>
              <a:t>2n-3</a:t>
            </a:r>
            <a:r>
              <a:rPr lang="zh-CN" altLang="en-US" sz="2000" dirty="0">
                <a:solidFill>
                  <a:srgbClr val="000000"/>
                </a:solidFill>
              </a:rPr>
              <a:t>次。以不同顺序扫描序列中的数也不能改进其性能，这主要是由于序列中数的位置同问题是无关的。</a:t>
            </a:r>
          </a:p>
          <a:p>
            <a:r>
              <a:rPr lang="zh-CN" altLang="en-US" sz="2000" dirty="0">
                <a:solidFill>
                  <a:srgbClr val="000000"/>
                </a:solidFill>
              </a:rPr>
              <a:t>扩展方案：已知</a:t>
            </a:r>
            <a:r>
              <a:rPr lang="en-US" altLang="zh-CN" sz="2000" dirty="0">
                <a:solidFill>
                  <a:srgbClr val="000000"/>
                </a:solidFill>
              </a:rPr>
              <a:t>n-2</a:t>
            </a:r>
            <a:r>
              <a:rPr lang="zh-CN" altLang="en-US" sz="2000" dirty="0">
                <a:solidFill>
                  <a:srgbClr val="000000"/>
                </a:solidFill>
              </a:rPr>
              <a:t>个数的解，对</a:t>
            </a:r>
            <a:r>
              <a:rPr lang="en-US" altLang="zh-CN" sz="2000" dirty="0">
                <a:solidFill>
                  <a:srgbClr val="000000"/>
                </a:solidFill>
              </a:rPr>
              <a:t>n</a:t>
            </a:r>
            <a:r>
              <a:rPr lang="zh-CN" altLang="en-US" sz="2000" dirty="0">
                <a:solidFill>
                  <a:srgbClr val="000000"/>
                </a:solidFill>
              </a:rPr>
              <a:t>个数求解。考察</a:t>
            </a:r>
            <a:r>
              <a:rPr lang="en-US" altLang="zh-CN" sz="2000" dirty="0">
                <a:solidFill>
                  <a:srgbClr val="000000"/>
                </a:solidFill>
              </a:rPr>
              <a:t>x</a:t>
            </a:r>
            <a:r>
              <a:rPr lang="en-US" altLang="zh-CN" sz="2000" baseline="-25000" dirty="0">
                <a:solidFill>
                  <a:srgbClr val="000000"/>
                </a:solidFill>
              </a:rPr>
              <a:t>n-1</a:t>
            </a:r>
            <a:r>
              <a:rPr lang="zh-CN" altLang="en-US" sz="2000" dirty="0">
                <a:solidFill>
                  <a:srgbClr val="000000"/>
                </a:solidFill>
              </a:rPr>
              <a:t>和</a:t>
            </a:r>
            <a:r>
              <a:rPr lang="en-US" altLang="zh-CN" sz="2000" dirty="0" err="1">
                <a:solidFill>
                  <a:srgbClr val="000000"/>
                </a:solidFill>
              </a:rPr>
              <a:t>x</a:t>
            </a:r>
            <a:r>
              <a:rPr lang="en-US" altLang="zh-CN" sz="2000" baseline="-25000" dirty="0" err="1">
                <a:solidFill>
                  <a:srgbClr val="000000"/>
                </a:solidFill>
              </a:rPr>
              <a:t>n</a:t>
            </a:r>
            <a:r>
              <a:rPr lang="zh-CN" altLang="en-US" sz="2000" dirty="0">
                <a:solidFill>
                  <a:srgbClr val="000000"/>
                </a:solidFill>
              </a:rPr>
              <a:t>，设</a:t>
            </a:r>
            <a:r>
              <a:rPr lang="en-US" altLang="zh-CN" sz="2000" dirty="0">
                <a:solidFill>
                  <a:srgbClr val="000000"/>
                </a:solidFill>
              </a:rPr>
              <a:t>MAX(min)</a:t>
            </a:r>
            <a:r>
              <a:rPr lang="zh-CN" altLang="en-US" sz="2000" dirty="0">
                <a:solidFill>
                  <a:srgbClr val="000000"/>
                </a:solidFill>
              </a:rPr>
              <a:t>是前</a:t>
            </a:r>
            <a:r>
              <a:rPr lang="en-US" altLang="zh-CN" sz="2000" dirty="0">
                <a:solidFill>
                  <a:srgbClr val="000000"/>
                </a:solidFill>
              </a:rPr>
              <a:t>n-2</a:t>
            </a:r>
            <a:r>
              <a:rPr lang="zh-CN" altLang="en-US" sz="2000" dirty="0">
                <a:solidFill>
                  <a:srgbClr val="000000"/>
                </a:solidFill>
              </a:rPr>
              <a:t>个数的最大（小）数，作三次比较便能得出新的最大最小数。首先比较</a:t>
            </a:r>
            <a:r>
              <a:rPr lang="en-US" altLang="zh-CN" sz="2000" dirty="0">
                <a:solidFill>
                  <a:srgbClr val="000000"/>
                </a:solidFill>
              </a:rPr>
              <a:t>x</a:t>
            </a:r>
            <a:r>
              <a:rPr lang="en-US" altLang="zh-CN" sz="2000" baseline="-25000" dirty="0">
                <a:solidFill>
                  <a:srgbClr val="000000"/>
                </a:solidFill>
              </a:rPr>
              <a:t>n-1</a:t>
            </a:r>
            <a:r>
              <a:rPr lang="zh-CN" altLang="en-US" sz="2000" dirty="0">
                <a:solidFill>
                  <a:srgbClr val="000000"/>
                </a:solidFill>
              </a:rPr>
              <a:t>和</a:t>
            </a:r>
            <a:r>
              <a:rPr lang="en-US" altLang="zh-CN" sz="2000" dirty="0" err="1">
                <a:solidFill>
                  <a:srgbClr val="000000"/>
                </a:solidFill>
              </a:rPr>
              <a:t>x</a:t>
            </a:r>
            <a:r>
              <a:rPr lang="en-US" altLang="zh-CN" sz="2000" baseline="-25000" dirty="0" err="1">
                <a:solidFill>
                  <a:srgbClr val="000000"/>
                </a:solidFill>
              </a:rPr>
              <a:t>n</a:t>
            </a:r>
            <a:r>
              <a:rPr lang="zh-CN" altLang="en-US" sz="2000" dirty="0">
                <a:solidFill>
                  <a:srgbClr val="000000"/>
                </a:solidFill>
              </a:rPr>
              <a:t>，然后将其中大数同</a:t>
            </a:r>
            <a:r>
              <a:rPr lang="en-US" altLang="zh-CN" sz="2000" dirty="0">
                <a:solidFill>
                  <a:srgbClr val="000000"/>
                </a:solidFill>
              </a:rPr>
              <a:t>MAX</a:t>
            </a:r>
            <a:r>
              <a:rPr lang="zh-CN" altLang="en-US" sz="2000" dirty="0">
                <a:solidFill>
                  <a:srgbClr val="000000"/>
                </a:solidFill>
              </a:rPr>
              <a:t>比较，小数同</a:t>
            </a:r>
            <a:r>
              <a:rPr lang="en-US" altLang="zh-CN" sz="2000" dirty="0">
                <a:solidFill>
                  <a:srgbClr val="000000"/>
                </a:solidFill>
              </a:rPr>
              <a:t>min</a:t>
            </a:r>
            <a:r>
              <a:rPr lang="zh-CN" altLang="en-US" sz="2000" dirty="0">
                <a:solidFill>
                  <a:srgbClr val="000000"/>
                </a:solidFill>
              </a:rPr>
              <a:t>比较。这样一来，总共只要大约</a:t>
            </a:r>
            <a:r>
              <a:rPr lang="en-US" altLang="zh-CN" sz="2000" dirty="0">
                <a:solidFill>
                  <a:srgbClr val="000000"/>
                </a:solidFill>
              </a:rPr>
              <a:t>3n/2</a:t>
            </a:r>
            <a:r>
              <a:rPr lang="zh-CN" altLang="en-US" sz="2000" dirty="0">
                <a:solidFill>
                  <a:srgbClr val="000000"/>
                </a:solidFill>
              </a:rPr>
              <a:t>次比较。</a:t>
            </a:r>
          </a:p>
          <a:p>
            <a:r>
              <a:rPr lang="zh-CN" altLang="en-US" sz="2000" dirty="0">
                <a:solidFill>
                  <a:srgbClr val="000000"/>
                </a:solidFill>
              </a:rPr>
              <a:t>每次三个（或四个）仍要比较这么多次，用分治法解决这个问题最终也需要约</a:t>
            </a:r>
            <a:r>
              <a:rPr lang="en-US" altLang="zh-CN" sz="2000" dirty="0">
                <a:solidFill>
                  <a:srgbClr val="000000"/>
                </a:solidFill>
              </a:rPr>
              <a:t>3n/2</a:t>
            </a:r>
            <a:r>
              <a:rPr lang="zh-CN" altLang="en-US" sz="2000" dirty="0">
                <a:solidFill>
                  <a:srgbClr val="000000"/>
                </a:solidFill>
              </a:rPr>
              <a:t>次比较</a:t>
            </a:r>
          </a:p>
          <a:p>
            <a:endParaRPr lang="zh-CN" altLang="en-US" sz="2000" dirty="0"/>
          </a:p>
        </p:txBody>
      </p:sp>
    </p:spTree>
    <p:extLst>
      <p:ext uri="{BB962C8B-B14F-4D97-AF65-F5344CB8AC3E}">
        <p14:creationId xmlns:p14="http://schemas.microsoft.com/office/powerpoint/2010/main" val="1729261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3CD69-0849-432F-B4E5-1E3117C17606}"/>
              </a:ext>
            </a:extLst>
          </p:cNvPr>
          <p:cNvSpPr>
            <a:spLocks noGrp="1"/>
          </p:cNvSpPr>
          <p:nvPr>
            <p:ph type="title"/>
          </p:nvPr>
        </p:nvSpPr>
        <p:spPr/>
        <p:txBody>
          <a:bodyPr/>
          <a:lstStyle/>
          <a:p>
            <a:r>
              <a:rPr lang="zh-CN" altLang="en-US" dirty="0"/>
              <a:t>查找第</a:t>
            </a:r>
            <a:r>
              <a:rPr lang="en-US" altLang="zh-CN" dirty="0"/>
              <a:t>k</a:t>
            </a:r>
            <a:r>
              <a:rPr lang="zh-CN" altLang="en-US" dirty="0"/>
              <a:t>小的数</a:t>
            </a:r>
          </a:p>
        </p:txBody>
      </p:sp>
      <p:sp>
        <p:nvSpPr>
          <p:cNvPr id="3" name="内容占位符 2">
            <a:extLst>
              <a:ext uri="{FF2B5EF4-FFF2-40B4-BE49-F238E27FC236}">
                <a16:creationId xmlns:a16="http://schemas.microsoft.com/office/drawing/2014/main" id="{DD74E175-00FA-4C4F-B7DD-D543C9D3C99C}"/>
              </a:ext>
            </a:extLst>
          </p:cNvPr>
          <p:cNvSpPr>
            <a:spLocks noGrp="1"/>
          </p:cNvSpPr>
          <p:nvPr>
            <p:ph idx="1"/>
          </p:nvPr>
        </p:nvSpPr>
        <p:spPr>
          <a:xfrm>
            <a:off x="838200" y="1825625"/>
            <a:ext cx="4241800" cy="4351338"/>
          </a:xfrm>
        </p:spPr>
        <p:txBody>
          <a:bodyPr>
            <a:normAutofit/>
          </a:bodyPr>
          <a:lstStyle/>
          <a:p>
            <a:r>
              <a:rPr lang="zh-CN" altLang="en-US" sz="2000" dirty="0">
                <a:solidFill>
                  <a:srgbClr val="000000"/>
                </a:solidFill>
              </a:rPr>
              <a:t>问题：已知序列</a:t>
            </a:r>
            <a:r>
              <a:rPr lang="en-US" altLang="zh-CN" sz="2000" dirty="0">
                <a:solidFill>
                  <a:srgbClr val="000000"/>
                </a:solidFill>
              </a:rPr>
              <a:t>S= x</a:t>
            </a:r>
            <a:r>
              <a:rPr lang="en-US" altLang="zh-CN" sz="2000" baseline="-25000" dirty="0">
                <a:solidFill>
                  <a:srgbClr val="000000"/>
                </a:solidFill>
              </a:rPr>
              <a:t>1</a:t>
            </a:r>
            <a:r>
              <a:rPr lang="en-US" altLang="zh-CN" sz="2000" dirty="0">
                <a:solidFill>
                  <a:srgbClr val="000000"/>
                </a:solidFill>
              </a:rPr>
              <a:t>,x</a:t>
            </a:r>
            <a:r>
              <a:rPr lang="en-US" altLang="zh-CN" sz="2000" baseline="-25000" dirty="0">
                <a:solidFill>
                  <a:srgbClr val="000000"/>
                </a:solidFill>
              </a:rPr>
              <a:t>2</a:t>
            </a:r>
            <a:r>
              <a:rPr lang="en-US" altLang="zh-CN" sz="2000" dirty="0">
                <a:solidFill>
                  <a:srgbClr val="000000"/>
                </a:solidFill>
              </a:rPr>
              <a:t>,…,</a:t>
            </a:r>
            <a:r>
              <a:rPr lang="en-US" altLang="zh-CN" sz="2000" dirty="0" err="1">
                <a:solidFill>
                  <a:srgbClr val="000000"/>
                </a:solidFill>
              </a:rPr>
              <a:t>x</a:t>
            </a:r>
            <a:r>
              <a:rPr lang="en-US" altLang="zh-CN" sz="2000" baseline="-25000" dirty="0" err="1">
                <a:solidFill>
                  <a:srgbClr val="000000"/>
                </a:solidFill>
              </a:rPr>
              <a:t>n</a:t>
            </a:r>
            <a:r>
              <a:rPr lang="zh-CN" altLang="en-US" sz="2000" dirty="0">
                <a:solidFill>
                  <a:srgbClr val="000000"/>
                </a:solidFill>
              </a:rPr>
              <a:t>以及整数</a:t>
            </a:r>
            <a:r>
              <a:rPr lang="en-US" altLang="zh-CN" sz="2000" dirty="0">
                <a:solidFill>
                  <a:srgbClr val="000000"/>
                </a:solidFill>
              </a:rPr>
              <a:t>k</a:t>
            </a:r>
            <a:r>
              <a:rPr lang="zh-CN" altLang="en-US" sz="2000" dirty="0">
                <a:solidFill>
                  <a:srgbClr val="000000"/>
                </a:solidFill>
              </a:rPr>
              <a:t>，</a:t>
            </a:r>
            <a:r>
              <a:rPr lang="en-US" altLang="zh-CN" sz="2000" dirty="0">
                <a:solidFill>
                  <a:srgbClr val="000000"/>
                </a:solidFill>
              </a:rPr>
              <a:t>1≤k≤n</a:t>
            </a:r>
            <a:r>
              <a:rPr lang="zh-CN" altLang="en-US" sz="2000" dirty="0">
                <a:solidFill>
                  <a:srgbClr val="000000"/>
                </a:solidFill>
              </a:rPr>
              <a:t>，试查找</a:t>
            </a:r>
            <a:r>
              <a:rPr lang="en-US" altLang="zh-CN" sz="2000" dirty="0">
                <a:solidFill>
                  <a:srgbClr val="000000"/>
                </a:solidFill>
              </a:rPr>
              <a:t>S</a:t>
            </a:r>
            <a:r>
              <a:rPr lang="zh-CN" altLang="en-US" sz="2000" dirty="0">
                <a:solidFill>
                  <a:srgbClr val="000000"/>
                </a:solidFill>
              </a:rPr>
              <a:t>中第</a:t>
            </a:r>
            <a:r>
              <a:rPr lang="en-US" altLang="zh-CN" sz="2000" dirty="0">
                <a:solidFill>
                  <a:srgbClr val="000000"/>
                </a:solidFill>
              </a:rPr>
              <a:t>k</a:t>
            </a:r>
            <a:r>
              <a:rPr lang="zh-CN" altLang="en-US" sz="2000" dirty="0">
                <a:solidFill>
                  <a:srgbClr val="000000"/>
                </a:solidFill>
              </a:rPr>
              <a:t>小的数。</a:t>
            </a:r>
          </a:p>
          <a:p>
            <a:r>
              <a:rPr lang="zh-CN" altLang="en-US" sz="2000" dirty="0">
                <a:solidFill>
                  <a:srgbClr val="000000"/>
                </a:solidFill>
              </a:rPr>
              <a:t>如果</a:t>
            </a:r>
            <a:r>
              <a:rPr lang="en-US" altLang="zh-CN" sz="2000" dirty="0">
                <a:solidFill>
                  <a:srgbClr val="000000"/>
                </a:solidFill>
              </a:rPr>
              <a:t>k</a:t>
            </a:r>
            <a:r>
              <a:rPr lang="zh-CN" altLang="en-US" sz="2000" dirty="0">
                <a:solidFill>
                  <a:srgbClr val="000000"/>
                </a:solidFill>
              </a:rPr>
              <a:t>接近</a:t>
            </a:r>
            <a:r>
              <a:rPr lang="en-US" altLang="zh-CN" sz="2000" dirty="0">
                <a:solidFill>
                  <a:srgbClr val="000000"/>
                </a:solidFill>
              </a:rPr>
              <a:t>1</a:t>
            </a:r>
            <a:r>
              <a:rPr lang="zh-CN" altLang="en-US" sz="2000" dirty="0">
                <a:solidFill>
                  <a:srgbClr val="000000"/>
                </a:solidFill>
              </a:rPr>
              <a:t>或者</a:t>
            </a:r>
            <a:r>
              <a:rPr lang="en-US" altLang="zh-CN" sz="2000" dirty="0">
                <a:solidFill>
                  <a:srgbClr val="000000"/>
                </a:solidFill>
              </a:rPr>
              <a:t>n</a:t>
            </a:r>
            <a:r>
              <a:rPr lang="zh-CN" altLang="en-US" sz="2000" dirty="0">
                <a:solidFill>
                  <a:srgbClr val="000000"/>
                </a:solidFill>
              </a:rPr>
              <a:t>，那么只要把查找最小数的算法运行</a:t>
            </a:r>
            <a:r>
              <a:rPr lang="en-US" altLang="zh-CN" sz="2000" dirty="0">
                <a:solidFill>
                  <a:srgbClr val="000000"/>
                </a:solidFill>
              </a:rPr>
              <a:t>k</a:t>
            </a:r>
            <a:r>
              <a:rPr lang="zh-CN" altLang="en-US" sz="2000" dirty="0">
                <a:solidFill>
                  <a:srgbClr val="000000"/>
                </a:solidFill>
              </a:rPr>
              <a:t>次便能找到第</a:t>
            </a:r>
            <a:r>
              <a:rPr lang="en-US" altLang="zh-CN" sz="2000" dirty="0">
                <a:solidFill>
                  <a:srgbClr val="000000"/>
                </a:solidFill>
              </a:rPr>
              <a:t>k</a:t>
            </a:r>
            <a:r>
              <a:rPr lang="zh-CN" altLang="en-US" sz="2000" dirty="0">
                <a:solidFill>
                  <a:srgbClr val="000000"/>
                </a:solidFill>
              </a:rPr>
              <a:t>小的数。这个方法大概需作</a:t>
            </a:r>
            <a:r>
              <a:rPr lang="en-US" altLang="zh-CN" sz="2000" dirty="0" err="1">
                <a:solidFill>
                  <a:srgbClr val="000000"/>
                </a:solidFill>
              </a:rPr>
              <a:t>kn</a:t>
            </a:r>
            <a:r>
              <a:rPr lang="zh-CN" altLang="en-US" sz="2000" dirty="0">
                <a:solidFill>
                  <a:srgbClr val="000000"/>
                </a:solidFill>
              </a:rPr>
              <a:t>次比较。排序算法一般都比这个原始的算法好，除非</a:t>
            </a:r>
            <a:r>
              <a:rPr lang="en-US" altLang="zh-CN" sz="2000" dirty="0">
                <a:solidFill>
                  <a:srgbClr val="000000"/>
                </a:solidFill>
              </a:rPr>
              <a:t>k</a:t>
            </a:r>
            <a:r>
              <a:rPr lang="zh-CN" altLang="en-US" sz="2000" dirty="0">
                <a:solidFill>
                  <a:srgbClr val="000000"/>
                </a:solidFill>
              </a:rPr>
              <a:t>是</a:t>
            </a:r>
            <a:r>
              <a:rPr lang="en-US" altLang="zh-CN" sz="2000" dirty="0">
                <a:solidFill>
                  <a:srgbClr val="000000"/>
                </a:solidFill>
              </a:rPr>
              <a:t>O(</a:t>
            </a:r>
            <a:r>
              <a:rPr lang="en-US" altLang="zh-CN" sz="2000" dirty="0" err="1">
                <a:solidFill>
                  <a:srgbClr val="000000"/>
                </a:solidFill>
              </a:rPr>
              <a:t>logn</a:t>
            </a:r>
            <a:r>
              <a:rPr lang="en-US" altLang="zh-CN" sz="2000" dirty="0">
                <a:solidFill>
                  <a:srgbClr val="000000"/>
                </a:solidFill>
              </a:rPr>
              <a:t>)</a:t>
            </a:r>
            <a:r>
              <a:rPr lang="zh-CN" altLang="en-US" sz="2000" dirty="0">
                <a:solidFill>
                  <a:srgbClr val="000000"/>
                </a:solidFill>
              </a:rPr>
              <a:t>或者</a:t>
            </a:r>
            <a:r>
              <a:rPr lang="en-US" altLang="zh-CN" sz="2000" dirty="0">
                <a:solidFill>
                  <a:srgbClr val="000000"/>
                </a:solidFill>
              </a:rPr>
              <a:t>n-O(</a:t>
            </a:r>
            <a:r>
              <a:rPr lang="en-US" altLang="zh-CN" sz="2000" dirty="0" err="1">
                <a:solidFill>
                  <a:srgbClr val="000000"/>
                </a:solidFill>
              </a:rPr>
              <a:t>logn</a:t>
            </a:r>
            <a:r>
              <a:rPr lang="en-US" altLang="zh-CN" sz="2000" dirty="0">
                <a:solidFill>
                  <a:srgbClr val="000000"/>
                </a:solidFill>
              </a:rPr>
              <a:t>)</a:t>
            </a:r>
            <a:r>
              <a:rPr lang="zh-CN" altLang="en-US" sz="2000" dirty="0">
                <a:solidFill>
                  <a:srgbClr val="000000"/>
                </a:solidFill>
              </a:rPr>
              <a:t>。</a:t>
            </a:r>
          </a:p>
          <a:p>
            <a:r>
              <a:rPr lang="zh-CN" altLang="en-US" sz="2000" dirty="0">
                <a:solidFill>
                  <a:srgbClr val="000000"/>
                </a:solidFill>
              </a:rPr>
              <a:t>解题思想大致与快速排序相同。在快速排序中，序列被主元分成两个子序列，然后分别对这两个子序列递归排序。而现在可先确定第</a:t>
            </a:r>
            <a:r>
              <a:rPr lang="en-US" altLang="zh-CN" sz="2000" dirty="0">
                <a:solidFill>
                  <a:srgbClr val="000000"/>
                </a:solidFill>
              </a:rPr>
              <a:t>k</a:t>
            </a:r>
            <a:r>
              <a:rPr lang="zh-CN" altLang="en-US" sz="2000" dirty="0">
                <a:solidFill>
                  <a:srgbClr val="000000"/>
                </a:solidFill>
              </a:rPr>
              <a:t>小的数在哪个子序列中，然后只要对那个子序列递归查找就行了。不必考虑其余的数。</a:t>
            </a:r>
          </a:p>
          <a:p>
            <a:endParaRPr lang="zh-CN" altLang="en-US" sz="2000" dirty="0"/>
          </a:p>
        </p:txBody>
      </p:sp>
      <p:sp>
        <p:nvSpPr>
          <p:cNvPr id="4" name="Rectangle 3">
            <a:extLst>
              <a:ext uri="{FF2B5EF4-FFF2-40B4-BE49-F238E27FC236}">
                <a16:creationId xmlns:a16="http://schemas.microsoft.com/office/drawing/2014/main" id="{004DF9A2-5D29-45F8-BA4E-3DD53B3FE597}"/>
              </a:ext>
            </a:extLst>
          </p:cNvPr>
          <p:cNvSpPr txBox="1">
            <a:spLocks noChangeArrowheads="1"/>
          </p:cNvSpPr>
          <p:nvPr/>
        </p:nvSpPr>
        <p:spPr>
          <a:xfrm>
            <a:off x="5778500" y="1825625"/>
            <a:ext cx="6197602" cy="411480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 typeface="Arial" panose="020B0604020202020204" pitchFamily="34" charset="0"/>
              <a:buNone/>
            </a:pPr>
            <a:r>
              <a:rPr lang="en-US" altLang="zh-CN" sz="1800">
                <a:solidFill>
                  <a:srgbClr val="000000"/>
                </a:solidFill>
              </a:rPr>
              <a:t>Algorithm Selection(X,n,k)</a:t>
            </a:r>
          </a:p>
          <a:p>
            <a:pPr>
              <a:lnSpc>
                <a:spcPct val="90000"/>
              </a:lnSpc>
              <a:buFont typeface="Arial" panose="020B0604020202020204" pitchFamily="34" charset="0"/>
              <a:buNone/>
            </a:pPr>
            <a:r>
              <a:rPr lang="en-US" altLang="zh-CN" sz="1800">
                <a:solidFill>
                  <a:srgbClr val="000000"/>
                </a:solidFill>
              </a:rPr>
              <a:t>Input: X (an array in the range 1 to n), and k (an integer)</a:t>
            </a:r>
          </a:p>
          <a:p>
            <a:pPr>
              <a:lnSpc>
                <a:spcPct val="90000"/>
              </a:lnSpc>
              <a:buFont typeface="Arial" panose="020B0604020202020204" pitchFamily="34" charset="0"/>
              <a:buNone/>
            </a:pPr>
            <a:r>
              <a:rPr lang="en-US" altLang="zh-CN" sz="1800">
                <a:solidFill>
                  <a:srgbClr val="000000"/>
                </a:solidFill>
              </a:rPr>
              <a:t>Output: S (the kth smallest element, the array X is changed)</a:t>
            </a:r>
          </a:p>
          <a:p>
            <a:pPr>
              <a:lnSpc>
                <a:spcPct val="90000"/>
              </a:lnSpc>
              <a:buFont typeface="Arial" panose="020B0604020202020204" pitchFamily="34" charset="0"/>
              <a:buNone/>
            </a:pPr>
            <a:r>
              <a:rPr lang="en-US" altLang="zh-CN" sz="1800">
                <a:solidFill>
                  <a:srgbClr val="000000"/>
                </a:solidFill>
              </a:rPr>
              <a:t>begin</a:t>
            </a:r>
          </a:p>
          <a:p>
            <a:pPr>
              <a:lnSpc>
                <a:spcPct val="90000"/>
              </a:lnSpc>
              <a:buFont typeface="Arial" panose="020B0604020202020204" pitchFamily="34" charset="0"/>
              <a:buNone/>
            </a:pPr>
            <a:r>
              <a:rPr lang="en-US" altLang="zh-CN" sz="1800">
                <a:solidFill>
                  <a:srgbClr val="000000"/>
                </a:solidFill>
              </a:rPr>
              <a:t>    if (k&lt;1) or (k&gt;n) then print “error”</a:t>
            </a:r>
          </a:p>
          <a:p>
            <a:pPr>
              <a:lnSpc>
                <a:spcPct val="90000"/>
              </a:lnSpc>
              <a:buFont typeface="Arial" panose="020B0604020202020204" pitchFamily="34" charset="0"/>
              <a:buNone/>
            </a:pPr>
            <a:r>
              <a:rPr lang="en-US" altLang="zh-CN" sz="1800">
                <a:solidFill>
                  <a:srgbClr val="000000"/>
                </a:solidFill>
              </a:rPr>
              <a:t>    else S:=Select(1,n,k)</a:t>
            </a:r>
          </a:p>
          <a:p>
            <a:pPr>
              <a:lnSpc>
                <a:spcPct val="90000"/>
              </a:lnSpc>
              <a:buFont typeface="Arial" panose="020B0604020202020204" pitchFamily="34" charset="0"/>
              <a:buNone/>
            </a:pPr>
            <a:r>
              <a:rPr lang="en-US" altLang="zh-CN" sz="1800">
                <a:solidFill>
                  <a:srgbClr val="000000"/>
                </a:solidFill>
              </a:rPr>
              <a:t>end</a:t>
            </a:r>
          </a:p>
          <a:p>
            <a:pPr>
              <a:lnSpc>
                <a:spcPct val="90000"/>
              </a:lnSpc>
              <a:buFont typeface="Arial" panose="020B0604020202020204" pitchFamily="34" charset="0"/>
              <a:buNone/>
            </a:pPr>
            <a:endParaRPr lang="en-US" altLang="zh-CN" sz="1800">
              <a:solidFill>
                <a:srgbClr val="000000"/>
              </a:solidFill>
            </a:endParaRPr>
          </a:p>
          <a:p>
            <a:pPr>
              <a:lnSpc>
                <a:spcPct val="90000"/>
              </a:lnSpc>
              <a:buFont typeface="Arial" panose="020B0604020202020204" pitchFamily="34" charset="0"/>
              <a:buNone/>
            </a:pPr>
            <a:r>
              <a:rPr lang="en-US" altLang="zh-CN" sz="1800">
                <a:solidFill>
                  <a:srgbClr val="000000"/>
                </a:solidFill>
              </a:rPr>
              <a:t>Procedure Select(Left,Right,k);</a:t>
            </a:r>
          </a:p>
          <a:p>
            <a:pPr>
              <a:lnSpc>
                <a:spcPct val="90000"/>
              </a:lnSpc>
              <a:buFont typeface="Arial" panose="020B0604020202020204" pitchFamily="34" charset="0"/>
              <a:buNone/>
            </a:pPr>
            <a:r>
              <a:rPr lang="en-US" altLang="zh-CN" sz="1800">
                <a:solidFill>
                  <a:srgbClr val="000000"/>
                </a:solidFill>
              </a:rPr>
              <a:t>begin</a:t>
            </a:r>
          </a:p>
          <a:p>
            <a:pPr>
              <a:lnSpc>
                <a:spcPct val="90000"/>
              </a:lnSpc>
              <a:buFont typeface="Arial" panose="020B0604020202020204" pitchFamily="34" charset="0"/>
              <a:buNone/>
            </a:pPr>
            <a:r>
              <a:rPr lang="en-US" altLang="zh-CN" sz="1800">
                <a:solidFill>
                  <a:srgbClr val="000000"/>
                </a:solidFill>
              </a:rPr>
              <a:t>    Partition(X,Left,Right);</a:t>
            </a:r>
          </a:p>
          <a:p>
            <a:pPr>
              <a:lnSpc>
                <a:spcPct val="90000"/>
              </a:lnSpc>
              <a:buFont typeface="Arial" panose="020B0604020202020204" pitchFamily="34" charset="0"/>
              <a:buNone/>
            </a:pPr>
            <a:r>
              <a:rPr lang="en-US" altLang="zh-CN" sz="1800">
                <a:solidFill>
                  <a:srgbClr val="000000"/>
                </a:solidFill>
              </a:rPr>
              <a:t>    Let Middle be the output of Partition;</a:t>
            </a:r>
          </a:p>
          <a:p>
            <a:pPr>
              <a:lnSpc>
                <a:spcPct val="90000"/>
              </a:lnSpc>
              <a:buFont typeface="Arial" panose="020B0604020202020204" pitchFamily="34" charset="0"/>
              <a:buNone/>
            </a:pPr>
            <a:r>
              <a:rPr lang="en-US" altLang="zh-CN" sz="1800">
                <a:solidFill>
                  <a:srgbClr val="000000"/>
                </a:solidFill>
              </a:rPr>
              <a:t>    if Middle-Left+1&gt;k then Select(Left,Middle-1,k)</a:t>
            </a:r>
          </a:p>
          <a:p>
            <a:pPr>
              <a:lnSpc>
                <a:spcPct val="90000"/>
              </a:lnSpc>
              <a:buFont typeface="Arial" panose="020B0604020202020204" pitchFamily="34" charset="0"/>
              <a:buNone/>
            </a:pPr>
            <a:r>
              <a:rPr lang="en-US" altLang="zh-CN" sz="1800">
                <a:solidFill>
                  <a:srgbClr val="000000"/>
                </a:solidFill>
              </a:rPr>
              <a:t>    else if Middle-Left+1=k then return X[Middle]</a:t>
            </a:r>
          </a:p>
          <a:p>
            <a:pPr>
              <a:lnSpc>
                <a:spcPct val="90000"/>
              </a:lnSpc>
              <a:buFont typeface="Arial" panose="020B0604020202020204" pitchFamily="34" charset="0"/>
              <a:buNone/>
            </a:pPr>
            <a:r>
              <a:rPr lang="en-US" altLang="zh-CN" sz="1800">
                <a:solidFill>
                  <a:srgbClr val="000000"/>
                </a:solidFill>
              </a:rPr>
              <a:t>    else Select(Middle+1,Right,k-(Middle-Left+1))</a:t>
            </a:r>
          </a:p>
          <a:p>
            <a:pPr>
              <a:lnSpc>
                <a:spcPct val="90000"/>
              </a:lnSpc>
              <a:buFont typeface="Arial" panose="020B0604020202020204" pitchFamily="34" charset="0"/>
              <a:buNone/>
            </a:pPr>
            <a:r>
              <a:rPr lang="en-US" altLang="zh-CN" sz="1800">
                <a:solidFill>
                  <a:srgbClr val="000000"/>
                </a:solidFill>
              </a:rPr>
              <a:t>end</a:t>
            </a:r>
            <a:endParaRPr lang="en-US" altLang="zh-CN" sz="1800" dirty="0">
              <a:solidFill>
                <a:srgbClr val="000000"/>
              </a:solidFill>
            </a:endParaRPr>
          </a:p>
        </p:txBody>
      </p:sp>
      <p:sp>
        <p:nvSpPr>
          <p:cNvPr id="5" name="文本框 4">
            <a:extLst>
              <a:ext uri="{FF2B5EF4-FFF2-40B4-BE49-F238E27FC236}">
                <a16:creationId xmlns:a16="http://schemas.microsoft.com/office/drawing/2014/main" id="{8F429229-EB90-415D-A080-576C344B09A7}"/>
              </a:ext>
            </a:extLst>
          </p:cNvPr>
          <p:cNvSpPr txBox="1"/>
          <p:nvPr/>
        </p:nvSpPr>
        <p:spPr>
          <a:xfrm>
            <a:off x="5740400" y="6176963"/>
            <a:ext cx="4991100" cy="369332"/>
          </a:xfrm>
          <a:prstGeom prst="rect">
            <a:avLst/>
          </a:prstGeom>
          <a:noFill/>
        </p:spPr>
        <p:txBody>
          <a:bodyPr wrap="square" rtlCol="0">
            <a:spAutoFit/>
          </a:bodyPr>
          <a:lstStyle/>
          <a:p>
            <a:r>
              <a:rPr lang="zh-CN" altLang="en-US" sz="1800" dirty="0"/>
              <a:t>复杂度：</a:t>
            </a:r>
            <a:r>
              <a:rPr lang="en-US" altLang="zh-CN" sz="1800" dirty="0"/>
              <a:t>O(n)</a:t>
            </a:r>
            <a:r>
              <a:rPr lang="zh-CN" altLang="en-US" sz="1800" dirty="0"/>
              <a:t>      最坏呢？</a:t>
            </a:r>
          </a:p>
        </p:txBody>
      </p:sp>
    </p:spTree>
    <p:extLst>
      <p:ext uri="{BB962C8B-B14F-4D97-AF65-F5344CB8AC3E}">
        <p14:creationId xmlns:p14="http://schemas.microsoft.com/office/powerpoint/2010/main" val="1170781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9C4BA5-E2A0-4833-A124-24579F3539DE}"/>
              </a:ext>
            </a:extLst>
          </p:cNvPr>
          <p:cNvSpPr>
            <a:spLocks noGrp="1"/>
          </p:cNvSpPr>
          <p:nvPr>
            <p:ph type="title"/>
          </p:nvPr>
        </p:nvSpPr>
        <p:spPr/>
        <p:txBody>
          <a:bodyPr/>
          <a:lstStyle/>
          <a:p>
            <a:r>
              <a:rPr lang="zh-CN" altLang="en-US" dirty="0"/>
              <a:t>加权中位数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B349836-F288-4127-95B6-09FE41702098}"/>
                  </a:ext>
                </a:extLst>
              </p:cNvPr>
              <p:cNvSpPr>
                <a:spLocks noGrp="1"/>
              </p:cNvSpPr>
              <p:nvPr>
                <p:ph idx="1"/>
              </p:nvPr>
            </p:nvSpPr>
            <p:spPr/>
            <p:txBody>
              <a:bodyPr>
                <a:noAutofit/>
              </a:bodyPr>
              <a:lstStyle/>
              <a:p>
                <a:r>
                  <a:rPr lang="zh-CN" altLang="zh-CN" sz="2400" dirty="0">
                    <a:solidFill>
                      <a:srgbClr val="000000"/>
                    </a:solidFill>
                  </a:rPr>
                  <a:t>加权中位数</a:t>
                </a:r>
                <a:r>
                  <a:rPr lang="zh-CN" altLang="en-US" sz="2400" dirty="0">
                    <a:solidFill>
                      <a:srgbClr val="000000"/>
                    </a:solidFill>
                  </a:rPr>
                  <a:t>：</a:t>
                </a:r>
                <a:r>
                  <a:rPr lang="en-US" altLang="zh-CN" sz="2400" dirty="0">
                    <a:solidFill>
                      <a:srgbClr val="000000"/>
                    </a:solidFill>
                  </a:rPr>
                  <a:t>n</a:t>
                </a:r>
                <a:r>
                  <a:rPr lang="zh-CN" altLang="zh-CN" sz="2400" dirty="0">
                    <a:solidFill>
                      <a:srgbClr val="000000"/>
                    </a:solidFill>
                  </a:rPr>
                  <a:t>个数</a:t>
                </a:r>
                <a:r>
                  <a:rPr lang="en-US" altLang="zh-CN" sz="2400" dirty="0">
                    <a:solidFill>
                      <a:srgbClr val="000000"/>
                    </a:solidFill>
                  </a:rPr>
                  <a:t>x</a:t>
                </a:r>
                <a:r>
                  <a:rPr lang="en-US" altLang="zh-CN" sz="2000" baseline="-25000" dirty="0"/>
                  <a:t>1</a:t>
                </a:r>
                <a:r>
                  <a:rPr lang="en-US" altLang="zh-CN" sz="2400" dirty="0">
                    <a:solidFill>
                      <a:srgbClr val="000000"/>
                    </a:solidFill>
                  </a:rPr>
                  <a:t>, x</a:t>
                </a:r>
                <a:r>
                  <a:rPr lang="en-US" altLang="zh-CN" sz="2000" baseline="-25000" dirty="0"/>
                  <a:t>2</a:t>
                </a:r>
                <a:r>
                  <a:rPr lang="en-US" altLang="zh-CN" sz="2400" dirty="0">
                    <a:solidFill>
                      <a:srgbClr val="000000"/>
                    </a:solidFill>
                  </a:rPr>
                  <a:t>, ..., </a:t>
                </a:r>
                <a:r>
                  <a:rPr lang="en-US" altLang="zh-CN" sz="2400" dirty="0" err="1">
                    <a:solidFill>
                      <a:srgbClr val="000000"/>
                    </a:solidFill>
                  </a:rPr>
                  <a:t>x</a:t>
                </a:r>
                <a:r>
                  <a:rPr lang="en-US" altLang="zh-CN" sz="2000" baseline="-25000" dirty="0" err="1"/>
                  <a:t>n</a:t>
                </a:r>
                <a:r>
                  <a:rPr lang="zh-CN" altLang="zh-CN" sz="2400" dirty="0">
                    <a:solidFill>
                      <a:srgbClr val="000000"/>
                    </a:solidFill>
                  </a:rPr>
                  <a:t>，相应正权值</a:t>
                </a:r>
                <a:r>
                  <a:rPr lang="en-US" altLang="zh-CN" sz="2400" dirty="0">
                    <a:solidFill>
                      <a:srgbClr val="000000"/>
                    </a:solidFill>
                  </a:rPr>
                  <a:t>w</a:t>
                </a:r>
                <a:r>
                  <a:rPr lang="en-US" altLang="zh-CN" sz="2000" baseline="-25000" dirty="0"/>
                  <a:t>1</a:t>
                </a:r>
                <a:r>
                  <a:rPr lang="en-US" altLang="zh-CN" sz="2400" dirty="0">
                    <a:solidFill>
                      <a:srgbClr val="000000"/>
                    </a:solidFill>
                  </a:rPr>
                  <a:t>, w</a:t>
                </a:r>
                <a:r>
                  <a:rPr lang="en-US" altLang="zh-CN" sz="2000" baseline="-25000" dirty="0"/>
                  <a:t>2</a:t>
                </a:r>
                <a:r>
                  <a:rPr lang="en-US" altLang="zh-CN" sz="2400" dirty="0">
                    <a:solidFill>
                      <a:srgbClr val="000000"/>
                    </a:solidFill>
                  </a:rPr>
                  <a:t>, ..., </a:t>
                </a:r>
                <a:r>
                  <a:rPr lang="en-US" altLang="zh-CN" sz="2400" dirty="0" err="1">
                    <a:solidFill>
                      <a:srgbClr val="000000"/>
                    </a:solidFill>
                  </a:rPr>
                  <a:t>w</a:t>
                </a:r>
                <a:r>
                  <a:rPr lang="en-US" altLang="zh-CN" sz="2000" baseline="-25000" dirty="0" err="1"/>
                  <a:t>n</a:t>
                </a:r>
                <a:r>
                  <a:rPr lang="zh-CN" altLang="zh-CN" sz="2400" dirty="0">
                    <a:solidFill>
                      <a:srgbClr val="000000"/>
                    </a:solidFill>
                  </a:rPr>
                  <a:t>，</a:t>
                </a:r>
                <a:r>
                  <a:rPr lang="en-US" altLang="zh-CN" sz="2400" dirty="0" err="1">
                    <a:solidFill>
                      <a:srgbClr val="000000"/>
                    </a:solidFill>
                  </a:rPr>
                  <a:t>Σw</a:t>
                </a:r>
                <a:r>
                  <a:rPr lang="en-US" altLang="zh-CN" sz="2000" baseline="-25000" dirty="0" err="1"/>
                  <a:t>i</a:t>
                </a:r>
                <a:r>
                  <a:rPr lang="en-US" altLang="zh-CN" sz="2400" dirty="0">
                    <a:solidFill>
                      <a:srgbClr val="000000"/>
                    </a:solidFill>
                  </a:rPr>
                  <a:t>=1</a:t>
                </a:r>
                <a:r>
                  <a:rPr lang="zh-CN" altLang="zh-CN" sz="2400" dirty="0">
                    <a:solidFill>
                      <a:srgbClr val="000000"/>
                    </a:solidFill>
                  </a:rPr>
                  <a:t>，</a:t>
                </a:r>
                <a:r>
                  <a:rPr lang="en-US" altLang="zh-CN" sz="2400" dirty="0" err="1">
                    <a:solidFill>
                      <a:srgbClr val="000000"/>
                    </a:solidFill>
                  </a:rPr>
                  <a:t>x</a:t>
                </a:r>
                <a:r>
                  <a:rPr lang="en-US" altLang="zh-CN" sz="2000" baseline="-25000" dirty="0" err="1"/>
                  <a:t>k</a:t>
                </a:r>
                <a:r>
                  <a:rPr lang="zh-CN" altLang="zh-CN" sz="2400" dirty="0">
                    <a:solidFill>
                      <a:srgbClr val="000000"/>
                    </a:solidFill>
                  </a:rPr>
                  <a:t>为加权中位数满足以下条件</a:t>
                </a:r>
                <a:endParaRPr lang="en-US" altLang="zh-CN" sz="24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zh-CN" altLang="en-US" sz="2400" i="1" smtClean="0">
                              <a:solidFill>
                                <a:srgbClr val="000000"/>
                              </a:solidFill>
                              <a:latin typeface="Cambria Math" panose="02040503050406030204" pitchFamily="18" charset="0"/>
                            </a:rPr>
                          </m:ctrlPr>
                        </m:naryPr>
                        <m:sub>
                          <m:sSub>
                            <m:sSubPr>
                              <m:ctrlPr>
                                <a:rPr lang="en-US" altLang="zh-CN" sz="2400" b="0" i="1" smtClean="0">
                                  <a:solidFill>
                                    <a:srgbClr val="000000"/>
                                  </a:solidFill>
                                  <a:latin typeface="Cambria Math" panose="02040503050406030204" pitchFamily="18" charset="0"/>
                                </a:rPr>
                              </m:ctrlPr>
                            </m:sSubPr>
                            <m:e>
                              <m:r>
                                <m:rPr>
                                  <m:sty m:val="p"/>
                                  <m:brk m:alnAt="7"/>
                                </m:rPr>
                                <a:rPr lang="en-US" altLang="zh-CN" sz="2400" i="1">
                                  <a:solidFill>
                                    <a:srgbClr val="000000"/>
                                  </a:solidFill>
                                  <a:latin typeface="Cambria Math" panose="02040503050406030204" pitchFamily="18" charset="0"/>
                                </a:rPr>
                                <m:t>x</m:t>
                              </m:r>
                            </m:e>
                            <m:sub>
                              <m:r>
                                <m:rPr>
                                  <m:brk m:alnAt="7"/>
                                </m:rPr>
                                <a:rPr lang="en-US" altLang="zh-CN" sz="2400" b="0" i="1" smtClean="0">
                                  <a:solidFill>
                                    <a:srgbClr val="000000"/>
                                  </a:solidFill>
                                  <a:latin typeface="Cambria Math" panose="02040503050406030204" pitchFamily="18" charset="0"/>
                                </a:rPr>
                                <m:t>𝑖</m:t>
                              </m:r>
                            </m:sub>
                          </m:sSub>
                          <m:r>
                            <m:rPr>
                              <m:brk m:alnAt="7"/>
                            </m:rPr>
                            <a:rPr lang="en-US" altLang="zh-CN" sz="2400" b="0" i="1" smtClean="0">
                              <a:solidFill>
                                <a:srgbClr val="000000"/>
                              </a:solidFill>
                              <a:latin typeface="Cambria Math" panose="02040503050406030204" pitchFamily="18" charset="0"/>
                            </a:rPr>
                            <m:t>&lt;</m:t>
                          </m:r>
                          <m:sSub>
                            <m:sSubPr>
                              <m:ctrlPr>
                                <a:rPr lang="en-US" altLang="zh-CN" sz="2400" b="0" i="1" smtClean="0">
                                  <a:solidFill>
                                    <a:srgbClr val="000000"/>
                                  </a:solidFill>
                                  <a:latin typeface="Cambria Math" panose="02040503050406030204" pitchFamily="18" charset="0"/>
                                </a:rPr>
                              </m:ctrlPr>
                            </m:sSubPr>
                            <m:e>
                              <m:r>
                                <m:rPr>
                                  <m:brk m:alnAt="7"/>
                                </m:rPr>
                                <a:rPr lang="en-US" altLang="zh-CN" sz="2400" b="0" i="1" smtClean="0">
                                  <a:solidFill>
                                    <a:srgbClr val="000000"/>
                                  </a:solidFill>
                                  <a:latin typeface="Cambria Math" panose="02040503050406030204" pitchFamily="18" charset="0"/>
                                </a:rPr>
                                <m:t>𝑥</m:t>
                              </m:r>
                            </m:e>
                            <m:sub>
                              <m:r>
                                <m:rPr>
                                  <m:brk m:alnAt="7"/>
                                </m:rPr>
                                <a:rPr lang="en-US" altLang="zh-CN" sz="2400" b="0" i="1" smtClean="0">
                                  <a:solidFill>
                                    <a:srgbClr val="000000"/>
                                  </a:solidFill>
                                  <a:latin typeface="Cambria Math" panose="02040503050406030204" pitchFamily="18" charset="0"/>
                                </a:rPr>
                                <m:t>𝑘</m:t>
                              </m:r>
                            </m:sub>
                          </m:sSub>
                        </m:sub>
                        <m:sup/>
                        <m:e>
                          <m:sSub>
                            <m:sSubPr>
                              <m:ctrlPr>
                                <a:rPr lang="en-US" altLang="zh-CN" sz="2400" b="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𝑤</m:t>
                              </m:r>
                            </m:e>
                            <m:sub>
                              <m:r>
                                <a:rPr lang="en-US" altLang="zh-CN" sz="2400" b="0" i="1" smtClean="0">
                                  <a:solidFill>
                                    <a:srgbClr val="000000"/>
                                  </a:solidFill>
                                  <a:latin typeface="Cambria Math" panose="02040503050406030204" pitchFamily="18" charset="0"/>
                                </a:rPr>
                                <m:t>𝑖</m:t>
                              </m:r>
                            </m:sub>
                          </m:sSub>
                        </m:e>
                      </m:nary>
                      <m:r>
                        <a:rPr lang="en-US" altLang="zh-CN" sz="2400" b="0" i="1" smtClean="0">
                          <a:solidFill>
                            <a:srgbClr val="000000"/>
                          </a:solidFill>
                          <a:latin typeface="Cambria Math" panose="02040503050406030204" pitchFamily="18" charset="0"/>
                        </a:rPr>
                        <m:t>&lt;</m:t>
                      </m:r>
                      <m:f>
                        <m:fPr>
                          <m:ctrlPr>
                            <a:rPr lang="en-US" altLang="zh-CN" sz="2400" b="0" i="1" smtClean="0">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1</m:t>
                          </m:r>
                        </m:num>
                        <m:den>
                          <m:r>
                            <a:rPr lang="en-US" altLang="zh-CN" sz="2400" b="0" i="1" smtClean="0">
                              <a:solidFill>
                                <a:srgbClr val="000000"/>
                              </a:solidFill>
                              <a:latin typeface="Cambria Math" panose="02040503050406030204" pitchFamily="18" charset="0"/>
                            </a:rPr>
                            <m:t>2</m:t>
                          </m:r>
                        </m:den>
                      </m:f>
                      <m:r>
                        <a:rPr lang="en-US" altLang="zh-CN" sz="2400" b="0" i="1" smtClean="0">
                          <a:solidFill>
                            <a:srgbClr val="000000"/>
                          </a:solidFill>
                          <a:latin typeface="Cambria Math" panose="02040503050406030204" pitchFamily="18" charset="0"/>
                        </a:rPr>
                        <m:t>      </m:t>
                      </m:r>
                      <m:nary>
                        <m:naryPr>
                          <m:chr m:val="∑"/>
                          <m:supHide m:val="on"/>
                          <m:ctrlPr>
                            <a:rPr lang="zh-CN" altLang="en-US" sz="2400" i="1">
                              <a:solidFill>
                                <a:srgbClr val="000000"/>
                              </a:solidFill>
                              <a:latin typeface="Cambria Math" panose="02040503050406030204" pitchFamily="18" charset="0"/>
                            </a:rPr>
                          </m:ctrlPr>
                        </m:naryPr>
                        <m:sub>
                          <m:sSub>
                            <m:sSubPr>
                              <m:ctrlPr>
                                <a:rPr lang="en-US" altLang="zh-CN" sz="2400" i="1">
                                  <a:solidFill>
                                    <a:srgbClr val="000000"/>
                                  </a:solidFill>
                                  <a:latin typeface="Cambria Math" panose="02040503050406030204" pitchFamily="18" charset="0"/>
                                </a:rPr>
                              </m:ctrlPr>
                            </m:sSubPr>
                            <m:e>
                              <m:r>
                                <m:rPr>
                                  <m:sty m:val="p"/>
                                  <m:brk m:alnAt="7"/>
                                </m:rPr>
                                <a:rPr lang="en-US" altLang="zh-CN" sz="2400" i="1">
                                  <a:solidFill>
                                    <a:srgbClr val="000000"/>
                                  </a:solidFill>
                                  <a:latin typeface="Cambria Math" panose="02040503050406030204" pitchFamily="18" charset="0"/>
                                </a:rPr>
                                <m:t>x</m:t>
                              </m:r>
                            </m:e>
                            <m:sub>
                              <m:r>
                                <m:rPr>
                                  <m:brk m:alnAt="7"/>
                                </m:rPr>
                                <a:rPr lang="en-US" altLang="zh-CN" sz="2400" i="1">
                                  <a:solidFill>
                                    <a:srgbClr val="000000"/>
                                  </a:solidFill>
                                  <a:latin typeface="Cambria Math" panose="02040503050406030204" pitchFamily="18" charset="0"/>
                                </a:rPr>
                                <m:t>𝑖</m:t>
                              </m:r>
                            </m:sub>
                          </m:sSub>
                          <m:r>
                            <a:rPr lang="en-US" altLang="zh-CN" sz="2400" b="0" i="1" smtClean="0">
                              <a:solidFill>
                                <a:srgbClr val="000000"/>
                              </a:solidFill>
                              <a:latin typeface="Cambria Math" panose="02040503050406030204" pitchFamily="18" charset="0"/>
                            </a:rPr>
                            <m:t>&gt;</m:t>
                          </m:r>
                          <m:sSub>
                            <m:sSubPr>
                              <m:ctrlPr>
                                <a:rPr lang="en-US" altLang="zh-CN" sz="2400" i="1">
                                  <a:solidFill>
                                    <a:srgbClr val="000000"/>
                                  </a:solidFill>
                                  <a:latin typeface="Cambria Math" panose="02040503050406030204" pitchFamily="18" charset="0"/>
                                </a:rPr>
                              </m:ctrlPr>
                            </m:sSubPr>
                            <m:e>
                              <m:r>
                                <m:rPr>
                                  <m:brk m:alnAt="7"/>
                                </m:rPr>
                                <a:rPr lang="en-US" altLang="zh-CN" sz="2400" i="1">
                                  <a:solidFill>
                                    <a:srgbClr val="000000"/>
                                  </a:solidFill>
                                  <a:latin typeface="Cambria Math" panose="02040503050406030204" pitchFamily="18" charset="0"/>
                                </a:rPr>
                                <m:t>𝑥</m:t>
                              </m:r>
                            </m:e>
                            <m:sub>
                              <m:r>
                                <m:rPr>
                                  <m:brk m:alnAt="7"/>
                                </m:rPr>
                                <a:rPr lang="en-US" altLang="zh-CN" sz="2400" i="1">
                                  <a:solidFill>
                                    <a:srgbClr val="000000"/>
                                  </a:solidFill>
                                  <a:latin typeface="Cambria Math" panose="02040503050406030204" pitchFamily="18" charset="0"/>
                                </a:rPr>
                                <m:t>𝑘</m:t>
                              </m:r>
                            </m:sub>
                          </m:sSub>
                        </m:sub>
                        <m:sup/>
                        <m:e>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𝑤</m:t>
                              </m:r>
                            </m:e>
                            <m:sub>
                              <m:r>
                                <a:rPr lang="en-US" altLang="zh-CN" sz="2400" i="1">
                                  <a:solidFill>
                                    <a:srgbClr val="000000"/>
                                  </a:solidFill>
                                  <a:latin typeface="Cambria Math" panose="02040503050406030204" pitchFamily="18" charset="0"/>
                                </a:rPr>
                                <m:t>𝑖</m:t>
                              </m:r>
                            </m:sub>
                          </m:sSub>
                        </m:e>
                      </m:nary>
                      <m:r>
                        <a:rPr lang="en-US" altLang="zh-CN" sz="2400" b="0" i="1" smtClean="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2</m:t>
                          </m:r>
                        </m:den>
                      </m:f>
                    </m:oMath>
                  </m:oMathPara>
                </a14:m>
                <a:endParaRPr lang="zh-CN" altLang="zh-CN" sz="2400" dirty="0">
                  <a:solidFill>
                    <a:srgbClr val="000000"/>
                  </a:solidFill>
                </a:endParaRPr>
              </a:p>
              <a:p>
                <a:r>
                  <a:rPr lang="zh-CN" altLang="en-US" sz="2400" dirty="0">
                    <a:solidFill>
                      <a:srgbClr val="000000"/>
                    </a:solidFill>
                  </a:rPr>
                  <a:t>下面</a:t>
                </a:r>
                <a:r>
                  <a:rPr lang="en-US" altLang="zh-CN" sz="2400" dirty="0">
                    <a:solidFill>
                      <a:srgbClr val="000000"/>
                    </a:solidFill>
                  </a:rPr>
                  <a:t>7</a:t>
                </a:r>
                <a:r>
                  <a:rPr lang="zh-CN" altLang="zh-CN" sz="2400" dirty="0">
                    <a:solidFill>
                      <a:srgbClr val="000000"/>
                    </a:solidFill>
                  </a:rPr>
                  <a:t>个数</a:t>
                </a:r>
                <a:r>
                  <a:rPr lang="zh-CN" altLang="zh-CN" sz="2000" dirty="0"/>
                  <a:t>，</a:t>
                </a:r>
                <a:r>
                  <a:rPr lang="zh-CN" altLang="zh-CN" sz="2400" dirty="0"/>
                  <a:t>中位数是</a:t>
                </a:r>
                <a:r>
                  <a:rPr lang="en-US" altLang="zh-CN" sz="2400" dirty="0"/>
                  <a:t>x</a:t>
                </a:r>
                <a:r>
                  <a:rPr lang="en-US" altLang="zh-CN" sz="2400" baseline="-25000" dirty="0"/>
                  <a:t>5</a:t>
                </a:r>
                <a:r>
                  <a:rPr lang="en-US" altLang="zh-CN" sz="2400" dirty="0"/>
                  <a:t>=4</a:t>
                </a:r>
                <a:r>
                  <a:rPr lang="zh-CN" altLang="zh-CN" sz="2400" dirty="0"/>
                  <a:t>，加权中位数是</a:t>
                </a:r>
                <a:r>
                  <a:rPr lang="en-US" altLang="zh-CN" sz="2400" dirty="0"/>
                  <a:t>x</a:t>
                </a:r>
                <a:r>
                  <a:rPr lang="en-US" altLang="zh-CN" sz="2400" baseline="-25000" dirty="0"/>
                  <a:t>7</a:t>
                </a:r>
                <a:r>
                  <a:rPr lang="en-US" altLang="zh-CN" sz="2400" dirty="0"/>
                  <a:t>=6</a:t>
                </a:r>
                <a:r>
                  <a:rPr lang="zh-CN" altLang="zh-CN" sz="2400" dirty="0"/>
                  <a:t>，小于</a:t>
                </a:r>
                <a:r>
                  <a:rPr lang="en-US" altLang="zh-CN" sz="2400" dirty="0"/>
                  <a:t>x</a:t>
                </a:r>
                <a:r>
                  <a:rPr lang="en-US" altLang="zh-CN" sz="2400" baseline="-25000" dirty="0"/>
                  <a:t>7</a:t>
                </a:r>
                <a:r>
                  <a:rPr lang="zh-CN" altLang="zh-CN" sz="2400" dirty="0"/>
                  <a:t>的数有</a:t>
                </a:r>
                <a:r>
                  <a:rPr lang="en-US" altLang="zh-CN" sz="2400" dirty="0"/>
                  <a:t>x</a:t>
                </a:r>
                <a:r>
                  <a:rPr lang="en-US" altLang="zh-CN" sz="2400" baseline="-25000" dirty="0"/>
                  <a:t>1</a:t>
                </a:r>
                <a:r>
                  <a:rPr lang="en-US" altLang="zh-CN" sz="2400" dirty="0"/>
                  <a:t>, x</a:t>
                </a:r>
                <a:r>
                  <a:rPr lang="en-US" altLang="zh-CN" sz="2400" baseline="-25000" dirty="0"/>
                  <a:t>3</a:t>
                </a:r>
                <a:r>
                  <a:rPr lang="en-US" altLang="zh-CN" sz="2400" dirty="0"/>
                  <a:t>, x</a:t>
                </a:r>
                <a:r>
                  <a:rPr lang="en-US" altLang="zh-CN" sz="2400" baseline="-25000" dirty="0"/>
                  <a:t>4</a:t>
                </a:r>
                <a:r>
                  <a:rPr lang="en-US" altLang="zh-CN" sz="2400" dirty="0"/>
                  <a:t>, x</a:t>
                </a:r>
                <a:r>
                  <a:rPr lang="en-US" altLang="zh-CN" sz="2400" baseline="-25000" dirty="0"/>
                  <a:t>5</a:t>
                </a:r>
                <a:r>
                  <a:rPr lang="en-US" altLang="zh-CN" sz="2400" dirty="0"/>
                  <a:t>, x</a:t>
                </a:r>
                <a:r>
                  <a:rPr lang="en-US" altLang="zh-CN" sz="2400" baseline="-25000" dirty="0"/>
                  <a:t>6</a:t>
                </a:r>
                <a:r>
                  <a:rPr lang="zh-CN" altLang="zh-CN" sz="2400" dirty="0"/>
                  <a:t>共</a:t>
                </a:r>
                <a:r>
                  <a:rPr lang="en-US" altLang="zh-CN" sz="2400" dirty="0"/>
                  <a:t>5</a:t>
                </a:r>
                <a:r>
                  <a:rPr lang="zh-CN" altLang="zh-CN" sz="2400" dirty="0"/>
                  <a:t>个，权值之和为</a:t>
                </a:r>
                <a:r>
                  <a:rPr lang="en-US" altLang="zh-CN" sz="2400" dirty="0"/>
                  <a:t>0.45</a:t>
                </a:r>
                <a:r>
                  <a:rPr lang="zh-CN" altLang="zh-CN" sz="2400" dirty="0"/>
                  <a:t>，小于</a:t>
                </a:r>
                <a:r>
                  <a:rPr lang="en-US" altLang="zh-CN" sz="2400" dirty="0"/>
                  <a:t>1/2</a:t>
                </a:r>
                <a:r>
                  <a:rPr lang="zh-CN" altLang="zh-CN" sz="2400" dirty="0"/>
                  <a:t>，</a:t>
                </a:r>
                <a:r>
                  <a:rPr lang="en-US" altLang="zh-CN" sz="2400" dirty="0"/>
                  <a:t>x</a:t>
                </a:r>
                <a:r>
                  <a:rPr lang="en-US" altLang="zh-CN" sz="2400" baseline="-25000" dirty="0"/>
                  <a:t>2</a:t>
                </a:r>
                <a:r>
                  <a:rPr lang="zh-CN" altLang="zh-CN" sz="2400" dirty="0"/>
                  <a:t>大于</a:t>
                </a:r>
                <a:r>
                  <a:rPr lang="en-US" altLang="zh-CN" sz="2400" dirty="0"/>
                  <a:t>x</a:t>
                </a:r>
                <a:r>
                  <a:rPr lang="en-US" altLang="zh-CN" sz="2400" baseline="-25000" dirty="0"/>
                  <a:t>7</a:t>
                </a:r>
                <a:r>
                  <a:rPr lang="zh-CN" altLang="zh-CN" sz="2400" dirty="0"/>
                  <a:t>，权值为</a:t>
                </a:r>
                <a:r>
                  <a:rPr lang="en-US" altLang="zh-CN" sz="2400" dirty="0"/>
                  <a:t>0.35</a:t>
                </a:r>
                <a:r>
                  <a:rPr lang="zh-CN" altLang="zh-CN" sz="2400" dirty="0"/>
                  <a:t>也不大于</a:t>
                </a:r>
                <a:r>
                  <a:rPr lang="en-US" altLang="zh-CN" sz="2400" dirty="0"/>
                  <a:t>1/2</a:t>
                </a:r>
              </a:p>
              <a:p>
                <a:pPr>
                  <a:lnSpc>
                    <a:spcPct val="100000"/>
                  </a:lnSpc>
                  <a:spcBef>
                    <a:spcPts val="0"/>
                  </a:spcBef>
                </a:pPr>
                <a:endParaRPr lang="en-US" altLang="zh-CN" sz="2000" dirty="0"/>
              </a:p>
              <a:p>
                <a:pPr>
                  <a:lnSpc>
                    <a:spcPct val="100000"/>
                  </a:lnSpc>
                  <a:spcBef>
                    <a:spcPts val="0"/>
                  </a:spcBef>
                </a:pPr>
                <a:endParaRPr lang="en-US" altLang="zh-CN" sz="2000" dirty="0"/>
              </a:p>
              <a:p>
                <a:pPr>
                  <a:lnSpc>
                    <a:spcPct val="100000"/>
                  </a:lnSpc>
                  <a:spcBef>
                    <a:spcPts val="0"/>
                  </a:spcBef>
                </a:pPr>
                <a:endParaRPr lang="en-US" altLang="zh-CN" sz="2000" dirty="0"/>
              </a:p>
              <a:p>
                <a:pPr>
                  <a:lnSpc>
                    <a:spcPct val="100000"/>
                  </a:lnSpc>
                  <a:spcBef>
                    <a:spcPts val="0"/>
                  </a:spcBef>
                </a:pPr>
                <a:endParaRPr lang="en-US" altLang="zh-CN" sz="2000" dirty="0"/>
              </a:p>
              <a:p>
                <a:r>
                  <a:rPr lang="zh-CN" altLang="zh-CN" sz="2400" dirty="0"/>
                  <a:t>当</a:t>
                </a:r>
                <a:r>
                  <a:rPr lang="en-US" altLang="zh-CN" sz="2400" dirty="0" err="1"/>
                  <a:t>w</a:t>
                </a:r>
                <a:r>
                  <a:rPr lang="en-US" altLang="zh-CN" sz="2400" baseline="-25000" dirty="0" err="1"/>
                  <a:t>i</a:t>
                </a:r>
                <a:r>
                  <a:rPr lang="en-US" altLang="zh-CN" sz="2400" dirty="0"/>
                  <a:t>=1/n</a:t>
                </a:r>
                <a:r>
                  <a:rPr lang="zh-CN" altLang="zh-CN" sz="2400" dirty="0"/>
                  <a:t>时</a:t>
                </a:r>
                <a:r>
                  <a:rPr lang="zh-CN" altLang="zh-CN" sz="2400" dirty="0">
                    <a:solidFill>
                      <a:srgbClr val="000000"/>
                    </a:solidFill>
                  </a:rPr>
                  <a:t>中位数与加权中位数一致</a:t>
                </a:r>
                <a:endParaRPr lang="zh-CN" altLang="en-US" sz="2400" dirty="0">
                  <a:solidFill>
                    <a:srgbClr val="000000"/>
                  </a:solidFill>
                </a:endParaRPr>
              </a:p>
              <a:p>
                <a:endParaRPr lang="zh-CN" altLang="en-US" sz="2400" dirty="0"/>
              </a:p>
            </p:txBody>
          </p:sp>
        </mc:Choice>
        <mc:Fallback>
          <p:sp>
            <p:nvSpPr>
              <p:cNvPr id="3" name="内容占位符 2">
                <a:extLst>
                  <a:ext uri="{FF2B5EF4-FFF2-40B4-BE49-F238E27FC236}">
                    <a16:creationId xmlns:a16="http://schemas.microsoft.com/office/drawing/2014/main" id="{AB349836-F288-4127-95B6-09FE41702098}"/>
                  </a:ext>
                </a:extLst>
              </p:cNvPr>
              <p:cNvSpPr>
                <a:spLocks noGrp="1" noRot="1" noChangeAspect="1" noMove="1" noResize="1" noEditPoints="1" noAdjustHandles="1" noChangeArrowheads="1" noChangeShapeType="1" noTextEdit="1"/>
              </p:cNvSpPr>
              <p:nvPr>
                <p:ph idx="1"/>
              </p:nvPr>
            </p:nvSpPr>
            <p:spPr>
              <a:blipFill>
                <a:blip r:embed="rId3"/>
                <a:stretch>
                  <a:fillRect l="-812" t="-98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91737246-BC58-42A8-BBAF-E87A1C204284}"/>
              </a:ext>
            </a:extLst>
          </p:cNvPr>
          <p:cNvPicPr>
            <a:picLocks noChangeAspect="1"/>
          </p:cNvPicPr>
          <p:nvPr/>
        </p:nvPicPr>
        <p:blipFill>
          <a:blip r:embed="rId4"/>
          <a:stretch>
            <a:fillRect/>
          </a:stretch>
        </p:blipFill>
        <p:spPr>
          <a:xfrm>
            <a:off x="2390840" y="4360024"/>
            <a:ext cx="7410320" cy="933980"/>
          </a:xfrm>
          <a:prstGeom prst="rect">
            <a:avLst/>
          </a:prstGeom>
        </p:spPr>
      </p:pic>
    </p:spTree>
    <p:extLst>
      <p:ext uri="{BB962C8B-B14F-4D97-AF65-F5344CB8AC3E}">
        <p14:creationId xmlns:p14="http://schemas.microsoft.com/office/powerpoint/2010/main" val="1986761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9BC0D7-4603-4032-9B1C-F7B1A5B12D55}"/>
              </a:ext>
            </a:extLst>
          </p:cNvPr>
          <p:cNvSpPr>
            <a:spLocks noGrp="1"/>
          </p:cNvSpPr>
          <p:nvPr>
            <p:ph type="title"/>
          </p:nvPr>
        </p:nvSpPr>
        <p:spPr/>
        <p:txBody>
          <a:bodyPr/>
          <a:lstStyle/>
          <a:p>
            <a:r>
              <a:rPr lang="zh-CN" altLang="en-US" dirty="0"/>
              <a:t>加权中位数</a:t>
            </a:r>
          </a:p>
        </p:txBody>
      </p:sp>
      <p:sp>
        <p:nvSpPr>
          <p:cNvPr id="3" name="内容占位符 2">
            <a:extLst>
              <a:ext uri="{FF2B5EF4-FFF2-40B4-BE49-F238E27FC236}">
                <a16:creationId xmlns:a16="http://schemas.microsoft.com/office/drawing/2014/main" id="{96760498-56CD-42BE-875C-6A3120DDD131}"/>
              </a:ext>
            </a:extLst>
          </p:cNvPr>
          <p:cNvSpPr>
            <a:spLocks noGrp="1"/>
          </p:cNvSpPr>
          <p:nvPr>
            <p:ph idx="1"/>
          </p:nvPr>
        </p:nvSpPr>
        <p:spPr/>
        <p:txBody>
          <a:bodyPr>
            <a:noAutofit/>
          </a:bodyPr>
          <a:lstStyle/>
          <a:p>
            <a:r>
              <a:rPr lang="zh-CN" altLang="zh-CN" sz="2000" dirty="0">
                <a:solidFill>
                  <a:srgbClr val="000000"/>
                </a:solidFill>
              </a:rPr>
              <a:t>排序求加权中位数</a:t>
            </a:r>
            <a:r>
              <a:rPr lang="zh-CN" altLang="en-US" sz="2000" dirty="0">
                <a:solidFill>
                  <a:srgbClr val="000000"/>
                </a:solidFill>
              </a:rPr>
              <a:t>：</a:t>
            </a:r>
            <a:r>
              <a:rPr lang="zh-CN" altLang="zh-CN" sz="2000" dirty="0">
                <a:solidFill>
                  <a:srgbClr val="000000"/>
                </a:solidFill>
              </a:rPr>
              <a:t>按照</a:t>
            </a:r>
            <a:r>
              <a:rPr lang="en-US" altLang="zh-CN" sz="2000" dirty="0" err="1">
                <a:solidFill>
                  <a:srgbClr val="000000"/>
                </a:solidFill>
              </a:rPr>
              <a:t>x_i</a:t>
            </a:r>
            <a:r>
              <a:rPr lang="zh-CN" altLang="zh-CN" sz="2000" dirty="0">
                <a:solidFill>
                  <a:srgbClr val="000000"/>
                </a:solidFill>
              </a:rPr>
              <a:t>的值排序，然后从小到大计算权值的累计值直至加到</a:t>
            </a:r>
            <a:r>
              <a:rPr lang="en-US" altLang="zh-CN" sz="2000" dirty="0" err="1">
                <a:solidFill>
                  <a:srgbClr val="000000"/>
                </a:solidFill>
              </a:rPr>
              <a:t>x</a:t>
            </a:r>
            <a:r>
              <a:rPr lang="en-US" altLang="zh-CN" sz="2000" baseline="-25000" dirty="0" err="1">
                <a:solidFill>
                  <a:srgbClr val="000000"/>
                </a:solidFill>
              </a:rPr>
              <a:t>k</a:t>
            </a:r>
            <a:r>
              <a:rPr lang="zh-CN" altLang="zh-CN" sz="2000" dirty="0">
                <a:solidFill>
                  <a:srgbClr val="000000"/>
                </a:solidFill>
              </a:rPr>
              <a:t>后大于等于</a:t>
            </a:r>
            <a:r>
              <a:rPr lang="en-US" altLang="zh-CN" sz="2000" dirty="0">
                <a:solidFill>
                  <a:srgbClr val="000000"/>
                </a:solidFill>
              </a:rPr>
              <a:t>1/2</a:t>
            </a:r>
            <a:r>
              <a:rPr lang="zh-CN" altLang="zh-CN" sz="2000" dirty="0">
                <a:solidFill>
                  <a:srgbClr val="000000"/>
                </a:solidFill>
              </a:rPr>
              <a:t>，则</a:t>
            </a:r>
            <a:r>
              <a:rPr lang="en-US" altLang="zh-CN" sz="2000" dirty="0" err="1">
                <a:solidFill>
                  <a:srgbClr val="000000"/>
                </a:solidFill>
              </a:rPr>
              <a:t>x</a:t>
            </a:r>
            <a:r>
              <a:rPr lang="en-US" altLang="zh-CN" sz="2000" baseline="-25000" dirty="0" err="1">
                <a:solidFill>
                  <a:srgbClr val="000000"/>
                </a:solidFill>
              </a:rPr>
              <a:t>k</a:t>
            </a:r>
            <a:r>
              <a:rPr lang="zh-CN" altLang="zh-CN" sz="2000" dirty="0">
                <a:solidFill>
                  <a:srgbClr val="000000"/>
                </a:solidFill>
              </a:rPr>
              <a:t>为加权中位数，时间复杂性</a:t>
            </a:r>
            <a:r>
              <a:rPr lang="en-US" altLang="zh-CN" sz="2000" dirty="0">
                <a:solidFill>
                  <a:srgbClr val="000000"/>
                </a:solidFill>
              </a:rPr>
              <a:t>(</a:t>
            </a:r>
            <a:r>
              <a:rPr lang="en-US" altLang="zh-CN" sz="2000" dirty="0" err="1">
                <a:solidFill>
                  <a:srgbClr val="000000"/>
                </a:solidFill>
              </a:rPr>
              <a:t>nlogn</a:t>
            </a:r>
            <a:r>
              <a:rPr lang="en-US" altLang="zh-CN" sz="2000" dirty="0">
                <a:solidFill>
                  <a:srgbClr val="000000"/>
                </a:solidFill>
              </a:rPr>
              <a:t>)</a:t>
            </a:r>
          </a:p>
          <a:p>
            <a:r>
              <a:rPr lang="zh-CN" altLang="zh-CN" sz="2000" dirty="0">
                <a:solidFill>
                  <a:srgbClr val="000000"/>
                </a:solidFill>
              </a:rPr>
              <a:t>类似求第</a:t>
            </a:r>
            <a:r>
              <a:rPr lang="en-US" altLang="zh-CN" sz="2000" dirty="0">
                <a:solidFill>
                  <a:srgbClr val="000000"/>
                </a:solidFill>
              </a:rPr>
              <a:t>k</a:t>
            </a:r>
            <a:r>
              <a:rPr lang="zh-CN" altLang="zh-CN" sz="2000" dirty="0">
                <a:solidFill>
                  <a:srgbClr val="000000"/>
                </a:solidFill>
              </a:rPr>
              <a:t>小元素：先求出中位数，计算小于中位数的元素的权值和以及大于中位数的元素的权值和，若符合加权中位数定义，则即为所求，若某一部分不符合定义，则在相应部分递归求解，但是需要修正权值</a:t>
            </a:r>
          </a:p>
          <a:p>
            <a:pPr marL="0" indent="0">
              <a:buNone/>
            </a:pPr>
            <a:r>
              <a:rPr lang="en-US" altLang="zh-CN" sz="2000" dirty="0">
                <a:solidFill>
                  <a:srgbClr val="000000"/>
                </a:solidFill>
              </a:rPr>
              <a:t>    Weighted-Med(X)</a:t>
            </a:r>
            <a:endParaRPr lang="zh-CN" altLang="zh-CN" sz="2000" dirty="0">
              <a:solidFill>
                <a:srgbClr val="000000"/>
              </a:solidFill>
            </a:endParaRPr>
          </a:p>
          <a:p>
            <a:pPr marL="0" indent="0">
              <a:buNone/>
            </a:pPr>
            <a:r>
              <a:rPr lang="en-US" altLang="zh-CN" sz="2000" dirty="0">
                <a:solidFill>
                  <a:srgbClr val="000000"/>
                </a:solidFill>
              </a:rPr>
              <a:t>        if n==1 return X[1]</a:t>
            </a:r>
            <a:endParaRPr lang="zh-CN" altLang="zh-CN" sz="2000" dirty="0">
              <a:solidFill>
                <a:srgbClr val="000000"/>
              </a:solidFill>
            </a:endParaRPr>
          </a:p>
          <a:p>
            <a:pPr marL="0" indent="0">
              <a:buNone/>
            </a:pPr>
            <a:r>
              <a:rPr lang="en-US" altLang="zh-CN" sz="2000" dirty="0">
                <a:solidFill>
                  <a:srgbClr val="000000"/>
                </a:solidFill>
              </a:rPr>
              <a:t>        if n==2 </a:t>
            </a:r>
            <a:endParaRPr lang="zh-CN" altLang="zh-CN" sz="2000" dirty="0">
              <a:solidFill>
                <a:srgbClr val="000000"/>
              </a:solidFill>
            </a:endParaRPr>
          </a:p>
          <a:p>
            <a:pPr marL="0" indent="0">
              <a:buNone/>
            </a:pPr>
            <a:r>
              <a:rPr lang="en-US" altLang="zh-CN" sz="2000" dirty="0">
                <a:solidFill>
                  <a:srgbClr val="000000"/>
                </a:solidFill>
              </a:rPr>
              <a:t>            if w</a:t>
            </a:r>
            <a:r>
              <a:rPr lang="en-US" altLang="zh-CN" sz="2000" baseline="-25000" dirty="0">
                <a:solidFill>
                  <a:srgbClr val="000000"/>
                </a:solidFill>
              </a:rPr>
              <a:t>1</a:t>
            </a:r>
            <a:r>
              <a:rPr lang="en-US" altLang="zh-CN" sz="2000" dirty="0">
                <a:solidFill>
                  <a:srgbClr val="000000"/>
                </a:solidFill>
              </a:rPr>
              <a:t>&gt;=w</a:t>
            </a:r>
            <a:r>
              <a:rPr lang="en-US" altLang="zh-CN" sz="2000" baseline="-25000" dirty="0">
                <a:solidFill>
                  <a:srgbClr val="000000"/>
                </a:solidFill>
              </a:rPr>
              <a:t>2</a:t>
            </a:r>
            <a:r>
              <a:rPr lang="en-US" altLang="zh-CN" sz="2000" dirty="0">
                <a:solidFill>
                  <a:srgbClr val="000000"/>
                </a:solidFill>
              </a:rPr>
              <a:t> return x</a:t>
            </a:r>
            <a:r>
              <a:rPr lang="en-US" altLang="zh-CN" sz="2000" baseline="-25000" dirty="0">
                <a:solidFill>
                  <a:srgbClr val="000000"/>
                </a:solidFill>
              </a:rPr>
              <a:t>1</a:t>
            </a:r>
            <a:r>
              <a:rPr lang="en-US" altLang="zh-CN" sz="2000" dirty="0">
                <a:solidFill>
                  <a:srgbClr val="000000"/>
                </a:solidFill>
              </a:rPr>
              <a:t> else return x</a:t>
            </a:r>
            <a:r>
              <a:rPr lang="en-US" altLang="zh-CN" sz="2000" baseline="-25000" dirty="0">
                <a:solidFill>
                  <a:srgbClr val="000000"/>
                </a:solidFill>
              </a:rPr>
              <a:t>2</a:t>
            </a:r>
            <a:endParaRPr lang="zh-CN" altLang="zh-CN" sz="2000" baseline="-25000" dirty="0">
              <a:solidFill>
                <a:srgbClr val="000000"/>
              </a:solidFill>
            </a:endParaRPr>
          </a:p>
          <a:p>
            <a:pPr marL="0" indent="0">
              <a:buNone/>
            </a:pPr>
            <a:r>
              <a:rPr lang="en-US" altLang="zh-CN" sz="2000" dirty="0">
                <a:solidFill>
                  <a:srgbClr val="000000"/>
                </a:solidFill>
              </a:rPr>
              <a:t>        </a:t>
            </a:r>
            <a:r>
              <a:rPr lang="zh-CN" altLang="zh-CN" sz="2000" dirty="0">
                <a:solidFill>
                  <a:srgbClr val="000000"/>
                </a:solidFill>
              </a:rPr>
              <a:t>求出</a:t>
            </a:r>
            <a:r>
              <a:rPr lang="en-US" altLang="zh-CN" sz="2000" dirty="0">
                <a:solidFill>
                  <a:srgbClr val="000000"/>
                </a:solidFill>
              </a:rPr>
              <a:t>X</a:t>
            </a:r>
            <a:r>
              <a:rPr lang="zh-CN" altLang="zh-CN" sz="2000" dirty="0">
                <a:solidFill>
                  <a:srgbClr val="000000"/>
                </a:solidFill>
              </a:rPr>
              <a:t>的中位数</a:t>
            </a:r>
            <a:r>
              <a:rPr lang="en-US" altLang="zh-CN" sz="2000" dirty="0" err="1">
                <a:solidFill>
                  <a:srgbClr val="000000"/>
                </a:solidFill>
              </a:rPr>
              <a:t>x</a:t>
            </a:r>
            <a:r>
              <a:rPr lang="en-US" altLang="zh-CN" sz="2000" baseline="-25000" dirty="0" err="1">
                <a:solidFill>
                  <a:srgbClr val="000000"/>
                </a:solidFill>
              </a:rPr>
              <a:t>k</a:t>
            </a:r>
            <a:endParaRPr lang="zh-CN" altLang="zh-CN" sz="2000" dirty="0">
              <a:solidFill>
                <a:srgbClr val="000000"/>
              </a:solidFill>
            </a:endParaRPr>
          </a:p>
          <a:p>
            <a:pPr marL="0" indent="0">
              <a:buNone/>
            </a:pPr>
            <a:r>
              <a:rPr lang="en-US" altLang="zh-CN" sz="2000" dirty="0">
                <a:solidFill>
                  <a:srgbClr val="000000"/>
                </a:solidFill>
              </a:rPr>
              <a:t>        </a:t>
            </a:r>
            <a:r>
              <a:rPr lang="zh-CN" altLang="zh-CN" sz="2000" dirty="0">
                <a:solidFill>
                  <a:srgbClr val="000000"/>
                </a:solidFill>
              </a:rPr>
              <a:t>用</a:t>
            </a:r>
            <a:r>
              <a:rPr lang="en-US" altLang="zh-CN" sz="2000" dirty="0" err="1">
                <a:solidFill>
                  <a:srgbClr val="000000"/>
                </a:solidFill>
              </a:rPr>
              <a:t>x</a:t>
            </a:r>
            <a:r>
              <a:rPr lang="en-US" altLang="zh-CN" sz="2000" baseline="-25000" dirty="0" err="1">
                <a:solidFill>
                  <a:srgbClr val="000000"/>
                </a:solidFill>
              </a:rPr>
              <a:t>k</a:t>
            </a:r>
            <a:r>
              <a:rPr lang="zh-CN" altLang="zh-CN" sz="2000" dirty="0">
                <a:solidFill>
                  <a:srgbClr val="000000"/>
                </a:solidFill>
              </a:rPr>
              <a:t>将数组</a:t>
            </a:r>
            <a:r>
              <a:rPr lang="en-US" altLang="zh-CN" sz="2000" dirty="0">
                <a:solidFill>
                  <a:srgbClr val="000000"/>
                </a:solidFill>
              </a:rPr>
              <a:t>X</a:t>
            </a:r>
            <a:r>
              <a:rPr lang="zh-CN" altLang="zh-CN" sz="2000" dirty="0">
                <a:solidFill>
                  <a:srgbClr val="000000"/>
                </a:solidFill>
              </a:rPr>
              <a:t>划分为两部分</a:t>
            </a:r>
            <a:r>
              <a:rPr lang="en-US" altLang="zh-CN" sz="2000" dirty="0">
                <a:solidFill>
                  <a:srgbClr val="000000"/>
                </a:solidFill>
              </a:rPr>
              <a:t>L={x</a:t>
            </a:r>
            <a:r>
              <a:rPr lang="en-US" altLang="zh-CN" sz="2000" baseline="-25000" dirty="0">
                <a:solidFill>
                  <a:srgbClr val="000000"/>
                </a:solidFill>
              </a:rPr>
              <a:t>i</a:t>
            </a:r>
            <a:r>
              <a:rPr lang="en-US" altLang="zh-CN" sz="2000" dirty="0">
                <a:solidFill>
                  <a:srgbClr val="000000"/>
                </a:solidFill>
              </a:rPr>
              <a:t>&lt;</a:t>
            </a:r>
            <a:r>
              <a:rPr lang="en-US" altLang="zh-CN" sz="2000" dirty="0" err="1">
                <a:solidFill>
                  <a:srgbClr val="000000"/>
                </a:solidFill>
              </a:rPr>
              <a:t>x</a:t>
            </a:r>
            <a:r>
              <a:rPr lang="en-US" altLang="zh-CN" sz="2000" baseline="-25000" dirty="0" err="1">
                <a:solidFill>
                  <a:srgbClr val="000000"/>
                </a:solidFill>
              </a:rPr>
              <a:t>k</a:t>
            </a:r>
            <a:r>
              <a:rPr lang="en-US" altLang="zh-CN" sz="2000" dirty="0">
                <a:solidFill>
                  <a:srgbClr val="000000"/>
                </a:solidFill>
              </a:rPr>
              <a:t>}</a:t>
            </a:r>
            <a:r>
              <a:rPr lang="zh-CN" altLang="zh-CN" sz="2000" dirty="0">
                <a:solidFill>
                  <a:srgbClr val="000000"/>
                </a:solidFill>
              </a:rPr>
              <a:t>与</a:t>
            </a:r>
            <a:r>
              <a:rPr lang="en-US" altLang="zh-CN" sz="2000" dirty="0">
                <a:solidFill>
                  <a:srgbClr val="000000"/>
                </a:solidFill>
              </a:rPr>
              <a:t>R={x</a:t>
            </a:r>
            <a:r>
              <a:rPr lang="en-US" altLang="zh-CN" sz="2000" baseline="-25000" dirty="0">
                <a:solidFill>
                  <a:srgbClr val="000000"/>
                </a:solidFill>
              </a:rPr>
              <a:t>i</a:t>
            </a:r>
            <a:r>
              <a:rPr lang="en-US" altLang="zh-CN" sz="2000" dirty="0">
                <a:solidFill>
                  <a:srgbClr val="000000"/>
                </a:solidFill>
              </a:rPr>
              <a:t>&gt;</a:t>
            </a:r>
            <a:r>
              <a:rPr lang="en-US" altLang="zh-CN" sz="2000" dirty="0" err="1">
                <a:solidFill>
                  <a:srgbClr val="000000"/>
                </a:solidFill>
              </a:rPr>
              <a:t>x</a:t>
            </a:r>
            <a:r>
              <a:rPr lang="en-US" altLang="zh-CN" sz="2000" baseline="-25000" dirty="0" err="1">
                <a:solidFill>
                  <a:srgbClr val="000000"/>
                </a:solidFill>
              </a:rPr>
              <a:t>k</a:t>
            </a:r>
            <a:r>
              <a:rPr lang="en-US" altLang="zh-CN" sz="2000" dirty="0">
                <a:solidFill>
                  <a:srgbClr val="000000"/>
                </a:solidFill>
              </a:rPr>
              <a:t>}</a:t>
            </a:r>
            <a:r>
              <a:rPr lang="zh-CN" altLang="zh-CN" sz="2000" dirty="0">
                <a:solidFill>
                  <a:srgbClr val="000000"/>
                </a:solidFill>
              </a:rPr>
              <a:t>，计算两个集合权值和为</a:t>
            </a:r>
            <a:r>
              <a:rPr lang="en-US" altLang="zh-CN" sz="2000" dirty="0">
                <a:solidFill>
                  <a:srgbClr val="000000"/>
                </a:solidFill>
              </a:rPr>
              <a:t>W</a:t>
            </a:r>
            <a:r>
              <a:rPr lang="en-US" altLang="zh-CN" sz="2000" baseline="-25000" dirty="0">
                <a:solidFill>
                  <a:srgbClr val="000000"/>
                </a:solidFill>
              </a:rPr>
              <a:t>L</a:t>
            </a:r>
            <a:r>
              <a:rPr lang="zh-CN" altLang="zh-CN" sz="2000" dirty="0">
                <a:solidFill>
                  <a:srgbClr val="000000"/>
                </a:solidFill>
              </a:rPr>
              <a:t>和</a:t>
            </a:r>
            <a:r>
              <a:rPr lang="en-US" altLang="zh-CN" sz="2000" dirty="0">
                <a:solidFill>
                  <a:srgbClr val="000000"/>
                </a:solidFill>
              </a:rPr>
              <a:t>W</a:t>
            </a:r>
            <a:r>
              <a:rPr lang="en-US" altLang="zh-CN" sz="2000" baseline="-25000" dirty="0">
                <a:solidFill>
                  <a:srgbClr val="000000"/>
                </a:solidFill>
              </a:rPr>
              <a:t>R</a:t>
            </a:r>
            <a:endParaRPr lang="zh-CN" altLang="zh-CN" sz="2000" baseline="-25000" dirty="0">
              <a:solidFill>
                <a:srgbClr val="000000"/>
              </a:solidFill>
            </a:endParaRPr>
          </a:p>
          <a:p>
            <a:pPr marL="0" indent="0">
              <a:buNone/>
            </a:pPr>
            <a:r>
              <a:rPr lang="en-US" altLang="zh-CN" sz="2000" dirty="0">
                <a:solidFill>
                  <a:srgbClr val="000000"/>
                </a:solidFill>
              </a:rPr>
              <a:t>        </a:t>
            </a:r>
            <a:r>
              <a:rPr lang="zh-CN" altLang="zh-CN" sz="2000" dirty="0">
                <a:solidFill>
                  <a:srgbClr val="000000"/>
                </a:solidFill>
              </a:rPr>
              <a:t>若</a:t>
            </a:r>
            <a:r>
              <a:rPr lang="en-US" altLang="zh-CN" sz="2000" dirty="0">
                <a:solidFill>
                  <a:srgbClr val="000000"/>
                </a:solidFill>
              </a:rPr>
              <a:t>W</a:t>
            </a:r>
            <a:r>
              <a:rPr lang="en-US" altLang="zh-CN" sz="2000" baseline="-25000" dirty="0">
                <a:solidFill>
                  <a:srgbClr val="000000"/>
                </a:solidFill>
              </a:rPr>
              <a:t>L</a:t>
            </a:r>
            <a:r>
              <a:rPr lang="en-US" altLang="zh-CN" sz="2000" dirty="0">
                <a:solidFill>
                  <a:srgbClr val="000000"/>
                </a:solidFill>
              </a:rPr>
              <a:t>&lt;1/2</a:t>
            </a:r>
            <a:r>
              <a:rPr lang="zh-CN" altLang="zh-CN" sz="2000" dirty="0">
                <a:solidFill>
                  <a:srgbClr val="000000"/>
                </a:solidFill>
              </a:rPr>
              <a:t>且</a:t>
            </a:r>
            <a:r>
              <a:rPr lang="en-US" altLang="zh-CN" sz="2000" dirty="0">
                <a:solidFill>
                  <a:srgbClr val="000000"/>
                </a:solidFill>
              </a:rPr>
              <a:t>W</a:t>
            </a:r>
            <a:r>
              <a:rPr lang="en-US" altLang="zh-CN" sz="2000" baseline="-25000" dirty="0">
                <a:solidFill>
                  <a:srgbClr val="000000"/>
                </a:solidFill>
              </a:rPr>
              <a:t>G</a:t>
            </a:r>
            <a:r>
              <a:rPr lang="en-US" altLang="zh-CN" sz="2000" dirty="0">
                <a:solidFill>
                  <a:srgbClr val="000000"/>
                </a:solidFill>
              </a:rPr>
              <a:t>&lt;=1/2 return </a:t>
            </a:r>
            <a:r>
              <a:rPr lang="en-US" altLang="zh-CN" sz="2000" dirty="0" err="1">
                <a:solidFill>
                  <a:srgbClr val="000000"/>
                </a:solidFill>
              </a:rPr>
              <a:t>x</a:t>
            </a:r>
            <a:r>
              <a:rPr lang="en-US" altLang="zh-CN" sz="2000" baseline="-25000" dirty="0" err="1">
                <a:solidFill>
                  <a:srgbClr val="000000"/>
                </a:solidFill>
              </a:rPr>
              <a:t>k</a:t>
            </a:r>
            <a:r>
              <a:rPr lang="en-US" altLang="zh-CN" sz="2000" dirty="0">
                <a:solidFill>
                  <a:srgbClr val="000000"/>
                </a:solidFill>
              </a:rPr>
              <a:t>  //</a:t>
            </a:r>
            <a:r>
              <a:rPr lang="zh-CN" altLang="en-US" sz="2000" dirty="0">
                <a:solidFill>
                  <a:srgbClr val="000000"/>
                </a:solidFill>
              </a:rPr>
              <a:t>加权中位数的定义</a:t>
            </a:r>
            <a:endParaRPr lang="zh-CN" altLang="zh-CN" sz="2000" dirty="0">
              <a:solidFill>
                <a:srgbClr val="000000"/>
              </a:solidFill>
            </a:endParaRPr>
          </a:p>
          <a:p>
            <a:pPr marL="0" indent="0">
              <a:buNone/>
            </a:pPr>
            <a:r>
              <a:rPr lang="en-US" altLang="zh-CN" sz="2000" dirty="0">
                <a:solidFill>
                  <a:srgbClr val="000000"/>
                </a:solidFill>
              </a:rPr>
              <a:t>        </a:t>
            </a:r>
            <a:r>
              <a:rPr lang="zh-CN" altLang="zh-CN" sz="2000" dirty="0">
                <a:solidFill>
                  <a:srgbClr val="000000"/>
                </a:solidFill>
              </a:rPr>
              <a:t>若</a:t>
            </a:r>
            <a:r>
              <a:rPr lang="en-US" altLang="zh-CN" sz="2000" dirty="0">
                <a:solidFill>
                  <a:srgbClr val="000000"/>
                </a:solidFill>
              </a:rPr>
              <a:t>W</a:t>
            </a:r>
            <a:r>
              <a:rPr lang="en-US" altLang="zh-CN" sz="2000" baseline="-25000" dirty="0">
                <a:solidFill>
                  <a:srgbClr val="000000"/>
                </a:solidFill>
              </a:rPr>
              <a:t>L</a:t>
            </a:r>
            <a:r>
              <a:rPr lang="en-US" altLang="zh-CN" sz="2000" dirty="0">
                <a:solidFill>
                  <a:srgbClr val="000000"/>
                </a:solidFill>
              </a:rPr>
              <a:t>&gt;=1/2 </a:t>
            </a:r>
            <a:r>
              <a:rPr lang="zh-CN" altLang="zh-CN" sz="2000" dirty="0">
                <a:solidFill>
                  <a:srgbClr val="000000"/>
                </a:solidFill>
              </a:rPr>
              <a:t>则</a:t>
            </a:r>
            <a:r>
              <a:rPr lang="en-US" altLang="zh-CN" sz="2000" dirty="0" err="1">
                <a:solidFill>
                  <a:srgbClr val="000000"/>
                </a:solidFill>
              </a:rPr>
              <a:t>w</a:t>
            </a:r>
            <a:r>
              <a:rPr lang="en-US" altLang="zh-CN" sz="2000" baseline="-25000" dirty="0" err="1">
                <a:solidFill>
                  <a:srgbClr val="000000"/>
                </a:solidFill>
              </a:rPr>
              <a:t>k</a:t>
            </a:r>
            <a:r>
              <a:rPr lang="en-US" altLang="zh-CN" sz="2000" dirty="0">
                <a:solidFill>
                  <a:srgbClr val="000000"/>
                </a:solidFill>
              </a:rPr>
              <a:t>=</a:t>
            </a:r>
            <a:r>
              <a:rPr lang="en-US" altLang="zh-CN" sz="2000" dirty="0" err="1">
                <a:solidFill>
                  <a:srgbClr val="000000"/>
                </a:solidFill>
              </a:rPr>
              <a:t>w</a:t>
            </a:r>
            <a:r>
              <a:rPr lang="en-US" altLang="zh-CN" sz="2000" baseline="-25000" dirty="0" err="1">
                <a:solidFill>
                  <a:srgbClr val="000000"/>
                </a:solidFill>
              </a:rPr>
              <a:t>k</a:t>
            </a:r>
            <a:r>
              <a:rPr lang="en-US" altLang="zh-CN" sz="2000" dirty="0" err="1">
                <a:solidFill>
                  <a:srgbClr val="000000"/>
                </a:solidFill>
              </a:rPr>
              <a:t>+W</a:t>
            </a:r>
            <a:r>
              <a:rPr lang="en-US" altLang="zh-CN" sz="2000" baseline="-25000" dirty="0" err="1">
                <a:solidFill>
                  <a:srgbClr val="000000"/>
                </a:solidFill>
              </a:rPr>
              <a:t>G</a:t>
            </a:r>
            <a:r>
              <a:rPr lang="zh-CN" altLang="zh-CN" sz="2000" dirty="0">
                <a:solidFill>
                  <a:srgbClr val="000000"/>
                </a:solidFill>
              </a:rPr>
              <a:t>，</a:t>
            </a:r>
            <a:r>
              <a:rPr lang="en-US" altLang="zh-CN" sz="2000" dirty="0">
                <a:solidFill>
                  <a:srgbClr val="000000"/>
                </a:solidFill>
              </a:rPr>
              <a:t>return Weighted-Med(</a:t>
            </a:r>
            <a:r>
              <a:rPr lang="en-US" altLang="zh-CN" sz="2000" dirty="0" err="1">
                <a:solidFill>
                  <a:srgbClr val="000000"/>
                </a:solidFill>
              </a:rPr>
              <a:t>L+x</a:t>
            </a:r>
            <a:r>
              <a:rPr lang="en-US" altLang="zh-CN" sz="2000" baseline="-25000" dirty="0" err="1">
                <a:solidFill>
                  <a:srgbClr val="000000"/>
                </a:solidFill>
              </a:rPr>
              <a:t>k</a:t>
            </a:r>
            <a:r>
              <a:rPr lang="en-US" altLang="zh-CN" sz="2000" dirty="0">
                <a:solidFill>
                  <a:srgbClr val="000000"/>
                </a:solidFill>
              </a:rPr>
              <a:t>)</a:t>
            </a:r>
            <a:endParaRPr lang="zh-CN" altLang="zh-CN" sz="2000" dirty="0">
              <a:solidFill>
                <a:srgbClr val="000000"/>
              </a:solidFill>
            </a:endParaRPr>
          </a:p>
          <a:p>
            <a:pPr marL="0" indent="0">
              <a:buNone/>
            </a:pPr>
            <a:r>
              <a:rPr lang="en-US" altLang="zh-CN" sz="2000" dirty="0">
                <a:solidFill>
                  <a:srgbClr val="000000"/>
                </a:solidFill>
              </a:rPr>
              <a:t>        </a:t>
            </a:r>
            <a:r>
              <a:rPr lang="en-US" altLang="zh-CN" sz="2000" dirty="0" err="1">
                <a:solidFill>
                  <a:srgbClr val="000000"/>
                </a:solidFill>
              </a:rPr>
              <a:t>w</a:t>
            </a:r>
            <a:r>
              <a:rPr lang="en-US" altLang="zh-CN" sz="2000" baseline="-25000" dirty="0" err="1">
                <a:solidFill>
                  <a:srgbClr val="000000"/>
                </a:solidFill>
              </a:rPr>
              <a:t>k</a:t>
            </a:r>
            <a:r>
              <a:rPr lang="en-US" altLang="zh-CN" sz="2000" dirty="0">
                <a:solidFill>
                  <a:srgbClr val="000000"/>
                </a:solidFill>
              </a:rPr>
              <a:t>=</a:t>
            </a:r>
            <a:r>
              <a:rPr lang="en-US" altLang="zh-CN" sz="2000" dirty="0" err="1">
                <a:solidFill>
                  <a:srgbClr val="000000"/>
                </a:solidFill>
              </a:rPr>
              <a:t>w</a:t>
            </a:r>
            <a:r>
              <a:rPr lang="en-US" altLang="zh-CN" sz="2000" baseline="-25000" dirty="0" err="1">
                <a:solidFill>
                  <a:srgbClr val="000000"/>
                </a:solidFill>
              </a:rPr>
              <a:t>k</a:t>
            </a:r>
            <a:r>
              <a:rPr lang="en-US" altLang="zh-CN" sz="2000" dirty="0" err="1">
                <a:solidFill>
                  <a:srgbClr val="000000"/>
                </a:solidFill>
              </a:rPr>
              <a:t>+W</a:t>
            </a:r>
            <a:r>
              <a:rPr lang="en-US" altLang="zh-CN" sz="2000" baseline="-25000" dirty="0" err="1">
                <a:solidFill>
                  <a:srgbClr val="000000"/>
                </a:solidFill>
              </a:rPr>
              <a:t>L</a:t>
            </a:r>
            <a:r>
              <a:rPr lang="en-US" altLang="zh-CN" sz="2000" dirty="0">
                <a:solidFill>
                  <a:srgbClr val="000000"/>
                </a:solidFill>
              </a:rPr>
              <a:t>, return Weighted-Med(</a:t>
            </a:r>
            <a:r>
              <a:rPr lang="en-US" altLang="zh-CN" sz="2000" dirty="0" err="1">
                <a:solidFill>
                  <a:srgbClr val="000000"/>
                </a:solidFill>
              </a:rPr>
              <a:t>R+x</a:t>
            </a:r>
            <a:r>
              <a:rPr lang="en-US" altLang="zh-CN" sz="2000" baseline="-25000" dirty="0" err="1">
                <a:solidFill>
                  <a:srgbClr val="000000"/>
                </a:solidFill>
              </a:rPr>
              <a:t>k</a:t>
            </a:r>
            <a:r>
              <a:rPr lang="en-US" altLang="zh-CN" sz="2000" dirty="0">
                <a:solidFill>
                  <a:srgbClr val="000000"/>
                </a:solidFill>
              </a:rPr>
              <a:t>)</a:t>
            </a:r>
            <a:endParaRPr lang="zh-CN" altLang="zh-CN" sz="2000" dirty="0">
              <a:solidFill>
                <a:srgbClr val="000000"/>
              </a:solidFill>
            </a:endParaRPr>
          </a:p>
          <a:p>
            <a:r>
              <a:rPr lang="zh-CN" altLang="zh-CN" sz="2000" dirty="0">
                <a:solidFill>
                  <a:srgbClr val="000000"/>
                </a:solidFill>
              </a:rPr>
              <a:t>时间复杂性</a:t>
            </a:r>
            <a:r>
              <a:rPr lang="zh-CN" altLang="en-US" sz="2000" dirty="0">
                <a:solidFill>
                  <a:srgbClr val="000000"/>
                </a:solidFill>
              </a:rPr>
              <a:t>：</a:t>
            </a:r>
            <a:r>
              <a:rPr lang="en-US" altLang="zh-CN" sz="2000" dirty="0">
                <a:solidFill>
                  <a:srgbClr val="000000"/>
                </a:solidFill>
              </a:rPr>
              <a:t>T(n)=T(n/2+1)+Θ(n)=Θ(n)</a:t>
            </a:r>
            <a:endParaRPr lang="zh-CN" altLang="zh-CN" sz="2000" dirty="0">
              <a:solidFill>
                <a:srgbClr val="000000"/>
              </a:solidFill>
            </a:endParaRPr>
          </a:p>
          <a:p>
            <a:endParaRPr lang="zh-CN" altLang="en-US" sz="1400" dirty="0"/>
          </a:p>
          <a:p>
            <a:endParaRPr lang="zh-CN" altLang="en-US" sz="2000" dirty="0"/>
          </a:p>
        </p:txBody>
      </p:sp>
    </p:spTree>
    <p:extLst>
      <p:ext uri="{BB962C8B-B14F-4D97-AF65-F5344CB8AC3E}">
        <p14:creationId xmlns:p14="http://schemas.microsoft.com/office/powerpoint/2010/main" val="76752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4FF1D5-D5B6-4E9F-A9EA-B533B3ADA8B3}"/>
              </a:ext>
            </a:extLst>
          </p:cNvPr>
          <p:cNvSpPr>
            <a:spLocks noGrp="1"/>
          </p:cNvSpPr>
          <p:nvPr>
            <p:ph type="title"/>
          </p:nvPr>
        </p:nvSpPr>
        <p:spPr/>
        <p:txBody>
          <a:bodyPr/>
          <a:lstStyle/>
          <a:p>
            <a:r>
              <a:rPr lang="zh-CN" altLang="en-US" dirty="0"/>
              <a:t>两个有序数组的中位数</a:t>
            </a:r>
          </a:p>
        </p:txBody>
      </p:sp>
      <p:sp>
        <p:nvSpPr>
          <p:cNvPr id="3" name="内容占位符 2">
            <a:extLst>
              <a:ext uri="{FF2B5EF4-FFF2-40B4-BE49-F238E27FC236}">
                <a16:creationId xmlns:a16="http://schemas.microsoft.com/office/drawing/2014/main" id="{96434DBD-8761-4EFA-BB93-DCE12C00C905}"/>
              </a:ext>
            </a:extLst>
          </p:cNvPr>
          <p:cNvSpPr>
            <a:spLocks noGrp="1"/>
          </p:cNvSpPr>
          <p:nvPr>
            <p:ph idx="1"/>
          </p:nvPr>
        </p:nvSpPr>
        <p:spPr/>
        <p:txBody>
          <a:bodyPr/>
          <a:lstStyle/>
          <a:p>
            <a:r>
              <a:rPr lang="zh-CN" altLang="zh-CN" sz="1800" dirty="0"/>
              <a:t>两</a:t>
            </a:r>
            <a:r>
              <a:rPr lang="zh-CN" altLang="zh-CN" sz="1800" dirty="0">
                <a:solidFill>
                  <a:srgbClr val="000000"/>
                </a:solidFill>
              </a:rPr>
              <a:t>个</a:t>
            </a:r>
            <a:r>
              <a:rPr lang="zh-CN" altLang="en-US" sz="1800" dirty="0">
                <a:solidFill>
                  <a:srgbClr val="000000"/>
                </a:solidFill>
              </a:rPr>
              <a:t>有序</a:t>
            </a:r>
            <a:r>
              <a:rPr lang="zh-CN" altLang="zh-CN" sz="1800" dirty="0">
                <a:solidFill>
                  <a:srgbClr val="000000"/>
                </a:solidFill>
              </a:rPr>
              <a:t>数组</a:t>
            </a:r>
            <a:r>
              <a:rPr lang="en-US" altLang="zh-CN" sz="1800" dirty="0">
                <a:solidFill>
                  <a:srgbClr val="000000"/>
                </a:solidFill>
              </a:rPr>
              <a:t>A</a:t>
            </a:r>
            <a:r>
              <a:rPr lang="zh-CN" altLang="zh-CN" sz="1800" dirty="0">
                <a:solidFill>
                  <a:srgbClr val="000000"/>
                </a:solidFill>
              </a:rPr>
              <a:t>和</a:t>
            </a:r>
            <a:r>
              <a:rPr lang="en-US" altLang="zh-CN" sz="1800" dirty="0">
                <a:solidFill>
                  <a:srgbClr val="000000"/>
                </a:solidFill>
              </a:rPr>
              <a:t>B</a:t>
            </a:r>
            <a:r>
              <a:rPr lang="zh-CN" altLang="en-US" sz="1800" dirty="0">
                <a:solidFill>
                  <a:srgbClr val="000000"/>
                </a:solidFill>
              </a:rPr>
              <a:t>的</a:t>
            </a:r>
            <a:r>
              <a:rPr lang="zh-CN" altLang="zh-CN" sz="1800" dirty="0">
                <a:solidFill>
                  <a:srgbClr val="000000"/>
                </a:solidFill>
              </a:rPr>
              <a:t>长度都为</a:t>
            </a:r>
            <a:r>
              <a:rPr lang="en-US" altLang="zh-CN" sz="1800" dirty="0">
                <a:solidFill>
                  <a:srgbClr val="000000"/>
                </a:solidFill>
              </a:rPr>
              <a:t>n</a:t>
            </a:r>
            <a:r>
              <a:rPr lang="zh-CN" altLang="zh-CN" sz="1800" dirty="0">
                <a:solidFill>
                  <a:srgbClr val="000000"/>
                </a:solidFill>
              </a:rPr>
              <a:t>，寻找这</a:t>
            </a:r>
            <a:r>
              <a:rPr lang="en-US" altLang="zh-CN" sz="1800" dirty="0">
                <a:solidFill>
                  <a:srgbClr val="000000"/>
                </a:solidFill>
              </a:rPr>
              <a:t>2n</a:t>
            </a:r>
            <a:r>
              <a:rPr lang="zh-CN" altLang="zh-CN" sz="1800" dirty="0">
                <a:solidFill>
                  <a:srgbClr val="000000"/>
                </a:solidFill>
              </a:rPr>
              <a:t>个数的中位数</a:t>
            </a:r>
            <a:endParaRPr lang="en-US" altLang="zh-CN" sz="1800" dirty="0">
              <a:solidFill>
                <a:srgbClr val="000000"/>
              </a:solidFill>
            </a:endParaRPr>
          </a:p>
          <a:p>
            <a:r>
              <a:rPr lang="zh-CN" altLang="en-US" sz="1800" dirty="0">
                <a:solidFill>
                  <a:srgbClr val="000000"/>
                </a:solidFill>
              </a:rPr>
              <a:t>先合并排序，</a:t>
            </a:r>
            <a:r>
              <a:rPr lang="en-US" altLang="zh-CN" sz="1800" dirty="0">
                <a:solidFill>
                  <a:srgbClr val="000000"/>
                </a:solidFill>
              </a:rPr>
              <a:t>O(n)</a:t>
            </a:r>
          </a:p>
          <a:p>
            <a:r>
              <a:rPr lang="zh-CN" altLang="zh-CN" sz="1800" dirty="0">
                <a:solidFill>
                  <a:srgbClr val="000000"/>
                </a:solidFill>
              </a:rPr>
              <a:t>比较</a:t>
            </a:r>
            <a:r>
              <a:rPr lang="en-US" altLang="zh-CN" sz="1800" dirty="0">
                <a:solidFill>
                  <a:srgbClr val="000000"/>
                </a:solidFill>
              </a:rPr>
              <a:t>A[n/2]</a:t>
            </a:r>
            <a:r>
              <a:rPr lang="zh-CN" altLang="zh-CN" sz="1800" dirty="0">
                <a:solidFill>
                  <a:srgbClr val="000000"/>
                </a:solidFill>
              </a:rPr>
              <a:t>和</a:t>
            </a:r>
            <a:r>
              <a:rPr lang="en-US" altLang="zh-CN" sz="1800" dirty="0">
                <a:solidFill>
                  <a:srgbClr val="000000"/>
                </a:solidFill>
              </a:rPr>
              <a:t>B[n/2]</a:t>
            </a:r>
            <a:endParaRPr lang="zh-CN" altLang="zh-CN" sz="1800" dirty="0">
              <a:solidFill>
                <a:srgbClr val="000000"/>
              </a:solidFill>
            </a:endParaRPr>
          </a:p>
          <a:p>
            <a:pPr eaLnBrk="1" hangingPunct="1">
              <a:lnSpc>
                <a:spcPct val="100000"/>
              </a:lnSpc>
              <a:spcBef>
                <a:spcPts val="0"/>
              </a:spcBef>
              <a:buNone/>
            </a:pPr>
            <a:r>
              <a:rPr lang="en-US" altLang="zh-CN" sz="1800" dirty="0">
                <a:solidFill>
                  <a:srgbClr val="000000"/>
                </a:solidFill>
              </a:rPr>
              <a:t>1</a:t>
            </a:r>
            <a:r>
              <a:rPr lang="zh-CN" altLang="zh-CN" sz="1800" dirty="0">
                <a:solidFill>
                  <a:srgbClr val="000000"/>
                </a:solidFill>
              </a:rPr>
              <a:t>）</a:t>
            </a:r>
            <a:r>
              <a:rPr lang="en-US" altLang="zh-CN" sz="1800" dirty="0">
                <a:solidFill>
                  <a:srgbClr val="000000"/>
                </a:solidFill>
              </a:rPr>
              <a:t>A[n/2]=B[n/2]</a:t>
            </a:r>
            <a:r>
              <a:rPr lang="zh-CN" altLang="zh-CN" sz="1800" dirty="0">
                <a:solidFill>
                  <a:srgbClr val="000000"/>
                </a:solidFill>
              </a:rPr>
              <a:t>，则即为中位数</a:t>
            </a:r>
          </a:p>
          <a:p>
            <a:pPr marL="342900" lvl="1" indent="-342900" eaLnBrk="1" hangingPunct="1">
              <a:lnSpc>
                <a:spcPct val="100000"/>
              </a:lnSpc>
              <a:spcBef>
                <a:spcPts val="0"/>
              </a:spcBef>
              <a:buNone/>
            </a:pPr>
            <a:r>
              <a:rPr lang="zh-CN" altLang="zh-CN" sz="1800" dirty="0">
                <a:solidFill>
                  <a:srgbClr val="000000"/>
                </a:solidFill>
                <a:cs typeface="+mn-cs"/>
              </a:rPr>
              <a:t>例</a:t>
            </a:r>
            <a:r>
              <a:rPr lang="en-US" altLang="zh-CN" sz="1800" dirty="0">
                <a:solidFill>
                  <a:srgbClr val="000000"/>
                </a:solidFill>
                <a:cs typeface="+mn-cs"/>
              </a:rPr>
              <a:t>1</a:t>
            </a:r>
            <a:r>
              <a:rPr lang="zh-CN" altLang="zh-CN" sz="1800" dirty="0">
                <a:solidFill>
                  <a:srgbClr val="000000"/>
                </a:solidFill>
                <a:cs typeface="+mn-cs"/>
              </a:rPr>
              <a:t>：</a:t>
            </a:r>
            <a:r>
              <a:rPr lang="en-US" altLang="zh-CN" sz="1800" dirty="0">
                <a:solidFill>
                  <a:srgbClr val="000000"/>
                </a:solidFill>
                <a:cs typeface="+mn-cs"/>
              </a:rPr>
              <a:t>A={1,2,3,4,5}</a:t>
            </a:r>
            <a:r>
              <a:rPr lang="zh-CN" altLang="zh-CN" sz="1800" dirty="0">
                <a:solidFill>
                  <a:srgbClr val="000000"/>
                </a:solidFill>
                <a:cs typeface="+mn-cs"/>
              </a:rPr>
              <a:t>，</a:t>
            </a:r>
            <a:r>
              <a:rPr lang="en-US" altLang="zh-CN" sz="1800" dirty="0">
                <a:solidFill>
                  <a:srgbClr val="000000"/>
                </a:solidFill>
                <a:cs typeface="+mn-cs"/>
              </a:rPr>
              <a:t>B={1’,2’,3’,4’,5’}   //</a:t>
            </a:r>
            <a:r>
              <a:rPr lang="zh-CN" altLang="zh-CN" sz="1800" dirty="0">
                <a:solidFill>
                  <a:srgbClr val="000000"/>
                </a:solidFill>
                <a:cs typeface="+mn-cs"/>
              </a:rPr>
              <a:t>这些数字表示在各自数组中排在第几位，不代表值</a:t>
            </a:r>
          </a:p>
          <a:p>
            <a:pPr marL="342900" lvl="1" indent="-342900" eaLnBrk="1" hangingPunct="1">
              <a:lnSpc>
                <a:spcPct val="100000"/>
              </a:lnSpc>
              <a:spcBef>
                <a:spcPts val="0"/>
              </a:spcBef>
              <a:buNone/>
            </a:pPr>
            <a:r>
              <a:rPr lang="zh-CN" altLang="zh-CN" sz="1800" dirty="0">
                <a:solidFill>
                  <a:srgbClr val="000000"/>
                </a:solidFill>
                <a:cs typeface="+mn-cs"/>
              </a:rPr>
              <a:t>若</a:t>
            </a:r>
            <a:r>
              <a:rPr lang="en-US" altLang="zh-CN" sz="1800" dirty="0">
                <a:solidFill>
                  <a:srgbClr val="000000"/>
                </a:solidFill>
                <a:cs typeface="+mn-cs"/>
              </a:rPr>
              <a:t>3=3’</a:t>
            </a:r>
            <a:r>
              <a:rPr lang="zh-CN" altLang="zh-CN" sz="1800" dirty="0">
                <a:solidFill>
                  <a:srgbClr val="000000"/>
                </a:solidFill>
                <a:cs typeface="+mn-cs"/>
              </a:rPr>
              <a:t>，则这</a:t>
            </a:r>
            <a:r>
              <a:rPr lang="en-US" altLang="zh-CN" sz="1800" dirty="0">
                <a:solidFill>
                  <a:srgbClr val="000000"/>
                </a:solidFill>
                <a:cs typeface="+mn-cs"/>
              </a:rPr>
              <a:t>10</a:t>
            </a:r>
            <a:r>
              <a:rPr lang="zh-CN" altLang="zh-CN" sz="1800" dirty="0">
                <a:solidFill>
                  <a:srgbClr val="000000"/>
                </a:solidFill>
                <a:cs typeface="+mn-cs"/>
              </a:rPr>
              <a:t>个数的大小关系为</a:t>
            </a:r>
            <a:r>
              <a:rPr lang="en-US" altLang="zh-CN" sz="1800" dirty="0">
                <a:solidFill>
                  <a:srgbClr val="000000"/>
                </a:solidFill>
                <a:cs typeface="+mn-cs"/>
              </a:rPr>
              <a:t>{1,2,1’,2’}&lt;={3,3’}&lt;={4,5,4’,5’}</a:t>
            </a:r>
            <a:r>
              <a:rPr lang="zh-CN" altLang="zh-CN" sz="1800" dirty="0">
                <a:solidFill>
                  <a:srgbClr val="000000"/>
                </a:solidFill>
                <a:cs typeface="+mn-cs"/>
              </a:rPr>
              <a:t>，</a:t>
            </a:r>
            <a:r>
              <a:rPr lang="en-US" altLang="zh-CN" sz="1800" dirty="0">
                <a:solidFill>
                  <a:srgbClr val="000000"/>
                </a:solidFill>
                <a:cs typeface="+mn-cs"/>
              </a:rPr>
              <a:t>3</a:t>
            </a:r>
            <a:r>
              <a:rPr lang="zh-CN" altLang="zh-CN" sz="1800" dirty="0">
                <a:solidFill>
                  <a:srgbClr val="000000"/>
                </a:solidFill>
                <a:cs typeface="+mn-cs"/>
              </a:rPr>
              <a:t>和</a:t>
            </a:r>
            <a:r>
              <a:rPr lang="en-US" altLang="zh-CN" sz="1800" dirty="0">
                <a:solidFill>
                  <a:srgbClr val="000000"/>
                </a:solidFill>
                <a:cs typeface="+mn-cs"/>
              </a:rPr>
              <a:t>3’</a:t>
            </a:r>
            <a:r>
              <a:rPr lang="zh-CN" altLang="zh-CN" sz="1800" dirty="0">
                <a:solidFill>
                  <a:srgbClr val="000000"/>
                </a:solidFill>
                <a:cs typeface="+mn-cs"/>
              </a:rPr>
              <a:t>都是中位数</a:t>
            </a:r>
          </a:p>
          <a:p>
            <a:pPr marL="342900" lvl="1" indent="-342900" eaLnBrk="1" hangingPunct="1">
              <a:lnSpc>
                <a:spcPct val="100000"/>
              </a:lnSpc>
              <a:spcBef>
                <a:spcPts val="0"/>
              </a:spcBef>
              <a:buNone/>
            </a:pPr>
            <a:r>
              <a:rPr lang="zh-CN" altLang="zh-CN" sz="1800" dirty="0">
                <a:solidFill>
                  <a:srgbClr val="000000"/>
                </a:solidFill>
                <a:cs typeface="+mn-cs"/>
              </a:rPr>
              <a:t>例</a:t>
            </a:r>
            <a:r>
              <a:rPr lang="en-US" altLang="zh-CN" sz="1800" dirty="0">
                <a:solidFill>
                  <a:srgbClr val="000000"/>
                </a:solidFill>
                <a:cs typeface="+mn-cs"/>
              </a:rPr>
              <a:t>2</a:t>
            </a:r>
            <a:r>
              <a:rPr lang="zh-CN" altLang="zh-CN" sz="1800" dirty="0">
                <a:solidFill>
                  <a:srgbClr val="000000"/>
                </a:solidFill>
                <a:cs typeface="+mn-cs"/>
              </a:rPr>
              <a:t>：</a:t>
            </a:r>
            <a:r>
              <a:rPr lang="en-US" altLang="zh-CN" sz="1800" dirty="0">
                <a:solidFill>
                  <a:srgbClr val="000000"/>
                </a:solidFill>
                <a:cs typeface="+mn-cs"/>
              </a:rPr>
              <a:t>A={1,2,3,4}</a:t>
            </a:r>
            <a:r>
              <a:rPr lang="zh-CN" altLang="zh-CN" sz="1800" dirty="0">
                <a:solidFill>
                  <a:srgbClr val="000000"/>
                </a:solidFill>
                <a:cs typeface="+mn-cs"/>
              </a:rPr>
              <a:t>，</a:t>
            </a:r>
            <a:r>
              <a:rPr lang="en-US" altLang="zh-CN" sz="1800" dirty="0">
                <a:solidFill>
                  <a:srgbClr val="000000"/>
                </a:solidFill>
                <a:cs typeface="+mn-cs"/>
              </a:rPr>
              <a:t>B={1’,2’,3’,4’’}</a:t>
            </a:r>
            <a:endParaRPr lang="zh-CN" altLang="zh-CN" sz="1800" dirty="0">
              <a:solidFill>
                <a:srgbClr val="000000"/>
              </a:solidFill>
              <a:cs typeface="+mn-cs"/>
            </a:endParaRPr>
          </a:p>
          <a:p>
            <a:pPr marL="342900" lvl="1" indent="-342900" eaLnBrk="1" hangingPunct="1">
              <a:lnSpc>
                <a:spcPct val="100000"/>
              </a:lnSpc>
              <a:spcBef>
                <a:spcPts val="0"/>
              </a:spcBef>
              <a:buNone/>
            </a:pPr>
            <a:r>
              <a:rPr lang="zh-CN" altLang="zh-CN" sz="1800" dirty="0">
                <a:solidFill>
                  <a:srgbClr val="000000"/>
                </a:solidFill>
                <a:cs typeface="+mn-cs"/>
              </a:rPr>
              <a:t>若</a:t>
            </a:r>
            <a:r>
              <a:rPr lang="en-US" altLang="zh-CN" sz="1800" dirty="0">
                <a:solidFill>
                  <a:srgbClr val="000000"/>
                </a:solidFill>
                <a:cs typeface="+mn-cs"/>
              </a:rPr>
              <a:t>2=2’</a:t>
            </a:r>
            <a:r>
              <a:rPr lang="zh-CN" altLang="zh-CN" sz="1800" dirty="0">
                <a:solidFill>
                  <a:srgbClr val="000000"/>
                </a:solidFill>
                <a:cs typeface="+mn-cs"/>
              </a:rPr>
              <a:t>，则这</a:t>
            </a:r>
            <a:r>
              <a:rPr lang="en-US" altLang="zh-CN" sz="1800" dirty="0">
                <a:solidFill>
                  <a:srgbClr val="000000"/>
                </a:solidFill>
                <a:cs typeface="+mn-cs"/>
              </a:rPr>
              <a:t>8</a:t>
            </a:r>
            <a:r>
              <a:rPr lang="zh-CN" altLang="zh-CN" sz="1800" dirty="0">
                <a:solidFill>
                  <a:srgbClr val="000000"/>
                </a:solidFill>
                <a:cs typeface="+mn-cs"/>
              </a:rPr>
              <a:t>个数的大小关系为</a:t>
            </a:r>
            <a:r>
              <a:rPr lang="en-US" altLang="zh-CN" sz="1800" dirty="0">
                <a:solidFill>
                  <a:srgbClr val="000000"/>
                </a:solidFill>
                <a:cs typeface="+mn-cs"/>
              </a:rPr>
              <a:t>{1,1’}&lt;={2,2’}&lt;={3,4,3’,4’’}</a:t>
            </a:r>
            <a:r>
              <a:rPr lang="zh-CN" altLang="zh-CN" sz="1800" dirty="0">
                <a:solidFill>
                  <a:srgbClr val="000000"/>
                </a:solidFill>
                <a:cs typeface="+mn-cs"/>
              </a:rPr>
              <a:t>，</a:t>
            </a:r>
            <a:r>
              <a:rPr lang="en-US" altLang="zh-CN" sz="1800" dirty="0">
                <a:solidFill>
                  <a:srgbClr val="000000"/>
                </a:solidFill>
                <a:cs typeface="+mn-cs"/>
              </a:rPr>
              <a:t>2</a:t>
            </a:r>
            <a:r>
              <a:rPr lang="zh-CN" altLang="zh-CN" sz="1800" dirty="0">
                <a:solidFill>
                  <a:srgbClr val="000000"/>
                </a:solidFill>
                <a:cs typeface="+mn-cs"/>
              </a:rPr>
              <a:t>和</a:t>
            </a:r>
            <a:r>
              <a:rPr lang="en-US" altLang="zh-CN" sz="1800" dirty="0">
                <a:solidFill>
                  <a:srgbClr val="000000"/>
                </a:solidFill>
                <a:cs typeface="+mn-cs"/>
              </a:rPr>
              <a:t>2’</a:t>
            </a:r>
            <a:r>
              <a:rPr lang="zh-CN" altLang="zh-CN" sz="1800" dirty="0">
                <a:solidFill>
                  <a:srgbClr val="000000"/>
                </a:solidFill>
                <a:cs typeface="+mn-cs"/>
              </a:rPr>
              <a:t>都是中位数</a:t>
            </a:r>
          </a:p>
          <a:p>
            <a:pPr eaLnBrk="1" hangingPunct="1">
              <a:lnSpc>
                <a:spcPct val="100000"/>
              </a:lnSpc>
              <a:spcBef>
                <a:spcPts val="0"/>
              </a:spcBef>
              <a:buNone/>
            </a:pPr>
            <a:r>
              <a:rPr lang="en-US" altLang="zh-CN" sz="1800" dirty="0">
                <a:solidFill>
                  <a:srgbClr val="000000"/>
                </a:solidFill>
              </a:rPr>
              <a:t>2</a:t>
            </a:r>
            <a:r>
              <a:rPr lang="zh-CN" altLang="zh-CN" sz="1800" dirty="0">
                <a:solidFill>
                  <a:srgbClr val="000000"/>
                </a:solidFill>
              </a:rPr>
              <a:t>）</a:t>
            </a:r>
            <a:r>
              <a:rPr lang="en-US" altLang="zh-CN" sz="1800" dirty="0">
                <a:solidFill>
                  <a:srgbClr val="000000"/>
                </a:solidFill>
              </a:rPr>
              <a:t>A[n/2]&gt;B[n/2]</a:t>
            </a:r>
            <a:r>
              <a:rPr lang="zh-CN" altLang="zh-CN" sz="1800" dirty="0">
                <a:solidFill>
                  <a:srgbClr val="000000"/>
                </a:solidFill>
              </a:rPr>
              <a:t>，则中位数是</a:t>
            </a:r>
            <a:r>
              <a:rPr lang="en-US" altLang="zh-CN" sz="1800" dirty="0">
                <a:solidFill>
                  <a:srgbClr val="000000"/>
                </a:solidFill>
              </a:rPr>
              <a:t>B[n/2..n]</a:t>
            </a:r>
            <a:r>
              <a:rPr lang="zh-CN" altLang="zh-CN" sz="1800" dirty="0">
                <a:solidFill>
                  <a:srgbClr val="000000"/>
                </a:solidFill>
              </a:rPr>
              <a:t>和</a:t>
            </a:r>
            <a:r>
              <a:rPr lang="en-US" altLang="zh-CN" sz="1800" dirty="0">
                <a:solidFill>
                  <a:srgbClr val="000000"/>
                </a:solidFill>
              </a:rPr>
              <a:t>A[1..n/2] </a:t>
            </a:r>
            <a:r>
              <a:rPr lang="zh-CN" altLang="zh-CN" sz="1800" dirty="0">
                <a:solidFill>
                  <a:srgbClr val="000000"/>
                </a:solidFill>
              </a:rPr>
              <a:t>这</a:t>
            </a:r>
            <a:r>
              <a:rPr lang="en-US" altLang="zh-CN" sz="1800" dirty="0">
                <a:solidFill>
                  <a:srgbClr val="000000"/>
                </a:solidFill>
              </a:rPr>
              <a:t>n</a:t>
            </a:r>
            <a:r>
              <a:rPr lang="zh-CN" altLang="zh-CN" sz="1800" dirty="0">
                <a:solidFill>
                  <a:srgbClr val="000000"/>
                </a:solidFill>
              </a:rPr>
              <a:t>个元素的中位数，</a:t>
            </a:r>
          </a:p>
          <a:p>
            <a:pPr marL="342900" lvl="1" indent="-342900" eaLnBrk="1" hangingPunct="1">
              <a:lnSpc>
                <a:spcPct val="100000"/>
              </a:lnSpc>
              <a:spcBef>
                <a:spcPts val="0"/>
              </a:spcBef>
              <a:buNone/>
            </a:pPr>
            <a:r>
              <a:rPr lang="zh-CN" altLang="zh-CN" sz="1800" dirty="0">
                <a:solidFill>
                  <a:srgbClr val="000000"/>
                </a:solidFill>
                <a:cs typeface="+mn-cs"/>
              </a:rPr>
              <a:t>例</a:t>
            </a:r>
            <a:r>
              <a:rPr lang="en-US" altLang="zh-CN" sz="1800" dirty="0">
                <a:solidFill>
                  <a:srgbClr val="000000"/>
                </a:solidFill>
                <a:cs typeface="+mn-cs"/>
              </a:rPr>
              <a:t>1</a:t>
            </a:r>
            <a:r>
              <a:rPr lang="zh-CN" altLang="zh-CN" sz="1800" dirty="0">
                <a:solidFill>
                  <a:srgbClr val="000000"/>
                </a:solidFill>
                <a:cs typeface="+mn-cs"/>
              </a:rPr>
              <a:t>：</a:t>
            </a:r>
            <a:r>
              <a:rPr lang="en-US" altLang="zh-CN" sz="1800" dirty="0">
                <a:solidFill>
                  <a:srgbClr val="000000"/>
                </a:solidFill>
                <a:cs typeface="+mn-cs"/>
              </a:rPr>
              <a:t>A={1,2,3,4,5}</a:t>
            </a:r>
            <a:r>
              <a:rPr lang="zh-CN" altLang="zh-CN" sz="1800" dirty="0">
                <a:solidFill>
                  <a:srgbClr val="000000"/>
                </a:solidFill>
                <a:cs typeface="+mn-cs"/>
              </a:rPr>
              <a:t>，</a:t>
            </a:r>
            <a:r>
              <a:rPr lang="en-US" altLang="zh-CN" sz="1800" dirty="0">
                <a:solidFill>
                  <a:srgbClr val="000000"/>
                </a:solidFill>
                <a:cs typeface="+mn-cs"/>
              </a:rPr>
              <a:t>B={1’,2’,3’,4’,5’}   </a:t>
            </a:r>
            <a:endParaRPr lang="zh-CN" altLang="zh-CN" sz="1800" dirty="0">
              <a:solidFill>
                <a:srgbClr val="000000"/>
              </a:solidFill>
              <a:cs typeface="+mn-cs"/>
            </a:endParaRPr>
          </a:p>
          <a:p>
            <a:pPr marL="342900" lvl="1" indent="-342900" eaLnBrk="1" hangingPunct="1">
              <a:lnSpc>
                <a:spcPct val="100000"/>
              </a:lnSpc>
              <a:spcBef>
                <a:spcPts val="0"/>
              </a:spcBef>
              <a:buNone/>
            </a:pPr>
            <a:r>
              <a:rPr lang="zh-CN" altLang="zh-CN" sz="1800" dirty="0">
                <a:solidFill>
                  <a:srgbClr val="000000"/>
                </a:solidFill>
                <a:cs typeface="+mn-cs"/>
              </a:rPr>
              <a:t>若</a:t>
            </a:r>
            <a:r>
              <a:rPr lang="en-US" altLang="zh-CN" sz="1800" dirty="0">
                <a:solidFill>
                  <a:srgbClr val="000000"/>
                </a:solidFill>
                <a:cs typeface="+mn-cs"/>
              </a:rPr>
              <a:t>3&gt;3’</a:t>
            </a:r>
            <a:r>
              <a:rPr lang="zh-CN" altLang="zh-CN" sz="1800" dirty="0">
                <a:solidFill>
                  <a:srgbClr val="000000"/>
                </a:solidFill>
                <a:cs typeface="+mn-cs"/>
              </a:rPr>
              <a:t>，则</a:t>
            </a:r>
            <a:r>
              <a:rPr lang="en-US" altLang="zh-CN" sz="1800" dirty="0">
                <a:solidFill>
                  <a:srgbClr val="000000"/>
                </a:solidFill>
                <a:cs typeface="+mn-cs"/>
              </a:rPr>
              <a:t>4</a:t>
            </a:r>
            <a:r>
              <a:rPr lang="zh-CN" altLang="zh-CN" sz="1800" dirty="0">
                <a:solidFill>
                  <a:srgbClr val="000000"/>
                </a:solidFill>
                <a:cs typeface="+mn-cs"/>
              </a:rPr>
              <a:t>至少排在第</a:t>
            </a:r>
            <a:r>
              <a:rPr lang="en-US" altLang="zh-CN" sz="1800" dirty="0">
                <a:solidFill>
                  <a:srgbClr val="000000"/>
                </a:solidFill>
                <a:cs typeface="+mn-cs"/>
              </a:rPr>
              <a:t>7</a:t>
            </a:r>
            <a:r>
              <a:rPr lang="zh-CN" altLang="zh-CN" sz="1800" dirty="0">
                <a:solidFill>
                  <a:srgbClr val="000000"/>
                </a:solidFill>
                <a:cs typeface="+mn-cs"/>
              </a:rPr>
              <a:t>位</a:t>
            </a:r>
            <a:r>
              <a:rPr lang="en-US" altLang="zh-CN" sz="1800" dirty="0">
                <a:solidFill>
                  <a:srgbClr val="000000"/>
                </a:solidFill>
                <a:cs typeface="+mn-cs"/>
              </a:rPr>
              <a:t>(</a:t>
            </a:r>
            <a:r>
              <a:rPr lang="zh-CN" altLang="zh-CN" sz="1800" dirty="0">
                <a:solidFill>
                  <a:srgbClr val="000000"/>
                </a:solidFill>
                <a:cs typeface="+mn-cs"/>
              </a:rPr>
              <a:t>比</a:t>
            </a:r>
            <a:r>
              <a:rPr lang="en-US" altLang="zh-CN" sz="1800" dirty="0">
                <a:solidFill>
                  <a:srgbClr val="000000"/>
                </a:solidFill>
                <a:cs typeface="+mn-cs"/>
              </a:rPr>
              <a:t>1,2,3,1’,2’,3’</a:t>
            </a:r>
            <a:r>
              <a:rPr lang="zh-CN" altLang="zh-CN" sz="1800" dirty="0">
                <a:solidFill>
                  <a:srgbClr val="000000"/>
                </a:solidFill>
                <a:cs typeface="+mn-cs"/>
              </a:rPr>
              <a:t>大），而</a:t>
            </a:r>
            <a:r>
              <a:rPr lang="en-US" altLang="zh-CN" sz="1800" dirty="0">
                <a:solidFill>
                  <a:srgbClr val="000000"/>
                </a:solidFill>
                <a:cs typeface="+mn-cs"/>
              </a:rPr>
              <a:t>2’</a:t>
            </a:r>
            <a:r>
              <a:rPr lang="zh-CN" altLang="zh-CN" sz="1800" dirty="0">
                <a:solidFill>
                  <a:srgbClr val="000000"/>
                </a:solidFill>
                <a:cs typeface="+mn-cs"/>
              </a:rPr>
              <a:t>最多排在第</a:t>
            </a:r>
            <a:r>
              <a:rPr lang="en-US" altLang="zh-CN" sz="1800" dirty="0">
                <a:solidFill>
                  <a:srgbClr val="000000"/>
                </a:solidFill>
                <a:cs typeface="+mn-cs"/>
              </a:rPr>
              <a:t>4</a:t>
            </a:r>
            <a:r>
              <a:rPr lang="zh-CN" altLang="zh-CN" sz="1800" dirty="0">
                <a:solidFill>
                  <a:srgbClr val="000000"/>
                </a:solidFill>
                <a:cs typeface="+mn-cs"/>
              </a:rPr>
              <a:t>位（比</a:t>
            </a:r>
            <a:r>
              <a:rPr lang="en-US" altLang="zh-CN" sz="1800" dirty="0">
                <a:solidFill>
                  <a:srgbClr val="000000"/>
                </a:solidFill>
                <a:cs typeface="+mn-cs"/>
              </a:rPr>
              <a:t>1,2,2’</a:t>
            </a:r>
            <a:r>
              <a:rPr lang="zh-CN" altLang="zh-CN" sz="1800" dirty="0">
                <a:solidFill>
                  <a:srgbClr val="000000"/>
                </a:solidFill>
                <a:cs typeface="+mn-cs"/>
              </a:rPr>
              <a:t>大）</a:t>
            </a:r>
            <a:r>
              <a:rPr lang="zh-CN" altLang="en-US" sz="1800" dirty="0">
                <a:solidFill>
                  <a:srgbClr val="000000"/>
                </a:solidFill>
                <a:cs typeface="+mn-cs"/>
              </a:rPr>
              <a:t>，</a:t>
            </a:r>
            <a:r>
              <a:rPr lang="zh-CN" altLang="zh-CN" sz="1800" dirty="0">
                <a:solidFill>
                  <a:srgbClr val="000000"/>
                </a:solidFill>
                <a:cs typeface="+mn-cs"/>
              </a:rPr>
              <a:t>所以可以排除</a:t>
            </a:r>
            <a:r>
              <a:rPr lang="en-US" altLang="zh-CN" sz="1800" dirty="0">
                <a:solidFill>
                  <a:srgbClr val="000000"/>
                </a:solidFill>
                <a:cs typeface="+mn-cs"/>
              </a:rPr>
              <a:t>4,5,1’,2’</a:t>
            </a:r>
            <a:r>
              <a:rPr lang="zh-CN" altLang="en-US" sz="1800" dirty="0">
                <a:solidFill>
                  <a:srgbClr val="000000"/>
                </a:solidFill>
                <a:cs typeface="+mn-cs"/>
              </a:rPr>
              <a:t>，</a:t>
            </a:r>
            <a:r>
              <a:rPr lang="zh-CN" altLang="zh-CN" sz="1800" dirty="0">
                <a:solidFill>
                  <a:srgbClr val="000000"/>
                </a:solidFill>
                <a:cs typeface="+mn-cs"/>
              </a:rPr>
              <a:t>而</a:t>
            </a:r>
            <a:r>
              <a:rPr lang="en-US" altLang="zh-CN" sz="1800" dirty="0">
                <a:solidFill>
                  <a:srgbClr val="000000"/>
                </a:solidFill>
                <a:cs typeface="+mn-cs"/>
              </a:rPr>
              <a:t>{1,2,3}</a:t>
            </a:r>
            <a:r>
              <a:rPr lang="zh-CN" altLang="zh-CN" sz="1800" dirty="0">
                <a:solidFill>
                  <a:srgbClr val="000000"/>
                </a:solidFill>
                <a:cs typeface="+mn-cs"/>
              </a:rPr>
              <a:t>和</a:t>
            </a:r>
            <a:r>
              <a:rPr lang="en-US" altLang="zh-CN" sz="1800" dirty="0">
                <a:solidFill>
                  <a:srgbClr val="000000"/>
                </a:solidFill>
                <a:cs typeface="+mn-cs"/>
              </a:rPr>
              <a:t>{3’,4’,5’}</a:t>
            </a:r>
            <a:r>
              <a:rPr lang="zh-CN" altLang="zh-CN" sz="1800" dirty="0">
                <a:solidFill>
                  <a:srgbClr val="000000"/>
                </a:solidFill>
                <a:cs typeface="+mn-cs"/>
              </a:rPr>
              <a:t>的第</a:t>
            </a:r>
            <a:r>
              <a:rPr lang="en-US" altLang="zh-CN" sz="1800" dirty="0">
                <a:solidFill>
                  <a:srgbClr val="000000"/>
                </a:solidFill>
                <a:cs typeface="+mn-cs"/>
              </a:rPr>
              <a:t>3</a:t>
            </a:r>
            <a:r>
              <a:rPr lang="zh-CN" altLang="zh-CN" sz="1800" dirty="0">
                <a:solidFill>
                  <a:srgbClr val="000000"/>
                </a:solidFill>
                <a:cs typeface="+mn-cs"/>
              </a:rPr>
              <a:t>小数</a:t>
            </a:r>
            <a:r>
              <a:rPr lang="en-US" altLang="zh-CN" sz="1800" dirty="0">
                <a:solidFill>
                  <a:srgbClr val="000000"/>
                </a:solidFill>
                <a:cs typeface="+mn-cs"/>
              </a:rPr>
              <a:t>a</a:t>
            </a:r>
            <a:r>
              <a:rPr lang="zh-CN" altLang="zh-CN" sz="1800" dirty="0">
                <a:solidFill>
                  <a:srgbClr val="000000"/>
                </a:solidFill>
                <a:cs typeface="+mn-cs"/>
              </a:rPr>
              <a:t>必定比</a:t>
            </a:r>
            <a:r>
              <a:rPr lang="en-US" altLang="zh-CN" sz="1800" dirty="0">
                <a:solidFill>
                  <a:srgbClr val="000000"/>
                </a:solidFill>
                <a:cs typeface="+mn-cs"/>
              </a:rPr>
              <a:t>1’</a:t>
            </a:r>
            <a:r>
              <a:rPr lang="zh-CN" altLang="zh-CN" sz="1800" dirty="0">
                <a:solidFill>
                  <a:srgbClr val="000000"/>
                </a:solidFill>
                <a:cs typeface="+mn-cs"/>
              </a:rPr>
              <a:t>和</a:t>
            </a:r>
            <a:r>
              <a:rPr lang="en-US" altLang="zh-CN" sz="1800" dirty="0">
                <a:solidFill>
                  <a:srgbClr val="000000"/>
                </a:solidFill>
                <a:cs typeface="+mn-cs"/>
              </a:rPr>
              <a:t>2’</a:t>
            </a:r>
            <a:r>
              <a:rPr lang="zh-CN" altLang="zh-CN" sz="1800" dirty="0">
                <a:solidFill>
                  <a:srgbClr val="000000"/>
                </a:solidFill>
                <a:cs typeface="+mn-cs"/>
              </a:rPr>
              <a:t>大，从而排在原来</a:t>
            </a:r>
            <a:r>
              <a:rPr lang="en-US" altLang="zh-CN" sz="1800" dirty="0">
                <a:solidFill>
                  <a:srgbClr val="000000"/>
                </a:solidFill>
                <a:cs typeface="+mn-cs"/>
              </a:rPr>
              <a:t>10</a:t>
            </a:r>
            <a:r>
              <a:rPr lang="zh-CN" altLang="zh-CN" sz="1800" dirty="0">
                <a:solidFill>
                  <a:srgbClr val="000000"/>
                </a:solidFill>
                <a:cs typeface="+mn-cs"/>
              </a:rPr>
              <a:t>个数的第</a:t>
            </a:r>
            <a:r>
              <a:rPr lang="en-US" altLang="zh-CN" sz="1800" dirty="0">
                <a:solidFill>
                  <a:srgbClr val="000000"/>
                </a:solidFill>
                <a:cs typeface="+mn-cs"/>
              </a:rPr>
              <a:t>5</a:t>
            </a:r>
            <a:r>
              <a:rPr lang="zh-CN" altLang="zh-CN" sz="1800" dirty="0">
                <a:solidFill>
                  <a:srgbClr val="000000"/>
                </a:solidFill>
                <a:cs typeface="+mn-cs"/>
              </a:rPr>
              <a:t>位</a:t>
            </a:r>
          </a:p>
          <a:p>
            <a:pPr marL="342900" lvl="1" indent="-342900" eaLnBrk="1" hangingPunct="1">
              <a:lnSpc>
                <a:spcPct val="100000"/>
              </a:lnSpc>
              <a:spcBef>
                <a:spcPts val="0"/>
              </a:spcBef>
              <a:buNone/>
            </a:pPr>
            <a:r>
              <a:rPr lang="zh-CN" altLang="zh-CN" sz="1800" dirty="0">
                <a:solidFill>
                  <a:srgbClr val="000000"/>
                </a:solidFill>
                <a:cs typeface="+mn-cs"/>
              </a:rPr>
              <a:t>例</a:t>
            </a:r>
            <a:r>
              <a:rPr lang="en-US" altLang="zh-CN" sz="1800" dirty="0">
                <a:solidFill>
                  <a:srgbClr val="000000"/>
                </a:solidFill>
                <a:cs typeface="+mn-cs"/>
              </a:rPr>
              <a:t>2</a:t>
            </a:r>
            <a:r>
              <a:rPr lang="zh-CN" altLang="zh-CN" sz="1800" dirty="0">
                <a:solidFill>
                  <a:srgbClr val="000000"/>
                </a:solidFill>
                <a:cs typeface="+mn-cs"/>
              </a:rPr>
              <a:t>：</a:t>
            </a:r>
            <a:r>
              <a:rPr lang="en-US" altLang="zh-CN" sz="1800" dirty="0">
                <a:solidFill>
                  <a:srgbClr val="000000"/>
                </a:solidFill>
                <a:cs typeface="+mn-cs"/>
              </a:rPr>
              <a:t>A={1,2,3,4}</a:t>
            </a:r>
            <a:r>
              <a:rPr lang="zh-CN" altLang="zh-CN" sz="1800" dirty="0">
                <a:solidFill>
                  <a:srgbClr val="000000"/>
                </a:solidFill>
                <a:cs typeface="+mn-cs"/>
              </a:rPr>
              <a:t>，</a:t>
            </a:r>
            <a:r>
              <a:rPr lang="en-US" altLang="zh-CN" sz="1800" dirty="0">
                <a:solidFill>
                  <a:srgbClr val="000000"/>
                </a:solidFill>
                <a:cs typeface="+mn-cs"/>
              </a:rPr>
              <a:t>B={1’,2’,3’,4’’}</a:t>
            </a:r>
            <a:endParaRPr lang="zh-CN" altLang="zh-CN" sz="1800" dirty="0">
              <a:solidFill>
                <a:srgbClr val="000000"/>
              </a:solidFill>
              <a:cs typeface="+mn-cs"/>
            </a:endParaRPr>
          </a:p>
          <a:p>
            <a:pPr marL="342900" lvl="1" indent="-342900" eaLnBrk="1" hangingPunct="1">
              <a:lnSpc>
                <a:spcPct val="100000"/>
              </a:lnSpc>
              <a:spcBef>
                <a:spcPts val="0"/>
              </a:spcBef>
              <a:buNone/>
            </a:pPr>
            <a:r>
              <a:rPr lang="zh-CN" altLang="zh-CN" sz="1800" dirty="0">
                <a:solidFill>
                  <a:srgbClr val="000000"/>
                </a:solidFill>
                <a:cs typeface="+mn-cs"/>
              </a:rPr>
              <a:t>若</a:t>
            </a:r>
            <a:r>
              <a:rPr lang="en-US" altLang="zh-CN" sz="1800" dirty="0">
                <a:solidFill>
                  <a:srgbClr val="000000"/>
                </a:solidFill>
                <a:cs typeface="+mn-cs"/>
              </a:rPr>
              <a:t>2&gt;2’</a:t>
            </a:r>
            <a:r>
              <a:rPr lang="zh-CN" altLang="zh-CN" sz="1800" dirty="0">
                <a:solidFill>
                  <a:srgbClr val="000000"/>
                </a:solidFill>
                <a:cs typeface="+mn-cs"/>
              </a:rPr>
              <a:t>，则</a:t>
            </a:r>
            <a:r>
              <a:rPr lang="en-US" altLang="zh-CN" sz="1800" dirty="0">
                <a:solidFill>
                  <a:srgbClr val="000000"/>
                </a:solidFill>
                <a:cs typeface="+mn-cs"/>
              </a:rPr>
              <a:t>3</a:t>
            </a:r>
            <a:r>
              <a:rPr lang="zh-CN" altLang="zh-CN" sz="1800" dirty="0">
                <a:solidFill>
                  <a:srgbClr val="000000"/>
                </a:solidFill>
                <a:cs typeface="+mn-cs"/>
              </a:rPr>
              <a:t>至少排在第</a:t>
            </a:r>
            <a:r>
              <a:rPr lang="en-US" altLang="zh-CN" sz="1800" dirty="0">
                <a:solidFill>
                  <a:srgbClr val="000000"/>
                </a:solidFill>
                <a:cs typeface="+mn-cs"/>
              </a:rPr>
              <a:t>5</a:t>
            </a:r>
            <a:r>
              <a:rPr lang="zh-CN" altLang="zh-CN" sz="1800" dirty="0">
                <a:solidFill>
                  <a:srgbClr val="000000"/>
                </a:solidFill>
                <a:cs typeface="+mn-cs"/>
              </a:rPr>
              <a:t>位（比</a:t>
            </a:r>
            <a:r>
              <a:rPr lang="en-US" altLang="zh-CN" sz="1800" dirty="0">
                <a:solidFill>
                  <a:srgbClr val="000000"/>
                </a:solidFill>
                <a:cs typeface="+mn-cs"/>
              </a:rPr>
              <a:t>1,2,1’,2’</a:t>
            </a:r>
            <a:r>
              <a:rPr lang="zh-CN" altLang="zh-CN" sz="1800" dirty="0">
                <a:solidFill>
                  <a:srgbClr val="000000"/>
                </a:solidFill>
                <a:cs typeface="+mn-cs"/>
              </a:rPr>
              <a:t>大），</a:t>
            </a:r>
            <a:r>
              <a:rPr lang="en-US" altLang="zh-CN" sz="1800" dirty="0">
                <a:solidFill>
                  <a:srgbClr val="000000"/>
                </a:solidFill>
                <a:cs typeface="+mn-cs"/>
              </a:rPr>
              <a:t>2’</a:t>
            </a:r>
            <a:r>
              <a:rPr lang="zh-CN" altLang="zh-CN" sz="1800" dirty="0">
                <a:solidFill>
                  <a:srgbClr val="000000"/>
                </a:solidFill>
                <a:cs typeface="+mn-cs"/>
              </a:rPr>
              <a:t>最多排在第</a:t>
            </a:r>
            <a:r>
              <a:rPr lang="en-US" altLang="zh-CN" sz="1800" dirty="0">
                <a:solidFill>
                  <a:srgbClr val="000000"/>
                </a:solidFill>
                <a:cs typeface="+mn-cs"/>
              </a:rPr>
              <a:t>3</a:t>
            </a:r>
            <a:r>
              <a:rPr lang="zh-CN" altLang="zh-CN" sz="1800" dirty="0">
                <a:solidFill>
                  <a:srgbClr val="000000"/>
                </a:solidFill>
                <a:cs typeface="+mn-cs"/>
              </a:rPr>
              <a:t>位</a:t>
            </a:r>
            <a:r>
              <a:rPr lang="zh-CN" altLang="en-US" sz="1800" dirty="0">
                <a:solidFill>
                  <a:srgbClr val="000000"/>
                </a:solidFill>
                <a:cs typeface="+mn-cs"/>
              </a:rPr>
              <a:t>，</a:t>
            </a:r>
            <a:r>
              <a:rPr lang="zh-CN" altLang="zh-CN" sz="1800" dirty="0">
                <a:solidFill>
                  <a:srgbClr val="000000"/>
                </a:solidFill>
                <a:cs typeface="+mn-cs"/>
              </a:rPr>
              <a:t>所以可以排除</a:t>
            </a:r>
            <a:r>
              <a:rPr lang="en-US" altLang="zh-CN" sz="1800" dirty="0">
                <a:solidFill>
                  <a:srgbClr val="000000"/>
                </a:solidFill>
                <a:cs typeface="+mn-cs"/>
              </a:rPr>
              <a:t>3,4,1’,2’</a:t>
            </a:r>
            <a:r>
              <a:rPr lang="zh-CN" altLang="en-US" sz="1800" dirty="0">
                <a:solidFill>
                  <a:srgbClr val="000000"/>
                </a:solidFill>
                <a:cs typeface="+mn-cs"/>
              </a:rPr>
              <a:t>，</a:t>
            </a:r>
            <a:r>
              <a:rPr lang="zh-CN" altLang="zh-CN" sz="1800" dirty="0">
                <a:solidFill>
                  <a:srgbClr val="000000"/>
                </a:solidFill>
                <a:cs typeface="+mn-cs"/>
              </a:rPr>
              <a:t>而</a:t>
            </a:r>
            <a:r>
              <a:rPr lang="en-US" altLang="zh-CN" sz="1800" dirty="0">
                <a:solidFill>
                  <a:srgbClr val="000000"/>
                </a:solidFill>
                <a:cs typeface="+mn-cs"/>
              </a:rPr>
              <a:t>{1,2}</a:t>
            </a:r>
            <a:r>
              <a:rPr lang="zh-CN" altLang="zh-CN" sz="1800" dirty="0">
                <a:solidFill>
                  <a:srgbClr val="000000"/>
                </a:solidFill>
                <a:cs typeface="+mn-cs"/>
              </a:rPr>
              <a:t>和</a:t>
            </a:r>
            <a:r>
              <a:rPr lang="en-US" altLang="zh-CN" sz="1800" dirty="0">
                <a:solidFill>
                  <a:srgbClr val="000000"/>
                </a:solidFill>
                <a:cs typeface="+mn-cs"/>
              </a:rPr>
              <a:t>{3’,4’}</a:t>
            </a:r>
            <a:r>
              <a:rPr lang="zh-CN" altLang="zh-CN" sz="1800" dirty="0">
                <a:solidFill>
                  <a:srgbClr val="000000"/>
                </a:solidFill>
                <a:cs typeface="+mn-cs"/>
              </a:rPr>
              <a:t>的第</a:t>
            </a:r>
            <a:r>
              <a:rPr lang="en-US" altLang="zh-CN" sz="1800" dirty="0">
                <a:solidFill>
                  <a:srgbClr val="000000"/>
                </a:solidFill>
                <a:cs typeface="+mn-cs"/>
              </a:rPr>
              <a:t>2</a:t>
            </a:r>
            <a:r>
              <a:rPr lang="zh-CN" altLang="zh-CN" sz="1800" dirty="0">
                <a:solidFill>
                  <a:srgbClr val="000000"/>
                </a:solidFill>
                <a:cs typeface="+mn-cs"/>
              </a:rPr>
              <a:t>小数</a:t>
            </a:r>
            <a:r>
              <a:rPr lang="en-US" altLang="zh-CN" sz="1800" dirty="0">
                <a:solidFill>
                  <a:srgbClr val="000000"/>
                </a:solidFill>
                <a:cs typeface="+mn-cs"/>
              </a:rPr>
              <a:t>b</a:t>
            </a:r>
            <a:r>
              <a:rPr lang="zh-CN" altLang="zh-CN" sz="1800" dirty="0">
                <a:solidFill>
                  <a:srgbClr val="000000"/>
                </a:solidFill>
                <a:cs typeface="+mn-cs"/>
              </a:rPr>
              <a:t>必定比</a:t>
            </a:r>
            <a:r>
              <a:rPr lang="en-US" altLang="zh-CN" sz="1800" dirty="0">
                <a:solidFill>
                  <a:srgbClr val="000000"/>
                </a:solidFill>
                <a:cs typeface="+mn-cs"/>
              </a:rPr>
              <a:t>1’</a:t>
            </a:r>
            <a:r>
              <a:rPr lang="zh-CN" altLang="zh-CN" sz="1800" dirty="0">
                <a:solidFill>
                  <a:srgbClr val="000000"/>
                </a:solidFill>
                <a:cs typeface="+mn-cs"/>
              </a:rPr>
              <a:t>和</a:t>
            </a:r>
            <a:r>
              <a:rPr lang="en-US" altLang="zh-CN" sz="1800" dirty="0">
                <a:solidFill>
                  <a:srgbClr val="000000"/>
                </a:solidFill>
                <a:cs typeface="+mn-cs"/>
              </a:rPr>
              <a:t>2’</a:t>
            </a:r>
            <a:r>
              <a:rPr lang="zh-CN" altLang="zh-CN" sz="1800" dirty="0">
                <a:solidFill>
                  <a:srgbClr val="000000"/>
                </a:solidFill>
                <a:cs typeface="+mn-cs"/>
              </a:rPr>
              <a:t>大，所以排在原来</a:t>
            </a:r>
            <a:r>
              <a:rPr lang="en-US" altLang="zh-CN" sz="1800" dirty="0">
                <a:solidFill>
                  <a:srgbClr val="000000"/>
                </a:solidFill>
                <a:cs typeface="+mn-cs"/>
              </a:rPr>
              <a:t>8</a:t>
            </a:r>
            <a:r>
              <a:rPr lang="zh-CN" altLang="zh-CN" sz="1800" dirty="0">
                <a:solidFill>
                  <a:srgbClr val="000000"/>
                </a:solidFill>
                <a:cs typeface="+mn-cs"/>
              </a:rPr>
              <a:t>个数的第</a:t>
            </a:r>
            <a:r>
              <a:rPr lang="en-US" altLang="zh-CN" sz="1800" dirty="0">
                <a:solidFill>
                  <a:srgbClr val="000000"/>
                </a:solidFill>
                <a:cs typeface="+mn-cs"/>
              </a:rPr>
              <a:t>4</a:t>
            </a:r>
            <a:r>
              <a:rPr lang="zh-CN" altLang="zh-CN" sz="1800" dirty="0">
                <a:solidFill>
                  <a:srgbClr val="000000"/>
                </a:solidFill>
                <a:cs typeface="+mn-cs"/>
              </a:rPr>
              <a:t>位</a:t>
            </a:r>
          </a:p>
          <a:p>
            <a:pPr eaLnBrk="1" hangingPunct="1">
              <a:lnSpc>
                <a:spcPct val="100000"/>
              </a:lnSpc>
              <a:spcBef>
                <a:spcPts val="0"/>
              </a:spcBef>
              <a:buNone/>
            </a:pPr>
            <a:r>
              <a:rPr lang="en-US" altLang="zh-CN" sz="1800" dirty="0">
                <a:solidFill>
                  <a:srgbClr val="000000"/>
                </a:solidFill>
              </a:rPr>
              <a:t>3</a:t>
            </a:r>
            <a:r>
              <a:rPr lang="zh-CN" altLang="zh-CN" sz="1800" dirty="0">
                <a:solidFill>
                  <a:srgbClr val="000000"/>
                </a:solidFill>
              </a:rPr>
              <a:t>）</a:t>
            </a:r>
            <a:r>
              <a:rPr lang="en-US" altLang="zh-CN" sz="1800" dirty="0">
                <a:solidFill>
                  <a:srgbClr val="000000"/>
                </a:solidFill>
              </a:rPr>
              <a:t>A[n/2]&lt;B[n/2]</a:t>
            </a:r>
            <a:r>
              <a:rPr lang="zh-CN" altLang="zh-CN" sz="1800" dirty="0">
                <a:solidFill>
                  <a:srgbClr val="000000"/>
                </a:solidFill>
              </a:rPr>
              <a:t>，则中位数是</a:t>
            </a:r>
            <a:r>
              <a:rPr lang="en-US" altLang="zh-CN" sz="1800" dirty="0">
                <a:solidFill>
                  <a:srgbClr val="000000"/>
                </a:solidFill>
              </a:rPr>
              <a:t>A[n/2..n]</a:t>
            </a:r>
            <a:r>
              <a:rPr lang="zh-CN" altLang="zh-CN" sz="1800" dirty="0">
                <a:solidFill>
                  <a:srgbClr val="000000"/>
                </a:solidFill>
              </a:rPr>
              <a:t>和</a:t>
            </a:r>
            <a:r>
              <a:rPr lang="en-US" altLang="zh-CN" sz="1800" dirty="0">
                <a:solidFill>
                  <a:srgbClr val="000000"/>
                </a:solidFill>
              </a:rPr>
              <a:t>B[1..n/2]</a:t>
            </a:r>
            <a:r>
              <a:rPr lang="zh-CN" altLang="zh-CN" sz="1800" dirty="0">
                <a:solidFill>
                  <a:srgbClr val="000000"/>
                </a:solidFill>
              </a:rPr>
              <a:t>这</a:t>
            </a:r>
            <a:r>
              <a:rPr lang="en-US" altLang="zh-CN" sz="1800" dirty="0">
                <a:solidFill>
                  <a:srgbClr val="000000"/>
                </a:solidFill>
              </a:rPr>
              <a:t>n</a:t>
            </a:r>
            <a:r>
              <a:rPr lang="zh-CN" altLang="zh-CN" sz="1800" dirty="0">
                <a:solidFill>
                  <a:srgbClr val="000000"/>
                </a:solidFill>
              </a:rPr>
              <a:t>个元素的中位数</a:t>
            </a:r>
          </a:p>
          <a:p>
            <a:pPr eaLnBrk="1" hangingPunct="1">
              <a:lnSpc>
                <a:spcPct val="100000"/>
              </a:lnSpc>
              <a:spcBef>
                <a:spcPts val="0"/>
              </a:spcBef>
              <a:buNone/>
            </a:pPr>
            <a:r>
              <a:rPr lang="zh-CN" altLang="zh-CN" sz="1800" dirty="0">
                <a:solidFill>
                  <a:srgbClr val="000000"/>
                </a:solidFill>
              </a:rPr>
              <a:t>从而</a:t>
            </a:r>
            <a:r>
              <a:rPr lang="en-US" altLang="zh-CN" sz="1800" dirty="0">
                <a:solidFill>
                  <a:srgbClr val="000000"/>
                </a:solidFill>
              </a:rPr>
              <a:t>T(n)=T(n/2)+1=O(</a:t>
            </a:r>
            <a:r>
              <a:rPr lang="en-US" altLang="zh-CN" sz="1800" dirty="0" err="1">
                <a:solidFill>
                  <a:srgbClr val="000000"/>
                </a:solidFill>
              </a:rPr>
              <a:t>logn</a:t>
            </a:r>
            <a:r>
              <a:rPr lang="en-US" altLang="zh-CN" sz="1800" dirty="0">
                <a:solidFill>
                  <a:srgbClr val="000000"/>
                </a:solidFill>
              </a:rPr>
              <a:t>)</a:t>
            </a:r>
            <a:endParaRPr lang="zh-CN" altLang="zh-CN" sz="1800" dirty="0">
              <a:solidFill>
                <a:srgbClr val="000000"/>
              </a:solidFill>
            </a:endParaRPr>
          </a:p>
        </p:txBody>
      </p:sp>
    </p:spTree>
    <p:extLst>
      <p:ext uri="{BB962C8B-B14F-4D97-AF65-F5344CB8AC3E}">
        <p14:creationId xmlns:p14="http://schemas.microsoft.com/office/powerpoint/2010/main" val="1480258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F81C46-CA18-4B19-8B2A-69A78E3E8ED0}"/>
              </a:ext>
            </a:extLst>
          </p:cNvPr>
          <p:cNvSpPr>
            <a:spLocks noGrp="1"/>
          </p:cNvSpPr>
          <p:nvPr>
            <p:ph type="title"/>
          </p:nvPr>
        </p:nvSpPr>
        <p:spPr/>
        <p:txBody>
          <a:bodyPr/>
          <a:lstStyle/>
          <a:p>
            <a:r>
              <a:rPr lang="zh-CN" altLang="en-US" dirty="0"/>
              <a:t>另一个思路</a:t>
            </a:r>
          </a:p>
        </p:txBody>
      </p:sp>
      <p:sp>
        <p:nvSpPr>
          <p:cNvPr id="3" name="内容占位符 2">
            <a:extLst>
              <a:ext uri="{FF2B5EF4-FFF2-40B4-BE49-F238E27FC236}">
                <a16:creationId xmlns:a16="http://schemas.microsoft.com/office/drawing/2014/main" id="{3010D7E5-209F-4092-AB31-6245161E896B}"/>
              </a:ext>
            </a:extLst>
          </p:cNvPr>
          <p:cNvSpPr>
            <a:spLocks noGrp="1"/>
          </p:cNvSpPr>
          <p:nvPr>
            <p:ph idx="1"/>
          </p:nvPr>
        </p:nvSpPr>
        <p:spPr>
          <a:xfrm>
            <a:off x="838200" y="1825625"/>
            <a:ext cx="6231340" cy="4351338"/>
          </a:xfrm>
        </p:spPr>
        <p:txBody>
          <a:bodyPr>
            <a:noAutofit/>
          </a:bodyPr>
          <a:lstStyle/>
          <a:p>
            <a:r>
              <a:rPr lang="zh-CN" altLang="zh-CN" sz="1800" dirty="0">
                <a:solidFill>
                  <a:srgbClr val="000000"/>
                </a:solidFill>
              </a:rPr>
              <a:t>假设中位数属于集合</a:t>
            </a:r>
            <a:r>
              <a:rPr lang="en-US" altLang="zh-CN" sz="1800" dirty="0">
                <a:solidFill>
                  <a:srgbClr val="000000"/>
                </a:solidFill>
              </a:rPr>
              <a:t>A</a:t>
            </a:r>
            <a:r>
              <a:rPr lang="zh-CN" altLang="zh-CN" sz="1800" dirty="0">
                <a:solidFill>
                  <a:srgbClr val="000000"/>
                </a:solidFill>
              </a:rPr>
              <a:t>，</a:t>
            </a:r>
            <a:r>
              <a:rPr lang="en-US" altLang="zh-CN" sz="1800" dirty="0">
                <a:solidFill>
                  <a:srgbClr val="000000"/>
                </a:solidFill>
              </a:rPr>
              <a:t>A[k]=m</a:t>
            </a:r>
            <a:r>
              <a:rPr lang="zh-CN" altLang="zh-CN" sz="1800" dirty="0">
                <a:solidFill>
                  <a:srgbClr val="000000"/>
                </a:solidFill>
              </a:rPr>
              <a:t>为</a:t>
            </a:r>
            <a:r>
              <a:rPr lang="en-US" altLang="zh-CN" sz="1800" dirty="0">
                <a:solidFill>
                  <a:srgbClr val="000000"/>
                </a:solidFill>
              </a:rPr>
              <a:t>2n</a:t>
            </a:r>
            <a:r>
              <a:rPr lang="zh-CN" altLang="zh-CN" sz="1800" dirty="0">
                <a:solidFill>
                  <a:srgbClr val="000000"/>
                </a:solidFill>
              </a:rPr>
              <a:t>个数的中位数</a:t>
            </a:r>
          </a:p>
          <a:p>
            <a:r>
              <a:rPr lang="zh-CN" altLang="zh-CN" sz="1800" dirty="0">
                <a:solidFill>
                  <a:srgbClr val="000000"/>
                </a:solidFill>
              </a:rPr>
              <a:t>这意味着</a:t>
            </a:r>
            <a:r>
              <a:rPr lang="en-US" altLang="zh-CN" sz="1800" dirty="0">
                <a:solidFill>
                  <a:srgbClr val="000000"/>
                </a:solidFill>
              </a:rPr>
              <a:t>A</a:t>
            </a:r>
            <a:r>
              <a:rPr lang="zh-CN" altLang="zh-CN" sz="1800" dirty="0">
                <a:solidFill>
                  <a:srgbClr val="000000"/>
                </a:solidFill>
              </a:rPr>
              <a:t>中有</a:t>
            </a:r>
            <a:r>
              <a:rPr lang="en-US" altLang="zh-CN" sz="1800" dirty="0">
                <a:solidFill>
                  <a:srgbClr val="000000"/>
                </a:solidFill>
              </a:rPr>
              <a:t>k</a:t>
            </a:r>
            <a:r>
              <a:rPr lang="zh-CN" altLang="zh-CN" sz="1800" dirty="0">
                <a:solidFill>
                  <a:srgbClr val="000000"/>
                </a:solidFill>
              </a:rPr>
              <a:t>个元素小于等于</a:t>
            </a:r>
            <a:r>
              <a:rPr lang="en-US" altLang="zh-CN" sz="1800" dirty="0">
                <a:solidFill>
                  <a:srgbClr val="000000"/>
                </a:solidFill>
              </a:rPr>
              <a:t>m</a:t>
            </a:r>
            <a:r>
              <a:rPr lang="zh-CN" altLang="zh-CN" sz="1800" dirty="0">
                <a:solidFill>
                  <a:srgbClr val="000000"/>
                </a:solidFill>
              </a:rPr>
              <a:t>，有</a:t>
            </a:r>
            <a:r>
              <a:rPr lang="en-US" altLang="zh-CN" sz="1800" dirty="0">
                <a:solidFill>
                  <a:srgbClr val="000000"/>
                </a:solidFill>
              </a:rPr>
              <a:t>n-k</a:t>
            </a:r>
            <a:r>
              <a:rPr lang="zh-CN" altLang="zh-CN" sz="1800" dirty="0">
                <a:solidFill>
                  <a:srgbClr val="000000"/>
                </a:solidFill>
              </a:rPr>
              <a:t>个元素大于等于</a:t>
            </a:r>
            <a:r>
              <a:rPr lang="en-US" altLang="zh-CN" sz="1800" dirty="0">
                <a:solidFill>
                  <a:srgbClr val="000000"/>
                </a:solidFill>
              </a:rPr>
              <a:t>m</a:t>
            </a:r>
            <a:endParaRPr lang="zh-CN" altLang="zh-CN" sz="1800" dirty="0">
              <a:solidFill>
                <a:srgbClr val="000000"/>
              </a:solidFill>
            </a:endParaRPr>
          </a:p>
          <a:p>
            <a:r>
              <a:rPr lang="en-US" altLang="zh-CN" sz="1800" dirty="0">
                <a:solidFill>
                  <a:srgbClr val="000000"/>
                </a:solidFill>
              </a:rPr>
              <a:t>A</a:t>
            </a:r>
            <a:r>
              <a:rPr lang="zh-CN" altLang="zh-CN" sz="1800" dirty="0">
                <a:solidFill>
                  <a:srgbClr val="000000"/>
                </a:solidFill>
              </a:rPr>
              <a:t>和</a:t>
            </a:r>
            <a:r>
              <a:rPr lang="en-US" altLang="zh-CN" sz="1800" dirty="0">
                <a:solidFill>
                  <a:srgbClr val="000000"/>
                </a:solidFill>
              </a:rPr>
              <a:t>B</a:t>
            </a:r>
            <a:r>
              <a:rPr lang="zh-CN" altLang="zh-CN" sz="1800" dirty="0">
                <a:solidFill>
                  <a:srgbClr val="000000"/>
                </a:solidFill>
              </a:rPr>
              <a:t>中有</a:t>
            </a:r>
            <a:r>
              <a:rPr lang="en-US" altLang="zh-CN" sz="1800" dirty="0">
                <a:solidFill>
                  <a:srgbClr val="000000"/>
                </a:solidFill>
              </a:rPr>
              <a:t>n</a:t>
            </a:r>
            <a:r>
              <a:rPr lang="zh-CN" altLang="zh-CN" sz="1800" dirty="0">
                <a:solidFill>
                  <a:srgbClr val="000000"/>
                </a:solidFill>
              </a:rPr>
              <a:t>个元素小于等于</a:t>
            </a:r>
            <a:r>
              <a:rPr lang="en-US" altLang="zh-CN" sz="1800" dirty="0">
                <a:solidFill>
                  <a:srgbClr val="000000"/>
                </a:solidFill>
              </a:rPr>
              <a:t>m</a:t>
            </a:r>
            <a:r>
              <a:rPr lang="zh-CN" altLang="zh-CN" sz="1800" dirty="0">
                <a:solidFill>
                  <a:srgbClr val="000000"/>
                </a:solidFill>
              </a:rPr>
              <a:t>，</a:t>
            </a:r>
            <a:r>
              <a:rPr lang="en-US" altLang="zh-CN" sz="1800" dirty="0">
                <a:solidFill>
                  <a:srgbClr val="000000"/>
                </a:solidFill>
              </a:rPr>
              <a:t>n</a:t>
            </a:r>
            <a:r>
              <a:rPr lang="zh-CN" altLang="zh-CN" sz="1800" dirty="0">
                <a:solidFill>
                  <a:srgbClr val="000000"/>
                </a:solidFill>
              </a:rPr>
              <a:t>个元素大于等于</a:t>
            </a:r>
            <a:r>
              <a:rPr lang="en-US" altLang="zh-CN" sz="1800" dirty="0">
                <a:solidFill>
                  <a:srgbClr val="000000"/>
                </a:solidFill>
              </a:rPr>
              <a:t>m</a:t>
            </a:r>
            <a:endParaRPr lang="zh-CN" altLang="zh-CN" sz="1800" dirty="0">
              <a:solidFill>
                <a:srgbClr val="000000"/>
              </a:solidFill>
            </a:endParaRPr>
          </a:p>
          <a:p>
            <a:r>
              <a:rPr lang="zh-CN" altLang="zh-CN" sz="1800" dirty="0">
                <a:solidFill>
                  <a:srgbClr val="000000"/>
                </a:solidFill>
              </a:rPr>
              <a:t>从而</a:t>
            </a:r>
            <a:r>
              <a:rPr lang="en-US" altLang="zh-CN" sz="1800" dirty="0">
                <a:solidFill>
                  <a:srgbClr val="000000"/>
                </a:solidFill>
              </a:rPr>
              <a:t>B</a:t>
            </a:r>
            <a:r>
              <a:rPr lang="zh-CN" altLang="zh-CN" sz="1800" dirty="0">
                <a:solidFill>
                  <a:srgbClr val="000000"/>
                </a:solidFill>
              </a:rPr>
              <a:t>中有</a:t>
            </a:r>
            <a:r>
              <a:rPr lang="en-US" altLang="zh-CN" sz="1800" dirty="0">
                <a:solidFill>
                  <a:srgbClr val="000000"/>
                </a:solidFill>
              </a:rPr>
              <a:t>n-k</a:t>
            </a:r>
            <a:r>
              <a:rPr lang="zh-CN" altLang="zh-CN" sz="1800" dirty="0">
                <a:solidFill>
                  <a:srgbClr val="000000"/>
                </a:solidFill>
              </a:rPr>
              <a:t>个元素小于等于</a:t>
            </a:r>
            <a:r>
              <a:rPr lang="en-US" altLang="zh-CN" sz="1800" dirty="0">
                <a:solidFill>
                  <a:srgbClr val="000000"/>
                </a:solidFill>
              </a:rPr>
              <a:t>m</a:t>
            </a:r>
            <a:r>
              <a:rPr lang="zh-CN" altLang="zh-CN" sz="1800" dirty="0">
                <a:solidFill>
                  <a:srgbClr val="000000"/>
                </a:solidFill>
              </a:rPr>
              <a:t>，</a:t>
            </a:r>
            <a:r>
              <a:rPr lang="en-US" altLang="zh-CN" sz="1800" dirty="0">
                <a:solidFill>
                  <a:srgbClr val="000000"/>
                </a:solidFill>
              </a:rPr>
              <a:t>n-(n-k)=k</a:t>
            </a:r>
            <a:r>
              <a:rPr lang="zh-CN" altLang="zh-CN" sz="1800" dirty="0">
                <a:solidFill>
                  <a:srgbClr val="000000"/>
                </a:solidFill>
              </a:rPr>
              <a:t>个元素大于等于</a:t>
            </a:r>
            <a:r>
              <a:rPr lang="en-US" altLang="zh-CN" sz="1800" dirty="0">
                <a:solidFill>
                  <a:srgbClr val="000000"/>
                </a:solidFill>
              </a:rPr>
              <a:t>m</a:t>
            </a:r>
            <a:endParaRPr lang="zh-CN" altLang="zh-CN" sz="1800" dirty="0">
              <a:solidFill>
                <a:srgbClr val="000000"/>
              </a:solidFill>
            </a:endParaRPr>
          </a:p>
          <a:p>
            <a:r>
              <a:rPr lang="zh-CN" altLang="zh-CN" sz="1800" dirty="0">
                <a:solidFill>
                  <a:srgbClr val="000000"/>
                </a:solidFill>
              </a:rPr>
              <a:t>所以可以检查是否存在</a:t>
            </a:r>
            <a:r>
              <a:rPr lang="en-US" altLang="zh-CN" sz="1800" dirty="0">
                <a:solidFill>
                  <a:srgbClr val="000000"/>
                </a:solidFill>
              </a:rPr>
              <a:t>B[n-k]&lt;=A[k]&lt;=B[n-k+1]</a:t>
            </a:r>
            <a:endParaRPr lang="zh-CN" altLang="zh-CN" sz="1800" dirty="0">
              <a:solidFill>
                <a:srgbClr val="000000"/>
              </a:solidFill>
            </a:endParaRPr>
          </a:p>
          <a:p>
            <a:r>
              <a:rPr lang="zh-CN" altLang="zh-CN" sz="1800" dirty="0">
                <a:solidFill>
                  <a:srgbClr val="000000"/>
                </a:solidFill>
              </a:rPr>
              <a:t>注意边界情况</a:t>
            </a:r>
            <a:r>
              <a:rPr lang="en-US" altLang="zh-CN" sz="1800" dirty="0">
                <a:solidFill>
                  <a:srgbClr val="000000"/>
                </a:solidFill>
              </a:rPr>
              <a:t>k=n</a:t>
            </a:r>
            <a:r>
              <a:rPr lang="zh-CN" altLang="zh-CN" sz="1800" dirty="0">
                <a:solidFill>
                  <a:srgbClr val="000000"/>
                </a:solidFill>
              </a:rPr>
              <a:t>，此时只需检查是否</a:t>
            </a:r>
            <a:r>
              <a:rPr lang="en-US" altLang="zh-CN" sz="1800" dirty="0">
                <a:solidFill>
                  <a:srgbClr val="000000"/>
                </a:solidFill>
              </a:rPr>
              <a:t>A[n]&lt;=B[1]</a:t>
            </a:r>
            <a:endParaRPr lang="zh-CN" altLang="zh-CN" sz="1800" dirty="0">
              <a:solidFill>
                <a:srgbClr val="000000"/>
              </a:solidFill>
            </a:endParaRPr>
          </a:p>
          <a:p>
            <a:r>
              <a:rPr lang="zh-CN" altLang="zh-CN" sz="1800" dirty="0">
                <a:solidFill>
                  <a:srgbClr val="000000"/>
                </a:solidFill>
              </a:rPr>
              <a:t>如果中位数在</a:t>
            </a:r>
            <a:r>
              <a:rPr lang="en-US" altLang="zh-CN" sz="1800" dirty="0">
                <a:solidFill>
                  <a:srgbClr val="000000"/>
                </a:solidFill>
              </a:rPr>
              <a:t>A</a:t>
            </a:r>
            <a:r>
              <a:rPr lang="zh-CN" altLang="zh-CN" sz="1800" dirty="0">
                <a:solidFill>
                  <a:srgbClr val="000000"/>
                </a:solidFill>
              </a:rPr>
              <a:t>中，但是不是</a:t>
            </a:r>
            <a:r>
              <a:rPr lang="en-US" altLang="zh-CN" sz="1800" dirty="0">
                <a:solidFill>
                  <a:srgbClr val="000000"/>
                </a:solidFill>
              </a:rPr>
              <a:t>A[k]</a:t>
            </a:r>
            <a:r>
              <a:rPr lang="zh-CN" altLang="zh-CN" sz="1800" dirty="0">
                <a:solidFill>
                  <a:srgbClr val="000000"/>
                </a:solidFill>
              </a:rPr>
              <a:t>，如果中位数是</a:t>
            </a:r>
            <a:r>
              <a:rPr lang="en-US" altLang="zh-CN" sz="1800" dirty="0">
                <a:solidFill>
                  <a:srgbClr val="000000"/>
                </a:solidFill>
              </a:rPr>
              <a:t>A[k’]</a:t>
            </a:r>
            <a:r>
              <a:rPr lang="zh-CN" altLang="zh-CN" sz="1800" dirty="0">
                <a:solidFill>
                  <a:srgbClr val="000000"/>
                </a:solidFill>
              </a:rPr>
              <a:t>，且</a:t>
            </a:r>
            <a:r>
              <a:rPr lang="en-US" altLang="zh-CN" sz="1800" dirty="0">
                <a:solidFill>
                  <a:srgbClr val="000000"/>
                </a:solidFill>
              </a:rPr>
              <a:t>k’&lt;k</a:t>
            </a:r>
            <a:r>
              <a:rPr lang="zh-CN" altLang="zh-CN" sz="1800" dirty="0">
                <a:solidFill>
                  <a:srgbClr val="000000"/>
                </a:solidFill>
              </a:rPr>
              <a:t>，那么</a:t>
            </a:r>
            <a:r>
              <a:rPr lang="en-US" altLang="zh-CN" sz="1800" dirty="0">
                <a:solidFill>
                  <a:srgbClr val="000000"/>
                </a:solidFill>
              </a:rPr>
              <a:t>A[k]</a:t>
            </a:r>
            <a:r>
              <a:rPr lang="zh-CN" altLang="zh-CN" sz="1800" dirty="0">
                <a:solidFill>
                  <a:srgbClr val="000000"/>
                </a:solidFill>
              </a:rPr>
              <a:t>大于中位数，并且</a:t>
            </a:r>
            <a:r>
              <a:rPr lang="en-US" altLang="zh-CN" sz="1800" dirty="0">
                <a:solidFill>
                  <a:srgbClr val="000000"/>
                </a:solidFill>
              </a:rPr>
              <a:t>B[n-k+1]&lt;A[k]</a:t>
            </a:r>
            <a:r>
              <a:rPr lang="zh-CN" altLang="zh-CN" sz="1800" dirty="0">
                <a:solidFill>
                  <a:srgbClr val="000000"/>
                </a:solidFill>
              </a:rPr>
              <a:t>。反之，如果中位数是</a:t>
            </a:r>
            <a:r>
              <a:rPr lang="en-US" altLang="zh-CN" sz="1800" dirty="0">
                <a:solidFill>
                  <a:srgbClr val="000000"/>
                </a:solidFill>
              </a:rPr>
              <a:t>A[k”]</a:t>
            </a:r>
            <a:r>
              <a:rPr lang="zh-CN" altLang="zh-CN" sz="1800" dirty="0">
                <a:solidFill>
                  <a:srgbClr val="000000"/>
                </a:solidFill>
              </a:rPr>
              <a:t>，且</a:t>
            </a:r>
            <a:r>
              <a:rPr lang="en-US" altLang="zh-CN" sz="1800" dirty="0">
                <a:solidFill>
                  <a:srgbClr val="000000"/>
                </a:solidFill>
              </a:rPr>
              <a:t>k”&gt;k</a:t>
            </a:r>
            <a:r>
              <a:rPr lang="zh-CN" altLang="zh-CN" sz="1800" dirty="0">
                <a:solidFill>
                  <a:srgbClr val="000000"/>
                </a:solidFill>
              </a:rPr>
              <a:t>，则</a:t>
            </a:r>
            <a:r>
              <a:rPr lang="en-US" altLang="zh-CN" sz="1800" dirty="0">
                <a:solidFill>
                  <a:srgbClr val="000000"/>
                </a:solidFill>
              </a:rPr>
              <a:t>A[k]</a:t>
            </a:r>
            <a:r>
              <a:rPr lang="zh-CN" altLang="zh-CN" sz="1800" dirty="0">
                <a:solidFill>
                  <a:srgbClr val="000000"/>
                </a:solidFill>
              </a:rPr>
              <a:t>小于中位数，并且</a:t>
            </a:r>
            <a:r>
              <a:rPr lang="en-US" altLang="zh-CN" sz="1800" dirty="0">
                <a:solidFill>
                  <a:srgbClr val="000000"/>
                </a:solidFill>
              </a:rPr>
              <a:t>A[k]&lt;B[n-k]</a:t>
            </a:r>
            <a:endParaRPr lang="zh-CN" altLang="zh-CN" sz="1800" dirty="0">
              <a:solidFill>
                <a:srgbClr val="000000"/>
              </a:solidFill>
            </a:endParaRPr>
          </a:p>
          <a:p>
            <a:r>
              <a:rPr lang="zh-CN" altLang="zh-CN" sz="1800" dirty="0">
                <a:solidFill>
                  <a:srgbClr val="000000"/>
                </a:solidFill>
              </a:rPr>
              <a:t>因此可以通过二分搜索来查找是否存在</a:t>
            </a:r>
            <a:r>
              <a:rPr lang="en-US" altLang="zh-CN" sz="1800" dirty="0">
                <a:solidFill>
                  <a:srgbClr val="000000"/>
                </a:solidFill>
              </a:rPr>
              <a:t>A[k]</a:t>
            </a:r>
            <a:r>
              <a:rPr lang="zh-CN" altLang="zh-CN" sz="1800" dirty="0">
                <a:solidFill>
                  <a:srgbClr val="000000"/>
                </a:solidFill>
              </a:rPr>
              <a:t>使得</a:t>
            </a:r>
            <a:r>
              <a:rPr lang="en-US" altLang="zh-CN" sz="1800" dirty="0">
                <a:solidFill>
                  <a:srgbClr val="000000"/>
                </a:solidFill>
              </a:rPr>
              <a:t>1</a:t>
            </a:r>
            <a:r>
              <a:rPr lang="zh-CN" altLang="zh-CN" sz="1800" dirty="0">
                <a:solidFill>
                  <a:srgbClr val="000000"/>
                </a:solidFill>
              </a:rPr>
              <a:t>）</a:t>
            </a:r>
            <a:r>
              <a:rPr lang="en-US" altLang="zh-CN" sz="1800" dirty="0">
                <a:solidFill>
                  <a:srgbClr val="000000"/>
                </a:solidFill>
              </a:rPr>
              <a:t>k&lt;n</a:t>
            </a:r>
            <a:r>
              <a:rPr lang="zh-CN" altLang="zh-CN" sz="1800" dirty="0">
                <a:solidFill>
                  <a:srgbClr val="000000"/>
                </a:solidFill>
              </a:rPr>
              <a:t>且</a:t>
            </a:r>
            <a:r>
              <a:rPr lang="en-US" altLang="zh-CN" sz="1800" dirty="0">
                <a:solidFill>
                  <a:srgbClr val="000000"/>
                </a:solidFill>
              </a:rPr>
              <a:t>B[n-k]&lt;=A[k]&lt;=B[n-k+1]</a:t>
            </a:r>
            <a:r>
              <a:rPr lang="zh-CN" altLang="zh-CN" sz="1800" dirty="0">
                <a:solidFill>
                  <a:srgbClr val="000000"/>
                </a:solidFill>
              </a:rPr>
              <a:t>或者</a:t>
            </a:r>
            <a:r>
              <a:rPr lang="en-US" altLang="zh-CN" sz="1800" dirty="0">
                <a:solidFill>
                  <a:srgbClr val="000000"/>
                </a:solidFill>
              </a:rPr>
              <a:t>2</a:t>
            </a:r>
            <a:r>
              <a:rPr lang="zh-CN" altLang="zh-CN" sz="1800" dirty="0">
                <a:solidFill>
                  <a:srgbClr val="000000"/>
                </a:solidFill>
              </a:rPr>
              <a:t>）</a:t>
            </a:r>
            <a:r>
              <a:rPr lang="en-US" altLang="zh-CN" sz="1800" dirty="0">
                <a:solidFill>
                  <a:srgbClr val="000000"/>
                </a:solidFill>
              </a:rPr>
              <a:t>k=n</a:t>
            </a:r>
            <a:r>
              <a:rPr lang="zh-CN" altLang="zh-CN" sz="1800" dirty="0">
                <a:solidFill>
                  <a:srgbClr val="000000"/>
                </a:solidFill>
              </a:rPr>
              <a:t>且</a:t>
            </a:r>
            <a:r>
              <a:rPr lang="en-US" altLang="zh-CN" sz="1800" dirty="0">
                <a:solidFill>
                  <a:srgbClr val="000000"/>
                </a:solidFill>
              </a:rPr>
              <a:t>A[k]&lt;=B[1]</a:t>
            </a:r>
            <a:r>
              <a:rPr lang="zh-CN" altLang="zh-CN" sz="1800" dirty="0">
                <a:solidFill>
                  <a:srgbClr val="000000"/>
                </a:solidFill>
              </a:rPr>
              <a:t>，如果存在这样的</a:t>
            </a:r>
            <a:r>
              <a:rPr lang="en-US" altLang="zh-CN" sz="1800" dirty="0">
                <a:solidFill>
                  <a:srgbClr val="000000"/>
                </a:solidFill>
              </a:rPr>
              <a:t>A[k]</a:t>
            </a:r>
            <a:r>
              <a:rPr lang="zh-CN" altLang="zh-CN" sz="1800" dirty="0">
                <a:solidFill>
                  <a:srgbClr val="000000"/>
                </a:solidFill>
              </a:rPr>
              <a:t>，即为</a:t>
            </a:r>
            <a:r>
              <a:rPr lang="en-US" altLang="zh-CN" sz="1800" dirty="0">
                <a:solidFill>
                  <a:srgbClr val="000000"/>
                </a:solidFill>
              </a:rPr>
              <a:t>2n</a:t>
            </a:r>
            <a:r>
              <a:rPr lang="zh-CN" altLang="zh-CN" sz="1800" dirty="0">
                <a:solidFill>
                  <a:srgbClr val="000000"/>
                </a:solidFill>
              </a:rPr>
              <a:t>个数的中位数，否则中位数在</a:t>
            </a:r>
            <a:r>
              <a:rPr lang="en-US" altLang="zh-CN" sz="1800" dirty="0">
                <a:solidFill>
                  <a:srgbClr val="000000"/>
                </a:solidFill>
              </a:rPr>
              <a:t>B</a:t>
            </a:r>
            <a:r>
              <a:rPr lang="zh-CN" altLang="zh-CN" sz="1800" dirty="0">
                <a:solidFill>
                  <a:srgbClr val="000000"/>
                </a:solidFill>
              </a:rPr>
              <a:t>中，可做类似分析</a:t>
            </a:r>
          </a:p>
          <a:p>
            <a:r>
              <a:rPr lang="zh-CN" altLang="zh-CN" sz="1800" dirty="0">
                <a:solidFill>
                  <a:srgbClr val="000000"/>
                </a:solidFill>
              </a:rPr>
              <a:t>时间复杂性为</a:t>
            </a:r>
            <a:r>
              <a:rPr lang="en-US" altLang="zh-CN" sz="1800" dirty="0">
                <a:solidFill>
                  <a:srgbClr val="000000"/>
                </a:solidFill>
              </a:rPr>
              <a:t>O(</a:t>
            </a:r>
            <a:r>
              <a:rPr lang="en-US" altLang="zh-CN" sz="1800" dirty="0" err="1">
                <a:solidFill>
                  <a:srgbClr val="000000"/>
                </a:solidFill>
              </a:rPr>
              <a:t>logn</a:t>
            </a:r>
            <a:r>
              <a:rPr lang="en-US" altLang="zh-CN" sz="1800" dirty="0">
                <a:solidFill>
                  <a:srgbClr val="000000"/>
                </a:solidFill>
              </a:rPr>
              <a:t>)</a:t>
            </a:r>
            <a:endParaRPr lang="zh-CN" altLang="zh-CN" sz="1800" dirty="0">
              <a:solidFill>
                <a:srgbClr val="000000"/>
              </a:solidFill>
            </a:endParaRPr>
          </a:p>
          <a:p>
            <a:endParaRPr lang="zh-CN" altLang="en-US" sz="1800" dirty="0"/>
          </a:p>
        </p:txBody>
      </p:sp>
      <p:sp>
        <p:nvSpPr>
          <p:cNvPr id="4" name="内容占位符 2">
            <a:extLst>
              <a:ext uri="{FF2B5EF4-FFF2-40B4-BE49-F238E27FC236}">
                <a16:creationId xmlns:a16="http://schemas.microsoft.com/office/drawing/2014/main" id="{E3426F14-0027-4A4C-9092-BEE2D5652C50}"/>
              </a:ext>
            </a:extLst>
          </p:cNvPr>
          <p:cNvSpPr txBox="1">
            <a:spLocks/>
          </p:cNvSpPr>
          <p:nvPr/>
        </p:nvSpPr>
        <p:spPr>
          <a:xfrm>
            <a:off x="7069540" y="1825625"/>
            <a:ext cx="5122459"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1800" dirty="0"/>
              <a:t>Two-Array-Med(</a:t>
            </a:r>
            <a:r>
              <a:rPr lang="en-US" altLang="zh-CN" sz="1800" dirty="0" err="1"/>
              <a:t>X,Y,n</a:t>
            </a:r>
            <a:r>
              <a:rPr lang="en-US" altLang="zh-CN" sz="1800" dirty="0"/>
              <a:t>)</a:t>
            </a:r>
            <a:endParaRPr lang="zh-CN" altLang="zh-CN" sz="1800" dirty="0"/>
          </a:p>
          <a:p>
            <a:pPr marL="0" indent="0">
              <a:lnSpc>
                <a:spcPct val="100000"/>
              </a:lnSpc>
              <a:spcBef>
                <a:spcPts val="0"/>
              </a:spcBef>
              <a:buNone/>
            </a:pPr>
            <a:r>
              <a:rPr lang="en-US" altLang="zh-CN" sz="1800" dirty="0"/>
              <a:t>    median=Find-Med(X,Y,n,1,n)</a:t>
            </a:r>
            <a:endParaRPr lang="zh-CN" altLang="zh-CN" sz="1800" dirty="0"/>
          </a:p>
          <a:p>
            <a:pPr marL="0" indent="0">
              <a:lnSpc>
                <a:spcPct val="100000"/>
              </a:lnSpc>
              <a:spcBef>
                <a:spcPts val="0"/>
              </a:spcBef>
              <a:buNone/>
            </a:pPr>
            <a:r>
              <a:rPr lang="en-US" altLang="zh-CN" sz="1800" dirty="0"/>
              <a:t>    if median==</a:t>
            </a:r>
            <a:r>
              <a:rPr lang="en-US" altLang="zh-CN" sz="1800" dirty="0" err="1"/>
              <a:t>NotFound</a:t>
            </a:r>
            <a:r>
              <a:rPr lang="en-US" altLang="zh-CN" sz="1800" dirty="0"/>
              <a:t> </a:t>
            </a:r>
          </a:p>
          <a:p>
            <a:pPr marL="0" indent="0">
              <a:lnSpc>
                <a:spcPct val="100000"/>
              </a:lnSpc>
              <a:spcBef>
                <a:spcPts val="0"/>
              </a:spcBef>
              <a:buNone/>
            </a:pPr>
            <a:r>
              <a:rPr lang="en-US" altLang="zh-CN" sz="1800" dirty="0"/>
              <a:t>        median=Find-Med(Y,X,n,1,n)</a:t>
            </a:r>
            <a:endParaRPr lang="zh-CN" altLang="zh-CN" sz="1800" dirty="0"/>
          </a:p>
          <a:p>
            <a:pPr marL="0" indent="0">
              <a:lnSpc>
                <a:spcPct val="100000"/>
              </a:lnSpc>
              <a:spcBef>
                <a:spcPts val="0"/>
              </a:spcBef>
              <a:buNone/>
            </a:pPr>
            <a:r>
              <a:rPr lang="en-US" altLang="zh-CN" sz="1800" dirty="0"/>
              <a:t>    return median</a:t>
            </a:r>
            <a:endParaRPr lang="zh-CN" altLang="zh-CN" sz="1800" dirty="0"/>
          </a:p>
          <a:p>
            <a:pPr marL="0" indent="0">
              <a:lnSpc>
                <a:spcPct val="100000"/>
              </a:lnSpc>
              <a:spcBef>
                <a:spcPts val="0"/>
              </a:spcBef>
              <a:buNone/>
            </a:pPr>
            <a:endParaRPr lang="en-US" altLang="zh-CN" sz="1800" dirty="0"/>
          </a:p>
          <a:p>
            <a:pPr marL="0" indent="0">
              <a:lnSpc>
                <a:spcPct val="100000"/>
              </a:lnSpc>
              <a:spcBef>
                <a:spcPts val="0"/>
              </a:spcBef>
              <a:buNone/>
            </a:pPr>
            <a:r>
              <a:rPr lang="en-US" altLang="zh-CN" sz="1800" dirty="0"/>
              <a:t>Find-Med(</a:t>
            </a:r>
            <a:r>
              <a:rPr lang="en-US" altLang="zh-CN" sz="1800" dirty="0" err="1"/>
              <a:t>A,B,n,low,high</a:t>
            </a:r>
            <a:r>
              <a:rPr lang="en-US" altLang="zh-CN" sz="1800" dirty="0"/>
              <a:t>)</a:t>
            </a:r>
            <a:endParaRPr lang="zh-CN" altLang="zh-CN" sz="1800" dirty="0"/>
          </a:p>
          <a:p>
            <a:pPr marL="0" indent="0">
              <a:lnSpc>
                <a:spcPct val="100000"/>
              </a:lnSpc>
              <a:spcBef>
                <a:spcPts val="0"/>
              </a:spcBef>
              <a:buNone/>
            </a:pPr>
            <a:r>
              <a:rPr lang="en-US" altLang="zh-CN" sz="1800" dirty="0"/>
              <a:t>    if low&gt;high return Not-Found</a:t>
            </a:r>
            <a:endParaRPr lang="zh-CN" altLang="zh-CN" sz="1800" dirty="0"/>
          </a:p>
          <a:p>
            <a:pPr marL="0" indent="0">
              <a:lnSpc>
                <a:spcPct val="100000"/>
              </a:lnSpc>
              <a:spcBef>
                <a:spcPts val="0"/>
              </a:spcBef>
              <a:buNone/>
            </a:pPr>
            <a:r>
              <a:rPr lang="en-US" altLang="zh-CN" sz="1800" dirty="0"/>
              <a:t>    k=low+</a:t>
            </a:r>
            <a:r>
              <a:rPr lang="en-US" altLang="zh-CN" sz="1800" dirty="0">
                <a:sym typeface="Symbol" panose="05050102010706020507" pitchFamily="18" charset="2"/>
              </a:rPr>
              <a:t></a:t>
            </a:r>
            <a:r>
              <a:rPr lang="en-US" altLang="zh-CN" sz="1800" dirty="0"/>
              <a:t>(high-low)/2</a:t>
            </a:r>
            <a:r>
              <a:rPr lang="en-US" altLang="zh-CN" sz="1800" dirty="0">
                <a:sym typeface="Symbol" panose="05050102010706020507" pitchFamily="18" charset="2"/>
              </a:rPr>
              <a:t></a:t>
            </a:r>
            <a:endParaRPr lang="zh-CN" altLang="zh-CN" sz="1800" dirty="0"/>
          </a:p>
          <a:p>
            <a:pPr marL="0" indent="0">
              <a:lnSpc>
                <a:spcPct val="100000"/>
              </a:lnSpc>
              <a:spcBef>
                <a:spcPts val="0"/>
              </a:spcBef>
              <a:buNone/>
            </a:pPr>
            <a:r>
              <a:rPr lang="en-US" altLang="zh-CN" sz="1800" dirty="0"/>
              <a:t>    if k==n and A[n]&lt;=B[1] return A[n]</a:t>
            </a:r>
            <a:endParaRPr lang="zh-CN" altLang="zh-CN" sz="1800" dirty="0"/>
          </a:p>
          <a:p>
            <a:pPr marL="0" indent="0">
              <a:lnSpc>
                <a:spcPct val="100000"/>
              </a:lnSpc>
              <a:spcBef>
                <a:spcPts val="0"/>
              </a:spcBef>
              <a:buNone/>
            </a:pPr>
            <a:r>
              <a:rPr lang="en-US" altLang="zh-CN" sz="1800" dirty="0"/>
              <a:t>    if k&lt;n and B[n-k]&lt;=k&lt;=B[n-k+1] return A[k]</a:t>
            </a:r>
            <a:endParaRPr lang="zh-CN" altLang="zh-CN" sz="1800" dirty="0"/>
          </a:p>
          <a:p>
            <a:pPr marL="0" indent="0">
              <a:lnSpc>
                <a:spcPct val="100000"/>
              </a:lnSpc>
              <a:spcBef>
                <a:spcPts val="0"/>
              </a:spcBef>
              <a:buNone/>
            </a:pPr>
            <a:r>
              <a:rPr lang="en-US" altLang="zh-CN" sz="1800" dirty="0"/>
              <a:t>    if A[k]&gt;B[n-k+1] return Find-Med(A,B,n,low,k-1)</a:t>
            </a:r>
            <a:endParaRPr lang="zh-CN" altLang="zh-CN" sz="1800" dirty="0"/>
          </a:p>
          <a:p>
            <a:pPr marL="0" indent="0">
              <a:lnSpc>
                <a:spcPct val="100000"/>
              </a:lnSpc>
              <a:spcBef>
                <a:spcPts val="0"/>
              </a:spcBef>
              <a:buNone/>
            </a:pPr>
            <a:r>
              <a:rPr lang="en-US" altLang="zh-CN" sz="1800" dirty="0"/>
              <a:t>    return Find-Med(A,B,n,k+1,high)</a:t>
            </a:r>
            <a:endParaRPr lang="zh-CN" altLang="zh-CN" sz="1800" dirty="0"/>
          </a:p>
          <a:p>
            <a:pPr marL="0" indent="0">
              <a:lnSpc>
                <a:spcPct val="100000"/>
              </a:lnSpc>
              <a:spcBef>
                <a:spcPts val="0"/>
              </a:spcBef>
              <a:buNone/>
            </a:pPr>
            <a:endParaRPr lang="zh-CN" altLang="en-US" sz="1800" dirty="0"/>
          </a:p>
        </p:txBody>
      </p:sp>
    </p:spTree>
    <p:extLst>
      <p:ext uri="{BB962C8B-B14F-4D97-AF65-F5344CB8AC3E}">
        <p14:creationId xmlns:p14="http://schemas.microsoft.com/office/powerpoint/2010/main" val="180787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EF12A-D9A3-445F-B13F-C4A74087249F}"/>
              </a:ext>
            </a:extLst>
          </p:cNvPr>
          <p:cNvSpPr>
            <a:spLocks noGrp="1"/>
          </p:cNvSpPr>
          <p:nvPr>
            <p:ph type="title"/>
          </p:nvPr>
        </p:nvSpPr>
        <p:spPr/>
        <p:txBody>
          <a:bodyPr/>
          <a:lstStyle/>
          <a:p>
            <a:r>
              <a:rPr lang="zh-CN" altLang="en-US" dirty="0"/>
              <a:t>数据压缩</a:t>
            </a:r>
          </a:p>
        </p:txBody>
      </p:sp>
      <p:sp>
        <p:nvSpPr>
          <p:cNvPr id="3" name="内容占位符 2">
            <a:extLst>
              <a:ext uri="{FF2B5EF4-FFF2-40B4-BE49-F238E27FC236}">
                <a16:creationId xmlns:a16="http://schemas.microsoft.com/office/drawing/2014/main" id="{B03ABF5B-CDBA-46AC-AC30-6B7CC2FFAAAA}"/>
              </a:ext>
            </a:extLst>
          </p:cNvPr>
          <p:cNvSpPr>
            <a:spLocks noGrp="1"/>
          </p:cNvSpPr>
          <p:nvPr>
            <p:ph idx="1"/>
          </p:nvPr>
        </p:nvSpPr>
        <p:spPr/>
        <p:txBody>
          <a:bodyPr>
            <a:noAutofit/>
          </a:bodyPr>
          <a:lstStyle/>
          <a:p>
            <a:r>
              <a:rPr lang="zh-CN" altLang="en-US" sz="2400" dirty="0">
                <a:solidFill>
                  <a:srgbClr val="000000"/>
                </a:solidFill>
              </a:rPr>
              <a:t>问题：已知某个文本文件（字符串序列），为其设计一种编码方式使之满足前缀限制且使编码后的文本长度最短。</a:t>
            </a:r>
          </a:p>
          <a:p>
            <a:pPr algn="just"/>
            <a:r>
              <a:rPr lang="zh-CN" altLang="en-US" sz="2400" dirty="0">
                <a:solidFill>
                  <a:srgbClr val="000000"/>
                </a:solidFill>
              </a:rPr>
              <a:t>记字符为</a:t>
            </a:r>
            <a:r>
              <a:rPr lang="en-US" altLang="zh-CN" sz="2400" dirty="0">
                <a:solidFill>
                  <a:srgbClr val="000000"/>
                </a:solidFill>
              </a:rPr>
              <a:t>C</a:t>
            </a:r>
            <a:r>
              <a:rPr lang="en-US" altLang="zh-CN" sz="2400" baseline="-25000" dirty="0">
                <a:solidFill>
                  <a:srgbClr val="000000"/>
                </a:solidFill>
              </a:rPr>
              <a:t>1</a:t>
            </a:r>
            <a:r>
              <a:rPr lang="en-US" altLang="zh-CN" sz="2400" dirty="0">
                <a:solidFill>
                  <a:srgbClr val="000000"/>
                </a:solidFill>
              </a:rPr>
              <a:t>,C</a:t>
            </a:r>
            <a:r>
              <a:rPr lang="en-US" altLang="zh-CN" sz="2400" baseline="-25000" dirty="0">
                <a:solidFill>
                  <a:srgbClr val="000000"/>
                </a:solidFill>
              </a:rPr>
              <a:t>2</a:t>
            </a:r>
            <a:r>
              <a:rPr lang="en-US" altLang="zh-CN" sz="2400" dirty="0">
                <a:solidFill>
                  <a:srgbClr val="000000"/>
                </a:solidFill>
              </a:rPr>
              <a:t>,…,C</a:t>
            </a:r>
            <a:r>
              <a:rPr lang="en-US" altLang="zh-CN" sz="2400" baseline="-25000" dirty="0">
                <a:solidFill>
                  <a:srgbClr val="000000"/>
                </a:solidFill>
              </a:rPr>
              <a:t>n</a:t>
            </a:r>
            <a:r>
              <a:rPr lang="zh-CN" altLang="en-US" sz="2400" dirty="0">
                <a:solidFill>
                  <a:srgbClr val="000000"/>
                </a:solidFill>
              </a:rPr>
              <a:t>，相应字频</a:t>
            </a:r>
            <a:r>
              <a:rPr lang="en-US" altLang="zh-CN" sz="2400" dirty="0">
                <a:solidFill>
                  <a:srgbClr val="000000"/>
                </a:solidFill>
              </a:rPr>
              <a:t>(</a:t>
            </a:r>
            <a:r>
              <a:rPr lang="zh-CN" altLang="en-US" sz="2400" dirty="0">
                <a:solidFill>
                  <a:srgbClr val="000000"/>
                </a:solidFill>
              </a:rPr>
              <a:t>每个字符在文本中出现的次数，通过对典型文本进行统计而得</a:t>
            </a:r>
            <a:r>
              <a:rPr lang="en-US" altLang="zh-CN" sz="2400" dirty="0">
                <a:solidFill>
                  <a:srgbClr val="000000"/>
                </a:solidFill>
              </a:rPr>
              <a:t>)</a:t>
            </a:r>
            <a:r>
              <a:rPr lang="zh-CN" altLang="en-US" sz="2400" dirty="0">
                <a:solidFill>
                  <a:srgbClr val="000000"/>
                </a:solidFill>
              </a:rPr>
              <a:t>为</a:t>
            </a:r>
            <a:r>
              <a:rPr lang="en-US" altLang="zh-CN" sz="2400" dirty="0">
                <a:solidFill>
                  <a:srgbClr val="000000"/>
                </a:solidFill>
              </a:rPr>
              <a:t>f</a:t>
            </a:r>
            <a:r>
              <a:rPr lang="en-US" altLang="zh-CN" sz="2400" baseline="-25000" dirty="0">
                <a:solidFill>
                  <a:srgbClr val="000000"/>
                </a:solidFill>
              </a:rPr>
              <a:t>1</a:t>
            </a:r>
            <a:r>
              <a:rPr lang="en-US" altLang="zh-CN" sz="2400" dirty="0">
                <a:solidFill>
                  <a:srgbClr val="000000"/>
                </a:solidFill>
              </a:rPr>
              <a:t>,f</a:t>
            </a:r>
            <a:r>
              <a:rPr lang="en-US" altLang="zh-CN" sz="2400" baseline="-25000" dirty="0">
                <a:solidFill>
                  <a:srgbClr val="000000"/>
                </a:solidFill>
              </a:rPr>
              <a:t>2</a:t>
            </a:r>
            <a:r>
              <a:rPr lang="en-US" altLang="zh-CN" sz="2400" dirty="0">
                <a:solidFill>
                  <a:srgbClr val="000000"/>
                </a:solidFill>
              </a:rPr>
              <a:t>,…,</a:t>
            </a:r>
            <a:r>
              <a:rPr lang="en-US" altLang="zh-CN" sz="2400" dirty="0" err="1">
                <a:solidFill>
                  <a:srgbClr val="000000"/>
                </a:solidFill>
              </a:rPr>
              <a:t>f</a:t>
            </a:r>
            <a:r>
              <a:rPr lang="en-US" altLang="zh-CN" sz="2400" baseline="-25000" dirty="0" err="1">
                <a:solidFill>
                  <a:srgbClr val="000000"/>
                </a:solidFill>
              </a:rPr>
              <a:t>n</a:t>
            </a:r>
            <a:r>
              <a:rPr lang="zh-CN" altLang="en-US" sz="2400" dirty="0">
                <a:solidFill>
                  <a:srgbClr val="000000"/>
                </a:solidFill>
              </a:rPr>
              <a:t>。若某种编码方式</a:t>
            </a:r>
            <a:r>
              <a:rPr lang="en-US" altLang="zh-CN" sz="2400" dirty="0">
                <a:solidFill>
                  <a:srgbClr val="000000"/>
                </a:solidFill>
              </a:rPr>
              <a:t>E</a:t>
            </a:r>
            <a:r>
              <a:rPr lang="zh-CN" altLang="en-US" sz="2400" dirty="0">
                <a:solidFill>
                  <a:srgbClr val="000000"/>
                </a:solidFill>
              </a:rPr>
              <a:t>中，用长度为</a:t>
            </a:r>
            <a:r>
              <a:rPr lang="en-US" altLang="zh-CN" sz="2400" dirty="0" err="1">
                <a:solidFill>
                  <a:srgbClr val="000000"/>
                </a:solidFill>
              </a:rPr>
              <a:t>s</a:t>
            </a:r>
            <a:r>
              <a:rPr lang="en-US" altLang="zh-CN" sz="2400" baseline="-25000" dirty="0" err="1">
                <a:solidFill>
                  <a:srgbClr val="000000"/>
                </a:solidFill>
              </a:rPr>
              <a:t>i</a:t>
            </a:r>
            <a:r>
              <a:rPr lang="zh-CN" altLang="en-US" sz="2400" dirty="0">
                <a:solidFill>
                  <a:srgbClr val="000000"/>
                </a:solidFill>
              </a:rPr>
              <a:t>的位串</a:t>
            </a:r>
            <a:r>
              <a:rPr lang="en-US" altLang="zh-CN" sz="2400" dirty="0">
                <a:solidFill>
                  <a:srgbClr val="000000"/>
                </a:solidFill>
              </a:rPr>
              <a:t>S</a:t>
            </a:r>
            <a:r>
              <a:rPr lang="en-US" altLang="zh-CN" sz="2400" baseline="-25000" dirty="0">
                <a:solidFill>
                  <a:srgbClr val="000000"/>
                </a:solidFill>
              </a:rPr>
              <a:t>i</a:t>
            </a:r>
            <a:r>
              <a:rPr lang="zh-CN" altLang="en-US" sz="2400" dirty="0">
                <a:solidFill>
                  <a:srgbClr val="000000"/>
                </a:solidFill>
              </a:rPr>
              <a:t>表示</a:t>
            </a:r>
            <a:r>
              <a:rPr lang="en-US" altLang="zh-CN" sz="2400" dirty="0">
                <a:solidFill>
                  <a:srgbClr val="000000"/>
                </a:solidFill>
              </a:rPr>
              <a:t>C</a:t>
            </a:r>
            <a:r>
              <a:rPr lang="en-US" altLang="zh-CN" sz="2400" baseline="-25000" dirty="0">
                <a:solidFill>
                  <a:srgbClr val="000000"/>
                </a:solidFill>
              </a:rPr>
              <a:t>i</a:t>
            </a:r>
            <a:r>
              <a:rPr lang="zh-CN" altLang="en-US" sz="2400" dirty="0">
                <a:solidFill>
                  <a:srgbClr val="000000"/>
                </a:solidFill>
              </a:rPr>
              <a:t>的话，文件</a:t>
            </a:r>
            <a:r>
              <a:rPr lang="en-US" altLang="zh-CN" sz="2400" dirty="0">
                <a:solidFill>
                  <a:srgbClr val="000000"/>
                </a:solidFill>
              </a:rPr>
              <a:t>F</a:t>
            </a:r>
            <a:r>
              <a:rPr lang="zh-CN" altLang="en-US" sz="2400" dirty="0">
                <a:solidFill>
                  <a:srgbClr val="000000"/>
                </a:solidFill>
              </a:rPr>
              <a:t>用编码方式</a:t>
            </a:r>
            <a:r>
              <a:rPr lang="en-US" altLang="zh-CN" sz="2400" dirty="0">
                <a:solidFill>
                  <a:srgbClr val="000000"/>
                </a:solidFill>
              </a:rPr>
              <a:t>E</a:t>
            </a:r>
            <a:r>
              <a:rPr lang="zh-CN" altLang="en-US" sz="2400" dirty="0">
                <a:solidFill>
                  <a:srgbClr val="000000"/>
                </a:solidFill>
              </a:rPr>
              <a:t>编码后的长度为</a:t>
            </a:r>
            <a:r>
              <a:rPr lang="en-US" altLang="zh-CN" sz="2400" dirty="0">
                <a:solidFill>
                  <a:srgbClr val="000000"/>
                </a:solidFill>
              </a:rPr>
              <a:t>L(E,F)=</a:t>
            </a:r>
            <a:r>
              <a:rPr lang="en-US" altLang="zh-CN" sz="2400" dirty="0">
                <a:solidFill>
                  <a:srgbClr val="000000"/>
                </a:solidFill>
                <a:sym typeface="Symbol" pitchFamily="18" charset="2"/>
              </a:rPr>
              <a:t></a:t>
            </a:r>
            <a:r>
              <a:rPr lang="en-US" altLang="zh-CN" sz="2400" dirty="0" err="1">
                <a:solidFill>
                  <a:srgbClr val="000000"/>
                </a:solidFill>
              </a:rPr>
              <a:t>s</a:t>
            </a:r>
            <a:r>
              <a:rPr lang="en-US" altLang="zh-CN" sz="2400" baseline="-25000" dirty="0" err="1">
                <a:solidFill>
                  <a:srgbClr val="000000"/>
                </a:solidFill>
              </a:rPr>
              <a:t>i</a:t>
            </a:r>
            <a:r>
              <a:rPr lang="en-US" altLang="zh-CN" sz="2400" dirty="0" err="1">
                <a:solidFill>
                  <a:srgbClr val="000000"/>
                </a:solidFill>
              </a:rPr>
              <a:t>f</a:t>
            </a:r>
            <a:r>
              <a:rPr lang="en-US" altLang="zh-CN" sz="2400" baseline="-25000" dirty="0" err="1">
                <a:solidFill>
                  <a:srgbClr val="000000"/>
                </a:solidFill>
              </a:rPr>
              <a:t>i</a:t>
            </a:r>
            <a:endParaRPr lang="en-US" altLang="zh-CN" sz="2400" dirty="0">
              <a:solidFill>
                <a:srgbClr val="000000"/>
              </a:solidFill>
            </a:endParaRPr>
          </a:p>
          <a:p>
            <a:pPr algn="just"/>
            <a:r>
              <a:rPr lang="zh-CN" altLang="en-US" sz="2400" dirty="0">
                <a:solidFill>
                  <a:srgbClr val="000000"/>
                </a:solidFill>
              </a:rPr>
              <a:t>目标：设计一种满足前缀限制的编码方式</a:t>
            </a:r>
            <a:r>
              <a:rPr lang="en-US" altLang="zh-CN" sz="2400" dirty="0">
                <a:solidFill>
                  <a:srgbClr val="000000"/>
                </a:solidFill>
              </a:rPr>
              <a:t>E</a:t>
            </a:r>
            <a:r>
              <a:rPr lang="zh-CN" altLang="en-US" sz="2400" dirty="0">
                <a:solidFill>
                  <a:srgbClr val="000000"/>
                </a:solidFill>
              </a:rPr>
              <a:t>，且</a:t>
            </a:r>
            <a:r>
              <a:rPr lang="en-US" altLang="zh-CN" sz="2400" dirty="0">
                <a:solidFill>
                  <a:srgbClr val="000000"/>
                </a:solidFill>
              </a:rPr>
              <a:t>L(E,F)</a:t>
            </a:r>
            <a:r>
              <a:rPr lang="zh-CN" altLang="en-US" sz="2400" dirty="0">
                <a:solidFill>
                  <a:srgbClr val="000000"/>
                </a:solidFill>
              </a:rPr>
              <a:t>最小。</a:t>
            </a:r>
          </a:p>
          <a:p>
            <a:pPr algn="just"/>
            <a:r>
              <a:rPr lang="zh-CN" altLang="en-US" sz="2400" dirty="0">
                <a:solidFill>
                  <a:srgbClr val="000000"/>
                </a:solidFill>
              </a:rPr>
              <a:t>解码时按序扫描序列的每一位直到得到对应于某个字符编码的位串。为此考察二叉树，每个非叶节点有一条标着</a:t>
            </a:r>
            <a:r>
              <a:rPr lang="en-US" altLang="zh-CN" sz="2400" dirty="0">
                <a:solidFill>
                  <a:srgbClr val="000000"/>
                </a:solidFill>
              </a:rPr>
              <a:t>0</a:t>
            </a:r>
            <a:r>
              <a:rPr lang="zh-CN" altLang="en-US" sz="2400" dirty="0">
                <a:solidFill>
                  <a:srgbClr val="000000"/>
                </a:solidFill>
              </a:rPr>
              <a:t>、另一条标着</a:t>
            </a:r>
            <a:r>
              <a:rPr lang="en-US" altLang="zh-CN" sz="2400" dirty="0">
                <a:solidFill>
                  <a:srgbClr val="000000"/>
                </a:solidFill>
              </a:rPr>
              <a:t>1</a:t>
            </a:r>
            <a:r>
              <a:rPr lang="zh-CN" altLang="en-US" sz="2400" dirty="0">
                <a:solidFill>
                  <a:srgbClr val="000000"/>
                </a:solidFill>
              </a:rPr>
              <a:t>的两条发散边，每个叶子节点对应着一个字符，从根节点到叶子节点的路径就是这个字符的编码。当扫描文件的过程中到达叶子节点时，就能地确定相应的字符。</a:t>
            </a:r>
          </a:p>
          <a:p>
            <a:pPr algn="just"/>
            <a:r>
              <a:rPr lang="zh-CN" altLang="en-US" sz="2400" dirty="0">
                <a:solidFill>
                  <a:srgbClr val="000000"/>
                </a:solidFill>
              </a:rPr>
              <a:t>问题：如何构造这棵树，使</a:t>
            </a:r>
            <a:r>
              <a:rPr lang="en-US" altLang="zh-CN" sz="2400" dirty="0">
                <a:solidFill>
                  <a:srgbClr val="000000"/>
                </a:solidFill>
              </a:rPr>
              <a:t>L(E, F)</a:t>
            </a:r>
            <a:r>
              <a:rPr lang="zh-CN" altLang="en-US" sz="2400" dirty="0">
                <a:solidFill>
                  <a:srgbClr val="000000"/>
                </a:solidFill>
              </a:rPr>
              <a:t>最小。</a:t>
            </a:r>
          </a:p>
          <a:p>
            <a:endParaRPr lang="zh-CN" altLang="en-US" sz="2400" dirty="0"/>
          </a:p>
        </p:txBody>
      </p:sp>
    </p:spTree>
    <p:extLst>
      <p:ext uri="{BB962C8B-B14F-4D97-AF65-F5344CB8AC3E}">
        <p14:creationId xmlns:p14="http://schemas.microsoft.com/office/powerpoint/2010/main" val="27746772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C3D9B1-822D-4FE2-9626-9D061EDA2008}"/>
              </a:ext>
            </a:extLst>
          </p:cNvPr>
          <p:cNvSpPr>
            <a:spLocks noGrp="1"/>
          </p:cNvSpPr>
          <p:nvPr>
            <p:ph type="title"/>
          </p:nvPr>
        </p:nvSpPr>
        <p:spPr/>
        <p:txBody>
          <a:bodyPr/>
          <a:lstStyle/>
          <a:p>
            <a:r>
              <a:rPr lang="zh-CN" altLang="en-US" dirty="0"/>
              <a:t>数据压缩</a:t>
            </a:r>
          </a:p>
        </p:txBody>
      </p:sp>
      <p:sp>
        <p:nvSpPr>
          <p:cNvPr id="3" name="内容占位符 2">
            <a:extLst>
              <a:ext uri="{FF2B5EF4-FFF2-40B4-BE49-F238E27FC236}">
                <a16:creationId xmlns:a16="http://schemas.microsoft.com/office/drawing/2014/main" id="{477B5685-06CC-43FE-AB15-B53E48241613}"/>
              </a:ext>
            </a:extLst>
          </p:cNvPr>
          <p:cNvSpPr>
            <a:spLocks noGrp="1"/>
          </p:cNvSpPr>
          <p:nvPr>
            <p:ph idx="1"/>
          </p:nvPr>
        </p:nvSpPr>
        <p:spPr>
          <a:xfrm>
            <a:off x="838200" y="1825625"/>
            <a:ext cx="3886200" cy="4351338"/>
          </a:xfrm>
        </p:spPr>
        <p:txBody>
          <a:bodyPr>
            <a:normAutofit/>
          </a:bodyPr>
          <a:lstStyle/>
          <a:p>
            <a:pPr algn="just"/>
            <a:r>
              <a:rPr lang="zh-CN" altLang="en-US" sz="2000" dirty="0">
                <a:solidFill>
                  <a:srgbClr val="000000"/>
                </a:solidFill>
              </a:rPr>
              <a:t>令</a:t>
            </a:r>
            <a:r>
              <a:rPr lang="en-US" altLang="zh-CN" sz="2000" dirty="0">
                <a:solidFill>
                  <a:srgbClr val="000000"/>
                </a:solidFill>
              </a:rPr>
              <a:t>C</a:t>
            </a:r>
            <a:r>
              <a:rPr lang="en-US" altLang="zh-CN" sz="2000" baseline="-25000" dirty="0">
                <a:solidFill>
                  <a:srgbClr val="000000"/>
                </a:solidFill>
              </a:rPr>
              <a:t>i</a:t>
            </a:r>
            <a:r>
              <a:rPr lang="zh-CN" altLang="en-US" sz="2000" dirty="0">
                <a:solidFill>
                  <a:srgbClr val="000000"/>
                </a:solidFill>
              </a:rPr>
              <a:t>和</a:t>
            </a:r>
            <a:r>
              <a:rPr lang="en-US" altLang="zh-CN" sz="2000" dirty="0" err="1">
                <a:solidFill>
                  <a:srgbClr val="000000"/>
                </a:solidFill>
              </a:rPr>
              <a:t>C</a:t>
            </a:r>
            <a:r>
              <a:rPr lang="en-US" altLang="zh-CN" sz="2000" baseline="-25000" dirty="0" err="1">
                <a:solidFill>
                  <a:srgbClr val="000000"/>
                </a:solidFill>
              </a:rPr>
              <a:t>j</a:t>
            </a:r>
            <a:r>
              <a:rPr lang="zh-CN" altLang="en-US" sz="2000" dirty="0">
                <a:solidFill>
                  <a:srgbClr val="000000"/>
                </a:solidFill>
              </a:rPr>
              <a:t>是字频最小的两个字符，则存在一棵使</a:t>
            </a:r>
            <a:r>
              <a:rPr lang="en-US" altLang="zh-CN" sz="2000" dirty="0">
                <a:solidFill>
                  <a:srgbClr val="000000"/>
                </a:solidFill>
              </a:rPr>
              <a:t>L(E, F)</a:t>
            </a:r>
            <a:r>
              <a:rPr lang="zh-CN" altLang="en-US" sz="2000" dirty="0">
                <a:solidFill>
                  <a:srgbClr val="000000"/>
                </a:solidFill>
              </a:rPr>
              <a:t>最小的树，使</a:t>
            </a:r>
            <a:r>
              <a:rPr lang="en-US" altLang="zh-CN" sz="2000" dirty="0">
                <a:solidFill>
                  <a:srgbClr val="000000"/>
                </a:solidFill>
              </a:rPr>
              <a:t>C</a:t>
            </a:r>
            <a:r>
              <a:rPr lang="en-US" altLang="zh-CN" sz="2000" baseline="-25000" dirty="0">
                <a:solidFill>
                  <a:srgbClr val="000000"/>
                </a:solidFill>
              </a:rPr>
              <a:t>i</a:t>
            </a:r>
            <a:r>
              <a:rPr lang="zh-CN" altLang="en-US" sz="2000" dirty="0">
                <a:solidFill>
                  <a:srgbClr val="000000"/>
                </a:solidFill>
              </a:rPr>
              <a:t>和</a:t>
            </a:r>
            <a:r>
              <a:rPr lang="en-US" altLang="zh-CN" sz="2000" dirty="0" err="1">
                <a:solidFill>
                  <a:srgbClr val="000000"/>
                </a:solidFill>
              </a:rPr>
              <a:t>C</a:t>
            </a:r>
            <a:r>
              <a:rPr lang="en-US" altLang="zh-CN" sz="2000" baseline="-25000" dirty="0" err="1">
                <a:solidFill>
                  <a:srgbClr val="000000"/>
                </a:solidFill>
              </a:rPr>
              <a:t>j</a:t>
            </a:r>
            <a:r>
              <a:rPr lang="zh-CN" altLang="en-US" sz="2000" dirty="0">
                <a:solidFill>
                  <a:srgbClr val="000000"/>
                </a:solidFill>
              </a:rPr>
              <a:t>对应着离根节点最远的叶子节点。否则，若存在某个字频更高的字符在树上的位置低于这些字符，那么它就可以同</a:t>
            </a:r>
            <a:r>
              <a:rPr lang="en-US" altLang="zh-CN" sz="2000" dirty="0">
                <a:solidFill>
                  <a:srgbClr val="000000"/>
                </a:solidFill>
              </a:rPr>
              <a:t>C</a:t>
            </a:r>
            <a:r>
              <a:rPr lang="en-US" altLang="zh-CN" sz="2000" baseline="-25000" dirty="0">
                <a:solidFill>
                  <a:srgbClr val="000000"/>
                </a:solidFill>
              </a:rPr>
              <a:t>i</a:t>
            </a:r>
            <a:r>
              <a:rPr lang="zh-CN" altLang="en-US" sz="2000" dirty="0">
                <a:solidFill>
                  <a:srgbClr val="000000"/>
                </a:solidFill>
              </a:rPr>
              <a:t>或</a:t>
            </a:r>
            <a:r>
              <a:rPr lang="en-US" altLang="zh-CN" sz="2000" dirty="0" err="1">
                <a:solidFill>
                  <a:srgbClr val="000000"/>
                </a:solidFill>
              </a:rPr>
              <a:t>C</a:t>
            </a:r>
            <a:r>
              <a:rPr lang="en-US" altLang="zh-CN" sz="2000" baseline="-25000" dirty="0" err="1">
                <a:solidFill>
                  <a:srgbClr val="000000"/>
                </a:solidFill>
              </a:rPr>
              <a:t>j</a:t>
            </a:r>
            <a:r>
              <a:rPr lang="zh-CN" altLang="en-US" sz="2000" dirty="0">
                <a:solidFill>
                  <a:srgbClr val="000000"/>
                </a:solidFill>
              </a:rPr>
              <a:t>交换从而减小</a:t>
            </a:r>
            <a:r>
              <a:rPr lang="en-US" altLang="zh-CN" sz="2000" dirty="0">
                <a:solidFill>
                  <a:srgbClr val="000000"/>
                </a:solidFill>
              </a:rPr>
              <a:t>L(E, F)</a:t>
            </a:r>
            <a:r>
              <a:rPr lang="zh-CN" altLang="en-US" sz="2000" dirty="0">
                <a:solidFill>
                  <a:srgbClr val="000000"/>
                </a:solidFill>
              </a:rPr>
              <a:t>。因为树上每个节点不是有两个子节点就是无子节点，于是可以断定</a:t>
            </a:r>
            <a:r>
              <a:rPr lang="en-US" altLang="zh-CN" sz="2000" dirty="0">
                <a:solidFill>
                  <a:srgbClr val="000000"/>
                </a:solidFill>
              </a:rPr>
              <a:t>C</a:t>
            </a:r>
            <a:r>
              <a:rPr lang="en-US" altLang="zh-CN" sz="2000" baseline="-25000" dirty="0">
                <a:solidFill>
                  <a:srgbClr val="000000"/>
                </a:solidFill>
              </a:rPr>
              <a:t>i</a:t>
            </a:r>
            <a:r>
              <a:rPr lang="zh-CN" altLang="en-US" sz="2000" dirty="0">
                <a:solidFill>
                  <a:srgbClr val="000000"/>
                </a:solidFill>
              </a:rPr>
              <a:t>和</a:t>
            </a:r>
            <a:r>
              <a:rPr lang="en-US" altLang="zh-CN" sz="2000" dirty="0" err="1">
                <a:solidFill>
                  <a:srgbClr val="000000"/>
                </a:solidFill>
              </a:rPr>
              <a:t>C</a:t>
            </a:r>
            <a:r>
              <a:rPr lang="en-US" altLang="zh-CN" sz="2000" baseline="-25000" dirty="0" err="1">
                <a:solidFill>
                  <a:srgbClr val="000000"/>
                </a:solidFill>
              </a:rPr>
              <a:t>j</a:t>
            </a:r>
            <a:r>
              <a:rPr lang="zh-CN" altLang="en-US" sz="2000" dirty="0">
                <a:solidFill>
                  <a:srgbClr val="000000"/>
                </a:solidFill>
              </a:rPr>
              <a:t>是两个并列的节点。</a:t>
            </a:r>
          </a:p>
          <a:p>
            <a:pPr algn="just"/>
            <a:r>
              <a:rPr lang="zh-CN" altLang="en-US" sz="2000" dirty="0">
                <a:solidFill>
                  <a:srgbClr val="000000"/>
                </a:solidFill>
              </a:rPr>
              <a:t>用一个新的字符代替</a:t>
            </a:r>
            <a:r>
              <a:rPr lang="en-US" altLang="zh-CN" sz="2000" dirty="0">
                <a:solidFill>
                  <a:srgbClr val="000000"/>
                </a:solidFill>
              </a:rPr>
              <a:t>C</a:t>
            </a:r>
            <a:r>
              <a:rPr lang="en-US" altLang="zh-CN" sz="2000" baseline="-25000" dirty="0">
                <a:solidFill>
                  <a:srgbClr val="000000"/>
                </a:solidFill>
              </a:rPr>
              <a:t>i</a:t>
            </a:r>
            <a:r>
              <a:rPr lang="zh-CN" altLang="en-US" sz="2000" dirty="0">
                <a:solidFill>
                  <a:srgbClr val="000000"/>
                </a:solidFill>
              </a:rPr>
              <a:t>和</a:t>
            </a:r>
            <a:r>
              <a:rPr lang="en-US" altLang="zh-CN" sz="2000" dirty="0" err="1">
                <a:solidFill>
                  <a:srgbClr val="000000"/>
                </a:solidFill>
              </a:rPr>
              <a:t>C</a:t>
            </a:r>
            <a:r>
              <a:rPr lang="en-US" altLang="zh-CN" sz="2000" baseline="-25000" dirty="0" err="1">
                <a:solidFill>
                  <a:srgbClr val="000000"/>
                </a:solidFill>
              </a:rPr>
              <a:t>j</a:t>
            </a:r>
            <a:r>
              <a:rPr lang="zh-CN" altLang="en-US" sz="2000" dirty="0">
                <a:solidFill>
                  <a:srgbClr val="000000"/>
                </a:solidFill>
              </a:rPr>
              <a:t>，这个新字符记作</a:t>
            </a:r>
            <a:r>
              <a:rPr lang="en-US" altLang="zh-CN" sz="2000" dirty="0" err="1">
                <a:solidFill>
                  <a:srgbClr val="000000"/>
                </a:solidFill>
              </a:rPr>
              <a:t>C</a:t>
            </a:r>
            <a:r>
              <a:rPr lang="en-US" altLang="zh-CN" sz="2000" baseline="-25000" dirty="0" err="1">
                <a:solidFill>
                  <a:srgbClr val="000000"/>
                </a:solidFill>
              </a:rPr>
              <a:t>ij</a:t>
            </a:r>
            <a:r>
              <a:rPr lang="zh-CN" altLang="en-US" sz="2000" dirty="0">
                <a:solidFill>
                  <a:srgbClr val="000000"/>
                </a:solidFill>
              </a:rPr>
              <a:t>，其字频为</a:t>
            </a:r>
            <a:r>
              <a:rPr lang="en-US" altLang="zh-CN" sz="2000" dirty="0" err="1">
                <a:solidFill>
                  <a:srgbClr val="000000"/>
                </a:solidFill>
              </a:rPr>
              <a:t>f</a:t>
            </a:r>
            <a:r>
              <a:rPr lang="en-US" altLang="zh-CN" sz="2000" baseline="-25000" dirty="0" err="1">
                <a:solidFill>
                  <a:srgbClr val="000000"/>
                </a:solidFill>
              </a:rPr>
              <a:t>i</a:t>
            </a:r>
            <a:r>
              <a:rPr lang="en-US" altLang="zh-CN" sz="2000" dirty="0" err="1">
                <a:solidFill>
                  <a:srgbClr val="000000"/>
                </a:solidFill>
              </a:rPr>
              <a:t>+f</a:t>
            </a:r>
            <a:r>
              <a:rPr lang="en-US" altLang="zh-CN" sz="2000" baseline="-25000" dirty="0" err="1">
                <a:solidFill>
                  <a:srgbClr val="000000"/>
                </a:solidFill>
              </a:rPr>
              <a:t>j</a:t>
            </a:r>
            <a:r>
              <a:rPr lang="zh-CN" altLang="en-US" sz="2000" dirty="0">
                <a:solidFill>
                  <a:srgbClr val="000000"/>
                </a:solidFill>
              </a:rPr>
              <a:t>。</a:t>
            </a:r>
          </a:p>
          <a:p>
            <a:pPr algn="just"/>
            <a:r>
              <a:rPr lang="zh-CN" altLang="en-US" sz="2000" dirty="0">
                <a:solidFill>
                  <a:srgbClr val="000000"/>
                </a:solidFill>
              </a:rPr>
              <a:t>现在问题有</a:t>
            </a:r>
            <a:r>
              <a:rPr lang="en-US" altLang="zh-CN" sz="2000" dirty="0">
                <a:solidFill>
                  <a:srgbClr val="000000"/>
                </a:solidFill>
              </a:rPr>
              <a:t>n-1</a:t>
            </a:r>
            <a:r>
              <a:rPr lang="zh-CN" altLang="en-US" sz="2000" dirty="0">
                <a:solidFill>
                  <a:srgbClr val="000000"/>
                </a:solidFill>
              </a:rPr>
              <a:t>个字符</a:t>
            </a:r>
            <a:r>
              <a:rPr lang="en-US" altLang="zh-CN" sz="2000" dirty="0">
                <a:solidFill>
                  <a:srgbClr val="000000"/>
                </a:solidFill>
              </a:rPr>
              <a:t>(n-2</a:t>
            </a:r>
            <a:r>
              <a:rPr lang="zh-CN" altLang="en-US" sz="2000" dirty="0">
                <a:solidFill>
                  <a:srgbClr val="000000"/>
                </a:solidFill>
              </a:rPr>
              <a:t>个原来的和一个新的</a:t>
            </a:r>
            <a:r>
              <a:rPr lang="en-US" altLang="zh-CN" sz="2000" dirty="0">
                <a:solidFill>
                  <a:srgbClr val="000000"/>
                </a:solidFill>
              </a:rPr>
              <a:t>)</a:t>
            </a:r>
            <a:r>
              <a:rPr lang="zh-CN" altLang="en-US" sz="2000" dirty="0">
                <a:solidFill>
                  <a:srgbClr val="000000"/>
                </a:solidFill>
              </a:rPr>
              <a:t>，这样就可以用归纳假设解决了。</a:t>
            </a:r>
          </a:p>
          <a:p>
            <a:endParaRPr lang="zh-CN" altLang="en-US" sz="2000" dirty="0"/>
          </a:p>
        </p:txBody>
      </p:sp>
      <p:sp>
        <p:nvSpPr>
          <p:cNvPr id="4" name="Rectangle 3">
            <a:extLst>
              <a:ext uri="{FF2B5EF4-FFF2-40B4-BE49-F238E27FC236}">
                <a16:creationId xmlns:a16="http://schemas.microsoft.com/office/drawing/2014/main" id="{A3E9BD49-E0B0-4D9A-BF8A-B9217036F6AB}"/>
              </a:ext>
            </a:extLst>
          </p:cNvPr>
          <p:cNvSpPr txBox="1">
            <a:spLocks noChangeArrowheads="1"/>
          </p:cNvSpPr>
          <p:nvPr/>
        </p:nvSpPr>
        <p:spPr>
          <a:xfrm>
            <a:off x="5397500" y="1825625"/>
            <a:ext cx="6794500" cy="34067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Tx/>
              <a:buNone/>
            </a:pPr>
            <a:r>
              <a:rPr lang="zh-CN" altLang="en-US" sz="1800" dirty="0">
                <a:solidFill>
                  <a:srgbClr val="000000"/>
                </a:solidFill>
              </a:rPr>
              <a:t>算法 </a:t>
            </a:r>
            <a:r>
              <a:rPr lang="en-US" altLang="zh-CN" sz="1800" dirty="0" err="1">
                <a:solidFill>
                  <a:srgbClr val="000000"/>
                </a:solidFill>
              </a:rPr>
              <a:t>Huffman_Encoding</a:t>
            </a:r>
            <a:r>
              <a:rPr lang="en-US" altLang="zh-CN" sz="1800" dirty="0">
                <a:solidFill>
                  <a:srgbClr val="000000"/>
                </a:solidFill>
              </a:rPr>
              <a:t>(S, f)</a:t>
            </a:r>
          </a:p>
          <a:p>
            <a:pPr algn="just">
              <a:buFontTx/>
              <a:buNone/>
            </a:pPr>
            <a:r>
              <a:rPr lang="zh-CN" altLang="en-US" sz="1800" dirty="0">
                <a:solidFill>
                  <a:srgbClr val="000000"/>
                </a:solidFill>
              </a:rPr>
              <a:t>输入：</a:t>
            </a:r>
            <a:r>
              <a:rPr lang="en-US" altLang="zh-CN" sz="1800" dirty="0">
                <a:solidFill>
                  <a:srgbClr val="000000"/>
                </a:solidFill>
              </a:rPr>
              <a:t>S (</a:t>
            </a:r>
            <a:r>
              <a:rPr lang="zh-CN" altLang="en-US" sz="1800" dirty="0">
                <a:solidFill>
                  <a:srgbClr val="000000"/>
                </a:solidFill>
              </a:rPr>
              <a:t>字符串</a:t>
            </a:r>
            <a:r>
              <a:rPr lang="en-US" altLang="zh-CN" sz="1800" dirty="0">
                <a:solidFill>
                  <a:srgbClr val="000000"/>
                </a:solidFill>
              </a:rPr>
              <a:t>)</a:t>
            </a:r>
            <a:r>
              <a:rPr lang="zh-CN" altLang="en-US" sz="1800" dirty="0">
                <a:solidFill>
                  <a:srgbClr val="000000"/>
                </a:solidFill>
              </a:rPr>
              <a:t>和</a:t>
            </a:r>
            <a:r>
              <a:rPr lang="en-US" altLang="zh-CN" sz="1800" dirty="0">
                <a:solidFill>
                  <a:srgbClr val="000000"/>
                </a:solidFill>
              </a:rPr>
              <a:t>f</a:t>
            </a:r>
            <a:r>
              <a:rPr lang="zh-CN" altLang="en-US" sz="1800" dirty="0">
                <a:solidFill>
                  <a:srgbClr val="000000"/>
                </a:solidFill>
              </a:rPr>
              <a:t>（字频数组）</a:t>
            </a:r>
          </a:p>
          <a:p>
            <a:pPr algn="just">
              <a:buFontTx/>
              <a:buNone/>
            </a:pPr>
            <a:r>
              <a:rPr lang="zh-CN" altLang="en-US" sz="1800" dirty="0">
                <a:solidFill>
                  <a:srgbClr val="000000"/>
                </a:solidFill>
              </a:rPr>
              <a:t>输出：</a:t>
            </a:r>
            <a:r>
              <a:rPr lang="en-US" altLang="zh-CN" sz="1800" dirty="0">
                <a:solidFill>
                  <a:srgbClr val="000000"/>
                </a:solidFill>
              </a:rPr>
              <a:t>T</a:t>
            </a:r>
            <a:r>
              <a:rPr lang="zh-CN" altLang="en-US" sz="1800" dirty="0">
                <a:solidFill>
                  <a:srgbClr val="000000"/>
                </a:solidFill>
              </a:rPr>
              <a:t>（</a:t>
            </a:r>
            <a:r>
              <a:rPr lang="en-US" altLang="zh-CN" sz="1800" dirty="0">
                <a:solidFill>
                  <a:srgbClr val="000000"/>
                </a:solidFill>
              </a:rPr>
              <a:t>S</a:t>
            </a:r>
            <a:r>
              <a:rPr lang="zh-CN" altLang="en-US" sz="1800" dirty="0">
                <a:solidFill>
                  <a:srgbClr val="000000"/>
                </a:solidFill>
              </a:rPr>
              <a:t>的</a:t>
            </a:r>
            <a:r>
              <a:rPr lang="zh-CN" altLang="en-US" sz="1800" dirty="0">
                <a:solidFill>
                  <a:srgbClr val="000000"/>
                </a:solidFill>
                <a:latin typeface="宋体" charset="-122"/>
              </a:rPr>
              <a:t>霍夫曼</a:t>
            </a:r>
            <a:r>
              <a:rPr lang="zh-CN" altLang="en-US" sz="1800" dirty="0">
                <a:solidFill>
                  <a:srgbClr val="000000"/>
                </a:solidFill>
              </a:rPr>
              <a:t>树）</a:t>
            </a:r>
          </a:p>
          <a:p>
            <a:pPr algn="just">
              <a:buFontTx/>
              <a:buNone/>
            </a:pPr>
            <a:r>
              <a:rPr lang="zh-CN" altLang="en-US" sz="1800" dirty="0">
                <a:solidFill>
                  <a:srgbClr val="000000"/>
                </a:solidFill>
              </a:rPr>
              <a:t>根据字频将每个字符插入堆</a:t>
            </a:r>
            <a:r>
              <a:rPr lang="en-US" altLang="zh-CN" sz="1800" dirty="0">
                <a:solidFill>
                  <a:srgbClr val="000000"/>
                </a:solidFill>
              </a:rPr>
              <a:t>H</a:t>
            </a:r>
            <a:r>
              <a:rPr lang="zh-CN" altLang="en-US" sz="1800" dirty="0">
                <a:solidFill>
                  <a:srgbClr val="000000"/>
                </a:solidFill>
              </a:rPr>
              <a:t>；</a:t>
            </a:r>
          </a:p>
          <a:p>
            <a:pPr algn="just">
              <a:buFontTx/>
              <a:buNone/>
            </a:pPr>
            <a:r>
              <a:rPr lang="en-US" altLang="zh-CN" sz="1800" dirty="0">
                <a:solidFill>
                  <a:srgbClr val="000000"/>
                </a:solidFill>
              </a:rPr>
              <a:t>while H</a:t>
            </a:r>
            <a:r>
              <a:rPr lang="zh-CN" altLang="en-US" sz="1800" dirty="0">
                <a:solidFill>
                  <a:srgbClr val="000000"/>
                </a:solidFill>
              </a:rPr>
              <a:t>不空 </a:t>
            </a:r>
            <a:r>
              <a:rPr lang="en-US" altLang="zh-CN" sz="1800" dirty="0">
                <a:solidFill>
                  <a:srgbClr val="000000"/>
                </a:solidFill>
              </a:rPr>
              <a:t>do</a:t>
            </a:r>
          </a:p>
          <a:p>
            <a:pPr algn="just">
              <a:buFontTx/>
              <a:buNone/>
            </a:pPr>
            <a:r>
              <a:rPr lang="en-US" altLang="zh-CN" sz="1800" dirty="0">
                <a:solidFill>
                  <a:srgbClr val="000000"/>
                </a:solidFill>
              </a:rPr>
              <a:t>	if H</a:t>
            </a:r>
            <a:r>
              <a:rPr lang="zh-CN" altLang="en-US" sz="1800" dirty="0">
                <a:solidFill>
                  <a:srgbClr val="000000"/>
                </a:solidFill>
              </a:rPr>
              <a:t>只包含一个字符</a:t>
            </a:r>
            <a:r>
              <a:rPr lang="en-US" altLang="zh-CN" sz="1800" dirty="0">
                <a:solidFill>
                  <a:srgbClr val="000000"/>
                </a:solidFill>
              </a:rPr>
              <a:t>X  then</a:t>
            </a:r>
          </a:p>
          <a:p>
            <a:pPr algn="just">
              <a:buFontTx/>
              <a:buNone/>
            </a:pPr>
            <a:r>
              <a:rPr lang="en-US" altLang="zh-CN" sz="1800" dirty="0">
                <a:solidFill>
                  <a:srgbClr val="000000"/>
                </a:solidFill>
              </a:rPr>
              <a:t>	    </a:t>
            </a:r>
            <a:r>
              <a:rPr lang="zh-CN" altLang="en-US" sz="1800" dirty="0">
                <a:solidFill>
                  <a:srgbClr val="000000"/>
                </a:solidFill>
              </a:rPr>
              <a:t>把</a:t>
            </a:r>
            <a:r>
              <a:rPr lang="en-US" altLang="zh-CN" sz="1800" dirty="0">
                <a:solidFill>
                  <a:srgbClr val="000000"/>
                </a:solidFill>
              </a:rPr>
              <a:t>X</a:t>
            </a:r>
            <a:r>
              <a:rPr lang="zh-CN" altLang="en-US" sz="1800" dirty="0">
                <a:solidFill>
                  <a:srgbClr val="000000"/>
                </a:solidFill>
              </a:rPr>
              <a:t>作为</a:t>
            </a:r>
            <a:r>
              <a:rPr lang="en-US" altLang="zh-CN" sz="1800" dirty="0">
                <a:solidFill>
                  <a:srgbClr val="000000"/>
                </a:solidFill>
              </a:rPr>
              <a:t>T</a:t>
            </a:r>
            <a:r>
              <a:rPr lang="zh-CN" altLang="en-US" sz="1800" dirty="0">
                <a:solidFill>
                  <a:srgbClr val="000000"/>
                </a:solidFill>
              </a:rPr>
              <a:t>的根节点</a:t>
            </a:r>
          </a:p>
          <a:p>
            <a:pPr algn="just">
              <a:buFontTx/>
              <a:buNone/>
            </a:pPr>
            <a:r>
              <a:rPr lang="zh-CN" altLang="en-US" sz="1800" dirty="0">
                <a:solidFill>
                  <a:srgbClr val="000000"/>
                </a:solidFill>
              </a:rPr>
              <a:t>	</a:t>
            </a:r>
            <a:r>
              <a:rPr lang="en-US" altLang="zh-CN" sz="1800" dirty="0">
                <a:solidFill>
                  <a:srgbClr val="000000"/>
                </a:solidFill>
              </a:rPr>
              <a:t>else</a:t>
            </a:r>
          </a:p>
          <a:p>
            <a:pPr algn="just">
              <a:buFontTx/>
              <a:buNone/>
            </a:pPr>
            <a:r>
              <a:rPr lang="en-US" altLang="zh-CN" sz="1800" dirty="0">
                <a:solidFill>
                  <a:srgbClr val="000000"/>
                </a:solidFill>
              </a:rPr>
              <a:t>	    </a:t>
            </a:r>
            <a:r>
              <a:rPr lang="zh-CN" altLang="en-US" sz="1800" dirty="0">
                <a:solidFill>
                  <a:srgbClr val="000000"/>
                </a:solidFill>
              </a:rPr>
              <a:t>取字频最低的两个字符</a:t>
            </a:r>
            <a:r>
              <a:rPr lang="en-US" altLang="zh-CN" sz="1800" dirty="0">
                <a:solidFill>
                  <a:srgbClr val="000000"/>
                </a:solidFill>
              </a:rPr>
              <a:t>X</a:t>
            </a:r>
            <a:r>
              <a:rPr lang="zh-CN" altLang="en-US" sz="1800" dirty="0">
                <a:solidFill>
                  <a:srgbClr val="000000"/>
                </a:solidFill>
              </a:rPr>
              <a:t>和</a:t>
            </a:r>
            <a:r>
              <a:rPr lang="en-US" altLang="zh-CN" sz="1800" dirty="0">
                <a:solidFill>
                  <a:srgbClr val="000000"/>
                </a:solidFill>
              </a:rPr>
              <a:t>Y</a:t>
            </a:r>
            <a:r>
              <a:rPr lang="zh-CN" altLang="en-US" sz="1800" dirty="0">
                <a:solidFill>
                  <a:srgbClr val="000000"/>
                </a:solidFill>
              </a:rPr>
              <a:t>，从</a:t>
            </a:r>
            <a:r>
              <a:rPr lang="en-US" altLang="zh-CN" sz="1800" dirty="0">
                <a:solidFill>
                  <a:srgbClr val="000000"/>
                </a:solidFill>
              </a:rPr>
              <a:t>H</a:t>
            </a:r>
            <a:r>
              <a:rPr lang="zh-CN" altLang="en-US" sz="1800" dirty="0">
                <a:solidFill>
                  <a:srgbClr val="000000"/>
                </a:solidFill>
              </a:rPr>
              <a:t>中将它们删去；</a:t>
            </a:r>
          </a:p>
          <a:p>
            <a:pPr algn="just">
              <a:buFontTx/>
              <a:buNone/>
            </a:pPr>
            <a:r>
              <a:rPr lang="zh-CN" altLang="en-US" sz="1800" dirty="0">
                <a:solidFill>
                  <a:srgbClr val="000000"/>
                </a:solidFill>
              </a:rPr>
              <a:t>	    用新字符</a:t>
            </a:r>
            <a:r>
              <a:rPr lang="en-US" altLang="zh-CN" sz="1800" dirty="0">
                <a:solidFill>
                  <a:srgbClr val="000000"/>
                </a:solidFill>
              </a:rPr>
              <a:t>Z</a:t>
            </a:r>
            <a:r>
              <a:rPr lang="zh-CN" altLang="en-US" sz="1800" dirty="0">
                <a:solidFill>
                  <a:srgbClr val="000000"/>
                </a:solidFill>
              </a:rPr>
              <a:t>取代</a:t>
            </a:r>
            <a:r>
              <a:rPr lang="en-US" altLang="zh-CN" sz="1800" dirty="0">
                <a:solidFill>
                  <a:srgbClr val="000000"/>
                </a:solidFill>
              </a:rPr>
              <a:t>X</a:t>
            </a:r>
            <a:r>
              <a:rPr lang="zh-CN" altLang="en-US" sz="1800" dirty="0">
                <a:solidFill>
                  <a:srgbClr val="000000"/>
                </a:solidFill>
              </a:rPr>
              <a:t>和</a:t>
            </a:r>
            <a:r>
              <a:rPr lang="en-US" altLang="zh-CN" sz="1800" dirty="0">
                <a:solidFill>
                  <a:srgbClr val="000000"/>
                </a:solidFill>
              </a:rPr>
              <a:t>Y</a:t>
            </a:r>
            <a:r>
              <a:rPr lang="zh-CN" altLang="en-US" sz="1800" dirty="0">
                <a:solidFill>
                  <a:srgbClr val="000000"/>
                </a:solidFill>
              </a:rPr>
              <a:t>，且新字符</a:t>
            </a:r>
            <a:r>
              <a:rPr lang="en-US" altLang="zh-CN" sz="1800" dirty="0">
                <a:solidFill>
                  <a:srgbClr val="000000"/>
                </a:solidFill>
              </a:rPr>
              <a:t>Z</a:t>
            </a:r>
            <a:r>
              <a:rPr lang="zh-CN" altLang="en-US" sz="1800" dirty="0">
                <a:solidFill>
                  <a:srgbClr val="000000"/>
                </a:solidFill>
              </a:rPr>
              <a:t>的字频是</a:t>
            </a:r>
            <a:r>
              <a:rPr lang="en-US" altLang="zh-CN" sz="1800" dirty="0">
                <a:solidFill>
                  <a:srgbClr val="000000"/>
                </a:solidFill>
              </a:rPr>
              <a:t>X</a:t>
            </a:r>
            <a:r>
              <a:rPr lang="zh-CN" altLang="en-US" sz="1800" dirty="0">
                <a:solidFill>
                  <a:srgbClr val="000000"/>
                </a:solidFill>
              </a:rPr>
              <a:t>和</a:t>
            </a:r>
            <a:r>
              <a:rPr lang="en-US" altLang="zh-CN" sz="1800" dirty="0">
                <a:solidFill>
                  <a:srgbClr val="000000"/>
                </a:solidFill>
              </a:rPr>
              <a:t>Y</a:t>
            </a:r>
            <a:r>
              <a:rPr lang="zh-CN" altLang="en-US" sz="1800" dirty="0">
                <a:solidFill>
                  <a:srgbClr val="000000"/>
                </a:solidFill>
              </a:rPr>
              <a:t>的字频之和；</a:t>
            </a:r>
          </a:p>
          <a:p>
            <a:pPr algn="just">
              <a:buFontTx/>
              <a:buNone/>
            </a:pPr>
            <a:r>
              <a:rPr lang="zh-CN" altLang="en-US" sz="1800" dirty="0">
                <a:solidFill>
                  <a:srgbClr val="000000"/>
                </a:solidFill>
              </a:rPr>
              <a:t>	    把</a:t>
            </a:r>
            <a:r>
              <a:rPr lang="en-US" altLang="zh-CN" sz="1800" dirty="0">
                <a:solidFill>
                  <a:srgbClr val="000000"/>
                </a:solidFill>
              </a:rPr>
              <a:t>Z</a:t>
            </a:r>
            <a:r>
              <a:rPr lang="zh-CN" altLang="en-US" sz="1800" dirty="0">
                <a:solidFill>
                  <a:srgbClr val="000000"/>
                </a:solidFill>
              </a:rPr>
              <a:t>插入</a:t>
            </a:r>
            <a:r>
              <a:rPr lang="en-US" altLang="zh-CN" sz="1800" dirty="0">
                <a:solidFill>
                  <a:srgbClr val="000000"/>
                </a:solidFill>
              </a:rPr>
              <a:t>H</a:t>
            </a:r>
            <a:r>
              <a:rPr lang="zh-CN" altLang="en-US" sz="1800" dirty="0">
                <a:solidFill>
                  <a:srgbClr val="000000"/>
                </a:solidFill>
              </a:rPr>
              <a:t>；</a:t>
            </a:r>
          </a:p>
          <a:p>
            <a:pPr algn="just">
              <a:buFontTx/>
              <a:buNone/>
            </a:pPr>
            <a:r>
              <a:rPr lang="zh-CN" altLang="en-US" sz="1800" dirty="0">
                <a:solidFill>
                  <a:srgbClr val="000000"/>
                </a:solidFill>
              </a:rPr>
              <a:t>	    把</a:t>
            </a:r>
            <a:r>
              <a:rPr lang="en-US" altLang="zh-CN" sz="1800" dirty="0">
                <a:solidFill>
                  <a:srgbClr val="000000"/>
                </a:solidFill>
              </a:rPr>
              <a:t>X</a:t>
            </a:r>
            <a:r>
              <a:rPr lang="zh-CN" altLang="en-US" sz="1800" dirty="0">
                <a:solidFill>
                  <a:srgbClr val="000000"/>
                </a:solidFill>
              </a:rPr>
              <a:t>和</a:t>
            </a:r>
            <a:r>
              <a:rPr lang="en-US" altLang="zh-CN" sz="1800" dirty="0">
                <a:solidFill>
                  <a:srgbClr val="000000"/>
                </a:solidFill>
              </a:rPr>
              <a:t>Y</a:t>
            </a:r>
            <a:r>
              <a:rPr lang="zh-CN" altLang="en-US" sz="1800" dirty="0">
                <a:solidFill>
                  <a:srgbClr val="000000"/>
                </a:solidFill>
              </a:rPr>
              <a:t>作为</a:t>
            </a:r>
            <a:r>
              <a:rPr lang="en-US" altLang="zh-CN" sz="1800" dirty="0">
                <a:solidFill>
                  <a:srgbClr val="000000"/>
                </a:solidFill>
              </a:rPr>
              <a:t>T</a:t>
            </a:r>
            <a:r>
              <a:rPr lang="zh-CN" altLang="en-US" sz="1800" dirty="0">
                <a:solidFill>
                  <a:srgbClr val="000000"/>
                </a:solidFill>
              </a:rPr>
              <a:t>中</a:t>
            </a:r>
            <a:r>
              <a:rPr lang="en-US" altLang="zh-CN" sz="1800" dirty="0">
                <a:solidFill>
                  <a:srgbClr val="000000"/>
                </a:solidFill>
              </a:rPr>
              <a:t>Z</a:t>
            </a:r>
            <a:r>
              <a:rPr lang="zh-CN" altLang="en-US" sz="1800" dirty="0">
                <a:solidFill>
                  <a:srgbClr val="000000"/>
                </a:solidFill>
              </a:rPr>
              <a:t>的子节点</a:t>
            </a:r>
            <a:r>
              <a:rPr lang="en-US" altLang="zh-CN" sz="1800" dirty="0">
                <a:solidFill>
                  <a:srgbClr val="000000"/>
                </a:solidFill>
              </a:rPr>
              <a:t>{Z</a:t>
            </a:r>
            <a:r>
              <a:rPr lang="zh-CN" altLang="en-US" sz="1800" dirty="0">
                <a:solidFill>
                  <a:srgbClr val="000000"/>
                </a:solidFill>
              </a:rPr>
              <a:t>还没有父节点</a:t>
            </a:r>
            <a:r>
              <a:rPr lang="en-US" altLang="zh-CN" sz="1800" dirty="0">
                <a:solidFill>
                  <a:srgbClr val="000000"/>
                </a:solidFill>
              </a:rPr>
              <a:t>}</a:t>
            </a:r>
          </a:p>
          <a:p>
            <a:pPr>
              <a:buFontTx/>
              <a:buNone/>
            </a:pPr>
            <a:endParaRPr lang="en-US" altLang="zh-CN" sz="1800" dirty="0"/>
          </a:p>
        </p:txBody>
      </p:sp>
      <p:sp>
        <p:nvSpPr>
          <p:cNvPr id="5" name="Text Box 4">
            <a:extLst>
              <a:ext uri="{FF2B5EF4-FFF2-40B4-BE49-F238E27FC236}">
                <a16:creationId xmlns:a16="http://schemas.microsoft.com/office/drawing/2014/main" id="{5B6EEE70-25E8-4D46-9019-33022D291339}"/>
              </a:ext>
            </a:extLst>
          </p:cNvPr>
          <p:cNvSpPr txBox="1">
            <a:spLocks noChangeArrowheads="1"/>
          </p:cNvSpPr>
          <p:nvPr/>
        </p:nvSpPr>
        <p:spPr bwMode="auto">
          <a:xfrm>
            <a:off x="5524500" y="5511801"/>
            <a:ext cx="6451600" cy="923330"/>
          </a:xfrm>
          <a:prstGeom prst="rect">
            <a:avLst/>
          </a:prstGeom>
          <a:noFill/>
          <a:ln w="9525">
            <a:noFill/>
            <a:miter lim="800000"/>
            <a:headEnd/>
            <a:tailEnd/>
          </a:ln>
        </p:spPr>
        <p:txBody>
          <a:bodyPr wrap="square">
            <a:spAutoFit/>
          </a:bodyPr>
          <a:lstStyle/>
          <a:p>
            <a:pPr eaLnBrk="1" hangingPunct="1">
              <a:spcBef>
                <a:spcPct val="50000"/>
              </a:spcBef>
            </a:pPr>
            <a:r>
              <a:rPr lang="zh-CN" altLang="en-US" sz="1800" dirty="0">
                <a:solidFill>
                  <a:srgbClr val="000000"/>
                </a:solidFill>
                <a:latin typeface="宋体" charset="-122"/>
              </a:rPr>
              <a:t>算法复杂度：构造树的过程中，每个节点都用常数时间。插入和删除操作分别用了</a:t>
            </a:r>
            <a:r>
              <a:rPr lang="en-US" altLang="zh-CN" sz="1800" dirty="0">
                <a:solidFill>
                  <a:srgbClr val="000000"/>
                </a:solidFill>
              </a:rPr>
              <a:t>O(</a:t>
            </a:r>
            <a:r>
              <a:rPr lang="en-US" altLang="zh-CN" sz="1800" dirty="0" err="1">
                <a:solidFill>
                  <a:srgbClr val="000000"/>
                </a:solidFill>
              </a:rPr>
              <a:t>logn</a:t>
            </a:r>
            <a:r>
              <a:rPr lang="en-US" altLang="zh-CN" sz="1800" dirty="0">
                <a:solidFill>
                  <a:srgbClr val="000000"/>
                </a:solidFill>
              </a:rPr>
              <a:t>)</a:t>
            </a:r>
            <a:r>
              <a:rPr lang="zh-CN" altLang="en-US" sz="1800" dirty="0">
                <a:solidFill>
                  <a:srgbClr val="000000"/>
                </a:solidFill>
                <a:latin typeface="宋体" charset="-122"/>
              </a:rPr>
              <a:t>步。因此，算法总的运行时间是</a:t>
            </a:r>
            <a:r>
              <a:rPr lang="en-US" altLang="zh-CN" sz="1800" dirty="0">
                <a:solidFill>
                  <a:srgbClr val="000000"/>
                </a:solidFill>
              </a:rPr>
              <a:t>O(</a:t>
            </a:r>
            <a:r>
              <a:rPr lang="en-US" altLang="zh-CN" sz="1800" dirty="0" err="1">
                <a:solidFill>
                  <a:srgbClr val="000000"/>
                </a:solidFill>
              </a:rPr>
              <a:t>nlogn</a:t>
            </a:r>
            <a:r>
              <a:rPr lang="en-US" altLang="zh-CN" sz="1800" dirty="0">
                <a:solidFill>
                  <a:srgbClr val="000000"/>
                </a:solidFill>
              </a:rPr>
              <a:t>)</a:t>
            </a:r>
            <a:r>
              <a:rPr lang="zh-CN" altLang="en-US" sz="1800" dirty="0">
                <a:solidFill>
                  <a:srgbClr val="000000"/>
                </a:solidFill>
                <a:latin typeface="宋体" charset="-122"/>
              </a:rPr>
              <a:t>。</a:t>
            </a:r>
          </a:p>
        </p:txBody>
      </p:sp>
    </p:spTree>
    <p:extLst>
      <p:ext uri="{BB962C8B-B14F-4D97-AF65-F5344CB8AC3E}">
        <p14:creationId xmlns:p14="http://schemas.microsoft.com/office/powerpoint/2010/main" val="334026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9C0CFE-9A44-4C93-AB7B-8A35A7059B39}"/>
              </a:ext>
            </a:extLst>
          </p:cNvPr>
          <p:cNvSpPr>
            <a:spLocks noGrp="1"/>
          </p:cNvSpPr>
          <p:nvPr>
            <p:ph type="title"/>
          </p:nvPr>
        </p:nvSpPr>
        <p:spPr/>
        <p:txBody>
          <a:bodyPr/>
          <a:lstStyle/>
          <a:p>
            <a:r>
              <a:rPr lang="zh-CN" altLang="en-US" dirty="0"/>
              <a:t>序列比较</a:t>
            </a:r>
          </a:p>
        </p:txBody>
      </p:sp>
      <p:sp>
        <p:nvSpPr>
          <p:cNvPr id="3" name="内容占位符 2">
            <a:extLst>
              <a:ext uri="{FF2B5EF4-FFF2-40B4-BE49-F238E27FC236}">
                <a16:creationId xmlns:a16="http://schemas.microsoft.com/office/drawing/2014/main" id="{D7DC4F18-3C91-467E-B762-76471D91F88A}"/>
              </a:ext>
            </a:extLst>
          </p:cNvPr>
          <p:cNvSpPr>
            <a:spLocks noGrp="1"/>
          </p:cNvSpPr>
          <p:nvPr>
            <p:ph idx="1"/>
          </p:nvPr>
        </p:nvSpPr>
        <p:spPr/>
        <p:txBody>
          <a:bodyPr>
            <a:normAutofit/>
          </a:bodyPr>
          <a:lstStyle/>
          <a:p>
            <a:r>
              <a:rPr lang="zh-CN" altLang="en-US" sz="2400" dirty="0">
                <a:solidFill>
                  <a:srgbClr val="000000"/>
                </a:solidFill>
              </a:rPr>
              <a:t>问题：把一个序列</a:t>
            </a:r>
            <a:r>
              <a:rPr lang="en-US" altLang="zh-CN" sz="2400" dirty="0">
                <a:solidFill>
                  <a:srgbClr val="000000"/>
                </a:solidFill>
              </a:rPr>
              <a:t>A=a</a:t>
            </a:r>
            <a:r>
              <a:rPr lang="en-US" altLang="zh-CN" sz="2400" baseline="-25000" dirty="0">
                <a:solidFill>
                  <a:srgbClr val="000000"/>
                </a:solidFill>
              </a:rPr>
              <a:t>1</a:t>
            </a:r>
            <a:r>
              <a:rPr lang="en-US" altLang="zh-CN" sz="2400" dirty="0">
                <a:solidFill>
                  <a:srgbClr val="000000"/>
                </a:solidFill>
              </a:rPr>
              <a:t>a</a:t>
            </a:r>
            <a:r>
              <a:rPr lang="en-US" altLang="zh-CN" sz="2400" baseline="-25000" dirty="0">
                <a:solidFill>
                  <a:srgbClr val="000000"/>
                </a:solidFill>
              </a:rPr>
              <a:t>2</a:t>
            </a:r>
            <a:r>
              <a:rPr lang="en-US" altLang="zh-CN" sz="2400" dirty="0">
                <a:solidFill>
                  <a:srgbClr val="000000"/>
                </a:solidFill>
              </a:rPr>
              <a:t>…a</a:t>
            </a:r>
            <a:r>
              <a:rPr lang="en-US" altLang="zh-CN" sz="2400" baseline="-25000" dirty="0">
                <a:solidFill>
                  <a:srgbClr val="000000"/>
                </a:solidFill>
              </a:rPr>
              <a:t>n</a:t>
            </a:r>
            <a:r>
              <a:rPr lang="zh-CN" altLang="en-US" sz="2400" dirty="0">
                <a:solidFill>
                  <a:srgbClr val="000000"/>
                </a:solidFill>
              </a:rPr>
              <a:t>变成另一个序列</a:t>
            </a:r>
            <a:r>
              <a:rPr lang="en-US" altLang="zh-CN" sz="2400" dirty="0">
                <a:solidFill>
                  <a:srgbClr val="000000"/>
                </a:solidFill>
              </a:rPr>
              <a:t>B=b</a:t>
            </a:r>
            <a:r>
              <a:rPr lang="en-US" altLang="zh-CN" sz="2400" baseline="-25000" dirty="0">
                <a:solidFill>
                  <a:srgbClr val="000000"/>
                </a:solidFill>
              </a:rPr>
              <a:t>1</a:t>
            </a:r>
            <a:r>
              <a:rPr lang="en-US" altLang="zh-CN" sz="2400" dirty="0">
                <a:solidFill>
                  <a:srgbClr val="000000"/>
                </a:solidFill>
              </a:rPr>
              <a:t>b</a:t>
            </a:r>
            <a:r>
              <a:rPr lang="en-US" altLang="zh-CN" sz="2400" baseline="-25000" dirty="0">
                <a:solidFill>
                  <a:srgbClr val="000000"/>
                </a:solidFill>
              </a:rPr>
              <a:t>2</a:t>
            </a:r>
            <a:r>
              <a:rPr lang="en-US" altLang="zh-CN" sz="2400" dirty="0">
                <a:solidFill>
                  <a:srgbClr val="000000"/>
                </a:solidFill>
              </a:rPr>
              <a:t>…b</a:t>
            </a:r>
            <a:r>
              <a:rPr lang="en-US" altLang="zh-CN" sz="2400" baseline="-25000" dirty="0">
                <a:solidFill>
                  <a:srgbClr val="000000"/>
                </a:solidFill>
              </a:rPr>
              <a:t>m</a:t>
            </a:r>
            <a:r>
              <a:rPr lang="zh-CN" altLang="en-US" sz="2400" dirty="0">
                <a:solidFill>
                  <a:srgbClr val="000000"/>
                </a:solidFill>
              </a:rPr>
              <a:t>的最少修改步数</a:t>
            </a:r>
          </a:p>
          <a:p>
            <a:r>
              <a:rPr lang="zh-CN" altLang="en-US" sz="2400" dirty="0">
                <a:solidFill>
                  <a:srgbClr val="000000"/>
                </a:solidFill>
              </a:rPr>
              <a:t>修改方法：</a:t>
            </a:r>
            <a:r>
              <a:rPr lang="en-US" altLang="zh-CN" sz="2400" dirty="0">
                <a:solidFill>
                  <a:srgbClr val="000000"/>
                </a:solidFill>
              </a:rPr>
              <a:t>1) </a:t>
            </a:r>
            <a:r>
              <a:rPr lang="zh-CN" altLang="en-US" sz="2400" dirty="0">
                <a:solidFill>
                  <a:srgbClr val="000000"/>
                </a:solidFill>
              </a:rPr>
              <a:t>插入</a:t>
            </a:r>
            <a:r>
              <a:rPr lang="en-US" altLang="zh-CN" sz="2400" dirty="0">
                <a:solidFill>
                  <a:srgbClr val="000000"/>
                </a:solidFill>
              </a:rPr>
              <a:t>——</a:t>
            </a:r>
            <a:r>
              <a:rPr lang="zh-CN" altLang="en-US" sz="2400" dirty="0">
                <a:solidFill>
                  <a:srgbClr val="000000"/>
                </a:solidFill>
              </a:rPr>
              <a:t>把某个字符插入字符串，</a:t>
            </a:r>
            <a:r>
              <a:rPr lang="en-US" altLang="zh-CN" sz="2400" dirty="0">
                <a:solidFill>
                  <a:srgbClr val="000000"/>
                </a:solidFill>
              </a:rPr>
              <a:t>2) </a:t>
            </a:r>
            <a:r>
              <a:rPr lang="zh-CN" altLang="en-US" sz="2400" dirty="0">
                <a:solidFill>
                  <a:srgbClr val="000000"/>
                </a:solidFill>
              </a:rPr>
              <a:t>删除</a:t>
            </a:r>
            <a:r>
              <a:rPr lang="en-US" altLang="zh-CN" sz="2400" dirty="0">
                <a:solidFill>
                  <a:srgbClr val="000000"/>
                </a:solidFill>
              </a:rPr>
              <a:t>——</a:t>
            </a:r>
            <a:r>
              <a:rPr lang="zh-CN" altLang="en-US" sz="2400" dirty="0">
                <a:solidFill>
                  <a:srgbClr val="000000"/>
                </a:solidFill>
              </a:rPr>
              <a:t>从字符串中删除某个字符，</a:t>
            </a:r>
            <a:r>
              <a:rPr lang="en-US" altLang="zh-CN" sz="2400" dirty="0">
                <a:solidFill>
                  <a:srgbClr val="000000"/>
                </a:solidFill>
              </a:rPr>
              <a:t>3) </a:t>
            </a:r>
            <a:r>
              <a:rPr lang="zh-CN" altLang="en-US" sz="2400" dirty="0">
                <a:solidFill>
                  <a:srgbClr val="000000"/>
                </a:solidFill>
              </a:rPr>
              <a:t>替换</a:t>
            </a:r>
            <a:r>
              <a:rPr lang="en-US" altLang="zh-CN" sz="2400" dirty="0">
                <a:solidFill>
                  <a:srgbClr val="000000"/>
                </a:solidFill>
              </a:rPr>
              <a:t>——</a:t>
            </a:r>
            <a:r>
              <a:rPr lang="zh-CN" altLang="en-US" sz="2400" dirty="0">
                <a:solidFill>
                  <a:srgbClr val="000000"/>
                </a:solidFill>
              </a:rPr>
              <a:t>把某个字符替换成另一个字符。</a:t>
            </a:r>
          </a:p>
          <a:p>
            <a:r>
              <a:rPr lang="zh-CN" altLang="en-US" sz="2400" dirty="0">
                <a:solidFill>
                  <a:srgbClr val="000000"/>
                </a:solidFill>
              </a:rPr>
              <a:t>记前缀子串</a:t>
            </a:r>
            <a:r>
              <a:rPr lang="en-US" altLang="zh-CN" sz="2400" dirty="0">
                <a:solidFill>
                  <a:srgbClr val="000000"/>
                </a:solidFill>
              </a:rPr>
              <a:t>a</a:t>
            </a:r>
            <a:r>
              <a:rPr lang="en-US" altLang="zh-CN" sz="2400" baseline="-25000" dirty="0">
                <a:solidFill>
                  <a:srgbClr val="000000"/>
                </a:solidFill>
              </a:rPr>
              <a:t>1</a:t>
            </a:r>
            <a:r>
              <a:rPr lang="en-US" altLang="zh-CN" sz="2400" dirty="0">
                <a:solidFill>
                  <a:srgbClr val="000000"/>
                </a:solidFill>
              </a:rPr>
              <a:t>a</a:t>
            </a:r>
            <a:r>
              <a:rPr lang="en-US" altLang="zh-CN" sz="2400" baseline="-25000" dirty="0">
                <a:solidFill>
                  <a:srgbClr val="000000"/>
                </a:solidFill>
              </a:rPr>
              <a:t>2</a:t>
            </a:r>
            <a:r>
              <a:rPr lang="en-US" altLang="zh-CN" sz="2400" dirty="0">
                <a:solidFill>
                  <a:srgbClr val="000000"/>
                </a:solidFill>
              </a:rPr>
              <a:t>…a</a:t>
            </a:r>
            <a:r>
              <a:rPr lang="en-US" altLang="zh-CN" sz="2400" baseline="-25000" dirty="0">
                <a:solidFill>
                  <a:srgbClr val="000000"/>
                </a:solidFill>
              </a:rPr>
              <a:t>i</a:t>
            </a:r>
            <a:r>
              <a:rPr lang="en-US" altLang="zh-CN" sz="2400" dirty="0">
                <a:solidFill>
                  <a:srgbClr val="000000"/>
                </a:solidFill>
              </a:rPr>
              <a:t>(b</a:t>
            </a:r>
            <a:r>
              <a:rPr lang="en-US" altLang="zh-CN" sz="2400" baseline="-25000" dirty="0">
                <a:solidFill>
                  <a:srgbClr val="000000"/>
                </a:solidFill>
              </a:rPr>
              <a:t>1</a:t>
            </a:r>
            <a:r>
              <a:rPr lang="en-US" altLang="zh-CN" sz="2400" dirty="0">
                <a:solidFill>
                  <a:srgbClr val="000000"/>
                </a:solidFill>
              </a:rPr>
              <a:t>b</a:t>
            </a:r>
            <a:r>
              <a:rPr lang="en-US" altLang="zh-CN" sz="2400" baseline="-25000" dirty="0">
                <a:solidFill>
                  <a:srgbClr val="000000"/>
                </a:solidFill>
              </a:rPr>
              <a:t>2</a:t>
            </a:r>
            <a:r>
              <a:rPr lang="en-US" altLang="zh-CN" sz="2400" dirty="0">
                <a:solidFill>
                  <a:srgbClr val="000000"/>
                </a:solidFill>
              </a:rPr>
              <a:t>…b</a:t>
            </a:r>
            <a:r>
              <a:rPr lang="en-US" altLang="zh-CN" sz="2400" baseline="-25000" dirty="0">
                <a:solidFill>
                  <a:srgbClr val="000000"/>
                </a:solidFill>
              </a:rPr>
              <a:t>i</a:t>
            </a:r>
            <a:r>
              <a:rPr lang="en-US" altLang="zh-CN" sz="2400" dirty="0">
                <a:solidFill>
                  <a:srgbClr val="000000"/>
                </a:solidFill>
              </a:rPr>
              <a:t>)</a:t>
            </a:r>
            <a:r>
              <a:rPr lang="zh-CN" altLang="en-US" sz="2400" dirty="0">
                <a:solidFill>
                  <a:srgbClr val="000000"/>
                </a:solidFill>
              </a:rPr>
              <a:t>为</a:t>
            </a:r>
            <a:r>
              <a:rPr lang="en-US" altLang="zh-CN" sz="2400" dirty="0">
                <a:solidFill>
                  <a:srgbClr val="000000"/>
                </a:solidFill>
              </a:rPr>
              <a:t>A(</a:t>
            </a:r>
            <a:r>
              <a:rPr lang="en-US" altLang="zh-CN" sz="2400" dirty="0" err="1">
                <a:solidFill>
                  <a:srgbClr val="000000"/>
                </a:solidFill>
              </a:rPr>
              <a:t>i</a:t>
            </a:r>
            <a:r>
              <a:rPr lang="en-US" altLang="zh-CN" sz="2400" dirty="0">
                <a:solidFill>
                  <a:srgbClr val="000000"/>
                </a:solidFill>
              </a:rPr>
              <a:t>)(B(</a:t>
            </a:r>
            <a:r>
              <a:rPr lang="en-US" altLang="zh-CN" sz="2400" dirty="0" err="1">
                <a:solidFill>
                  <a:srgbClr val="000000"/>
                </a:solidFill>
              </a:rPr>
              <a:t>i</a:t>
            </a:r>
            <a:r>
              <a:rPr lang="en-US" altLang="zh-CN" sz="2400" dirty="0">
                <a:solidFill>
                  <a:srgbClr val="000000"/>
                </a:solidFill>
              </a:rPr>
              <a:t>))</a:t>
            </a:r>
            <a:r>
              <a:rPr lang="zh-CN" altLang="en-US" sz="2400" dirty="0">
                <a:solidFill>
                  <a:srgbClr val="000000"/>
                </a:solidFill>
              </a:rPr>
              <a:t>，问题就转化为用最少的修改步数将</a:t>
            </a:r>
            <a:r>
              <a:rPr lang="en-US" altLang="zh-CN" sz="2400" dirty="0">
                <a:solidFill>
                  <a:srgbClr val="000000"/>
                </a:solidFill>
              </a:rPr>
              <a:t>A(n)</a:t>
            </a:r>
            <a:r>
              <a:rPr lang="zh-CN" altLang="en-US" sz="2400" dirty="0">
                <a:solidFill>
                  <a:srgbClr val="000000"/>
                </a:solidFill>
              </a:rPr>
              <a:t>改为</a:t>
            </a:r>
            <a:r>
              <a:rPr lang="en-US" altLang="zh-CN" sz="2400" dirty="0">
                <a:solidFill>
                  <a:srgbClr val="000000"/>
                </a:solidFill>
              </a:rPr>
              <a:t>B(m)</a:t>
            </a:r>
            <a:r>
              <a:rPr lang="zh-CN" altLang="en-US" sz="2400" dirty="0">
                <a:solidFill>
                  <a:srgbClr val="000000"/>
                </a:solidFill>
              </a:rPr>
              <a:t>。</a:t>
            </a:r>
          </a:p>
          <a:p>
            <a:endParaRPr lang="zh-CN" altLang="en-US" sz="2400" dirty="0"/>
          </a:p>
        </p:txBody>
      </p:sp>
    </p:spTree>
    <p:extLst>
      <p:ext uri="{BB962C8B-B14F-4D97-AF65-F5344CB8AC3E}">
        <p14:creationId xmlns:p14="http://schemas.microsoft.com/office/powerpoint/2010/main" val="192747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A231A-1CA6-4369-9333-37783798750D}"/>
              </a:ext>
            </a:extLst>
          </p:cNvPr>
          <p:cNvSpPr>
            <a:spLocks noGrp="1"/>
          </p:cNvSpPr>
          <p:nvPr>
            <p:ph type="title"/>
          </p:nvPr>
        </p:nvSpPr>
        <p:spPr/>
        <p:txBody>
          <a:bodyPr/>
          <a:lstStyle/>
          <a:p>
            <a:r>
              <a:rPr lang="zh-CN" altLang="en-US" dirty="0"/>
              <a:t>序列比较</a:t>
            </a:r>
          </a:p>
        </p:txBody>
      </p:sp>
      <p:sp>
        <p:nvSpPr>
          <p:cNvPr id="3" name="内容占位符 2">
            <a:extLst>
              <a:ext uri="{FF2B5EF4-FFF2-40B4-BE49-F238E27FC236}">
                <a16:creationId xmlns:a16="http://schemas.microsoft.com/office/drawing/2014/main" id="{81E3E134-DF2F-4EFE-8EBD-AE145C129BF0}"/>
              </a:ext>
            </a:extLst>
          </p:cNvPr>
          <p:cNvSpPr>
            <a:spLocks noGrp="1"/>
          </p:cNvSpPr>
          <p:nvPr>
            <p:ph idx="1"/>
          </p:nvPr>
        </p:nvSpPr>
        <p:spPr>
          <a:xfrm>
            <a:off x="838200" y="1825625"/>
            <a:ext cx="4572000" cy="4351338"/>
          </a:xfrm>
        </p:spPr>
        <p:txBody>
          <a:bodyPr>
            <a:noAutofit/>
          </a:bodyPr>
          <a:lstStyle/>
          <a:p>
            <a:pPr eaLnBrk="1" hangingPunct="1">
              <a:buFontTx/>
              <a:buNone/>
            </a:pPr>
            <a:r>
              <a:rPr lang="zh-CN" altLang="en-US" sz="1800" dirty="0">
                <a:solidFill>
                  <a:srgbClr val="000000"/>
                </a:solidFill>
              </a:rPr>
              <a:t>记</a:t>
            </a:r>
            <a:r>
              <a:rPr lang="en-US" altLang="zh-CN" sz="1800" dirty="0">
                <a:solidFill>
                  <a:srgbClr val="000000"/>
                </a:solidFill>
              </a:rPr>
              <a:t>C(</a:t>
            </a:r>
            <a:r>
              <a:rPr lang="en-US" altLang="zh-CN" sz="1800" dirty="0" err="1">
                <a:solidFill>
                  <a:srgbClr val="000000"/>
                </a:solidFill>
              </a:rPr>
              <a:t>i</a:t>
            </a:r>
            <a:r>
              <a:rPr lang="en-US" altLang="zh-CN" sz="1800" dirty="0">
                <a:solidFill>
                  <a:srgbClr val="000000"/>
                </a:solidFill>
              </a:rPr>
              <a:t>, j)</a:t>
            </a:r>
            <a:r>
              <a:rPr lang="zh-CN" altLang="en-US" sz="1800" dirty="0">
                <a:solidFill>
                  <a:srgbClr val="000000"/>
                </a:solidFill>
              </a:rPr>
              <a:t>为</a:t>
            </a:r>
            <a:r>
              <a:rPr lang="en-US" altLang="zh-CN" sz="1800" dirty="0">
                <a:solidFill>
                  <a:srgbClr val="000000"/>
                </a:solidFill>
              </a:rPr>
              <a:t>A(</a:t>
            </a:r>
            <a:r>
              <a:rPr lang="en-US" altLang="zh-CN" sz="1800" dirty="0" err="1">
                <a:solidFill>
                  <a:srgbClr val="000000"/>
                </a:solidFill>
              </a:rPr>
              <a:t>i</a:t>
            </a:r>
            <a:r>
              <a:rPr lang="en-US" altLang="zh-CN" sz="1800" dirty="0">
                <a:solidFill>
                  <a:srgbClr val="000000"/>
                </a:solidFill>
              </a:rPr>
              <a:t>)</a:t>
            </a:r>
            <a:r>
              <a:rPr lang="zh-CN" altLang="en-US" sz="1800" dirty="0">
                <a:solidFill>
                  <a:srgbClr val="000000"/>
                </a:solidFill>
              </a:rPr>
              <a:t>变成</a:t>
            </a:r>
            <a:r>
              <a:rPr lang="en-US" altLang="zh-CN" sz="1800" dirty="0">
                <a:solidFill>
                  <a:srgbClr val="000000"/>
                </a:solidFill>
              </a:rPr>
              <a:t>B(j)</a:t>
            </a:r>
            <a:r>
              <a:rPr lang="zh-CN" altLang="en-US" sz="1800" dirty="0">
                <a:solidFill>
                  <a:srgbClr val="000000"/>
                </a:solidFill>
              </a:rPr>
              <a:t>的最小代价，建立</a:t>
            </a:r>
            <a:r>
              <a:rPr lang="en-US" altLang="zh-CN" sz="1800" dirty="0">
                <a:solidFill>
                  <a:srgbClr val="000000"/>
                </a:solidFill>
              </a:rPr>
              <a:t>C(n, m)</a:t>
            </a:r>
            <a:r>
              <a:rPr lang="zh-CN" altLang="en-US" sz="1800" dirty="0">
                <a:solidFill>
                  <a:srgbClr val="000000"/>
                </a:solidFill>
              </a:rPr>
              <a:t>和某个</a:t>
            </a:r>
            <a:r>
              <a:rPr lang="en-US" altLang="zh-CN" sz="1800" dirty="0">
                <a:solidFill>
                  <a:srgbClr val="000000"/>
                </a:solidFill>
              </a:rPr>
              <a:t>C(</a:t>
            </a:r>
            <a:r>
              <a:rPr lang="en-US" altLang="zh-CN" sz="1800" dirty="0" err="1">
                <a:solidFill>
                  <a:srgbClr val="000000"/>
                </a:solidFill>
              </a:rPr>
              <a:t>i</a:t>
            </a:r>
            <a:r>
              <a:rPr lang="en-US" altLang="zh-CN" sz="1800" dirty="0">
                <a:solidFill>
                  <a:srgbClr val="000000"/>
                </a:solidFill>
              </a:rPr>
              <a:t>, j)</a:t>
            </a:r>
            <a:r>
              <a:rPr lang="zh-CN" altLang="en-US" sz="1800" dirty="0">
                <a:solidFill>
                  <a:srgbClr val="000000"/>
                </a:solidFill>
              </a:rPr>
              <a:t>之间的关系，这里</a:t>
            </a:r>
            <a:r>
              <a:rPr lang="en-US" altLang="zh-CN" sz="1800" dirty="0" err="1">
                <a:solidFill>
                  <a:srgbClr val="000000"/>
                </a:solidFill>
              </a:rPr>
              <a:t>i</a:t>
            </a:r>
            <a:r>
              <a:rPr lang="zh-CN" altLang="en-US" sz="1800" dirty="0">
                <a:solidFill>
                  <a:srgbClr val="000000"/>
                </a:solidFill>
              </a:rPr>
              <a:t>、</a:t>
            </a:r>
            <a:r>
              <a:rPr lang="en-US" altLang="zh-CN" sz="1800" dirty="0">
                <a:solidFill>
                  <a:srgbClr val="000000"/>
                </a:solidFill>
              </a:rPr>
              <a:t>j</a:t>
            </a:r>
            <a:r>
              <a:rPr lang="zh-CN" altLang="en-US" sz="1800" dirty="0">
                <a:solidFill>
                  <a:srgbClr val="000000"/>
                </a:solidFill>
              </a:rPr>
              <a:t>小于</a:t>
            </a:r>
            <a:r>
              <a:rPr lang="en-US" altLang="zh-CN" sz="1800" dirty="0">
                <a:solidFill>
                  <a:srgbClr val="000000"/>
                </a:solidFill>
              </a:rPr>
              <a:t>n</a:t>
            </a:r>
            <a:r>
              <a:rPr lang="zh-CN" altLang="en-US" sz="1800" dirty="0">
                <a:solidFill>
                  <a:srgbClr val="000000"/>
                </a:solidFill>
              </a:rPr>
              <a:t>、</a:t>
            </a:r>
            <a:r>
              <a:rPr lang="en-US" altLang="zh-CN" sz="1800" dirty="0">
                <a:solidFill>
                  <a:srgbClr val="000000"/>
                </a:solidFill>
              </a:rPr>
              <a:t>m</a:t>
            </a:r>
            <a:r>
              <a:rPr lang="zh-CN" altLang="en-US" sz="1800" dirty="0">
                <a:solidFill>
                  <a:srgbClr val="000000"/>
                </a:solidFill>
              </a:rPr>
              <a:t>。</a:t>
            </a:r>
          </a:p>
          <a:p>
            <a:pPr algn="just" eaLnBrk="1" hangingPunct="1">
              <a:buFontTx/>
              <a:buNone/>
            </a:pPr>
            <a:r>
              <a:rPr lang="zh-CN" altLang="en-US" sz="1800" dirty="0">
                <a:solidFill>
                  <a:srgbClr val="000000"/>
                </a:solidFill>
              </a:rPr>
              <a:t>删除：如果</a:t>
            </a:r>
            <a:r>
              <a:rPr lang="en-US" altLang="zh-CN" sz="1800" dirty="0">
                <a:solidFill>
                  <a:srgbClr val="000000"/>
                </a:solidFill>
              </a:rPr>
              <a:t>A</a:t>
            </a:r>
            <a:r>
              <a:rPr lang="zh-CN" altLang="en-US" sz="1800" dirty="0">
                <a:solidFill>
                  <a:srgbClr val="000000"/>
                </a:solidFill>
              </a:rPr>
              <a:t>到</a:t>
            </a:r>
            <a:r>
              <a:rPr lang="en-US" altLang="zh-CN" sz="1800" dirty="0">
                <a:solidFill>
                  <a:srgbClr val="000000"/>
                </a:solidFill>
              </a:rPr>
              <a:t>B</a:t>
            </a:r>
            <a:r>
              <a:rPr lang="zh-CN" altLang="en-US" sz="1800" dirty="0">
                <a:solidFill>
                  <a:srgbClr val="000000"/>
                </a:solidFill>
              </a:rPr>
              <a:t>的最小改动需要删除</a:t>
            </a:r>
            <a:r>
              <a:rPr lang="en-US" altLang="zh-CN" sz="1800" dirty="0">
                <a:solidFill>
                  <a:srgbClr val="000000"/>
                </a:solidFill>
              </a:rPr>
              <a:t>a</a:t>
            </a:r>
            <a:r>
              <a:rPr lang="en-US" altLang="zh-CN" sz="1800" baseline="-25000" dirty="0">
                <a:solidFill>
                  <a:srgbClr val="000000"/>
                </a:solidFill>
              </a:rPr>
              <a:t>n</a:t>
            </a:r>
            <a:r>
              <a:rPr lang="zh-CN" altLang="en-US" sz="1800" dirty="0">
                <a:solidFill>
                  <a:srgbClr val="000000"/>
                </a:solidFill>
              </a:rPr>
              <a:t>，那么最佳方法就是先把</a:t>
            </a:r>
            <a:r>
              <a:rPr lang="en-US" altLang="zh-CN" sz="1800" dirty="0">
                <a:solidFill>
                  <a:srgbClr val="000000"/>
                </a:solidFill>
              </a:rPr>
              <a:t>A(n-1)</a:t>
            </a:r>
            <a:r>
              <a:rPr lang="zh-CN" altLang="en-US" sz="1800" dirty="0">
                <a:solidFill>
                  <a:srgbClr val="000000"/>
                </a:solidFill>
              </a:rPr>
              <a:t>变成</a:t>
            </a:r>
            <a:r>
              <a:rPr lang="en-US" altLang="zh-CN" sz="1800" dirty="0">
                <a:solidFill>
                  <a:srgbClr val="000000"/>
                </a:solidFill>
              </a:rPr>
              <a:t>B(m)</a:t>
            </a:r>
            <a:r>
              <a:rPr lang="zh-CN" altLang="en-US" sz="1800" dirty="0">
                <a:solidFill>
                  <a:srgbClr val="000000"/>
                </a:solidFill>
              </a:rPr>
              <a:t>，然后再删除这个字符。换句话说，</a:t>
            </a:r>
            <a:r>
              <a:rPr lang="en-US" altLang="zh-CN" sz="1800" dirty="0">
                <a:solidFill>
                  <a:srgbClr val="000000"/>
                </a:solidFill>
              </a:rPr>
              <a:t>C(n, m) = C(n-1, m)+1</a:t>
            </a:r>
            <a:r>
              <a:rPr lang="zh-CN" altLang="en-US" sz="1800" dirty="0">
                <a:solidFill>
                  <a:srgbClr val="000000"/>
                </a:solidFill>
              </a:rPr>
              <a:t>。</a:t>
            </a:r>
          </a:p>
          <a:p>
            <a:pPr algn="just" eaLnBrk="1" hangingPunct="1">
              <a:buFontTx/>
              <a:buNone/>
            </a:pPr>
            <a:r>
              <a:rPr lang="zh-CN" altLang="en-US" sz="1800" dirty="0">
                <a:solidFill>
                  <a:srgbClr val="000000"/>
                </a:solidFill>
              </a:rPr>
              <a:t>插入：如果</a:t>
            </a:r>
            <a:r>
              <a:rPr lang="en-US" altLang="zh-CN" sz="1800" dirty="0">
                <a:solidFill>
                  <a:srgbClr val="000000"/>
                </a:solidFill>
              </a:rPr>
              <a:t>A</a:t>
            </a:r>
            <a:r>
              <a:rPr lang="zh-CN" altLang="en-US" sz="1800" dirty="0">
                <a:solidFill>
                  <a:srgbClr val="000000"/>
                </a:solidFill>
              </a:rPr>
              <a:t>到</a:t>
            </a:r>
            <a:r>
              <a:rPr lang="en-US" altLang="zh-CN" sz="1800" dirty="0">
                <a:solidFill>
                  <a:srgbClr val="000000"/>
                </a:solidFill>
              </a:rPr>
              <a:t>B</a:t>
            </a:r>
            <a:r>
              <a:rPr lang="zh-CN" altLang="en-US" sz="1800" dirty="0">
                <a:solidFill>
                  <a:srgbClr val="000000"/>
                </a:solidFill>
              </a:rPr>
              <a:t>的最小改动需要插入某个字符和</a:t>
            </a:r>
            <a:r>
              <a:rPr lang="en-US" altLang="zh-CN" sz="1800" dirty="0">
                <a:solidFill>
                  <a:srgbClr val="000000"/>
                </a:solidFill>
              </a:rPr>
              <a:t>b</a:t>
            </a:r>
            <a:r>
              <a:rPr lang="en-US" altLang="zh-CN" sz="1800" baseline="-25000" dirty="0">
                <a:solidFill>
                  <a:srgbClr val="000000"/>
                </a:solidFill>
              </a:rPr>
              <a:t>m</a:t>
            </a:r>
            <a:r>
              <a:rPr lang="zh-CN" altLang="en-US" sz="1800" dirty="0">
                <a:solidFill>
                  <a:srgbClr val="000000"/>
                </a:solidFill>
              </a:rPr>
              <a:t>匹配，那么就有</a:t>
            </a:r>
            <a:r>
              <a:rPr lang="en-US" altLang="zh-CN" sz="1800" dirty="0">
                <a:solidFill>
                  <a:srgbClr val="000000"/>
                </a:solidFill>
              </a:rPr>
              <a:t>C(n, m) = C(n, m-1)+1</a:t>
            </a:r>
            <a:r>
              <a:rPr lang="zh-CN" altLang="en-US" sz="1800" dirty="0">
                <a:solidFill>
                  <a:srgbClr val="000000"/>
                </a:solidFill>
              </a:rPr>
              <a:t>。也就是（通过归纳）先把</a:t>
            </a:r>
            <a:r>
              <a:rPr lang="en-US" altLang="zh-CN" sz="1800" dirty="0">
                <a:solidFill>
                  <a:srgbClr val="000000"/>
                </a:solidFill>
              </a:rPr>
              <a:t>A(n)</a:t>
            </a:r>
            <a:r>
              <a:rPr lang="zh-CN" altLang="en-US" sz="1800" dirty="0">
                <a:solidFill>
                  <a:srgbClr val="000000"/>
                </a:solidFill>
              </a:rPr>
              <a:t>以最小代价变成</a:t>
            </a:r>
            <a:r>
              <a:rPr lang="en-US" altLang="zh-CN" sz="1800" dirty="0">
                <a:solidFill>
                  <a:srgbClr val="000000"/>
                </a:solidFill>
              </a:rPr>
              <a:t>B(m-1)</a:t>
            </a:r>
            <a:r>
              <a:rPr lang="zh-CN" altLang="en-US" sz="1800" dirty="0">
                <a:solidFill>
                  <a:srgbClr val="000000"/>
                </a:solidFill>
              </a:rPr>
              <a:t>，然后再插入一个跟</a:t>
            </a:r>
            <a:r>
              <a:rPr lang="en-US" altLang="zh-CN" sz="1800" dirty="0">
                <a:solidFill>
                  <a:srgbClr val="000000"/>
                </a:solidFill>
              </a:rPr>
              <a:t>b</a:t>
            </a:r>
            <a:r>
              <a:rPr lang="en-US" altLang="zh-CN" sz="1800" baseline="-25000" dirty="0">
                <a:solidFill>
                  <a:srgbClr val="000000"/>
                </a:solidFill>
              </a:rPr>
              <a:t>m</a:t>
            </a:r>
            <a:r>
              <a:rPr lang="zh-CN" altLang="en-US" sz="1800" dirty="0">
                <a:solidFill>
                  <a:srgbClr val="000000"/>
                </a:solidFill>
              </a:rPr>
              <a:t>相同的字符。</a:t>
            </a:r>
          </a:p>
          <a:p>
            <a:pPr algn="just" eaLnBrk="1" hangingPunct="1">
              <a:buFontTx/>
              <a:buNone/>
            </a:pPr>
            <a:r>
              <a:rPr lang="zh-CN" altLang="en-US" sz="1800" dirty="0">
                <a:solidFill>
                  <a:srgbClr val="000000"/>
                </a:solidFill>
              </a:rPr>
              <a:t>替换：如果用</a:t>
            </a:r>
            <a:r>
              <a:rPr lang="en-US" altLang="zh-CN" sz="1800" dirty="0">
                <a:solidFill>
                  <a:srgbClr val="000000"/>
                </a:solidFill>
              </a:rPr>
              <a:t>a</a:t>
            </a:r>
            <a:r>
              <a:rPr lang="en-US" altLang="zh-CN" sz="1800" baseline="-25000" dirty="0">
                <a:solidFill>
                  <a:srgbClr val="000000"/>
                </a:solidFill>
              </a:rPr>
              <a:t>n</a:t>
            </a:r>
            <a:r>
              <a:rPr lang="zh-CN" altLang="en-US" sz="1800" dirty="0">
                <a:solidFill>
                  <a:srgbClr val="000000"/>
                </a:solidFill>
              </a:rPr>
              <a:t>替换</a:t>
            </a:r>
            <a:r>
              <a:rPr lang="en-US" altLang="zh-CN" sz="1800" dirty="0">
                <a:solidFill>
                  <a:srgbClr val="000000"/>
                </a:solidFill>
              </a:rPr>
              <a:t>b</a:t>
            </a:r>
            <a:r>
              <a:rPr lang="en-US" altLang="zh-CN" sz="1800" baseline="-25000" dirty="0">
                <a:solidFill>
                  <a:srgbClr val="000000"/>
                </a:solidFill>
              </a:rPr>
              <a:t>m</a:t>
            </a:r>
            <a:r>
              <a:rPr lang="zh-CN" altLang="en-US" sz="1800" dirty="0">
                <a:solidFill>
                  <a:srgbClr val="000000"/>
                </a:solidFill>
              </a:rPr>
              <a:t>，那么首先要找到从</a:t>
            </a:r>
            <a:r>
              <a:rPr lang="en-US" altLang="zh-CN" sz="1800" dirty="0">
                <a:solidFill>
                  <a:srgbClr val="000000"/>
                </a:solidFill>
              </a:rPr>
              <a:t>A(n-1)</a:t>
            </a:r>
            <a:r>
              <a:rPr lang="zh-CN" altLang="en-US" sz="1800" dirty="0">
                <a:solidFill>
                  <a:srgbClr val="000000"/>
                </a:solidFill>
              </a:rPr>
              <a:t>到</a:t>
            </a:r>
            <a:r>
              <a:rPr lang="en-US" altLang="zh-CN" sz="1800" dirty="0">
                <a:solidFill>
                  <a:srgbClr val="000000"/>
                </a:solidFill>
              </a:rPr>
              <a:t>B(m-1)</a:t>
            </a:r>
            <a:r>
              <a:rPr lang="zh-CN" altLang="en-US" sz="1800" dirty="0">
                <a:solidFill>
                  <a:srgbClr val="000000"/>
                </a:solidFill>
              </a:rPr>
              <a:t>的最小改动，接下来若</a:t>
            </a:r>
            <a:r>
              <a:rPr lang="en-US" altLang="zh-CN" sz="1800" dirty="0">
                <a:solidFill>
                  <a:srgbClr val="000000"/>
                </a:solidFill>
              </a:rPr>
              <a:t>a</a:t>
            </a:r>
            <a:r>
              <a:rPr lang="en-US" altLang="zh-CN" sz="1800" baseline="-25000" dirty="0">
                <a:solidFill>
                  <a:srgbClr val="000000"/>
                </a:solidFill>
              </a:rPr>
              <a:t>n </a:t>
            </a:r>
            <a:r>
              <a:rPr lang="en-US" altLang="zh-CN" sz="1800" dirty="0">
                <a:solidFill>
                  <a:srgbClr val="000000"/>
                </a:solidFill>
                <a:latin typeface="宋体" charset="-122"/>
              </a:rPr>
              <a:t>≠</a:t>
            </a:r>
            <a:r>
              <a:rPr lang="en-US" altLang="zh-CN" sz="1800" dirty="0">
                <a:solidFill>
                  <a:srgbClr val="000000"/>
                </a:solidFill>
              </a:rPr>
              <a:t> b</a:t>
            </a:r>
            <a:r>
              <a:rPr lang="en-US" altLang="zh-CN" sz="1800" baseline="-25000" dirty="0">
                <a:solidFill>
                  <a:srgbClr val="000000"/>
                </a:solidFill>
              </a:rPr>
              <a:t>m</a:t>
            </a:r>
            <a:r>
              <a:rPr lang="zh-CN" altLang="en-US" sz="1800" dirty="0">
                <a:solidFill>
                  <a:srgbClr val="000000"/>
                </a:solidFill>
              </a:rPr>
              <a:t>，还要加</a:t>
            </a:r>
            <a:r>
              <a:rPr lang="en-US" altLang="zh-CN" sz="1800" dirty="0">
                <a:solidFill>
                  <a:srgbClr val="000000"/>
                </a:solidFill>
              </a:rPr>
              <a:t>1</a:t>
            </a:r>
            <a:r>
              <a:rPr lang="zh-CN" altLang="en-US" sz="1800" dirty="0">
                <a:solidFill>
                  <a:srgbClr val="000000"/>
                </a:solidFill>
              </a:rPr>
              <a:t>。</a:t>
            </a:r>
          </a:p>
          <a:p>
            <a:pPr algn="just" eaLnBrk="1" hangingPunct="1">
              <a:buFontTx/>
              <a:buNone/>
            </a:pPr>
            <a:r>
              <a:rPr lang="zh-CN" altLang="en-US" sz="1800" dirty="0">
                <a:solidFill>
                  <a:srgbClr val="000000"/>
                </a:solidFill>
              </a:rPr>
              <a:t>匹配：如果</a:t>
            </a:r>
            <a:r>
              <a:rPr lang="en-US" altLang="zh-CN" sz="1800" dirty="0">
                <a:solidFill>
                  <a:srgbClr val="000000"/>
                </a:solidFill>
              </a:rPr>
              <a:t>a</a:t>
            </a:r>
            <a:r>
              <a:rPr lang="en-US" altLang="zh-CN" sz="1800" baseline="-25000" dirty="0">
                <a:solidFill>
                  <a:srgbClr val="000000"/>
                </a:solidFill>
              </a:rPr>
              <a:t>n</a:t>
            </a:r>
            <a:r>
              <a:rPr lang="zh-CN" altLang="en-US" sz="1800" dirty="0">
                <a:solidFill>
                  <a:srgbClr val="000000"/>
                </a:solidFill>
              </a:rPr>
              <a:t>和</a:t>
            </a:r>
            <a:r>
              <a:rPr lang="en-US" altLang="zh-CN" sz="1800" dirty="0">
                <a:solidFill>
                  <a:srgbClr val="000000"/>
                </a:solidFill>
              </a:rPr>
              <a:t>b</a:t>
            </a:r>
            <a:r>
              <a:rPr lang="en-US" altLang="zh-CN" sz="1800" baseline="-25000" dirty="0">
                <a:solidFill>
                  <a:srgbClr val="000000"/>
                </a:solidFill>
              </a:rPr>
              <a:t>m</a:t>
            </a:r>
            <a:r>
              <a:rPr lang="zh-CN" altLang="en-US" sz="1800" dirty="0">
                <a:solidFill>
                  <a:srgbClr val="000000"/>
                </a:solidFill>
              </a:rPr>
              <a:t>相同，则</a:t>
            </a:r>
            <a:r>
              <a:rPr lang="en-US" altLang="zh-CN" sz="1800" dirty="0">
                <a:solidFill>
                  <a:srgbClr val="000000"/>
                </a:solidFill>
              </a:rPr>
              <a:t>C(n, m) = C(n-1, m-1)</a:t>
            </a:r>
            <a:r>
              <a:rPr lang="zh-CN" altLang="en-US" sz="1800" dirty="0">
                <a:solidFill>
                  <a:srgbClr val="000000"/>
                </a:solidFill>
              </a:rPr>
              <a:t>。</a:t>
            </a:r>
          </a:p>
          <a:p>
            <a:endParaRPr lang="zh-CN" altLang="en-US" sz="1800" dirty="0"/>
          </a:p>
        </p:txBody>
      </p:sp>
      <p:graphicFrame>
        <p:nvGraphicFramePr>
          <p:cNvPr id="4" name="Object 4">
            <a:extLst>
              <a:ext uri="{FF2B5EF4-FFF2-40B4-BE49-F238E27FC236}">
                <a16:creationId xmlns:a16="http://schemas.microsoft.com/office/drawing/2014/main" id="{D13F139E-B76A-4AEF-BA58-6B3C6430DC13}"/>
              </a:ext>
            </a:extLst>
          </p:cNvPr>
          <p:cNvGraphicFramePr>
            <a:graphicFrameLocks noChangeAspect="1"/>
          </p:cNvGraphicFramePr>
          <p:nvPr>
            <p:extLst>
              <p:ext uri="{D42A27DB-BD31-4B8C-83A1-F6EECF244321}">
                <p14:modId xmlns:p14="http://schemas.microsoft.com/office/powerpoint/2010/main" val="1078243986"/>
              </p:ext>
            </p:extLst>
          </p:nvPr>
        </p:nvGraphicFramePr>
        <p:xfrm>
          <a:off x="5576700" y="1802532"/>
          <a:ext cx="2133600" cy="815975"/>
        </p:xfrm>
        <a:graphic>
          <a:graphicData uri="http://schemas.openxmlformats.org/presentationml/2006/ole">
            <mc:AlternateContent xmlns:mc="http://schemas.openxmlformats.org/markup-compatibility/2006">
              <mc:Choice xmlns:v="urn:schemas-microsoft-com:vml" Requires="v">
                <p:oleObj spid="_x0000_s3090" name="公式" r:id="rId3" imgW="1256755" imgH="482391" progId="Equation.3">
                  <p:embed/>
                </p:oleObj>
              </mc:Choice>
              <mc:Fallback>
                <p:oleObj name="公式" r:id="rId3" imgW="1256755" imgH="482391"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6700" y="1802532"/>
                        <a:ext cx="2133600" cy="81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5">
            <a:extLst>
              <a:ext uri="{FF2B5EF4-FFF2-40B4-BE49-F238E27FC236}">
                <a16:creationId xmlns:a16="http://schemas.microsoft.com/office/drawing/2014/main" id="{7DD5C43C-50F8-434A-AE2A-C4A0086A4284}"/>
              </a:ext>
            </a:extLst>
          </p:cNvPr>
          <p:cNvGraphicFramePr>
            <a:graphicFrameLocks noChangeAspect="1"/>
          </p:cNvGraphicFramePr>
          <p:nvPr>
            <p:extLst>
              <p:ext uri="{D42A27DB-BD31-4B8C-83A1-F6EECF244321}">
                <p14:modId xmlns:p14="http://schemas.microsoft.com/office/powerpoint/2010/main" val="550721977"/>
              </p:ext>
            </p:extLst>
          </p:nvPr>
        </p:nvGraphicFramePr>
        <p:xfrm>
          <a:off x="5576700" y="2618507"/>
          <a:ext cx="6629400" cy="1903413"/>
        </p:xfrm>
        <a:graphic>
          <a:graphicData uri="http://schemas.openxmlformats.org/presentationml/2006/ole">
            <mc:AlternateContent xmlns:mc="http://schemas.openxmlformats.org/markup-compatibility/2006">
              <mc:Choice xmlns:v="urn:schemas-microsoft-com:vml" Requires="v">
                <p:oleObj spid="_x0000_s3091" name="公式" r:id="rId5" imgW="4025900" imgH="1155700" progId="Equation.3">
                  <p:embed/>
                </p:oleObj>
              </mc:Choice>
              <mc:Fallback>
                <p:oleObj name="公式" r:id="rId5" imgW="4025900" imgH="1155700" progId="Equation.3">
                  <p:embed/>
                  <p:pic>
                    <p:nvPicPr>
                      <p:cNvPr id="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6700" y="2618507"/>
                        <a:ext cx="6629400" cy="190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3">
            <a:extLst>
              <a:ext uri="{FF2B5EF4-FFF2-40B4-BE49-F238E27FC236}">
                <a16:creationId xmlns:a16="http://schemas.microsoft.com/office/drawing/2014/main" id="{DA9A0C82-B823-4911-A499-DE9955AFA7B7}"/>
              </a:ext>
            </a:extLst>
          </p:cNvPr>
          <p:cNvSpPr txBox="1">
            <a:spLocks noChangeArrowheads="1"/>
          </p:cNvSpPr>
          <p:nvPr/>
        </p:nvSpPr>
        <p:spPr>
          <a:xfrm>
            <a:off x="5410200" y="4823545"/>
            <a:ext cx="6394320" cy="135341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Tx/>
              <a:buNone/>
            </a:pPr>
            <a:r>
              <a:rPr lang="zh-CN" altLang="en-US" sz="1800" dirty="0">
                <a:solidFill>
                  <a:srgbClr val="000000"/>
                </a:solidFill>
              </a:rPr>
              <a:t>把一个规模为</a:t>
            </a:r>
            <a:r>
              <a:rPr lang="en-US" altLang="zh-CN" sz="1800" dirty="0">
                <a:solidFill>
                  <a:srgbClr val="000000"/>
                </a:solidFill>
              </a:rPr>
              <a:t>(n, m)</a:t>
            </a:r>
            <a:r>
              <a:rPr lang="zh-CN" altLang="en-US" sz="1800" dirty="0">
                <a:solidFill>
                  <a:srgbClr val="000000"/>
                </a:solidFill>
              </a:rPr>
              <a:t>的问题归纳到三个规模仅比原问题略小的子问题。</a:t>
            </a:r>
          </a:p>
          <a:p>
            <a:pPr>
              <a:lnSpc>
                <a:spcPct val="120000"/>
              </a:lnSpc>
              <a:buFontTx/>
              <a:buNone/>
            </a:pPr>
            <a:r>
              <a:rPr lang="zh-CN" altLang="en-US" sz="1800" dirty="0">
                <a:solidFill>
                  <a:srgbClr val="000000"/>
                </a:solidFill>
              </a:rPr>
              <a:t>总的子问题数并不多。不会超过</a:t>
            </a:r>
            <a:r>
              <a:rPr lang="en-US" altLang="zh-CN" sz="1800" dirty="0">
                <a:solidFill>
                  <a:srgbClr val="000000"/>
                </a:solidFill>
              </a:rPr>
              <a:t>nm</a:t>
            </a:r>
            <a:r>
              <a:rPr lang="zh-CN" altLang="en-US" sz="1800" dirty="0">
                <a:solidFill>
                  <a:srgbClr val="000000"/>
                </a:solidFill>
              </a:rPr>
              <a:t>。</a:t>
            </a:r>
          </a:p>
          <a:p>
            <a:pPr>
              <a:lnSpc>
                <a:spcPct val="120000"/>
              </a:lnSpc>
              <a:buFontTx/>
              <a:buNone/>
            </a:pPr>
            <a:r>
              <a:rPr lang="zh-CN" altLang="en-US" sz="1800" dirty="0">
                <a:solidFill>
                  <a:srgbClr val="000000"/>
                </a:solidFill>
              </a:rPr>
              <a:t>动态规划</a:t>
            </a:r>
            <a:r>
              <a:rPr lang="en-US" altLang="zh-CN" sz="1800" dirty="0">
                <a:solidFill>
                  <a:srgbClr val="000000"/>
                </a:solidFill>
              </a:rPr>
              <a:t>!</a:t>
            </a:r>
          </a:p>
          <a:p>
            <a:pPr>
              <a:lnSpc>
                <a:spcPct val="120000"/>
              </a:lnSpc>
              <a:buFontTx/>
              <a:buNone/>
            </a:pPr>
            <a:endParaRPr lang="zh-CN" altLang="en-US" sz="1800" dirty="0">
              <a:solidFill>
                <a:srgbClr val="000000"/>
              </a:solidFill>
            </a:endParaRPr>
          </a:p>
        </p:txBody>
      </p:sp>
    </p:spTree>
    <p:extLst>
      <p:ext uri="{BB962C8B-B14F-4D97-AF65-F5344CB8AC3E}">
        <p14:creationId xmlns:p14="http://schemas.microsoft.com/office/powerpoint/2010/main" val="2671480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8B97B2-A58B-4549-AC61-DF8ACD4F3ECA}"/>
              </a:ext>
            </a:extLst>
          </p:cNvPr>
          <p:cNvSpPr>
            <a:spLocks noGrp="1"/>
          </p:cNvSpPr>
          <p:nvPr>
            <p:ph type="title"/>
          </p:nvPr>
        </p:nvSpPr>
        <p:spPr/>
        <p:txBody>
          <a:bodyPr/>
          <a:lstStyle/>
          <a:p>
            <a:r>
              <a:rPr lang="zh-CN" altLang="en-US" dirty="0"/>
              <a:t>序列比较</a:t>
            </a:r>
          </a:p>
        </p:txBody>
      </p:sp>
      <p:sp>
        <p:nvSpPr>
          <p:cNvPr id="3" name="内容占位符 2">
            <a:extLst>
              <a:ext uri="{FF2B5EF4-FFF2-40B4-BE49-F238E27FC236}">
                <a16:creationId xmlns:a16="http://schemas.microsoft.com/office/drawing/2014/main" id="{7F783218-FEF2-4C83-AF93-E9D9281A78EF}"/>
              </a:ext>
            </a:extLst>
          </p:cNvPr>
          <p:cNvSpPr>
            <a:spLocks noGrp="1"/>
          </p:cNvSpPr>
          <p:nvPr>
            <p:ph idx="1"/>
          </p:nvPr>
        </p:nvSpPr>
        <p:spPr/>
        <p:txBody>
          <a:bodyPr>
            <a:noAutofit/>
          </a:bodyPr>
          <a:lstStyle/>
          <a:p>
            <a:pPr lvl="0" eaLnBrk="1" hangingPunct="1">
              <a:buNone/>
            </a:pPr>
            <a:r>
              <a:rPr lang="en-US" altLang="zh-CN" sz="2000" dirty="0">
                <a:solidFill>
                  <a:srgbClr val="000000"/>
                </a:solidFill>
              </a:rPr>
              <a:t>Algorithm </a:t>
            </a:r>
            <a:r>
              <a:rPr lang="en-US" altLang="zh-CN" sz="2000" dirty="0" err="1">
                <a:solidFill>
                  <a:srgbClr val="000000"/>
                </a:solidFill>
              </a:rPr>
              <a:t>Minimum_Edit_Distance</a:t>
            </a:r>
            <a:r>
              <a:rPr lang="en-US" altLang="zh-CN" sz="2000" dirty="0">
                <a:solidFill>
                  <a:srgbClr val="000000"/>
                </a:solidFill>
              </a:rPr>
              <a:t>(</a:t>
            </a:r>
            <a:r>
              <a:rPr lang="en-US" altLang="zh-CN" sz="2000" dirty="0" err="1">
                <a:solidFill>
                  <a:srgbClr val="000000"/>
                </a:solidFill>
              </a:rPr>
              <a:t>A,n,B,m</a:t>
            </a:r>
            <a:r>
              <a:rPr lang="en-US" altLang="zh-CN" sz="2000" dirty="0">
                <a:solidFill>
                  <a:srgbClr val="000000"/>
                </a:solidFill>
              </a:rPr>
              <a:t>)</a:t>
            </a:r>
          </a:p>
          <a:p>
            <a:pPr lvl="0" eaLnBrk="1" hangingPunct="1">
              <a:buNone/>
            </a:pPr>
            <a:r>
              <a:rPr lang="en-US" altLang="zh-CN" sz="2000" dirty="0">
                <a:solidFill>
                  <a:srgbClr val="000000"/>
                </a:solidFill>
              </a:rPr>
              <a:t>Input: A (a string of size n), and B (a string of size m)</a:t>
            </a:r>
          </a:p>
          <a:p>
            <a:pPr lvl="0" eaLnBrk="1" hangingPunct="1">
              <a:buNone/>
            </a:pPr>
            <a:r>
              <a:rPr lang="en-US" altLang="zh-CN" sz="2000" dirty="0">
                <a:solidFill>
                  <a:srgbClr val="000000"/>
                </a:solidFill>
              </a:rPr>
              <a:t>Output: C (the cost matrix)</a:t>
            </a:r>
          </a:p>
          <a:p>
            <a:pPr lvl="0" eaLnBrk="1" hangingPunct="1">
              <a:buNone/>
            </a:pPr>
            <a:r>
              <a:rPr lang="en-US" altLang="zh-CN" sz="2000" dirty="0">
                <a:solidFill>
                  <a:srgbClr val="000000"/>
                </a:solidFill>
              </a:rPr>
              <a:t>Begin</a:t>
            </a:r>
          </a:p>
          <a:p>
            <a:pPr lvl="0" eaLnBrk="1" hangingPunct="1">
              <a:buNone/>
            </a:pPr>
            <a:r>
              <a:rPr lang="en-US" altLang="zh-CN" sz="2000" dirty="0">
                <a:solidFill>
                  <a:srgbClr val="000000"/>
                </a:solidFill>
              </a:rPr>
              <a:t>    for i:=0to n do C[i,0]:=</a:t>
            </a:r>
            <a:r>
              <a:rPr lang="en-US" altLang="zh-CN" sz="2000" dirty="0" err="1">
                <a:solidFill>
                  <a:srgbClr val="000000"/>
                </a:solidFill>
              </a:rPr>
              <a:t>i</a:t>
            </a:r>
            <a:r>
              <a:rPr lang="en-US" altLang="zh-CN" sz="2000" dirty="0">
                <a:solidFill>
                  <a:srgbClr val="000000"/>
                </a:solidFill>
              </a:rPr>
              <a:t>;</a:t>
            </a:r>
          </a:p>
          <a:p>
            <a:pPr lvl="0" eaLnBrk="1" hangingPunct="1">
              <a:buNone/>
            </a:pPr>
            <a:r>
              <a:rPr lang="en-US" altLang="zh-CN" sz="2000" dirty="0">
                <a:solidFill>
                  <a:srgbClr val="000000"/>
                </a:solidFill>
              </a:rPr>
              <a:t>    for j:=1 to m do C[0,j]:=j;</a:t>
            </a:r>
          </a:p>
          <a:p>
            <a:pPr lvl="0" eaLnBrk="1" hangingPunct="1">
              <a:buNone/>
            </a:pPr>
            <a:r>
              <a:rPr lang="en-US" altLang="zh-CN" sz="2000" dirty="0">
                <a:solidFill>
                  <a:srgbClr val="000000"/>
                </a:solidFill>
              </a:rPr>
              <a:t>    for i:=1 to n do</a:t>
            </a:r>
          </a:p>
          <a:p>
            <a:pPr lvl="0" eaLnBrk="1" hangingPunct="1">
              <a:buNone/>
            </a:pPr>
            <a:r>
              <a:rPr lang="en-US" altLang="zh-CN" sz="2000" dirty="0">
                <a:solidFill>
                  <a:srgbClr val="000000"/>
                </a:solidFill>
              </a:rPr>
              <a:t>        for j:=1 to m do</a:t>
            </a:r>
          </a:p>
          <a:p>
            <a:pPr lvl="0" eaLnBrk="1" hangingPunct="1">
              <a:buNone/>
            </a:pPr>
            <a:r>
              <a:rPr lang="en-US" altLang="zh-CN" sz="2000" dirty="0">
                <a:solidFill>
                  <a:srgbClr val="000000"/>
                </a:solidFill>
              </a:rPr>
              <a:t>            x:=C[i-1,j]+1;</a:t>
            </a:r>
          </a:p>
          <a:p>
            <a:pPr lvl="0" eaLnBrk="1" hangingPunct="1">
              <a:buNone/>
            </a:pPr>
            <a:r>
              <a:rPr lang="en-US" altLang="zh-CN" sz="2000" dirty="0">
                <a:solidFill>
                  <a:srgbClr val="000000"/>
                </a:solidFill>
              </a:rPr>
              <a:t>            y:=C[i,j-1]+1;</a:t>
            </a:r>
          </a:p>
          <a:p>
            <a:pPr lvl="0" eaLnBrk="1" hangingPunct="1">
              <a:buNone/>
            </a:pPr>
            <a:r>
              <a:rPr lang="en-US" altLang="zh-CN" sz="2000" dirty="0">
                <a:solidFill>
                  <a:srgbClr val="000000"/>
                </a:solidFill>
              </a:rPr>
              <a:t>            if ai=</a:t>
            </a:r>
            <a:r>
              <a:rPr lang="en-US" altLang="zh-CN" sz="2000" dirty="0" err="1">
                <a:solidFill>
                  <a:srgbClr val="000000"/>
                </a:solidFill>
              </a:rPr>
              <a:t>bj</a:t>
            </a:r>
            <a:r>
              <a:rPr lang="en-US" altLang="zh-CN" sz="2000" dirty="0">
                <a:solidFill>
                  <a:srgbClr val="000000"/>
                </a:solidFill>
              </a:rPr>
              <a:t> then z:=C[i-1,j-1]</a:t>
            </a:r>
          </a:p>
          <a:p>
            <a:pPr lvl="0" eaLnBrk="1" hangingPunct="1">
              <a:buNone/>
            </a:pPr>
            <a:r>
              <a:rPr lang="en-US" altLang="zh-CN" sz="2000" dirty="0">
                <a:solidFill>
                  <a:srgbClr val="000000"/>
                </a:solidFill>
              </a:rPr>
              <a:t>            else  z:=C[i-1,j-1]+1;</a:t>
            </a:r>
          </a:p>
          <a:p>
            <a:pPr lvl="0" eaLnBrk="1" hangingPunct="1">
              <a:buNone/>
            </a:pPr>
            <a:r>
              <a:rPr lang="en-US" altLang="zh-CN" sz="2000" dirty="0">
                <a:solidFill>
                  <a:srgbClr val="000000"/>
                </a:solidFill>
              </a:rPr>
              <a:t>            C[</a:t>
            </a:r>
            <a:r>
              <a:rPr lang="en-US" altLang="zh-CN" sz="2000" dirty="0" err="1">
                <a:solidFill>
                  <a:srgbClr val="000000"/>
                </a:solidFill>
              </a:rPr>
              <a:t>i,j</a:t>
            </a:r>
            <a:r>
              <a:rPr lang="en-US" altLang="zh-CN" sz="2000" dirty="0">
                <a:solidFill>
                  <a:srgbClr val="000000"/>
                </a:solidFill>
              </a:rPr>
              <a:t>]:=min(</a:t>
            </a:r>
            <a:r>
              <a:rPr lang="en-US" altLang="zh-CN" sz="2000" dirty="0" err="1">
                <a:solidFill>
                  <a:srgbClr val="000000"/>
                </a:solidFill>
              </a:rPr>
              <a:t>x,y,z</a:t>
            </a:r>
            <a:r>
              <a:rPr lang="en-US" altLang="zh-CN" sz="2000" dirty="0">
                <a:solidFill>
                  <a:srgbClr val="000000"/>
                </a:solidFill>
              </a:rPr>
              <a:t>);</a:t>
            </a:r>
          </a:p>
          <a:p>
            <a:pPr lvl="0" eaLnBrk="1" hangingPunct="1">
              <a:buNone/>
            </a:pPr>
            <a:r>
              <a:rPr lang="en-US" altLang="zh-CN" sz="2000" dirty="0">
                <a:solidFill>
                  <a:srgbClr val="000000"/>
                </a:solidFill>
              </a:rPr>
              <a:t>end</a:t>
            </a:r>
          </a:p>
          <a:p>
            <a:pPr eaLnBrk="1" hangingPunct="1">
              <a:buFontTx/>
              <a:buNone/>
            </a:pPr>
            <a:r>
              <a:rPr lang="zh-CN" altLang="en-US" sz="2000" dirty="0">
                <a:solidFill>
                  <a:srgbClr val="000000"/>
                </a:solidFill>
              </a:rPr>
              <a:t>复杂度为</a:t>
            </a:r>
            <a:r>
              <a:rPr lang="en-US" altLang="zh-CN" sz="2000" dirty="0">
                <a:solidFill>
                  <a:srgbClr val="000000"/>
                </a:solidFill>
              </a:rPr>
              <a:t>O(nm)</a:t>
            </a:r>
            <a:endParaRPr lang="zh-CN" altLang="en-US" sz="2000" dirty="0"/>
          </a:p>
        </p:txBody>
      </p:sp>
      <p:graphicFrame>
        <p:nvGraphicFramePr>
          <p:cNvPr id="4" name="Object 5">
            <a:extLst>
              <a:ext uri="{FF2B5EF4-FFF2-40B4-BE49-F238E27FC236}">
                <a16:creationId xmlns:a16="http://schemas.microsoft.com/office/drawing/2014/main" id="{1CAD20C4-D5A8-47FC-9195-FAB645052ACE}"/>
              </a:ext>
            </a:extLst>
          </p:cNvPr>
          <p:cNvGraphicFramePr>
            <a:graphicFrameLocks noChangeAspect="1"/>
          </p:cNvGraphicFramePr>
          <p:nvPr>
            <p:extLst>
              <p:ext uri="{D42A27DB-BD31-4B8C-83A1-F6EECF244321}">
                <p14:modId xmlns:p14="http://schemas.microsoft.com/office/powerpoint/2010/main" val="4269148056"/>
              </p:ext>
            </p:extLst>
          </p:nvPr>
        </p:nvGraphicFramePr>
        <p:xfrm>
          <a:off x="5562600" y="3049587"/>
          <a:ext cx="6629400" cy="1903413"/>
        </p:xfrm>
        <a:graphic>
          <a:graphicData uri="http://schemas.openxmlformats.org/presentationml/2006/ole">
            <mc:AlternateContent xmlns:mc="http://schemas.openxmlformats.org/markup-compatibility/2006">
              <mc:Choice xmlns:v="urn:schemas-microsoft-com:vml" Requires="v">
                <p:oleObj spid="_x0000_s4106" name="公式" r:id="rId3" imgW="4025900" imgH="1155700" progId="Equation.3">
                  <p:embed/>
                </p:oleObj>
              </mc:Choice>
              <mc:Fallback>
                <p:oleObj name="公式" r:id="rId3" imgW="4025900" imgH="115570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3049587"/>
                        <a:ext cx="6629400" cy="190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01743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FBA85-4C62-4CEF-A502-D150F6E01B6C}"/>
              </a:ext>
            </a:extLst>
          </p:cNvPr>
          <p:cNvSpPr>
            <a:spLocks noGrp="1"/>
          </p:cNvSpPr>
          <p:nvPr>
            <p:ph type="title"/>
          </p:nvPr>
        </p:nvSpPr>
        <p:spPr/>
        <p:txBody>
          <a:bodyPr/>
          <a:lstStyle/>
          <a:p>
            <a:r>
              <a:rPr lang="zh-CN" altLang="en-US" dirty="0"/>
              <a:t>查找众数</a:t>
            </a:r>
          </a:p>
        </p:txBody>
      </p:sp>
      <p:sp>
        <p:nvSpPr>
          <p:cNvPr id="3" name="内容占位符 2">
            <a:extLst>
              <a:ext uri="{FF2B5EF4-FFF2-40B4-BE49-F238E27FC236}">
                <a16:creationId xmlns:a16="http://schemas.microsoft.com/office/drawing/2014/main" id="{0E665F8B-278E-4C15-8B34-95DEA8137128}"/>
              </a:ext>
            </a:extLst>
          </p:cNvPr>
          <p:cNvSpPr>
            <a:spLocks noGrp="1"/>
          </p:cNvSpPr>
          <p:nvPr>
            <p:ph idx="1"/>
          </p:nvPr>
        </p:nvSpPr>
        <p:spPr/>
        <p:txBody>
          <a:bodyPr>
            <a:normAutofit/>
          </a:bodyPr>
          <a:lstStyle/>
          <a:p>
            <a:r>
              <a:rPr lang="zh-CN" altLang="en-US" sz="2400" dirty="0">
                <a:solidFill>
                  <a:srgbClr val="000000"/>
                </a:solidFill>
              </a:rPr>
              <a:t>令</a:t>
            </a:r>
            <a:r>
              <a:rPr lang="en-US" altLang="zh-CN" sz="2400" dirty="0">
                <a:solidFill>
                  <a:srgbClr val="000000"/>
                </a:solidFill>
              </a:rPr>
              <a:t>E</a:t>
            </a:r>
            <a:r>
              <a:rPr lang="zh-CN" altLang="en-US" sz="2400" dirty="0">
                <a:solidFill>
                  <a:srgbClr val="000000"/>
                </a:solidFill>
              </a:rPr>
              <a:t>是整数序列</a:t>
            </a:r>
            <a:r>
              <a:rPr lang="en-US" altLang="zh-CN" sz="2400" dirty="0">
                <a:solidFill>
                  <a:srgbClr val="000000"/>
                </a:solidFill>
              </a:rPr>
              <a:t>x</a:t>
            </a:r>
            <a:r>
              <a:rPr lang="en-US" altLang="zh-CN" sz="2400" baseline="-25000" dirty="0">
                <a:solidFill>
                  <a:srgbClr val="000000"/>
                </a:solidFill>
              </a:rPr>
              <a:t>1</a:t>
            </a:r>
            <a:r>
              <a:rPr lang="en-US" altLang="zh-CN" sz="2400" dirty="0">
                <a:solidFill>
                  <a:srgbClr val="000000"/>
                </a:solidFill>
              </a:rPr>
              <a:t>,x</a:t>
            </a:r>
            <a:r>
              <a:rPr lang="en-US" altLang="zh-CN" sz="2400" baseline="-25000" dirty="0">
                <a:solidFill>
                  <a:srgbClr val="000000"/>
                </a:solidFill>
              </a:rPr>
              <a:t>2</a:t>
            </a:r>
            <a:r>
              <a:rPr lang="en-US" altLang="zh-CN" sz="2400" dirty="0">
                <a:solidFill>
                  <a:srgbClr val="000000"/>
                </a:solidFill>
              </a:rPr>
              <a:t>,…,</a:t>
            </a:r>
            <a:r>
              <a:rPr lang="en-US" altLang="zh-CN" sz="2400" dirty="0" err="1">
                <a:solidFill>
                  <a:srgbClr val="000000"/>
                </a:solidFill>
              </a:rPr>
              <a:t>x</a:t>
            </a:r>
            <a:r>
              <a:rPr lang="en-US" altLang="zh-CN" sz="2400" baseline="-25000" dirty="0" err="1">
                <a:solidFill>
                  <a:srgbClr val="000000"/>
                </a:solidFill>
              </a:rPr>
              <a:t>n</a:t>
            </a:r>
            <a:r>
              <a:rPr lang="zh-CN" altLang="en-US" sz="2400" dirty="0">
                <a:solidFill>
                  <a:srgbClr val="000000"/>
                </a:solidFill>
              </a:rPr>
              <a:t>。</a:t>
            </a:r>
            <a:r>
              <a:rPr lang="en-US" altLang="zh-CN" sz="2400" dirty="0">
                <a:solidFill>
                  <a:srgbClr val="000000"/>
                </a:solidFill>
              </a:rPr>
              <a:t>E</a:t>
            </a:r>
            <a:r>
              <a:rPr lang="zh-CN" altLang="en-US" sz="2400" dirty="0">
                <a:solidFill>
                  <a:srgbClr val="000000"/>
                </a:solidFill>
              </a:rPr>
              <a:t>中</a:t>
            </a:r>
            <a:r>
              <a:rPr lang="en-US" altLang="zh-CN" sz="2400" dirty="0">
                <a:solidFill>
                  <a:srgbClr val="000000"/>
                </a:solidFill>
              </a:rPr>
              <a:t>x</a:t>
            </a:r>
            <a:r>
              <a:rPr lang="zh-CN" altLang="en-US" sz="2400" dirty="0">
                <a:solidFill>
                  <a:srgbClr val="000000"/>
                </a:solidFill>
              </a:rPr>
              <a:t>的重数是</a:t>
            </a:r>
            <a:r>
              <a:rPr lang="en-US" altLang="zh-CN" sz="2400" dirty="0">
                <a:solidFill>
                  <a:srgbClr val="000000"/>
                </a:solidFill>
              </a:rPr>
              <a:t>x</a:t>
            </a:r>
            <a:r>
              <a:rPr lang="zh-CN" altLang="en-US" sz="2400" dirty="0">
                <a:solidFill>
                  <a:srgbClr val="000000"/>
                </a:solidFill>
              </a:rPr>
              <a:t>在</a:t>
            </a:r>
            <a:r>
              <a:rPr lang="en-US" altLang="zh-CN" sz="2400" dirty="0">
                <a:solidFill>
                  <a:srgbClr val="000000"/>
                </a:solidFill>
              </a:rPr>
              <a:t>E</a:t>
            </a:r>
            <a:r>
              <a:rPr lang="zh-CN" altLang="en-US" sz="2400" dirty="0">
                <a:solidFill>
                  <a:srgbClr val="000000"/>
                </a:solidFill>
              </a:rPr>
              <a:t>中出现的次数。如果某个数</a:t>
            </a:r>
            <a:r>
              <a:rPr lang="en-US" altLang="zh-CN" sz="2400" dirty="0">
                <a:solidFill>
                  <a:srgbClr val="000000"/>
                </a:solidFill>
              </a:rPr>
              <a:t>z</a:t>
            </a:r>
            <a:r>
              <a:rPr lang="zh-CN" altLang="en-US" sz="2400" dirty="0">
                <a:solidFill>
                  <a:srgbClr val="000000"/>
                </a:solidFill>
              </a:rPr>
              <a:t>的重数大于</a:t>
            </a:r>
            <a:r>
              <a:rPr lang="en-US" altLang="zh-CN" sz="2400" dirty="0">
                <a:solidFill>
                  <a:srgbClr val="000000"/>
                </a:solidFill>
              </a:rPr>
              <a:t>n/2</a:t>
            </a:r>
            <a:r>
              <a:rPr lang="zh-CN" altLang="en-US" sz="2400" dirty="0">
                <a:solidFill>
                  <a:srgbClr val="000000"/>
                </a:solidFill>
              </a:rPr>
              <a:t>，则它就是</a:t>
            </a:r>
            <a:r>
              <a:rPr lang="en-US" altLang="zh-CN" sz="2400" dirty="0">
                <a:solidFill>
                  <a:srgbClr val="000000"/>
                </a:solidFill>
              </a:rPr>
              <a:t>E</a:t>
            </a:r>
            <a:r>
              <a:rPr lang="zh-CN" altLang="en-US" sz="2400" dirty="0">
                <a:solidFill>
                  <a:srgbClr val="000000"/>
                </a:solidFill>
              </a:rPr>
              <a:t>中的众数（</a:t>
            </a:r>
            <a:r>
              <a:rPr lang="en-US" altLang="zh-CN" sz="2400" dirty="0">
                <a:solidFill>
                  <a:srgbClr val="000000"/>
                </a:solidFill>
              </a:rPr>
              <a:t>majority</a:t>
            </a:r>
            <a:r>
              <a:rPr lang="zh-CN" altLang="en-US" sz="2400" dirty="0">
                <a:solidFill>
                  <a:srgbClr val="000000"/>
                </a:solidFill>
              </a:rPr>
              <a:t>）。</a:t>
            </a:r>
          </a:p>
          <a:p>
            <a:r>
              <a:rPr lang="zh-CN" altLang="en-US" sz="2400" dirty="0">
                <a:solidFill>
                  <a:srgbClr val="000000"/>
                </a:solidFill>
              </a:rPr>
              <a:t>问题：已知一数列，判断是否存在众数。若存在，则求出众数。</a:t>
            </a:r>
            <a:endParaRPr lang="en-US" altLang="zh-CN" sz="2400" dirty="0">
              <a:solidFill>
                <a:srgbClr val="000000"/>
              </a:solidFill>
            </a:endParaRPr>
          </a:p>
          <a:p>
            <a:r>
              <a:rPr lang="zh-CN" altLang="en-US" sz="2400" dirty="0">
                <a:solidFill>
                  <a:srgbClr val="000000"/>
                </a:solidFill>
              </a:rPr>
              <a:t>蛮力搜索</a:t>
            </a:r>
          </a:p>
          <a:p>
            <a:pPr algn="just"/>
            <a:r>
              <a:rPr lang="zh-CN" altLang="en-US" sz="2400" dirty="0">
                <a:solidFill>
                  <a:srgbClr val="000000"/>
                </a:solidFill>
              </a:rPr>
              <a:t>排序算法：排序后进行统计。</a:t>
            </a:r>
          </a:p>
          <a:p>
            <a:pPr algn="just"/>
            <a:r>
              <a:rPr lang="zh-CN" altLang="en-US" sz="2400" dirty="0">
                <a:solidFill>
                  <a:srgbClr val="000000"/>
                </a:solidFill>
              </a:rPr>
              <a:t>中数查找法：如果众数存在，它肯定等于中数（中数是第</a:t>
            </a:r>
            <a:r>
              <a:rPr lang="en-US" altLang="zh-CN" sz="2400" dirty="0">
                <a:solidFill>
                  <a:srgbClr val="000000"/>
                </a:solidFill>
              </a:rPr>
              <a:t>(n/2)</a:t>
            </a:r>
            <a:r>
              <a:rPr lang="zh-CN" altLang="en-US" sz="2400" dirty="0">
                <a:solidFill>
                  <a:srgbClr val="000000"/>
                </a:solidFill>
              </a:rPr>
              <a:t>小的数，而众数的出现次数超过</a:t>
            </a:r>
            <a:r>
              <a:rPr lang="en-US" altLang="zh-CN" sz="2400" dirty="0">
                <a:solidFill>
                  <a:srgbClr val="000000"/>
                </a:solidFill>
              </a:rPr>
              <a:t>n/2</a:t>
            </a:r>
            <a:r>
              <a:rPr lang="zh-CN" altLang="en-US" sz="2400" dirty="0">
                <a:solidFill>
                  <a:srgbClr val="000000"/>
                </a:solidFill>
              </a:rPr>
              <a:t>）。所以一旦找到中数，就能统计它出现的次数。</a:t>
            </a:r>
          </a:p>
          <a:p>
            <a:endParaRPr lang="zh-CN" altLang="en-US" dirty="0"/>
          </a:p>
          <a:p>
            <a:endParaRPr lang="zh-CN" altLang="en-US" sz="2400" dirty="0"/>
          </a:p>
        </p:txBody>
      </p:sp>
    </p:spTree>
    <p:extLst>
      <p:ext uri="{BB962C8B-B14F-4D97-AF65-F5344CB8AC3E}">
        <p14:creationId xmlns:p14="http://schemas.microsoft.com/office/powerpoint/2010/main" val="2014647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5A6389-5399-4E7B-A965-3135AA254721}"/>
              </a:ext>
            </a:extLst>
          </p:cNvPr>
          <p:cNvSpPr>
            <a:spLocks noGrp="1"/>
          </p:cNvSpPr>
          <p:nvPr>
            <p:ph type="title"/>
          </p:nvPr>
        </p:nvSpPr>
        <p:spPr/>
        <p:txBody>
          <a:bodyPr/>
          <a:lstStyle/>
          <a:p>
            <a:r>
              <a:rPr lang="zh-CN" altLang="en-US" dirty="0"/>
              <a:t>查找众数</a:t>
            </a:r>
          </a:p>
        </p:txBody>
      </p:sp>
      <p:sp>
        <p:nvSpPr>
          <p:cNvPr id="3" name="内容占位符 2">
            <a:extLst>
              <a:ext uri="{FF2B5EF4-FFF2-40B4-BE49-F238E27FC236}">
                <a16:creationId xmlns:a16="http://schemas.microsoft.com/office/drawing/2014/main" id="{A51A65C0-480B-448C-965D-975566D5C893}"/>
              </a:ext>
            </a:extLst>
          </p:cNvPr>
          <p:cNvSpPr>
            <a:spLocks noGrp="1"/>
          </p:cNvSpPr>
          <p:nvPr>
            <p:ph idx="1"/>
          </p:nvPr>
        </p:nvSpPr>
        <p:spPr>
          <a:xfrm>
            <a:off x="838200" y="1825625"/>
            <a:ext cx="4851400" cy="4351338"/>
          </a:xfrm>
        </p:spPr>
        <p:txBody>
          <a:bodyPr>
            <a:normAutofit/>
          </a:bodyPr>
          <a:lstStyle/>
          <a:p>
            <a:r>
              <a:rPr lang="zh-CN" altLang="en-US" sz="1800" dirty="0">
                <a:solidFill>
                  <a:srgbClr val="000000"/>
                </a:solidFill>
              </a:rPr>
              <a:t>删除两个不同的数后，原来序列中的众数仍为新序列中的众数。（否命题不成立：</a:t>
            </a:r>
            <a:r>
              <a:rPr lang="en-US" altLang="zh-CN" sz="1800" dirty="0">
                <a:solidFill>
                  <a:srgbClr val="000000"/>
                </a:solidFill>
              </a:rPr>
              <a:t>1</a:t>
            </a:r>
            <a:r>
              <a:rPr lang="zh-CN" altLang="en-US" sz="1800" dirty="0">
                <a:solidFill>
                  <a:srgbClr val="000000"/>
                </a:solidFill>
              </a:rPr>
              <a:t>、</a:t>
            </a:r>
            <a:r>
              <a:rPr lang="en-US" altLang="zh-CN" sz="1800" dirty="0">
                <a:solidFill>
                  <a:srgbClr val="000000"/>
                </a:solidFill>
              </a:rPr>
              <a:t>2</a:t>
            </a:r>
            <a:r>
              <a:rPr lang="zh-CN" altLang="en-US" sz="1800" dirty="0">
                <a:solidFill>
                  <a:srgbClr val="000000"/>
                </a:solidFill>
              </a:rPr>
              <a:t>、</a:t>
            </a:r>
            <a:r>
              <a:rPr lang="en-US" altLang="zh-CN" sz="1800" dirty="0">
                <a:solidFill>
                  <a:srgbClr val="000000"/>
                </a:solidFill>
              </a:rPr>
              <a:t>5</a:t>
            </a:r>
            <a:r>
              <a:rPr lang="zh-CN" altLang="en-US" sz="1800" dirty="0">
                <a:solidFill>
                  <a:srgbClr val="000000"/>
                </a:solidFill>
              </a:rPr>
              <a:t>、</a:t>
            </a:r>
            <a:r>
              <a:rPr lang="en-US" altLang="zh-CN" sz="1800" dirty="0">
                <a:solidFill>
                  <a:srgbClr val="000000"/>
                </a:solidFill>
              </a:rPr>
              <a:t>5</a:t>
            </a:r>
            <a:r>
              <a:rPr lang="zh-CN" altLang="en-US" sz="1800" dirty="0">
                <a:solidFill>
                  <a:srgbClr val="000000"/>
                </a:solidFill>
              </a:rPr>
              <a:t>、</a:t>
            </a:r>
            <a:r>
              <a:rPr lang="en-US" altLang="zh-CN" sz="1800" dirty="0">
                <a:solidFill>
                  <a:srgbClr val="000000"/>
                </a:solidFill>
              </a:rPr>
              <a:t>3</a:t>
            </a:r>
            <a:r>
              <a:rPr lang="zh-CN" altLang="en-US" sz="1800" dirty="0">
                <a:solidFill>
                  <a:srgbClr val="000000"/>
                </a:solidFill>
              </a:rPr>
              <a:t>中没有众数，但如果删除</a:t>
            </a:r>
            <a:r>
              <a:rPr lang="en-US" altLang="zh-CN" sz="1800" dirty="0">
                <a:solidFill>
                  <a:srgbClr val="000000"/>
                </a:solidFill>
              </a:rPr>
              <a:t>1</a:t>
            </a:r>
            <a:r>
              <a:rPr lang="zh-CN" altLang="en-US" sz="1800" dirty="0">
                <a:solidFill>
                  <a:srgbClr val="000000"/>
                </a:solidFill>
              </a:rPr>
              <a:t>和</a:t>
            </a:r>
            <a:r>
              <a:rPr lang="en-US" altLang="zh-CN" sz="1800" dirty="0">
                <a:solidFill>
                  <a:srgbClr val="000000"/>
                </a:solidFill>
              </a:rPr>
              <a:t>2</a:t>
            </a:r>
            <a:r>
              <a:rPr lang="zh-CN" altLang="en-US" sz="1800" dirty="0">
                <a:solidFill>
                  <a:srgbClr val="000000"/>
                </a:solidFill>
              </a:rPr>
              <a:t>，</a:t>
            </a:r>
            <a:r>
              <a:rPr lang="en-US" altLang="zh-CN" sz="1800" dirty="0">
                <a:solidFill>
                  <a:srgbClr val="000000"/>
                </a:solidFill>
              </a:rPr>
              <a:t>5</a:t>
            </a:r>
            <a:r>
              <a:rPr lang="zh-CN" altLang="en-US" sz="1800" dirty="0">
                <a:solidFill>
                  <a:srgbClr val="000000"/>
                </a:solidFill>
              </a:rPr>
              <a:t>就成了新的众数。）</a:t>
            </a:r>
          </a:p>
          <a:p>
            <a:r>
              <a:rPr lang="zh-CN" altLang="en-US" sz="1800" dirty="0">
                <a:solidFill>
                  <a:srgbClr val="000000"/>
                </a:solidFill>
              </a:rPr>
              <a:t>按出现的顺序依次扫描。引入变量</a:t>
            </a:r>
            <a:r>
              <a:rPr lang="en-US" altLang="zh-CN" sz="1800" dirty="0">
                <a:solidFill>
                  <a:srgbClr val="000000"/>
                </a:solidFill>
              </a:rPr>
              <a:t>C</a:t>
            </a:r>
            <a:r>
              <a:rPr lang="zh-CN" altLang="en-US" sz="1800" dirty="0">
                <a:solidFill>
                  <a:srgbClr val="000000"/>
                </a:solidFill>
              </a:rPr>
              <a:t>（候选者）和</a:t>
            </a:r>
            <a:r>
              <a:rPr lang="en-US" altLang="zh-CN" sz="1800" dirty="0">
                <a:solidFill>
                  <a:srgbClr val="000000"/>
                </a:solidFill>
              </a:rPr>
              <a:t>M</a:t>
            </a:r>
            <a:r>
              <a:rPr lang="zh-CN" altLang="en-US" sz="1800" dirty="0">
                <a:solidFill>
                  <a:srgbClr val="000000"/>
                </a:solidFill>
              </a:rPr>
              <a:t>（重数）。当考察</a:t>
            </a:r>
            <a:r>
              <a:rPr lang="en-US" altLang="zh-CN" sz="1800" dirty="0">
                <a:solidFill>
                  <a:srgbClr val="000000"/>
                </a:solidFill>
              </a:rPr>
              <a:t>x</a:t>
            </a:r>
            <a:r>
              <a:rPr lang="en-US" altLang="zh-CN" sz="1800" baseline="-25000" dirty="0">
                <a:solidFill>
                  <a:srgbClr val="000000"/>
                </a:solidFill>
              </a:rPr>
              <a:t>i</a:t>
            </a:r>
            <a:r>
              <a:rPr lang="zh-CN" altLang="en-US" sz="1800" dirty="0">
                <a:solidFill>
                  <a:srgbClr val="000000"/>
                </a:solidFill>
              </a:rPr>
              <a:t>时，</a:t>
            </a:r>
            <a:r>
              <a:rPr lang="en-US" altLang="zh-CN" sz="1800" dirty="0">
                <a:solidFill>
                  <a:srgbClr val="000000"/>
                </a:solidFill>
              </a:rPr>
              <a:t>C</a:t>
            </a:r>
            <a:r>
              <a:rPr lang="zh-CN" altLang="en-US" sz="1800" dirty="0">
                <a:solidFill>
                  <a:srgbClr val="000000"/>
                </a:solidFill>
              </a:rPr>
              <a:t>是</a:t>
            </a:r>
            <a:r>
              <a:rPr lang="en-US" altLang="zh-CN" sz="1800" dirty="0">
                <a:solidFill>
                  <a:srgbClr val="000000"/>
                </a:solidFill>
              </a:rPr>
              <a:t>x</a:t>
            </a:r>
            <a:r>
              <a:rPr lang="en-US" altLang="zh-CN" sz="1800" baseline="-25000" dirty="0">
                <a:solidFill>
                  <a:srgbClr val="000000"/>
                </a:solidFill>
              </a:rPr>
              <a:t>1</a:t>
            </a:r>
            <a:r>
              <a:rPr lang="en-US" altLang="zh-CN" sz="1800" dirty="0">
                <a:solidFill>
                  <a:srgbClr val="000000"/>
                </a:solidFill>
              </a:rPr>
              <a:t>,x</a:t>
            </a:r>
            <a:r>
              <a:rPr lang="en-US" altLang="zh-CN" sz="1800" baseline="-25000" dirty="0">
                <a:solidFill>
                  <a:srgbClr val="000000"/>
                </a:solidFill>
              </a:rPr>
              <a:t>2</a:t>
            </a:r>
            <a:r>
              <a:rPr lang="en-US" altLang="zh-CN" sz="1800" dirty="0">
                <a:solidFill>
                  <a:srgbClr val="000000"/>
                </a:solidFill>
              </a:rPr>
              <a:t>,…,x</a:t>
            </a:r>
            <a:r>
              <a:rPr lang="en-US" altLang="zh-CN" sz="1800" baseline="-25000" dirty="0">
                <a:solidFill>
                  <a:srgbClr val="000000"/>
                </a:solidFill>
              </a:rPr>
              <a:t>i-1</a:t>
            </a:r>
            <a:r>
              <a:rPr lang="zh-CN" altLang="en-US" sz="1800" dirty="0">
                <a:solidFill>
                  <a:srgbClr val="000000"/>
                </a:solidFill>
              </a:rPr>
              <a:t>中众数的候选者，</a:t>
            </a:r>
            <a:r>
              <a:rPr lang="en-US" altLang="zh-CN" sz="1800" dirty="0">
                <a:solidFill>
                  <a:srgbClr val="000000"/>
                </a:solidFill>
              </a:rPr>
              <a:t>M</a:t>
            </a:r>
            <a:r>
              <a:rPr lang="zh-CN" altLang="en-US" sz="1800" dirty="0">
                <a:solidFill>
                  <a:srgbClr val="000000"/>
                </a:solidFill>
              </a:rPr>
              <a:t>等于</a:t>
            </a:r>
            <a:r>
              <a:rPr lang="en-US" altLang="zh-CN" sz="1800" dirty="0">
                <a:solidFill>
                  <a:srgbClr val="000000"/>
                </a:solidFill>
              </a:rPr>
              <a:t>C</a:t>
            </a:r>
            <a:r>
              <a:rPr lang="zh-CN" altLang="en-US" sz="1800" dirty="0">
                <a:solidFill>
                  <a:srgbClr val="000000"/>
                </a:solidFill>
              </a:rPr>
              <a:t>当前已出现的次数减去被删除的次数，即</a:t>
            </a:r>
            <a:r>
              <a:rPr lang="en-US" altLang="zh-CN" sz="1800" dirty="0">
                <a:solidFill>
                  <a:srgbClr val="000000"/>
                </a:solidFill>
              </a:rPr>
              <a:t>x</a:t>
            </a:r>
            <a:r>
              <a:rPr lang="en-US" altLang="zh-CN" sz="1800" baseline="-25000" dirty="0">
                <a:solidFill>
                  <a:srgbClr val="000000"/>
                </a:solidFill>
              </a:rPr>
              <a:t>1</a:t>
            </a:r>
            <a:r>
              <a:rPr lang="en-US" altLang="zh-CN" sz="1800" dirty="0">
                <a:solidFill>
                  <a:srgbClr val="000000"/>
                </a:solidFill>
              </a:rPr>
              <a:t>,x</a:t>
            </a:r>
            <a:r>
              <a:rPr lang="en-US" altLang="zh-CN" sz="1800" baseline="-25000" dirty="0">
                <a:solidFill>
                  <a:srgbClr val="000000"/>
                </a:solidFill>
              </a:rPr>
              <a:t>2</a:t>
            </a:r>
            <a:r>
              <a:rPr lang="en-US" altLang="zh-CN" sz="1800" dirty="0">
                <a:solidFill>
                  <a:srgbClr val="000000"/>
                </a:solidFill>
              </a:rPr>
              <a:t>,…,x</a:t>
            </a:r>
            <a:r>
              <a:rPr lang="en-US" altLang="zh-CN" sz="1800" baseline="-25000" dirty="0">
                <a:solidFill>
                  <a:srgbClr val="000000"/>
                </a:solidFill>
              </a:rPr>
              <a:t>i-1</a:t>
            </a:r>
            <a:r>
              <a:rPr lang="zh-CN" altLang="en-US" sz="1800" dirty="0">
                <a:solidFill>
                  <a:srgbClr val="000000"/>
                </a:solidFill>
              </a:rPr>
              <a:t>被分成大小分别为</a:t>
            </a:r>
            <a:r>
              <a:rPr lang="en-US" altLang="zh-CN" sz="1800" dirty="0">
                <a:solidFill>
                  <a:srgbClr val="000000"/>
                </a:solidFill>
              </a:rPr>
              <a:t>2k</a:t>
            </a:r>
            <a:r>
              <a:rPr lang="zh-CN" altLang="en-US" sz="1800" dirty="0">
                <a:solidFill>
                  <a:srgbClr val="000000"/>
                </a:solidFill>
              </a:rPr>
              <a:t>和</a:t>
            </a:r>
            <a:r>
              <a:rPr lang="en-US" altLang="zh-CN" sz="1800" dirty="0">
                <a:solidFill>
                  <a:srgbClr val="000000"/>
                </a:solidFill>
              </a:rPr>
              <a:t>M</a:t>
            </a:r>
            <a:r>
              <a:rPr lang="zh-CN" altLang="en-US" sz="1800" dirty="0">
                <a:solidFill>
                  <a:srgbClr val="000000"/>
                </a:solidFill>
              </a:rPr>
              <a:t>的两组，其中</a:t>
            </a:r>
            <a:r>
              <a:rPr lang="en-US" altLang="zh-CN" sz="1800" dirty="0">
                <a:solidFill>
                  <a:srgbClr val="000000"/>
                </a:solidFill>
              </a:rPr>
              <a:t>2k+M=</a:t>
            </a:r>
            <a:r>
              <a:rPr lang="en-US" altLang="zh-CN" sz="1800" dirty="0" err="1">
                <a:solidFill>
                  <a:srgbClr val="000000"/>
                </a:solidFill>
              </a:rPr>
              <a:t>i</a:t>
            </a:r>
            <a:r>
              <a:rPr lang="en-US" altLang="zh-CN" sz="1800" dirty="0">
                <a:solidFill>
                  <a:srgbClr val="000000"/>
                </a:solidFill>
              </a:rPr>
              <a:t>–1</a:t>
            </a:r>
            <a:r>
              <a:rPr lang="zh-CN" altLang="en-US" sz="1800" dirty="0">
                <a:solidFill>
                  <a:srgbClr val="000000"/>
                </a:solidFill>
              </a:rPr>
              <a:t>。第一组有</a:t>
            </a:r>
            <a:r>
              <a:rPr lang="en-US" altLang="zh-CN" sz="1800" dirty="0">
                <a:solidFill>
                  <a:srgbClr val="000000"/>
                </a:solidFill>
              </a:rPr>
              <a:t>k</a:t>
            </a:r>
            <a:r>
              <a:rPr lang="zh-CN" altLang="en-US" sz="1800" dirty="0">
                <a:solidFill>
                  <a:srgbClr val="000000"/>
                </a:solidFill>
              </a:rPr>
              <a:t>对不同的数，第二组包含已至少出现</a:t>
            </a:r>
            <a:r>
              <a:rPr lang="en-US" altLang="zh-CN" sz="1800" dirty="0">
                <a:solidFill>
                  <a:srgbClr val="000000"/>
                </a:solidFill>
              </a:rPr>
              <a:t>M</a:t>
            </a:r>
            <a:r>
              <a:rPr lang="zh-CN" altLang="en-US" sz="1800" dirty="0">
                <a:solidFill>
                  <a:srgbClr val="000000"/>
                </a:solidFill>
              </a:rPr>
              <a:t>次的</a:t>
            </a:r>
            <a:r>
              <a:rPr lang="en-US" altLang="zh-CN" sz="1800" dirty="0">
                <a:solidFill>
                  <a:srgbClr val="000000"/>
                </a:solidFill>
              </a:rPr>
              <a:t>C</a:t>
            </a:r>
            <a:r>
              <a:rPr lang="zh-CN" altLang="en-US" sz="1800" dirty="0">
                <a:solidFill>
                  <a:srgbClr val="000000"/>
                </a:solidFill>
              </a:rPr>
              <a:t>。如果在</a:t>
            </a:r>
            <a:r>
              <a:rPr lang="en-US" altLang="zh-CN" sz="1800" dirty="0">
                <a:solidFill>
                  <a:srgbClr val="000000"/>
                </a:solidFill>
              </a:rPr>
              <a:t>x</a:t>
            </a:r>
            <a:r>
              <a:rPr lang="en-US" altLang="zh-CN" sz="1800" baseline="-25000" dirty="0">
                <a:solidFill>
                  <a:srgbClr val="000000"/>
                </a:solidFill>
              </a:rPr>
              <a:t>1</a:t>
            </a:r>
            <a:r>
              <a:rPr lang="en-US" altLang="zh-CN" sz="1800" dirty="0">
                <a:solidFill>
                  <a:srgbClr val="000000"/>
                </a:solidFill>
              </a:rPr>
              <a:t>,x</a:t>
            </a:r>
            <a:r>
              <a:rPr lang="en-US" altLang="zh-CN" sz="1800" baseline="-25000" dirty="0">
                <a:solidFill>
                  <a:srgbClr val="000000"/>
                </a:solidFill>
              </a:rPr>
              <a:t>2</a:t>
            </a:r>
            <a:r>
              <a:rPr lang="en-US" altLang="zh-CN" sz="1800" dirty="0">
                <a:solidFill>
                  <a:srgbClr val="000000"/>
                </a:solidFill>
              </a:rPr>
              <a:t>,…,x</a:t>
            </a:r>
            <a:r>
              <a:rPr lang="en-US" altLang="zh-CN" sz="1800" baseline="-25000" dirty="0">
                <a:solidFill>
                  <a:srgbClr val="000000"/>
                </a:solidFill>
              </a:rPr>
              <a:t>i-1</a:t>
            </a:r>
            <a:r>
              <a:rPr lang="zh-CN" altLang="en-US" sz="1800" dirty="0">
                <a:solidFill>
                  <a:srgbClr val="000000"/>
                </a:solidFill>
              </a:rPr>
              <a:t>中存在众数，在不断删除后，它必定能胜出并等于</a:t>
            </a:r>
            <a:r>
              <a:rPr lang="en-US" altLang="zh-CN" sz="1800" dirty="0">
                <a:solidFill>
                  <a:srgbClr val="000000"/>
                </a:solidFill>
              </a:rPr>
              <a:t>C</a:t>
            </a:r>
            <a:r>
              <a:rPr lang="zh-CN" altLang="en-US" sz="1800" dirty="0">
                <a:solidFill>
                  <a:srgbClr val="000000"/>
                </a:solidFill>
              </a:rPr>
              <a:t>。（</a:t>
            </a:r>
            <a:r>
              <a:rPr lang="en-US" altLang="zh-CN" sz="1800" dirty="0">
                <a:solidFill>
                  <a:srgbClr val="000000"/>
                </a:solidFill>
              </a:rPr>
              <a:t>C</a:t>
            </a:r>
            <a:r>
              <a:rPr lang="zh-CN" altLang="en-US" sz="1800" dirty="0">
                <a:solidFill>
                  <a:srgbClr val="000000"/>
                </a:solidFill>
              </a:rPr>
              <a:t>不是众数，也有可能在删除后胜出。）考察</a:t>
            </a:r>
            <a:r>
              <a:rPr lang="en-US" altLang="zh-CN" sz="1800" dirty="0">
                <a:solidFill>
                  <a:srgbClr val="000000"/>
                </a:solidFill>
              </a:rPr>
              <a:t>x</a:t>
            </a:r>
            <a:r>
              <a:rPr lang="en-US" altLang="zh-CN" sz="1800" baseline="-25000" dirty="0">
                <a:solidFill>
                  <a:srgbClr val="000000"/>
                </a:solidFill>
              </a:rPr>
              <a:t>i</a:t>
            </a:r>
            <a:r>
              <a:rPr lang="zh-CN" altLang="en-US" sz="1800" dirty="0">
                <a:solidFill>
                  <a:srgbClr val="000000"/>
                </a:solidFill>
              </a:rPr>
              <a:t>，将它同</a:t>
            </a:r>
            <a:r>
              <a:rPr lang="en-US" altLang="zh-CN" sz="1800" dirty="0">
                <a:solidFill>
                  <a:srgbClr val="000000"/>
                </a:solidFill>
              </a:rPr>
              <a:t>C</a:t>
            </a:r>
            <a:r>
              <a:rPr lang="zh-CN" altLang="en-US" sz="1800" dirty="0">
                <a:solidFill>
                  <a:srgbClr val="000000"/>
                </a:solidFill>
              </a:rPr>
              <a:t>比较，根据比较结果增加或减少</a:t>
            </a:r>
            <a:r>
              <a:rPr lang="en-US" altLang="zh-CN" sz="1800" dirty="0">
                <a:solidFill>
                  <a:srgbClr val="000000"/>
                </a:solidFill>
              </a:rPr>
              <a:t>C</a:t>
            </a:r>
            <a:r>
              <a:rPr lang="zh-CN" altLang="en-US" sz="1800" dirty="0">
                <a:solidFill>
                  <a:srgbClr val="000000"/>
                </a:solidFill>
              </a:rPr>
              <a:t>出现次数。若不存在候选的众数（</a:t>
            </a:r>
            <a:r>
              <a:rPr lang="en-US" altLang="zh-CN" sz="1800" dirty="0">
                <a:solidFill>
                  <a:srgbClr val="000000"/>
                </a:solidFill>
              </a:rPr>
              <a:t>M=0</a:t>
            </a:r>
            <a:r>
              <a:rPr lang="zh-CN" altLang="en-US" sz="1800" dirty="0">
                <a:solidFill>
                  <a:srgbClr val="000000"/>
                </a:solidFill>
              </a:rPr>
              <a:t>），则</a:t>
            </a:r>
            <a:r>
              <a:rPr lang="en-US" altLang="zh-CN" sz="1800" dirty="0">
                <a:solidFill>
                  <a:srgbClr val="000000"/>
                </a:solidFill>
              </a:rPr>
              <a:t>C=x</a:t>
            </a:r>
            <a:r>
              <a:rPr lang="en-US" altLang="zh-CN" sz="1800" baseline="-25000" dirty="0">
                <a:solidFill>
                  <a:srgbClr val="000000"/>
                </a:solidFill>
              </a:rPr>
              <a:t>i</a:t>
            </a:r>
            <a:r>
              <a:rPr lang="zh-CN" altLang="en-US" sz="1800" dirty="0">
                <a:solidFill>
                  <a:srgbClr val="000000"/>
                </a:solidFill>
              </a:rPr>
              <a:t>，</a:t>
            </a:r>
            <a:r>
              <a:rPr lang="en-US" altLang="zh-CN" sz="1800" dirty="0">
                <a:solidFill>
                  <a:srgbClr val="000000"/>
                </a:solidFill>
              </a:rPr>
              <a:t>M=1</a:t>
            </a:r>
            <a:r>
              <a:rPr lang="zh-CN" altLang="en-US" sz="1800" dirty="0">
                <a:solidFill>
                  <a:srgbClr val="000000"/>
                </a:solidFill>
              </a:rPr>
              <a:t>。最后只剩一个候选者</a:t>
            </a:r>
            <a:r>
              <a:rPr lang="en-US" altLang="zh-CN" sz="1800" dirty="0">
                <a:solidFill>
                  <a:srgbClr val="000000"/>
                </a:solidFill>
              </a:rPr>
              <a:t>C</a:t>
            </a:r>
            <a:r>
              <a:rPr lang="zh-CN" altLang="en-US" sz="1800" dirty="0">
                <a:solidFill>
                  <a:srgbClr val="000000"/>
                </a:solidFill>
              </a:rPr>
              <a:t>，统计其出现次数便能判定它是否为众数。</a:t>
            </a:r>
          </a:p>
          <a:p>
            <a:endParaRPr lang="zh-CN" altLang="en-US" sz="1800" dirty="0"/>
          </a:p>
        </p:txBody>
      </p:sp>
      <p:sp>
        <p:nvSpPr>
          <p:cNvPr id="4" name="Rectangle 3">
            <a:extLst>
              <a:ext uri="{FF2B5EF4-FFF2-40B4-BE49-F238E27FC236}">
                <a16:creationId xmlns:a16="http://schemas.microsoft.com/office/drawing/2014/main" id="{AD5090E2-C401-4075-9652-D58EF1C00BD2}"/>
              </a:ext>
            </a:extLst>
          </p:cNvPr>
          <p:cNvSpPr txBox="1">
            <a:spLocks noChangeArrowheads="1"/>
          </p:cNvSpPr>
          <p:nvPr/>
        </p:nvSpPr>
        <p:spPr>
          <a:xfrm>
            <a:off x="6019800" y="784225"/>
            <a:ext cx="6223000" cy="466725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sz="1800" dirty="0">
                <a:solidFill>
                  <a:srgbClr val="000000"/>
                </a:solidFill>
              </a:rPr>
              <a:t>Algorithm Majority(</a:t>
            </a:r>
            <a:r>
              <a:rPr lang="en-US" altLang="zh-CN" sz="1800" dirty="0" err="1">
                <a:solidFill>
                  <a:srgbClr val="000000"/>
                </a:solidFill>
              </a:rPr>
              <a:t>X,n</a:t>
            </a:r>
            <a:r>
              <a:rPr lang="en-US" altLang="zh-CN" sz="1800" dirty="0">
                <a:solidFill>
                  <a:srgbClr val="000000"/>
                </a:solidFill>
              </a:rPr>
              <a:t>)</a:t>
            </a:r>
          </a:p>
          <a:p>
            <a:pPr>
              <a:buFont typeface="Arial" panose="020B0604020202020204" pitchFamily="34" charset="0"/>
              <a:buNone/>
            </a:pPr>
            <a:r>
              <a:rPr lang="en-US" altLang="zh-CN" sz="1800" dirty="0">
                <a:solidFill>
                  <a:srgbClr val="000000"/>
                </a:solidFill>
              </a:rPr>
              <a:t>Input: X (an array of size n of positive numbers)</a:t>
            </a:r>
          </a:p>
          <a:p>
            <a:pPr>
              <a:buFont typeface="Arial" panose="020B0604020202020204" pitchFamily="34" charset="0"/>
              <a:buNone/>
            </a:pPr>
            <a:r>
              <a:rPr lang="en-US" altLang="zh-CN" sz="1800" dirty="0">
                <a:solidFill>
                  <a:srgbClr val="000000"/>
                </a:solidFill>
              </a:rPr>
              <a:t>Output: Majority (the majority in X if it exists, or -1 otherwise)</a:t>
            </a:r>
          </a:p>
          <a:p>
            <a:pPr>
              <a:buFont typeface="Arial" panose="020B0604020202020204" pitchFamily="34" charset="0"/>
              <a:buNone/>
            </a:pPr>
            <a:r>
              <a:rPr lang="en-US" altLang="zh-CN" sz="1800" dirty="0">
                <a:solidFill>
                  <a:srgbClr val="000000"/>
                </a:solidFill>
              </a:rPr>
              <a:t>begin</a:t>
            </a:r>
          </a:p>
          <a:p>
            <a:pPr>
              <a:buFont typeface="Arial" panose="020B0604020202020204" pitchFamily="34" charset="0"/>
              <a:buNone/>
            </a:pPr>
            <a:r>
              <a:rPr lang="en-US" altLang="zh-CN" sz="1800" dirty="0">
                <a:solidFill>
                  <a:srgbClr val="000000"/>
                </a:solidFill>
              </a:rPr>
              <a:t>    C:=X[1];    M:=1;</a:t>
            </a:r>
          </a:p>
          <a:p>
            <a:pPr>
              <a:buFont typeface="Arial" panose="020B0604020202020204" pitchFamily="34" charset="0"/>
              <a:buNone/>
            </a:pPr>
            <a:r>
              <a:rPr lang="en-US" altLang="zh-CN" sz="1800" dirty="0">
                <a:solidFill>
                  <a:srgbClr val="000000"/>
                </a:solidFill>
              </a:rPr>
              <a:t>    for i:=2 to n do</a:t>
            </a:r>
          </a:p>
          <a:p>
            <a:pPr>
              <a:buFont typeface="Arial" panose="020B0604020202020204" pitchFamily="34" charset="0"/>
              <a:buNone/>
            </a:pPr>
            <a:r>
              <a:rPr lang="en-US" altLang="zh-CN" sz="1800" dirty="0">
                <a:solidFill>
                  <a:srgbClr val="000000"/>
                </a:solidFill>
              </a:rPr>
              <a:t>        if M=0 then</a:t>
            </a:r>
          </a:p>
          <a:p>
            <a:pPr>
              <a:buFont typeface="Arial" panose="020B0604020202020204" pitchFamily="34" charset="0"/>
              <a:buNone/>
            </a:pPr>
            <a:r>
              <a:rPr lang="en-US" altLang="zh-CN" sz="1800" dirty="0">
                <a:solidFill>
                  <a:srgbClr val="000000"/>
                </a:solidFill>
              </a:rPr>
              <a:t>            C:=X[i];     M:=1;</a:t>
            </a:r>
          </a:p>
          <a:p>
            <a:pPr>
              <a:buFont typeface="Arial" panose="020B0604020202020204" pitchFamily="34" charset="0"/>
              <a:buNone/>
            </a:pPr>
            <a:r>
              <a:rPr lang="en-US" altLang="zh-CN" sz="1800" dirty="0">
                <a:solidFill>
                  <a:srgbClr val="000000"/>
                </a:solidFill>
              </a:rPr>
              <a:t>        else</a:t>
            </a:r>
          </a:p>
          <a:p>
            <a:pPr>
              <a:buFont typeface="Arial" panose="020B0604020202020204" pitchFamily="34" charset="0"/>
              <a:buNone/>
            </a:pPr>
            <a:r>
              <a:rPr lang="en-US" altLang="zh-CN" sz="1800" dirty="0">
                <a:solidFill>
                  <a:srgbClr val="000000"/>
                </a:solidFill>
              </a:rPr>
              <a:t>            if C=X[</a:t>
            </a:r>
            <a:r>
              <a:rPr lang="en-US" altLang="zh-CN" sz="1800" dirty="0" err="1">
                <a:solidFill>
                  <a:srgbClr val="000000"/>
                </a:solidFill>
              </a:rPr>
              <a:t>i</a:t>
            </a:r>
            <a:r>
              <a:rPr lang="en-US" altLang="zh-CN" sz="1800" dirty="0">
                <a:solidFill>
                  <a:srgbClr val="000000"/>
                </a:solidFill>
              </a:rPr>
              <a:t>] then M:=M+1</a:t>
            </a:r>
          </a:p>
          <a:p>
            <a:pPr>
              <a:buFont typeface="Arial" panose="020B0604020202020204" pitchFamily="34" charset="0"/>
              <a:buNone/>
            </a:pPr>
            <a:r>
              <a:rPr lang="en-US" altLang="zh-CN" sz="1800" dirty="0">
                <a:solidFill>
                  <a:srgbClr val="000000"/>
                </a:solidFill>
              </a:rPr>
              <a:t>            else M:=M-1;</a:t>
            </a:r>
          </a:p>
          <a:p>
            <a:pPr>
              <a:buFont typeface="Arial" panose="020B0604020202020204" pitchFamily="34" charset="0"/>
              <a:buNone/>
            </a:pPr>
            <a:r>
              <a:rPr lang="en-US" altLang="zh-CN" sz="1800" dirty="0">
                <a:solidFill>
                  <a:srgbClr val="000000"/>
                </a:solidFill>
              </a:rPr>
              <a:t>    if M=0 then Majority:=-1</a:t>
            </a:r>
          </a:p>
          <a:p>
            <a:pPr>
              <a:buFont typeface="Arial" panose="020B0604020202020204" pitchFamily="34" charset="0"/>
              <a:buNone/>
            </a:pPr>
            <a:r>
              <a:rPr lang="en-US" altLang="zh-CN" sz="1800" dirty="0">
                <a:solidFill>
                  <a:srgbClr val="000000"/>
                </a:solidFill>
              </a:rPr>
              <a:t>    else</a:t>
            </a:r>
          </a:p>
          <a:p>
            <a:pPr>
              <a:buFont typeface="Arial" panose="020B0604020202020204" pitchFamily="34" charset="0"/>
              <a:buNone/>
            </a:pPr>
            <a:r>
              <a:rPr lang="en-US" altLang="zh-CN" sz="1800" dirty="0">
                <a:solidFill>
                  <a:srgbClr val="000000"/>
                </a:solidFill>
              </a:rPr>
              <a:t>        Count:=0;</a:t>
            </a:r>
          </a:p>
          <a:p>
            <a:pPr>
              <a:buFont typeface="Arial" panose="020B0604020202020204" pitchFamily="34" charset="0"/>
              <a:buNone/>
            </a:pPr>
            <a:r>
              <a:rPr lang="en-US" altLang="zh-CN" sz="1800" dirty="0">
                <a:solidFill>
                  <a:srgbClr val="000000"/>
                </a:solidFill>
              </a:rPr>
              <a:t>        for i:=1 to n do</a:t>
            </a:r>
          </a:p>
          <a:p>
            <a:pPr>
              <a:buFont typeface="Arial" panose="020B0604020202020204" pitchFamily="34" charset="0"/>
              <a:buNone/>
            </a:pPr>
            <a:r>
              <a:rPr lang="en-US" altLang="zh-CN" sz="1800" dirty="0">
                <a:solidFill>
                  <a:srgbClr val="000000"/>
                </a:solidFill>
              </a:rPr>
              <a:t>            if X[</a:t>
            </a:r>
            <a:r>
              <a:rPr lang="en-US" altLang="zh-CN" sz="1800" dirty="0" err="1">
                <a:solidFill>
                  <a:srgbClr val="000000"/>
                </a:solidFill>
              </a:rPr>
              <a:t>i</a:t>
            </a:r>
            <a:r>
              <a:rPr lang="en-US" altLang="zh-CN" sz="1800" dirty="0">
                <a:solidFill>
                  <a:srgbClr val="000000"/>
                </a:solidFill>
              </a:rPr>
              <a:t>]=C then Count:=Count+1;</a:t>
            </a:r>
          </a:p>
          <a:p>
            <a:pPr>
              <a:buFont typeface="Arial" panose="020B0604020202020204" pitchFamily="34" charset="0"/>
              <a:buNone/>
            </a:pPr>
            <a:r>
              <a:rPr lang="en-US" altLang="zh-CN" sz="1800" dirty="0">
                <a:solidFill>
                  <a:srgbClr val="000000"/>
                </a:solidFill>
              </a:rPr>
              <a:t>        if Count&gt;n/2 then Majority:=C else Majority:=-1;</a:t>
            </a:r>
          </a:p>
          <a:p>
            <a:pPr>
              <a:buFont typeface="Arial" panose="020B0604020202020204" pitchFamily="34" charset="0"/>
              <a:buNone/>
            </a:pPr>
            <a:r>
              <a:rPr lang="en-US" altLang="zh-CN" sz="1800" dirty="0">
                <a:solidFill>
                  <a:srgbClr val="000000"/>
                </a:solidFill>
              </a:rPr>
              <a:t>end</a:t>
            </a:r>
          </a:p>
          <a:p>
            <a:pPr>
              <a:buFont typeface="Arial" panose="020B0604020202020204" pitchFamily="34" charset="0"/>
              <a:buNone/>
            </a:pPr>
            <a:endParaRPr lang="en-US" altLang="zh-CN" sz="1800" dirty="0">
              <a:solidFill>
                <a:srgbClr val="000000"/>
              </a:solidFill>
            </a:endParaRPr>
          </a:p>
          <a:p>
            <a:pPr>
              <a:buFont typeface="Arial" panose="020B0604020202020204" pitchFamily="34" charset="0"/>
              <a:buNone/>
            </a:pPr>
            <a:r>
              <a:rPr lang="zh-CN" altLang="en-US" sz="1800" dirty="0">
                <a:solidFill>
                  <a:srgbClr val="000000"/>
                </a:solidFill>
              </a:rPr>
              <a:t>算法复杂度：找到候选者需</a:t>
            </a:r>
            <a:r>
              <a:rPr lang="en-US" altLang="zh-CN" sz="1800" dirty="0">
                <a:solidFill>
                  <a:srgbClr val="000000"/>
                </a:solidFill>
              </a:rPr>
              <a:t>n-1</a:t>
            </a:r>
            <a:r>
              <a:rPr lang="zh-CN" altLang="en-US" sz="1800" dirty="0">
                <a:solidFill>
                  <a:srgbClr val="000000"/>
                </a:solidFill>
              </a:rPr>
              <a:t>次比较，最坏情况下判定该候选者是否为众数也需要</a:t>
            </a:r>
            <a:r>
              <a:rPr lang="en-US" altLang="zh-CN" sz="1800" dirty="0">
                <a:solidFill>
                  <a:srgbClr val="000000"/>
                </a:solidFill>
              </a:rPr>
              <a:t>n-1</a:t>
            </a:r>
            <a:r>
              <a:rPr lang="zh-CN" altLang="en-US" sz="1800" dirty="0">
                <a:solidFill>
                  <a:srgbClr val="000000"/>
                </a:solidFill>
              </a:rPr>
              <a:t>次比较。因此，总共需</a:t>
            </a:r>
            <a:r>
              <a:rPr lang="en-US" altLang="zh-CN" sz="1800" dirty="0">
                <a:solidFill>
                  <a:srgbClr val="000000"/>
                </a:solidFill>
              </a:rPr>
              <a:t>2n – 2</a:t>
            </a:r>
            <a:r>
              <a:rPr lang="zh-CN" altLang="en-US" sz="1800" dirty="0">
                <a:solidFill>
                  <a:srgbClr val="000000"/>
                </a:solidFill>
              </a:rPr>
              <a:t>次比较。</a:t>
            </a:r>
          </a:p>
          <a:p>
            <a:pPr>
              <a:buFont typeface="Arial" panose="020B0604020202020204" pitchFamily="34" charset="0"/>
              <a:buNone/>
            </a:pPr>
            <a:endParaRPr lang="zh-CN" altLang="en-US" sz="1800" dirty="0">
              <a:solidFill>
                <a:srgbClr val="000000"/>
              </a:solidFill>
            </a:endParaRPr>
          </a:p>
        </p:txBody>
      </p:sp>
    </p:spTree>
    <p:extLst>
      <p:ext uri="{BB962C8B-B14F-4D97-AF65-F5344CB8AC3E}">
        <p14:creationId xmlns:p14="http://schemas.microsoft.com/office/powerpoint/2010/main" val="31031999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C42CAC-663F-42DE-9EA2-E0E78AB6B905}"/>
              </a:ext>
            </a:extLst>
          </p:cNvPr>
          <p:cNvSpPr>
            <a:spLocks noGrp="1"/>
          </p:cNvSpPr>
          <p:nvPr>
            <p:ph type="title"/>
          </p:nvPr>
        </p:nvSpPr>
        <p:spPr/>
        <p:txBody>
          <a:bodyPr/>
          <a:lstStyle/>
          <a:p>
            <a:r>
              <a:rPr lang="zh-CN" altLang="en-US" dirty="0"/>
              <a:t>频繁元素</a:t>
            </a:r>
          </a:p>
        </p:txBody>
      </p:sp>
      <p:sp>
        <p:nvSpPr>
          <p:cNvPr id="3" name="内容占位符 2">
            <a:extLst>
              <a:ext uri="{FF2B5EF4-FFF2-40B4-BE49-F238E27FC236}">
                <a16:creationId xmlns:a16="http://schemas.microsoft.com/office/drawing/2014/main" id="{FCDEC552-10C9-4AB9-9910-02E9ACB64330}"/>
              </a:ext>
            </a:extLst>
          </p:cNvPr>
          <p:cNvSpPr>
            <a:spLocks noGrp="1"/>
          </p:cNvSpPr>
          <p:nvPr>
            <p:ph idx="1"/>
          </p:nvPr>
        </p:nvSpPr>
        <p:spPr/>
        <p:txBody>
          <a:bodyPr>
            <a:normAutofit/>
          </a:bodyPr>
          <a:lstStyle/>
          <a:p>
            <a:r>
              <a:rPr lang="zh-CN" altLang="zh-CN" sz="2400" dirty="0"/>
              <a:t>频繁元素是指输入数据中有些元素会出现多次，希望找到出现最频繁的</a:t>
            </a:r>
            <a:r>
              <a:rPr lang="en-US" altLang="zh-CN" sz="2400" dirty="0"/>
              <a:t>t</a:t>
            </a:r>
            <a:r>
              <a:rPr lang="zh-CN" altLang="zh-CN" sz="2400" dirty="0"/>
              <a:t>个</a:t>
            </a:r>
            <a:endParaRPr lang="en-US" altLang="zh-CN" sz="2400" dirty="0"/>
          </a:p>
          <a:p>
            <a:r>
              <a:rPr lang="zh-CN" altLang="zh-CN" sz="2400" dirty="0"/>
              <a:t>如果输入数据不是很多，可以对每一个不同的元素设立一个计数器，数据输入时，相应的计数器加</a:t>
            </a:r>
            <a:r>
              <a:rPr lang="en-US" altLang="zh-CN" sz="2400" dirty="0"/>
              <a:t>1</a:t>
            </a:r>
            <a:r>
              <a:rPr lang="zh-CN" altLang="zh-CN" sz="2400" dirty="0"/>
              <a:t>。这样的算法是一个精确的算法，但需要的内存量可能会比较大，尤其是数据种类很多时，并且输入数据的数量也很多时，这一矛盾就会更加突出。</a:t>
            </a:r>
          </a:p>
          <a:p>
            <a:endParaRPr lang="zh-CN" altLang="en-US" sz="2400" dirty="0"/>
          </a:p>
        </p:txBody>
      </p:sp>
    </p:spTree>
    <p:extLst>
      <p:ext uri="{BB962C8B-B14F-4D97-AF65-F5344CB8AC3E}">
        <p14:creationId xmlns:p14="http://schemas.microsoft.com/office/powerpoint/2010/main" val="3865073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8C0C2-7FB2-4D98-AA32-2D372388E88F}"/>
              </a:ext>
            </a:extLst>
          </p:cNvPr>
          <p:cNvSpPr>
            <a:spLocks noGrp="1"/>
          </p:cNvSpPr>
          <p:nvPr>
            <p:ph type="title"/>
          </p:nvPr>
        </p:nvSpPr>
        <p:spPr/>
        <p:txBody>
          <a:bodyPr/>
          <a:lstStyle/>
          <a:p>
            <a:r>
              <a:rPr lang="zh-CN" altLang="en-US" dirty="0"/>
              <a:t>频繁元素</a:t>
            </a:r>
            <a:r>
              <a:rPr lang="en-US" altLang="zh-CN" dirty="0"/>
              <a:t>-- </a:t>
            </a:r>
            <a:r>
              <a:rPr lang="en-US" altLang="zh-CN" dirty="0" err="1"/>
              <a:t>Misra-Gries</a:t>
            </a:r>
            <a:r>
              <a:rPr lang="zh-CN" altLang="en-US" dirty="0"/>
              <a:t>算法</a:t>
            </a:r>
          </a:p>
        </p:txBody>
      </p:sp>
      <p:sp>
        <p:nvSpPr>
          <p:cNvPr id="3" name="内容占位符 2">
            <a:extLst>
              <a:ext uri="{FF2B5EF4-FFF2-40B4-BE49-F238E27FC236}">
                <a16:creationId xmlns:a16="http://schemas.microsoft.com/office/drawing/2014/main" id="{A458ABFB-54B8-48EF-B50F-B90552FC0069}"/>
              </a:ext>
            </a:extLst>
          </p:cNvPr>
          <p:cNvSpPr>
            <a:spLocks noGrp="1"/>
          </p:cNvSpPr>
          <p:nvPr>
            <p:ph idx="1"/>
          </p:nvPr>
        </p:nvSpPr>
        <p:spPr>
          <a:xfrm>
            <a:off x="838200" y="1825625"/>
            <a:ext cx="4953000" cy="4351338"/>
          </a:xfrm>
        </p:spPr>
        <p:txBody>
          <a:bodyPr>
            <a:normAutofit/>
          </a:bodyPr>
          <a:lstStyle/>
          <a:p>
            <a:r>
              <a:rPr lang="en-US" altLang="zh-CN" sz="2000" dirty="0" err="1"/>
              <a:t>Misra-Gries</a:t>
            </a:r>
            <a:r>
              <a:rPr lang="zh-CN" altLang="zh-CN" sz="2000" dirty="0"/>
              <a:t>算法是一种计算频繁元素的</a:t>
            </a:r>
            <a:r>
              <a:rPr lang="zh-CN" altLang="zh-CN" sz="2000" dirty="0">
                <a:solidFill>
                  <a:srgbClr val="FF0000"/>
                </a:solidFill>
              </a:rPr>
              <a:t>近似</a:t>
            </a:r>
            <a:r>
              <a:rPr lang="zh-CN" altLang="zh-CN" sz="2000" dirty="0"/>
              <a:t>算法，该算法需要事先规定计数器的最大数量</a:t>
            </a:r>
            <a:r>
              <a:rPr lang="en-US" altLang="zh-CN" sz="2000" dirty="0"/>
              <a:t>k</a:t>
            </a:r>
            <a:r>
              <a:rPr lang="zh-CN" altLang="zh-CN" sz="2000" dirty="0"/>
              <a:t>，即只在内存中保留</a:t>
            </a:r>
            <a:r>
              <a:rPr lang="en-US" altLang="zh-CN" sz="2000" dirty="0"/>
              <a:t>k</a:t>
            </a:r>
            <a:r>
              <a:rPr lang="zh-CN" altLang="zh-CN" sz="2000" dirty="0"/>
              <a:t>个计数器。当有数据输入时，检查是否已经为其分配了计数器，这时共有三种不同的情况需要处理：</a:t>
            </a:r>
          </a:p>
          <a:p>
            <a:r>
              <a:rPr lang="en-US" altLang="zh-CN" sz="2000" dirty="0"/>
              <a:t>1</a:t>
            </a:r>
            <a:r>
              <a:rPr lang="zh-CN" altLang="en-US" sz="2000" dirty="0"/>
              <a:t>）</a:t>
            </a:r>
            <a:r>
              <a:rPr lang="zh-CN" altLang="zh-CN" sz="2000" dirty="0"/>
              <a:t>有对应的计数器，则相应的计数器加</a:t>
            </a:r>
            <a:r>
              <a:rPr lang="en-US" altLang="zh-CN" sz="2000" dirty="0"/>
              <a:t>1</a:t>
            </a:r>
            <a:endParaRPr lang="zh-CN" altLang="zh-CN" sz="2000" dirty="0"/>
          </a:p>
          <a:p>
            <a:r>
              <a:rPr lang="en-US" altLang="zh-CN" sz="2000" dirty="0"/>
              <a:t>2</a:t>
            </a:r>
            <a:r>
              <a:rPr lang="zh-CN" altLang="en-US" sz="2000" dirty="0"/>
              <a:t>）</a:t>
            </a:r>
            <a:r>
              <a:rPr lang="zh-CN" altLang="zh-CN" sz="2000" dirty="0"/>
              <a:t>没有相应的计数器，并且已有的计数器数量小于</a:t>
            </a:r>
            <a:r>
              <a:rPr lang="en-US" altLang="zh-CN" sz="2000" dirty="0"/>
              <a:t>k</a:t>
            </a:r>
            <a:r>
              <a:rPr lang="zh-CN" altLang="zh-CN" sz="2000" dirty="0"/>
              <a:t>，则为该数据分配一个新的计数器，其值设为</a:t>
            </a:r>
            <a:r>
              <a:rPr lang="en-US" altLang="zh-CN" sz="2000" dirty="0"/>
              <a:t>1</a:t>
            </a:r>
            <a:r>
              <a:rPr lang="zh-CN" altLang="zh-CN" sz="2000" dirty="0"/>
              <a:t>。</a:t>
            </a:r>
          </a:p>
          <a:p>
            <a:r>
              <a:rPr lang="en-US" altLang="zh-CN" sz="2000" dirty="0"/>
              <a:t>3</a:t>
            </a:r>
            <a:r>
              <a:rPr lang="zh-CN" altLang="en-US" sz="2000" dirty="0"/>
              <a:t>）</a:t>
            </a:r>
            <a:r>
              <a:rPr lang="zh-CN" altLang="zh-CN" sz="2000" dirty="0"/>
              <a:t>没有相应的计数器，并且已经有了</a:t>
            </a:r>
            <a:r>
              <a:rPr lang="en-US" altLang="zh-CN" sz="2000" dirty="0"/>
              <a:t>k</a:t>
            </a:r>
            <a:r>
              <a:rPr lang="zh-CN" altLang="zh-CN" sz="2000" dirty="0"/>
              <a:t>个计数器，则将所有的计数器数值减</a:t>
            </a:r>
            <a:r>
              <a:rPr lang="en-US" altLang="zh-CN" sz="2000" dirty="0"/>
              <a:t>1</a:t>
            </a:r>
            <a:r>
              <a:rPr lang="zh-CN" altLang="zh-CN" sz="2000" dirty="0"/>
              <a:t>，并删除值为</a:t>
            </a:r>
            <a:r>
              <a:rPr lang="en-US" altLang="zh-CN" sz="2000" dirty="0"/>
              <a:t>0</a:t>
            </a:r>
            <a:r>
              <a:rPr lang="zh-CN" altLang="zh-CN" sz="2000" dirty="0"/>
              <a:t>的计数器，新数据也被丢弃。</a:t>
            </a:r>
          </a:p>
          <a:p>
            <a:endParaRPr lang="zh-CN" altLang="en-US" sz="2000" dirty="0"/>
          </a:p>
          <a:p>
            <a:endParaRPr lang="zh-CN" altLang="en-US" sz="2000" dirty="0"/>
          </a:p>
        </p:txBody>
      </p:sp>
      <p:sp>
        <p:nvSpPr>
          <p:cNvPr id="4" name="内容占位符 2">
            <a:extLst>
              <a:ext uri="{FF2B5EF4-FFF2-40B4-BE49-F238E27FC236}">
                <a16:creationId xmlns:a16="http://schemas.microsoft.com/office/drawing/2014/main" id="{BC3D9A5E-2058-40A7-9E60-46F98E0B42FA}"/>
              </a:ext>
            </a:extLst>
          </p:cNvPr>
          <p:cNvSpPr txBox="1">
            <a:spLocks/>
          </p:cNvSpPr>
          <p:nvPr/>
        </p:nvSpPr>
        <p:spPr>
          <a:xfrm>
            <a:off x="5892800" y="1825625"/>
            <a:ext cx="5816600" cy="7651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defRPr/>
            </a:pPr>
            <a:r>
              <a:rPr lang="zh-CN" altLang="zh-CN" sz="2000" kern="100" dirty="0">
                <a:latin typeface="+mn-ea"/>
                <a:cs typeface="Times New Roman"/>
              </a:rPr>
              <a:t>输入</a:t>
            </a:r>
            <a:r>
              <a:rPr lang="zh-CN" altLang="en-US" sz="2000" kern="100" dirty="0">
                <a:latin typeface="+mn-ea"/>
                <a:cs typeface="Times New Roman"/>
              </a:rPr>
              <a:t>：</a:t>
            </a:r>
            <a:r>
              <a:rPr lang="en-US" altLang="zh-CN" sz="2000" kern="100" dirty="0">
                <a:latin typeface="+mn-ea"/>
                <a:cs typeface="Times New Roman"/>
              </a:rPr>
              <a:t>1</a:t>
            </a:r>
            <a:r>
              <a:rPr lang="zh-CN" altLang="zh-CN" sz="2000" kern="100" dirty="0">
                <a:latin typeface="+mn-ea"/>
                <a:cs typeface="Times New Roman"/>
              </a:rPr>
              <a:t>，</a:t>
            </a:r>
            <a:r>
              <a:rPr lang="en-US" altLang="zh-CN" sz="2000" kern="100" dirty="0">
                <a:latin typeface="+mn-ea"/>
                <a:cs typeface="Times New Roman"/>
              </a:rPr>
              <a:t>5</a:t>
            </a:r>
            <a:r>
              <a:rPr lang="zh-CN" altLang="zh-CN" sz="2000" kern="100" dirty="0">
                <a:latin typeface="+mn-ea"/>
                <a:cs typeface="Times New Roman"/>
              </a:rPr>
              <a:t>，</a:t>
            </a:r>
            <a:r>
              <a:rPr lang="en-US" altLang="zh-CN" sz="2000" kern="100" dirty="0">
                <a:latin typeface="+mn-ea"/>
                <a:cs typeface="Times New Roman"/>
              </a:rPr>
              <a:t>3</a:t>
            </a:r>
            <a:r>
              <a:rPr lang="zh-CN" altLang="zh-CN" sz="2000" kern="100" dirty="0">
                <a:latin typeface="+mn-ea"/>
                <a:cs typeface="Times New Roman"/>
              </a:rPr>
              <a:t>，</a:t>
            </a:r>
            <a:r>
              <a:rPr lang="en-US" altLang="zh-CN" sz="2000" kern="100" dirty="0">
                <a:latin typeface="+mn-ea"/>
                <a:cs typeface="Times New Roman"/>
              </a:rPr>
              <a:t>1</a:t>
            </a:r>
            <a:r>
              <a:rPr lang="zh-CN" altLang="zh-CN" sz="2000" kern="100" dirty="0">
                <a:latin typeface="+mn-ea"/>
                <a:cs typeface="Times New Roman"/>
              </a:rPr>
              <a:t>，</a:t>
            </a:r>
            <a:r>
              <a:rPr lang="en-US" altLang="zh-CN" sz="2000" kern="100" dirty="0">
                <a:latin typeface="+mn-ea"/>
                <a:cs typeface="Times New Roman"/>
              </a:rPr>
              <a:t>2</a:t>
            </a:r>
            <a:r>
              <a:rPr lang="zh-CN" altLang="zh-CN" sz="2000" kern="100" dirty="0">
                <a:latin typeface="+mn-ea"/>
                <a:cs typeface="Times New Roman"/>
              </a:rPr>
              <a:t>，</a:t>
            </a:r>
            <a:r>
              <a:rPr lang="en-US" altLang="zh-CN" sz="2000" kern="100" dirty="0">
                <a:latin typeface="+mn-ea"/>
                <a:cs typeface="Times New Roman"/>
              </a:rPr>
              <a:t>1</a:t>
            </a:r>
            <a:r>
              <a:rPr lang="zh-CN" altLang="zh-CN" sz="2000" kern="100" dirty="0">
                <a:latin typeface="+mn-ea"/>
                <a:cs typeface="Times New Roman"/>
              </a:rPr>
              <a:t>，</a:t>
            </a:r>
            <a:r>
              <a:rPr lang="en-US" altLang="zh-CN" sz="2000" kern="100" dirty="0">
                <a:latin typeface="+mn-ea"/>
                <a:cs typeface="Times New Roman"/>
              </a:rPr>
              <a:t>2</a:t>
            </a:r>
            <a:r>
              <a:rPr lang="zh-CN" altLang="zh-CN" sz="2000" kern="100" dirty="0">
                <a:latin typeface="+mn-ea"/>
                <a:cs typeface="Times New Roman"/>
              </a:rPr>
              <a:t>，</a:t>
            </a:r>
            <a:r>
              <a:rPr lang="en-US" altLang="zh-CN" sz="2000" kern="100" dirty="0">
                <a:latin typeface="+mn-ea"/>
                <a:cs typeface="Times New Roman"/>
              </a:rPr>
              <a:t>3</a:t>
            </a:r>
            <a:r>
              <a:rPr lang="zh-CN" altLang="zh-CN" sz="2000" kern="100" dirty="0">
                <a:latin typeface="+mn-ea"/>
                <a:cs typeface="Times New Roman"/>
              </a:rPr>
              <a:t>，</a:t>
            </a:r>
            <a:r>
              <a:rPr lang="en-US" altLang="zh-CN" sz="2000" kern="100" dirty="0">
                <a:latin typeface="+mn-ea"/>
                <a:cs typeface="Times New Roman"/>
              </a:rPr>
              <a:t>7</a:t>
            </a:r>
            <a:r>
              <a:rPr lang="zh-CN" altLang="zh-CN" sz="2000" kern="100" dirty="0">
                <a:latin typeface="+mn-ea"/>
                <a:cs typeface="Times New Roman"/>
              </a:rPr>
              <a:t>，</a:t>
            </a:r>
            <a:r>
              <a:rPr lang="en-US" altLang="zh-CN" sz="2000" kern="100" dirty="0">
                <a:latin typeface="+mn-ea"/>
                <a:cs typeface="Times New Roman"/>
              </a:rPr>
              <a:t>1</a:t>
            </a:r>
          </a:p>
          <a:p>
            <a:pPr algn="just">
              <a:buFont typeface="Arial" panose="020B0604020202020204" pitchFamily="34" charset="0"/>
              <a:buNone/>
              <a:defRPr/>
            </a:pPr>
            <a:r>
              <a:rPr lang="en-US" altLang="zh-CN" sz="2000" kern="100" dirty="0">
                <a:latin typeface="+mn-ea"/>
                <a:cs typeface="Times New Roman"/>
              </a:rPr>
              <a:t>k=3</a:t>
            </a:r>
            <a:r>
              <a:rPr lang="zh-CN" altLang="zh-CN" sz="2000" kern="100" dirty="0">
                <a:latin typeface="+mn-ea"/>
                <a:cs typeface="Times New Roman"/>
              </a:rPr>
              <a:t>，则计算过程</a:t>
            </a:r>
            <a:r>
              <a:rPr lang="zh-CN" altLang="en-US" sz="2000" kern="100" dirty="0">
                <a:latin typeface="+mn-ea"/>
                <a:cs typeface="Times New Roman"/>
              </a:rPr>
              <a:t>为</a:t>
            </a:r>
            <a:r>
              <a:rPr lang="zh-CN" altLang="zh-CN" sz="2000" kern="100" dirty="0">
                <a:latin typeface="+mn-ea"/>
                <a:cs typeface="Times New Roman"/>
              </a:rPr>
              <a:t>：</a:t>
            </a:r>
          </a:p>
        </p:txBody>
      </p:sp>
      <p:graphicFrame>
        <p:nvGraphicFramePr>
          <p:cNvPr id="5" name="表格 4">
            <a:extLst>
              <a:ext uri="{FF2B5EF4-FFF2-40B4-BE49-F238E27FC236}">
                <a16:creationId xmlns:a16="http://schemas.microsoft.com/office/drawing/2014/main" id="{88669072-69D7-4D45-8860-4E5C264EFF2F}"/>
              </a:ext>
            </a:extLst>
          </p:cNvPr>
          <p:cNvGraphicFramePr>
            <a:graphicFrameLocks noGrp="1"/>
          </p:cNvGraphicFramePr>
          <p:nvPr>
            <p:extLst>
              <p:ext uri="{D42A27DB-BD31-4B8C-83A1-F6EECF244321}">
                <p14:modId xmlns:p14="http://schemas.microsoft.com/office/powerpoint/2010/main" val="644535361"/>
              </p:ext>
            </p:extLst>
          </p:nvPr>
        </p:nvGraphicFramePr>
        <p:xfrm>
          <a:off x="8412163" y="2479676"/>
          <a:ext cx="3312368" cy="4248475"/>
        </p:xfrm>
        <a:graphic>
          <a:graphicData uri="http://schemas.openxmlformats.org/drawingml/2006/table">
            <a:tbl>
              <a:tblPr/>
              <a:tblGrid>
                <a:gridCol w="1081594">
                  <a:extLst>
                    <a:ext uri="{9D8B030D-6E8A-4147-A177-3AD203B41FA5}">
                      <a16:colId xmlns:a16="http://schemas.microsoft.com/office/drawing/2014/main" val="20000"/>
                    </a:ext>
                  </a:extLst>
                </a:gridCol>
                <a:gridCol w="2230774">
                  <a:extLst>
                    <a:ext uri="{9D8B030D-6E8A-4147-A177-3AD203B41FA5}">
                      <a16:colId xmlns:a16="http://schemas.microsoft.com/office/drawing/2014/main" val="20001"/>
                    </a:ext>
                  </a:extLst>
                </a:gridCol>
              </a:tblGrid>
              <a:tr h="386225">
                <a:tc>
                  <a:txBody>
                    <a:bodyPr/>
                    <a:lstStyle/>
                    <a:p>
                      <a:pPr algn="just">
                        <a:spcAft>
                          <a:spcPts val="0"/>
                        </a:spcAft>
                      </a:pPr>
                      <a:r>
                        <a:rPr lang="zh-CN" sz="1600" kern="100" dirty="0">
                          <a:latin typeface="Calibri"/>
                          <a:ea typeface="宋体"/>
                          <a:cs typeface="Times New Roman"/>
                        </a:rPr>
                        <a:t>输入</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Calibri"/>
                          <a:ea typeface="宋体"/>
                          <a:cs typeface="Times New Roman"/>
                        </a:rPr>
                        <a:t>计数器</a:t>
                      </a:r>
                      <a:r>
                        <a:rPr lang="en-US" sz="1600" kern="100">
                          <a:latin typeface="Calibri"/>
                          <a:ea typeface="宋体"/>
                          <a:cs typeface="Times New Roman"/>
                        </a:rPr>
                        <a:t>&lt;</a:t>
                      </a:r>
                      <a:r>
                        <a:rPr lang="zh-CN" sz="1600" kern="100">
                          <a:latin typeface="Calibri"/>
                          <a:ea typeface="宋体"/>
                          <a:cs typeface="Times New Roman"/>
                        </a:rPr>
                        <a:t>数据，次数</a:t>
                      </a:r>
                      <a:r>
                        <a:rPr lang="en-US" sz="1600" kern="100">
                          <a:latin typeface="Calibri"/>
                          <a:ea typeface="宋体"/>
                          <a:cs typeface="Times New Roman"/>
                        </a:rPr>
                        <a:t>&gt;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225">
                <a:tc>
                  <a:txBody>
                    <a:bodyPr/>
                    <a:lstStyle/>
                    <a:p>
                      <a:pPr algn="just">
                        <a:spcAft>
                          <a:spcPts val="0"/>
                        </a:spcAft>
                      </a:pPr>
                      <a:r>
                        <a:rPr lang="en-US" sz="1600" kern="100">
                          <a:latin typeface="Calibri"/>
                          <a:ea typeface="宋体"/>
                          <a:cs typeface="Times New Roman"/>
                        </a:rPr>
                        <a:t>1</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Calibri"/>
                          <a:ea typeface="宋体"/>
                          <a:cs typeface="Times New Roman"/>
                        </a:rPr>
                        <a:t>&lt;1,1&gt;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6225">
                <a:tc>
                  <a:txBody>
                    <a:bodyPr/>
                    <a:lstStyle/>
                    <a:p>
                      <a:pPr algn="just">
                        <a:spcAft>
                          <a:spcPts val="0"/>
                        </a:spcAft>
                      </a:pPr>
                      <a:r>
                        <a:rPr lang="en-US" sz="1600" kern="100">
                          <a:latin typeface="Calibri"/>
                          <a:ea typeface="宋体"/>
                          <a:cs typeface="Times New Roman"/>
                        </a:rPr>
                        <a:t>5</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Calibri"/>
                          <a:ea typeface="宋体"/>
                          <a:cs typeface="Times New Roman"/>
                        </a:rPr>
                        <a:t>&lt;1,1&gt;  &lt;5,1&gt;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6225">
                <a:tc>
                  <a:txBody>
                    <a:bodyPr/>
                    <a:lstStyle/>
                    <a:p>
                      <a:pPr algn="just">
                        <a:spcAft>
                          <a:spcPts val="0"/>
                        </a:spcAft>
                      </a:pPr>
                      <a:r>
                        <a:rPr lang="en-US" sz="1600" kern="100">
                          <a:latin typeface="Calibri"/>
                          <a:ea typeface="宋体"/>
                          <a:cs typeface="Times New Roman"/>
                        </a:rPr>
                        <a:t>3</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a:latin typeface="Calibri"/>
                          <a:ea typeface="宋体"/>
                          <a:cs typeface="Times New Roman"/>
                        </a:rPr>
                        <a:t>&lt;1,1&gt;  &lt;5,1&gt;  &lt;3,1&gt;</a:t>
                      </a:r>
                      <a:endParaRPr lang="zh-CN" sz="16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6225">
                <a:tc>
                  <a:txBody>
                    <a:bodyPr/>
                    <a:lstStyle/>
                    <a:p>
                      <a:pPr algn="just">
                        <a:spcAft>
                          <a:spcPts val="0"/>
                        </a:spcAft>
                      </a:pPr>
                      <a:r>
                        <a:rPr lang="en-US" sz="1600" kern="100">
                          <a:latin typeface="Calibri"/>
                          <a:ea typeface="宋体"/>
                          <a:cs typeface="Times New Roman"/>
                        </a:rPr>
                        <a:t>1</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Calibri"/>
                          <a:ea typeface="宋体"/>
                          <a:cs typeface="Times New Roman"/>
                        </a:rPr>
                        <a:t>&lt;1,2&gt;  &lt;5,1&gt;  &lt;3,1&gt;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6225">
                <a:tc>
                  <a:txBody>
                    <a:bodyPr/>
                    <a:lstStyle/>
                    <a:p>
                      <a:pPr algn="just">
                        <a:spcAft>
                          <a:spcPts val="0"/>
                        </a:spcAft>
                      </a:pPr>
                      <a:r>
                        <a:rPr lang="en-US" sz="1600" kern="100">
                          <a:latin typeface="Calibri"/>
                          <a:ea typeface="宋体"/>
                          <a:cs typeface="Times New Roman"/>
                        </a:rPr>
                        <a:t>2</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a:latin typeface="Calibri"/>
                          <a:ea typeface="宋体"/>
                          <a:cs typeface="Times New Roman"/>
                        </a:rPr>
                        <a:t>&lt;1,1&gt;  </a:t>
                      </a:r>
                      <a:endParaRPr lang="zh-CN" sz="16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6225">
                <a:tc>
                  <a:txBody>
                    <a:bodyPr/>
                    <a:lstStyle/>
                    <a:p>
                      <a:pPr algn="just">
                        <a:spcAft>
                          <a:spcPts val="0"/>
                        </a:spcAft>
                      </a:pPr>
                      <a:r>
                        <a:rPr lang="en-US" sz="1600" kern="100">
                          <a:latin typeface="Calibri"/>
                          <a:ea typeface="宋体"/>
                          <a:cs typeface="Times New Roman"/>
                        </a:rPr>
                        <a:t>1</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Calibri"/>
                          <a:ea typeface="宋体"/>
                          <a:cs typeface="Times New Roman"/>
                        </a:rPr>
                        <a:t>&lt;1,2&gt;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86225">
                <a:tc>
                  <a:txBody>
                    <a:bodyPr/>
                    <a:lstStyle/>
                    <a:p>
                      <a:pPr algn="just">
                        <a:spcAft>
                          <a:spcPts val="0"/>
                        </a:spcAft>
                      </a:pPr>
                      <a:r>
                        <a:rPr lang="en-US" sz="1600" kern="100">
                          <a:latin typeface="Calibri"/>
                          <a:ea typeface="宋体"/>
                          <a:cs typeface="Times New Roman"/>
                        </a:rPr>
                        <a:t>2</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Calibri"/>
                          <a:ea typeface="宋体"/>
                          <a:cs typeface="Times New Roman"/>
                        </a:rPr>
                        <a:t>&lt;1,2&gt;  &lt;2,1&gt;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6225">
                <a:tc>
                  <a:txBody>
                    <a:bodyPr/>
                    <a:lstStyle/>
                    <a:p>
                      <a:pPr algn="just">
                        <a:spcAft>
                          <a:spcPts val="0"/>
                        </a:spcAft>
                      </a:pPr>
                      <a:r>
                        <a:rPr lang="en-US" sz="1600" kern="100">
                          <a:latin typeface="Calibri"/>
                          <a:ea typeface="宋体"/>
                          <a:cs typeface="Times New Roman"/>
                        </a:rPr>
                        <a:t>3</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latin typeface="Calibri"/>
                          <a:ea typeface="宋体"/>
                          <a:cs typeface="Times New Roman"/>
                        </a:rPr>
                        <a:t>&lt;1,2&gt;  &lt;2,1&gt;  &lt;3,1&gt;</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6225">
                <a:tc>
                  <a:txBody>
                    <a:bodyPr/>
                    <a:lstStyle/>
                    <a:p>
                      <a:pPr algn="just">
                        <a:spcAft>
                          <a:spcPts val="0"/>
                        </a:spcAft>
                      </a:pPr>
                      <a:r>
                        <a:rPr lang="en-US" sz="1600" kern="100">
                          <a:latin typeface="Calibri"/>
                          <a:ea typeface="宋体"/>
                          <a:cs typeface="Times New Roman"/>
                        </a:rPr>
                        <a:t>7</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a:latin typeface="Calibri"/>
                          <a:ea typeface="宋体"/>
                          <a:cs typeface="Times New Roman"/>
                        </a:rPr>
                        <a:t>&lt;1,1&gt;  </a:t>
                      </a:r>
                      <a:endParaRPr lang="zh-CN" sz="16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6225">
                <a:tc>
                  <a:txBody>
                    <a:bodyPr/>
                    <a:lstStyle/>
                    <a:p>
                      <a:pPr algn="just">
                        <a:spcAft>
                          <a:spcPts val="0"/>
                        </a:spcAft>
                      </a:pPr>
                      <a:r>
                        <a:rPr lang="en-US" sz="1600" kern="100">
                          <a:latin typeface="Calibri"/>
                          <a:ea typeface="宋体"/>
                          <a:cs typeface="Times New Roman"/>
                        </a:rPr>
                        <a:t>1</a:t>
                      </a:r>
                      <a:endParaRPr lang="zh-CN" sz="16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a:latin typeface="Calibri"/>
                          <a:ea typeface="宋体"/>
                          <a:cs typeface="Times New Roman"/>
                        </a:rPr>
                        <a:t>&lt;1,2&gt;</a:t>
                      </a:r>
                      <a:endParaRPr lang="zh-CN" sz="16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92405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086DD1-B604-4869-991F-41710047A8D5}"/>
              </a:ext>
            </a:extLst>
          </p:cNvPr>
          <p:cNvSpPr>
            <a:spLocks noGrp="1"/>
          </p:cNvSpPr>
          <p:nvPr>
            <p:ph type="title"/>
          </p:nvPr>
        </p:nvSpPr>
        <p:spPr/>
        <p:txBody>
          <a:bodyPr/>
          <a:lstStyle/>
          <a:p>
            <a:r>
              <a:rPr lang="zh-CN" altLang="en-US" dirty="0"/>
              <a:t>性能分析</a:t>
            </a:r>
          </a:p>
        </p:txBody>
      </p:sp>
      <p:sp>
        <p:nvSpPr>
          <p:cNvPr id="3" name="内容占位符 2">
            <a:extLst>
              <a:ext uri="{FF2B5EF4-FFF2-40B4-BE49-F238E27FC236}">
                <a16:creationId xmlns:a16="http://schemas.microsoft.com/office/drawing/2014/main" id="{784CF01A-F7BA-4778-A044-6522B2B66354}"/>
              </a:ext>
            </a:extLst>
          </p:cNvPr>
          <p:cNvSpPr>
            <a:spLocks noGrp="1"/>
          </p:cNvSpPr>
          <p:nvPr>
            <p:ph idx="1"/>
          </p:nvPr>
        </p:nvSpPr>
        <p:spPr/>
        <p:txBody>
          <a:bodyPr>
            <a:normAutofit/>
          </a:bodyPr>
          <a:lstStyle/>
          <a:p>
            <a:r>
              <a:rPr lang="en-US" altLang="zh-CN" sz="2400" dirty="0" err="1"/>
              <a:t>Misra-Gries</a:t>
            </a:r>
            <a:r>
              <a:rPr lang="zh-CN" altLang="zh-CN" sz="2400" dirty="0"/>
              <a:t>算法是一种可以用于寻找频率大于</a:t>
            </a:r>
            <a:r>
              <a:rPr lang="en-US" altLang="zh-CN" sz="2400" dirty="0"/>
              <a:t>n/(k+1)</a:t>
            </a:r>
            <a:r>
              <a:rPr lang="zh-CN" altLang="zh-CN" sz="2400" dirty="0"/>
              <a:t>的元素的</a:t>
            </a:r>
            <a:r>
              <a:rPr lang="zh-CN" altLang="zh-CN" sz="2400" dirty="0">
                <a:solidFill>
                  <a:srgbClr val="FF0000"/>
                </a:solidFill>
              </a:rPr>
              <a:t>空间亚线性的近似算法</a:t>
            </a:r>
            <a:r>
              <a:rPr lang="zh-CN" altLang="zh-CN" sz="2400" dirty="0"/>
              <a:t>。</a:t>
            </a:r>
            <a:endParaRPr lang="en-US" altLang="zh-CN" sz="2400" dirty="0"/>
          </a:p>
          <a:p>
            <a:r>
              <a:rPr lang="zh-CN" altLang="zh-CN" sz="2400" dirty="0"/>
              <a:t>如需获得准确的结果，则需要把这些算法结束时还留在内存中的计数器置</a:t>
            </a:r>
            <a:r>
              <a:rPr lang="en-US" altLang="zh-CN" sz="2400" dirty="0"/>
              <a:t>0</a:t>
            </a:r>
            <a:r>
              <a:rPr lang="zh-CN" altLang="zh-CN" sz="2400" dirty="0"/>
              <a:t>，再次扫描所有数据，并对相应计数器做计数工作。第二轮计数完毕后，检查各个计数器的值是否超过</a:t>
            </a:r>
            <a:r>
              <a:rPr lang="en-US" altLang="zh-CN" sz="2400" dirty="0"/>
              <a:t>n/(k+1)</a:t>
            </a:r>
            <a:r>
              <a:rPr lang="zh-CN" altLang="zh-CN" sz="2400" dirty="0"/>
              <a:t>。但两次扫描也意味着需要存储所有的数据，不再是一个空间亚线性的算法了。</a:t>
            </a:r>
          </a:p>
          <a:p>
            <a:r>
              <a:rPr lang="zh-CN" altLang="zh-CN" sz="2400" dirty="0"/>
              <a:t>频繁问题的一个特例是找出出现次数超过一半的元素，即寻找众数，只需将</a:t>
            </a:r>
            <a:r>
              <a:rPr lang="en-US" altLang="zh-CN" sz="2400" dirty="0" err="1"/>
              <a:t>Misra-Gries</a:t>
            </a:r>
            <a:r>
              <a:rPr lang="zh-CN" altLang="zh-CN" sz="2400" dirty="0"/>
              <a:t>算法中的</a:t>
            </a:r>
            <a:r>
              <a:rPr lang="en-US" altLang="zh-CN" sz="2400" dirty="0"/>
              <a:t>k</a:t>
            </a:r>
            <a:r>
              <a:rPr lang="zh-CN" altLang="zh-CN" sz="2400" dirty="0"/>
              <a:t>设为</a:t>
            </a:r>
            <a:r>
              <a:rPr lang="en-US" altLang="zh-CN" sz="2400" dirty="0"/>
              <a:t>1</a:t>
            </a:r>
            <a:r>
              <a:rPr lang="zh-CN" altLang="zh-CN" sz="2400" dirty="0"/>
              <a:t>即可</a:t>
            </a:r>
            <a:endParaRPr lang="zh-CN" altLang="en-US" sz="2400" dirty="0"/>
          </a:p>
          <a:p>
            <a:endParaRPr lang="zh-CN" altLang="en-US" sz="2400" dirty="0"/>
          </a:p>
        </p:txBody>
      </p:sp>
    </p:spTree>
    <p:extLst>
      <p:ext uri="{BB962C8B-B14F-4D97-AF65-F5344CB8AC3E}">
        <p14:creationId xmlns:p14="http://schemas.microsoft.com/office/powerpoint/2010/main" val="2144268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4315F9-E7D2-48DB-A8E3-F5E14B0B42F8}"/>
              </a:ext>
            </a:extLst>
          </p:cNvPr>
          <p:cNvSpPr>
            <a:spLocks noGrp="1"/>
          </p:cNvSpPr>
          <p:nvPr>
            <p:ph type="title"/>
          </p:nvPr>
        </p:nvSpPr>
        <p:spPr/>
        <p:txBody>
          <a:bodyPr/>
          <a:lstStyle/>
          <a:p>
            <a:r>
              <a:rPr lang="zh-CN" altLang="en-US" dirty="0"/>
              <a:t>最长递增序列</a:t>
            </a:r>
          </a:p>
        </p:txBody>
      </p:sp>
      <p:sp>
        <p:nvSpPr>
          <p:cNvPr id="3" name="内容占位符 2">
            <a:extLst>
              <a:ext uri="{FF2B5EF4-FFF2-40B4-BE49-F238E27FC236}">
                <a16:creationId xmlns:a16="http://schemas.microsoft.com/office/drawing/2014/main" id="{BF24D6BB-0DCF-43F0-AC0A-49DA1F8D6D5B}"/>
              </a:ext>
            </a:extLst>
          </p:cNvPr>
          <p:cNvSpPr>
            <a:spLocks noGrp="1"/>
          </p:cNvSpPr>
          <p:nvPr>
            <p:ph idx="1"/>
          </p:nvPr>
        </p:nvSpPr>
        <p:spPr/>
        <p:txBody>
          <a:bodyPr>
            <a:noAutofit/>
          </a:bodyPr>
          <a:lstStyle/>
          <a:p>
            <a:r>
              <a:rPr lang="zh-CN" altLang="en-US" sz="2400" dirty="0">
                <a:solidFill>
                  <a:srgbClr val="000000"/>
                </a:solidFill>
              </a:rPr>
              <a:t>给定一个由</a:t>
            </a:r>
            <a:r>
              <a:rPr lang="zh-CN" altLang="en-US" sz="2400" dirty="0">
                <a:solidFill>
                  <a:srgbClr val="FF0000"/>
                </a:solidFill>
              </a:rPr>
              <a:t>不同</a:t>
            </a:r>
            <a:r>
              <a:rPr lang="zh-CN" altLang="en-US" sz="2400" dirty="0">
                <a:solidFill>
                  <a:srgbClr val="000000"/>
                </a:solidFill>
              </a:rPr>
              <a:t>整数组成的序列，求其最长递增序列</a:t>
            </a:r>
            <a:r>
              <a:rPr lang="en-US" altLang="zh-CN" sz="2400" dirty="0">
                <a:solidFill>
                  <a:srgbClr val="000000"/>
                </a:solidFill>
              </a:rPr>
              <a:t>LIS</a:t>
            </a:r>
          </a:p>
          <a:p>
            <a:r>
              <a:rPr lang="zh-CN" altLang="en-US" sz="2400" dirty="0">
                <a:solidFill>
                  <a:srgbClr val="000000"/>
                </a:solidFill>
              </a:rPr>
              <a:t>归纳假设</a:t>
            </a:r>
            <a:r>
              <a:rPr lang="en-US" altLang="zh-CN" sz="2400" dirty="0">
                <a:solidFill>
                  <a:srgbClr val="000000"/>
                </a:solidFill>
              </a:rPr>
              <a:t>1</a:t>
            </a:r>
            <a:r>
              <a:rPr lang="zh-CN" altLang="en-US" sz="2400" dirty="0">
                <a:solidFill>
                  <a:srgbClr val="000000"/>
                </a:solidFill>
              </a:rPr>
              <a:t>：给定某个长度小于</a:t>
            </a:r>
            <a:r>
              <a:rPr lang="en-US" altLang="zh-CN" sz="2400" dirty="0">
                <a:solidFill>
                  <a:srgbClr val="000000"/>
                </a:solidFill>
              </a:rPr>
              <a:t>m</a:t>
            </a:r>
            <a:r>
              <a:rPr lang="zh-CN" altLang="en-US" sz="2400" dirty="0">
                <a:solidFill>
                  <a:srgbClr val="000000"/>
                </a:solidFill>
              </a:rPr>
              <a:t>的序列，知道如何求它的某个最长的递增序列</a:t>
            </a:r>
          </a:p>
          <a:p>
            <a:r>
              <a:rPr lang="zh-CN" altLang="en-US" sz="2400" dirty="0">
                <a:solidFill>
                  <a:srgbClr val="000000"/>
                </a:solidFill>
              </a:rPr>
              <a:t>归纳假设</a:t>
            </a:r>
            <a:r>
              <a:rPr lang="en-US" altLang="zh-CN" sz="2400" dirty="0">
                <a:solidFill>
                  <a:srgbClr val="000000"/>
                </a:solidFill>
              </a:rPr>
              <a:t>2</a:t>
            </a:r>
            <a:r>
              <a:rPr lang="zh-CN" altLang="en-US" sz="2400" dirty="0">
                <a:solidFill>
                  <a:srgbClr val="000000"/>
                </a:solidFill>
              </a:rPr>
              <a:t>：给定某个长度小于</a:t>
            </a:r>
            <a:r>
              <a:rPr lang="en-US" altLang="zh-CN" sz="2400" dirty="0">
                <a:solidFill>
                  <a:srgbClr val="000000"/>
                </a:solidFill>
              </a:rPr>
              <a:t>m</a:t>
            </a:r>
            <a:r>
              <a:rPr lang="zh-CN" altLang="en-US" sz="2400" dirty="0">
                <a:solidFill>
                  <a:srgbClr val="000000"/>
                </a:solidFill>
              </a:rPr>
              <a:t>的序列，知道如何求它的所有最长的递增序列</a:t>
            </a:r>
          </a:p>
          <a:p>
            <a:r>
              <a:rPr lang="zh-CN" altLang="en-US" sz="2400" dirty="0">
                <a:solidFill>
                  <a:srgbClr val="000000"/>
                </a:solidFill>
              </a:rPr>
              <a:t>归纳假设</a:t>
            </a:r>
            <a:r>
              <a:rPr lang="en-US" altLang="zh-CN" sz="2400" dirty="0">
                <a:solidFill>
                  <a:srgbClr val="000000"/>
                </a:solidFill>
              </a:rPr>
              <a:t>3</a:t>
            </a:r>
            <a:r>
              <a:rPr lang="zh-CN" altLang="en-US" sz="2400" dirty="0">
                <a:solidFill>
                  <a:srgbClr val="000000"/>
                </a:solidFill>
              </a:rPr>
              <a:t>：给定某个长度小于</a:t>
            </a:r>
            <a:r>
              <a:rPr lang="en-US" altLang="zh-CN" sz="2400" dirty="0">
                <a:solidFill>
                  <a:srgbClr val="000000"/>
                </a:solidFill>
              </a:rPr>
              <a:t>m</a:t>
            </a:r>
            <a:r>
              <a:rPr lang="zh-CN" altLang="en-US" sz="2400" dirty="0">
                <a:solidFill>
                  <a:srgbClr val="000000"/>
                </a:solidFill>
              </a:rPr>
              <a:t>的序列，知道如何求它的某个最长的递增序列，使得其它最长递增序列的末尾的数都不比这个序列末尾的数小</a:t>
            </a:r>
          </a:p>
          <a:p>
            <a:r>
              <a:rPr lang="zh-CN" altLang="en-US" sz="2400" dirty="0">
                <a:solidFill>
                  <a:srgbClr val="000000"/>
                </a:solidFill>
              </a:rPr>
              <a:t>归纳假设</a:t>
            </a:r>
            <a:r>
              <a:rPr lang="en-US" altLang="zh-CN" sz="2400" dirty="0">
                <a:solidFill>
                  <a:srgbClr val="000000"/>
                </a:solidFill>
              </a:rPr>
              <a:t>4</a:t>
            </a:r>
            <a:r>
              <a:rPr lang="zh-CN" altLang="en-US" sz="2400" dirty="0">
                <a:solidFill>
                  <a:srgbClr val="000000"/>
                </a:solidFill>
              </a:rPr>
              <a:t>：给定某个长度小于</a:t>
            </a:r>
            <a:r>
              <a:rPr lang="en-US" altLang="zh-CN" sz="2400" dirty="0">
                <a:solidFill>
                  <a:srgbClr val="000000"/>
                </a:solidFill>
              </a:rPr>
              <a:t>m</a:t>
            </a:r>
            <a:r>
              <a:rPr lang="zh-CN" altLang="en-US" sz="2400" dirty="0">
                <a:solidFill>
                  <a:srgbClr val="000000"/>
                </a:solidFill>
              </a:rPr>
              <a:t>的序列，知道如何对任意</a:t>
            </a:r>
            <a:r>
              <a:rPr lang="en-US" altLang="zh-CN" sz="2400" dirty="0">
                <a:solidFill>
                  <a:srgbClr val="000000"/>
                </a:solidFill>
              </a:rPr>
              <a:t>k&lt;m-1</a:t>
            </a:r>
            <a:r>
              <a:rPr lang="zh-CN" altLang="en-US" sz="2400" dirty="0">
                <a:solidFill>
                  <a:srgbClr val="000000"/>
                </a:solidFill>
              </a:rPr>
              <a:t>求出</a:t>
            </a:r>
            <a:r>
              <a:rPr lang="en-US" altLang="zh-CN" sz="2400" dirty="0">
                <a:solidFill>
                  <a:srgbClr val="000000"/>
                </a:solidFill>
              </a:rPr>
              <a:t>BIS(k)</a:t>
            </a:r>
            <a:r>
              <a:rPr lang="zh-CN" altLang="en-US" sz="2400" dirty="0">
                <a:solidFill>
                  <a:srgbClr val="000000"/>
                </a:solidFill>
              </a:rPr>
              <a:t>，如果存在的话</a:t>
            </a:r>
          </a:p>
          <a:p>
            <a:endParaRPr lang="zh-CN" altLang="en-US" sz="2400" dirty="0"/>
          </a:p>
        </p:txBody>
      </p:sp>
    </p:spTree>
    <p:extLst>
      <p:ext uri="{BB962C8B-B14F-4D97-AF65-F5344CB8AC3E}">
        <p14:creationId xmlns:p14="http://schemas.microsoft.com/office/powerpoint/2010/main" val="1971622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67098-9A26-4DFC-86CF-B3BDF872EB9B}"/>
              </a:ext>
            </a:extLst>
          </p:cNvPr>
          <p:cNvSpPr>
            <a:spLocks noGrp="1"/>
          </p:cNvSpPr>
          <p:nvPr>
            <p:ph type="title"/>
          </p:nvPr>
        </p:nvSpPr>
        <p:spPr/>
        <p:txBody>
          <a:bodyPr/>
          <a:lstStyle/>
          <a:p>
            <a:r>
              <a:rPr lang="zh-CN" altLang="en-US" dirty="0"/>
              <a:t>最长递增序列</a:t>
            </a:r>
          </a:p>
        </p:txBody>
      </p:sp>
      <p:sp>
        <p:nvSpPr>
          <p:cNvPr id="3" name="内容占位符 2">
            <a:extLst>
              <a:ext uri="{FF2B5EF4-FFF2-40B4-BE49-F238E27FC236}">
                <a16:creationId xmlns:a16="http://schemas.microsoft.com/office/drawing/2014/main" id="{F25738E4-23EC-417B-B4ED-E39F2F467A1B}"/>
              </a:ext>
            </a:extLst>
          </p:cNvPr>
          <p:cNvSpPr>
            <a:spLocks noGrp="1"/>
          </p:cNvSpPr>
          <p:nvPr>
            <p:ph idx="1"/>
          </p:nvPr>
        </p:nvSpPr>
        <p:spPr/>
        <p:txBody>
          <a:bodyPr>
            <a:noAutofit/>
          </a:bodyPr>
          <a:lstStyle/>
          <a:p>
            <a:pPr lvl="0" eaLnBrk="1" hangingPunct="1">
              <a:buNone/>
            </a:pPr>
            <a:r>
              <a:rPr lang="zh-CN" altLang="en-US" sz="2400" dirty="0">
                <a:solidFill>
                  <a:srgbClr val="000000"/>
                </a:solidFill>
              </a:rPr>
              <a:t>给定</a:t>
            </a:r>
            <a:r>
              <a:rPr lang="en-US" altLang="zh-CN" sz="2400" dirty="0" err="1">
                <a:solidFill>
                  <a:srgbClr val="000000"/>
                </a:solidFill>
              </a:rPr>
              <a:t>x</a:t>
            </a:r>
            <a:r>
              <a:rPr lang="en-US" altLang="zh-CN" sz="2400" baseline="-25000" dirty="0" err="1">
                <a:solidFill>
                  <a:srgbClr val="000000"/>
                </a:solidFill>
              </a:rPr>
              <a:t>m</a:t>
            </a:r>
            <a:r>
              <a:rPr lang="zh-CN" altLang="en-US" sz="2400" dirty="0">
                <a:solidFill>
                  <a:srgbClr val="000000"/>
                </a:solidFill>
              </a:rPr>
              <a:t>，设前</a:t>
            </a:r>
            <a:r>
              <a:rPr lang="en-US" altLang="zh-CN" sz="2400" dirty="0">
                <a:solidFill>
                  <a:srgbClr val="000000"/>
                </a:solidFill>
              </a:rPr>
              <a:t>m-1</a:t>
            </a:r>
            <a:r>
              <a:rPr lang="zh-CN" altLang="en-US" sz="2400" dirty="0">
                <a:solidFill>
                  <a:srgbClr val="000000"/>
                </a:solidFill>
              </a:rPr>
              <a:t>个数字的</a:t>
            </a:r>
            <a:r>
              <a:rPr lang="en-US" altLang="zh-CN" sz="2400" dirty="0">
                <a:solidFill>
                  <a:srgbClr val="000000"/>
                </a:solidFill>
              </a:rPr>
              <a:t>LIS</a:t>
            </a:r>
            <a:r>
              <a:rPr lang="zh-CN" altLang="en-US" sz="2400" dirty="0">
                <a:solidFill>
                  <a:srgbClr val="000000"/>
                </a:solidFill>
              </a:rPr>
              <a:t>长度为</a:t>
            </a:r>
            <a:r>
              <a:rPr lang="en-US" altLang="zh-CN" sz="2400" dirty="0">
                <a:solidFill>
                  <a:srgbClr val="000000"/>
                </a:solidFill>
              </a:rPr>
              <a:t>s</a:t>
            </a:r>
          </a:p>
          <a:p>
            <a:pPr lvl="0" eaLnBrk="1" hangingPunct="1">
              <a:buNone/>
            </a:pPr>
            <a:r>
              <a:rPr lang="en-US" altLang="zh-CN" sz="2400" dirty="0">
                <a:solidFill>
                  <a:srgbClr val="000000"/>
                </a:solidFill>
              </a:rPr>
              <a:t>for </a:t>
            </a:r>
            <a:r>
              <a:rPr lang="en-US" altLang="zh-CN" sz="2400" dirty="0" err="1">
                <a:solidFill>
                  <a:srgbClr val="000000"/>
                </a:solidFill>
              </a:rPr>
              <a:t>i</a:t>
            </a:r>
            <a:r>
              <a:rPr lang="en-US" altLang="zh-CN" sz="2400" dirty="0">
                <a:solidFill>
                  <a:srgbClr val="000000"/>
                </a:solidFill>
              </a:rPr>
              <a:t>=s </a:t>
            </a:r>
            <a:r>
              <a:rPr lang="en-US" altLang="zh-CN" sz="2400" dirty="0" err="1">
                <a:solidFill>
                  <a:srgbClr val="000000"/>
                </a:solidFill>
              </a:rPr>
              <a:t>downto</a:t>
            </a:r>
            <a:r>
              <a:rPr lang="en-US" altLang="zh-CN" sz="2400" dirty="0">
                <a:solidFill>
                  <a:srgbClr val="000000"/>
                </a:solidFill>
              </a:rPr>
              <a:t> 1</a:t>
            </a:r>
          </a:p>
          <a:p>
            <a:pPr lvl="0" eaLnBrk="1" hangingPunct="1">
              <a:buNone/>
            </a:pPr>
            <a:r>
              <a:rPr lang="en-US" altLang="zh-CN" sz="2400" dirty="0">
                <a:solidFill>
                  <a:srgbClr val="000000"/>
                </a:solidFill>
              </a:rPr>
              <a:t>	if BIS(</a:t>
            </a:r>
            <a:r>
              <a:rPr lang="en-US" altLang="zh-CN" sz="2400" dirty="0" err="1">
                <a:solidFill>
                  <a:srgbClr val="000000"/>
                </a:solidFill>
              </a:rPr>
              <a:t>i</a:t>
            </a:r>
            <a:r>
              <a:rPr lang="en-US" altLang="zh-CN" sz="2400" dirty="0">
                <a:solidFill>
                  <a:srgbClr val="000000"/>
                </a:solidFill>
              </a:rPr>
              <a:t>).last&lt;</a:t>
            </a:r>
            <a:r>
              <a:rPr lang="en-US" altLang="zh-CN" sz="2400" dirty="0" err="1">
                <a:solidFill>
                  <a:srgbClr val="000000"/>
                </a:solidFill>
              </a:rPr>
              <a:t>x</a:t>
            </a:r>
            <a:r>
              <a:rPr lang="en-US" altLang="zh-CN" sz="2400" baseline="-25000" dirty="0" err="1">
                <a:solidFill>
                  <a:srgbClr val="000000"/>
                </a:solidFill>
              </a:rPr>
              <a:t>m</a:t>
            </a:r>
            <a:r>
              <a:rPr lang="en-US" altLang="zh-CN" sz="2400" baseline="-25000" dirty="0">
                <a:solidFill>
                  <a:srgbClr val="000000"/>
                </a:solidFill>
              </a:rPr>
              <a:t>    </a:t>
            </a:r>
            <a:r>
              <a:rPr lang="en-US" altLang="zh-CN" sz="2400" dirty="0">
                <a:solidFill>
                  <a:srgbClr val="000000"/>
                </a:solidFill>
              </a:rPr>
              <a:t>break</a:t>
            </a:r>
          </a:p>
          <a:p>
            <a:pPr lvl="0" eaLnBrk="1" hangingPunct="1">
              <a:buNone/>
            </a:pPr>
            <a:r>
              <a:rPr lang="en-US" altLang="zh-CN" sz="2400" dirty="0">
                <a:solidFill>
                  <a:srgbClr val="000000"/>
                </a:solidFill>
              </a:rPr>
              <a:t>end for</a:t>
            </a:r>
          </a:p>
          <a:p>
            <a:pPr lvl="0" eaLnBrk="1" hangingPunct="1">
              <a:buNone/>
            </a:pPr>
            <a:r>
              <a:rPr lang="en-US" altLang="zh-CN" sz="2400" dirty="0">
                <a:solidFill>
                  <a:srgbClr val="000000"/>
                </a:solidFill>
              </a:rPr>
              <a:t>if </a:t>
            </a:r>
            <a:r>
              <a:rPr lang="en-US" altLang="zh-CN" sz="2400" dirty="0" err="1">
                <a:solidFill>
                  <a:srgbClr val="000000"/>
                </a:solidFill>
              </a:rPr>
              <a:t>i</a:t>
            </a:r>
            <a:r>
              <a:rPr lang="en-US" altLang="zh-CN" sz="2400" dirty="0">
                <a:solidFill>
                  <a:srgbClr val="000000"/>
                </a:solidFill>
              </a:rPr>
              <a:t>=0  then BIS(1)=</a:t>
            </a:r>
            <a:r>
              <a:rPr lang="en-US" altLang="zh-CN" sz="2400" dirty="0" err="1">
                <a:solidFill>
                  <a:srgbClr val="000000"/>
                </a:solidFill>
              </a:rPr>
              <a:t>x</a:t>
            </a:r>
            <a:r>
              <a:rPr lang="en-US" altLang="zh-CN" sz="2400" baseline="-25000" dirty="0" err="1">
                <a:solidFill>
                  <a:srgbClr val="000000"/>
                </a:solidFill>
              </a:rPr>
              <a:t>m</a:t>
            </a:r>
            <a:endParaRPr lang="en-US" altLang="zh-CN" sz="2400" baseline="-25000" dirty="0">
              <a:solidFill>
                <a:srgbClr val="000000"/>
              </a:solidFill>
            </a:endParaRPr>
          </a:p>
          <a:p>
            <a:pPr lvl="0" eaLnBrk="1" hangingPunct="1">
              <a:buNone/>
            </a:pPr>
            <a:r>
              <a:rPr lang="en-US" altLang="zh-CN" sz="2400" dirty="0">
                <a:solidFill>
                  <a:srgbClr val="000000"/>
                </a:solidFill>
              </a:rPr>
              <a:t>if </a:t>
            </a:r>
            <a:r>
              <a:rPr lang="en-US" altLang="zh-CN" sz="2400" dirty="0" err="1">
                <a:solidFill>
                  <a:srgbClr val="000000"/>
                </a:solidFill>
              </a:rPr>
              <a:t>i</a:t>
            </a:r>
            <a:r>
              <a:rPr lang="en-US" altLang="zh-CN" sz="2400" dirty="0">
                <a:solidFill>
                  <a:srgbClr val="000000"/>
                </a:solidFill>
              </a:rPr>
              <a:t>=s    then BIS(s+1)=BIS(s)+</a:t>
            </a:r>
            <a:r>
              <a:rPr lang="en-US" altLang="zh-CN" sz="2400" dirty="0" err="1">
                <a:solidFill>
                  <a:srgbClr val="000000"/>
                </a:solidFill>
              </a:rPr>
              <a:t>x</a:t>
            </a:r>
            <a:r>
              <a:rPr lang="en-US" altLang="zh-CN" sz="2400" baseline="-25000" dirty="0" err="1">
                <a:solidFill>
                  <a:srgbClr val="000000"/>
                </a:solidFill>
              </a:rPr>
              <a:t>m</a:t>
            </a:r>
            <a:endParaRPr lang="en-US" altLang="zh-CN" sz="2400" baseline="-25000" dirty="0">
              <a:solidFill>
                <a:srgbClr val="000000"/>
              </a:solidFill>
            </a:endParaRPr>
          </a:p>
          <a:p>
            <a:pPr lvl="0" eaLnBrk="1" hangingPunct="1">
              <a:buNone/>
            </a:pPr>
            <a:r>
              <a:rPr lang="en-US" altLang="zh-CN" sz="2400" dirty="0">
                <a:solidFill>
                  <a:srgbClr val="000000"/>
                </a:solidFill>
              </a:rPr>
              <a:t>if 0&lt;</a:t>
            </a:r>
            <a:r>
              <a:rPr lang="en-US" altLang="zh-CN" sz="2400" dirty="0" err="1">
                <a:solidFill>
                  <a:srgbClr val="000000"/>
                </a:solidFill>
              </a:rPr>
              <a:t>i</a:t>
            </a:r>
            <a:r>
              <a:rPr lang="en-US" altLang="zh-CN" sz="2400" dirty="0">
                <a:solidFill>
                  <a:srgbClr val="000000"/>
                </a:solidFill>
              </a:rPr>
              <a:t>&lt;s then BIS(i+1)=BIS(</a:t>
            </a:r>
            <a:r>
              <a:rPr lang="en-US" altLang="zh-CN" sz="2400" dirty="0" err="1">
                <a:solidFill>
                  <a:srgbClr val="000000"/>
                </a:solidFill>
              </a:rPr>
              <a:t>i</a:t>
            </a:r>
            <a:r>
              <a:rPr lang="en-US" altLang="zh-CN" sz="2400" dirty="0">
                <a:solidFill>
                  <a:srgbClr val="000000"/>
                </a:solidFill>
              </a:rPr>
              <a:t>)+</a:t>
            </a:r>
            <a:r>
              <a:rPr lang="en-US" altLang="zh-CN" sz="2400" dirty="0" err="1">
                <a:solidFill>
                  <a:srgbClr val="000000"/>
                </a:solidFill>
              </a:rPr>
              <a:t>x</a:t>
            </a:r>
            <a:r>
              <a:rPr lang="en-US" altLang="zh-CN" sz="2400" baseline="-25000" dirty="0" err="1">
                <a:solidFill>
                  <a:srgbClr val="000000"/>
                </a:solidFill>
              </a:rPr>
              <a:t>m</a:t>
            </a:r>
            <a:r>
              <a:rPr lang="en-US" altLang="zh-CN" sz="2400" baseline="-25000" dirty="0">
                <a:solidFill>
                  <a:srgbClr val="000000"/>
                </a:solidFill>
              </a:rPr>
              <a:t>   </a:t>
            </a:r>
            <a:r>
              <a:rPr lang="en-US" altLang="zh-CN" sz="2400" dirty="0">
                <a:solidFill>
                  <a:srgbClr val="000000"/>
                </a:solidFill>
              </a:rPr>
              <a:t>(</a:t>
            </a:r>
            <a:r>
              <a:rPr lang="zh-CN" altLang="en-US" sz="2400" dirty="0">
                <a:solidFill>
                  <a:srgbClr val="000000"/>
                </a:solidFill>
              </a:rPr>
              <a:t>即</a:t>
            </a:r>
            <a:r>
              <a:rPr lang="en-US" altLang="zh-CN" sz="2400" dirty="0">
                <a:solidFill>
                  <a:srgbClr val="000000"/>
                </a:solidFill>
              </a:rPr>
              <a:t>BIS(</a:t>
            </a:r>
            <a:r>
              <a:rPr lang="en-US" altLang="zh-CN" sz="2400" dirty="0" err="1">
                <a:solidFill>
                  <a:srgbClr val="000000"/>
                </a:solidFill>
              </a:rPr>
              <a:t>i</a:t>
            </a:r>
            <a:r>
              <a:rPr lang="en-US" altLang="zh-CN" sz="2400" dirty="0">
                <a:solidFill>
                  <a:srgbClr val="000000"/>
                </a:solidFill>
              </a:rPr>
              <a:t>).last&lt;</a:t>
            </a:r>
            <a:r>
              <a:rPr lang="en-US" altLang="zh-CN" sz="2400" dirty="0" err="1">
                <a:solidFill>
                  <a:srgbClr val="000000"/>
                </a:solidFill>
              </a:rPr>
              <a:t>x</a:t>
            </a:r>
            <a:r>
              <a:rPr lang="en-US" altLang="zh-CN" sz="2400" baseline="-25000" dirty="0" err="1">
                <a:solidFill>
                  <a:srgbClr val="000000"/>
                </a:solidFill>
              </a:rPr>
              <a:t>m</a:t>
            </a:r>
            <a:r>
              <a:rPr lang="en-US" altLang="zh-CN" sz="2400" dirty="0">
                <a:solidFill>
                  <a:srgbClr val="000000"/>
                </a:solidFill>
              </a:rPr>
              <a:t>&lt;BIS(i+1).last)</a:t>
            </a:r>
            <a:endParaRPr lang="en-US" altLang="zh-CN" sz="2400" baseline="-25000" dirty="0">
              <a:solidFill>
                <a:srgbClr val="000000"/>
              </a:solidFill>
            </a:endParaRPr>
          </a:p>
          <a:p>
            <a:pPr lvl="0" eaLnBrk="1" hangingPunct="1">
              <a:buNone/>
            </a:pPr>
            <a:endParaRPr lang="en-US" altLang="zh-CN" sz="2400" dirty="0">
              <a:solidFill>
                <a:srgbClr val="000000"/>
              </a:solidFill>
            </a:endParaRPr>
          </a:p>
          <a:p>
            <a:pPr lvl="0" eaLnBrk="1" hangingPunct="1">
              <a:buNone/>
            </a:pPr>
            <a:r>
              <a:rPr lang="zh-CN" altLang="en-US" sz="2400" dirty="0">
                <a:solidFill>
                  <a:srgbClr val="000000"/>
                </a:solidFill>
              </a:rPr>
              <a:t>其中</a:t>
            </a:r>
            <a:r>
              <a:rPr lang="en-US" altLang="zh-CN" sz="2400" dirty="0" err="1">
                <a:solidFill>
                  <a:srgbClr val="000000"/>
                </a:solidFill>
              </a:rPr>
              <a:t>i</a:t>
            </a:r>
            <a:r>
              <a:rPr lang="zh-CN" altLang="en-US" sz="2400" dirty="0">
                <a:solidFill>
                  <a:srgbClr val="000000"/>
                </a:solidFill>
              </a:rPr>
              <a:t>的查找可用二分查找</a:t>
            </a:r>
            <a:endParaRPr lang="en-US" altLang="zh-CN" sz="2400" dirty="0">
              <a:solidFill>
                <a:srgbClr val="000000"/>
              </a:solidFill>
            </a:endParaRPr>
          </a:p>
          <a:p>
            <a:pPr lvl="0" eaLnBrk="1" hangingPunct="1">
              <a:buNone/>
            </a:pPr>
            <a:r>
              <a:rPr lang="zh-CN" altLang="en-US" sz="2400" dirty="0">
                <a:solidFill>
                  <a:srgbClr val="000000"/>
                </a:solidFill>
              </a:rPr>
              <a:t>所以每个</a:t>
            </a:r>
            <a:r>
              <a:rPr lang="en-US" altLang="zh-CN" sz="2400" dirty="0" err="1">
                <a:solidFill>
                  <a:srgbClr val="000000"/>
                </a:solidFill>
              </a:rPr>
              <a:t>x</a:t>
            </a:r>
            <a:r>
              <a:rPr lang="en-US" altLang="zh-CN" sz="2400" baseline="-25000" dirty="0" err="1">
                <a:solidFill>
                  <a:srgbClr val="000000"/>
                </a:solidFill>
              </a:rPr>
              <a:t>m</a:t>
            </a:r>
            <a:r>
              <a:rPr lang="zh-CN" altLang="en-US" sz="2400" dirty="0">
                <a:solidFill>
                  <a:srgbClr val="000000"/>
                </a:solidFill>
              </a:rPr>
              <a:t>需要</a:t>
            </a:r>
            <a:r>
              <a:rPr lang="en-US" altLang="zh-CN" sz="2400" dirty="0">
                <a:solidFill>
                  <a:srgbClr val="000000"/>
                </a:solidFill>
              </a:rPr>
              <a:t>O(</a:t>
            </a:r>
            <a:r>
              <a:rPr lang="en-US" altLang="zh-CN" sz="2400" dirty="0" err="1">
                <a:solidFill>
                  <a:srgbClr val="000000"/>
                </a:solidFill>
              </a:rPr>
              <a:t>logm</a:t>
            </a:r>
            <a:r>
              <a:rPr lang="en-US" altLang="zh-CN" sz="2400" dirty="0">
                <a:solidFill>
                  <a:srgbClr val="000000"/>
                </a:solidFill>
              </a:rPr>
              <a:t>)</a:t>
            </a:r>
            <a:r>
              <a:rPr lang="zh-CN" altLang="en-US" sz="2400" dirty="0">
                <a:solidFill>
                  <a:srgbClr val="000000"/>
                </a:solidFill>
              </a:rPr>
              <a:t>次比较</a:t>
            </a:r>
            <a:endParaRPr lang="en-US" altLang="zh-CN" sz="2400" dirty="0">
              <a:solidFill>
                <a:srgbClr val="000000"/>
              </a:solidFill>
            </a:endParaRPr>
          </a:p>
          <a:p>
            <a:pPr lvl="0" eaLnBrk="1" hangingPunct="1">
              <a:buNone/>
            </a:pPr>
            <a:r>
              <a:rPr lang="zh-CN" altLang="en-US" sz="2400" dirty="0">
                <a:solidFill>
                  <a:srgbClr val="000000"/>
                </a:solidFill>
              </a:rPr>
              <a:t>总的运行时间为</a:t>
            </a:r>
            <a:r>
              <a:rPr lang="en-US" altLang="zh-CN" sz="2400" dirty="0">
                <a:solidFill>
                  <a:srgbClr val="000000"/>
                </a:solidFill>
              </a:rPr>
              <a:t>O(</a:t>
            </a:r>
            <a:r>
              <a:rPr lang="en-US" altLang="zh-CN" sz="2400" dirty="0" err="1">
                <a:solidFill>
                  <a:srgbClr val="000000"/>
                </a:solidFill>
              </a:rPr>
              <a:t>nlogn</a:t>
            </a:r>
            <a:r>
              <a:rPr lang="en-US" altLang="zh-CN" sz="2400" dirty="0">
                <a:solidFill>
                  <a:srgbClr val="000000"/>
                </a:solidFill>
              </a:rPr>
              <a:t>)</a:t>
            </a:r>
            <a:endParaRPr lang="zh-CN" altLang="en-US" sz="2400" dirty="0">
              <a:solidFill>
                <a:srgbClr val="000000"/>
              </a:solidFill>
            </a:endParaRPr>
          </a:p>
          <a:p>
            <a:endParaRPr lang="zh-CN" altLang="en-US" sz="2400" dirty="0"/>
          </a:p>
          <a:p>
            <a:endParaRPr lang="zh-CN" altLang="en-US" sz="2400" dirty="0"/>
          </a:p>
        </p:txBody>
      </p:sp>
    </p:spTree>
    <p:extLst>
      <p:ext uri="{BB962C8B-B14F-4D97-AF65-F5344CB8AC3E}">
        <p14:creationId xmlns:p14="http://schemas.microsoft.com/office/powerpoint/2010/main" val="302093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8EA439-D1D2-49E4-9DD9-ED45917A30CB}"/>
              </a:ext>
            </a:extLst>
          </p:cNvPr>
          <p:cNvSpPr>
            <a:spLocks noGrp="1"/>
          </p:cNvSpPr>
          <p:nvPr>
            <p:ph type="title"/>
          </p:nvPr>
        </p:nvSpPr>
        <p:spPr/>
        <p:txBody>
          <a:bodyPr/>
          <a:lstStyle/>
          <a:p>
            <a:r>
              <a:rPr lang="zh-CN" altLang="en-US" dirty="0"/>
              <a:t>查找集合中最大的两个元素</a:t>
            </a:r>
          </a:p>
        </p:txBody>
      </p:sp>
      <p:sp>
        <p:nvSpPr>
          <p:cNvPr id="3" name="内容占位符 2">
            <a:extLst>
              <a:ext uri="{FF2B5EF4-FFF2-40B4-BE49-F238E27FC236}">
                <a16:creationId xmlns:a16="http://schemas.microsoft.com/office/drawing/2014/main" id="{67827ECD-DA1C-4CDB-BE1C-02E39A4B2554}"/>
              </a:ext>
            </a:extLst>
          </p:cNvPr>
          <p:cNvSpPr>
            <a:spLocks noGrp="1"/>
          </p:cNvSpPr>
          <p:nvPr>
            <p:ph idx="1"/>
          </p:nvPr>
        </p:nvSpPr>
        <p:spPr/>
        <p:txBody>
          <a:bodyPr>
            <a:normAutofit/>
          </a:bodyPr>
          <a:lstStyle/>
          <a:p>
            <a:r>
              <a:rPr lang="zh-CN" altLang="en-US" sz="2400" dirty="0">
                <a:solidFill>
                  <a:srgbClr val="000000"/>
                </a:solidFill>
              </a:rPr>
              <a:t>给定有</a:t>
            </a:r>
            <a:r>
              <a:rPr lang="en-US" altLang="zh-CN" sz="2400" dirty="0">
                <a:solidFill>
                  <a:srgbClr val="000000"/>
                </a:solidFill>
              </a:rPr>
              <a:t>n</a:t>
            </a:r>
            <a:r>
              <a:rPr lang="zh-CN" altLang="en-US" sz="2400" dirty="0">
                <a:solidFill>
                  <a:srgbClr val="000000"/>
                </a:solidFill>
              </a:rPr>
              <a:t>个元素的集合</a:t>
            </a:r>
            <a:r>
              <a:rPr lang="en-US" altLang="zh-CN" sz="2400" dirty="0">
                <a:solidFill>
                  <a:srgbClr val="000000"/>
                </a:solidFill>
              </a:rPr>
              <a:t>S</a:t>
            </a:r>
            <a:r>
              <a:rPr lang="zh-CN" altLang="en-US" sz="2400" dirty="0">
                <a:solidFill>
                  <a:srgbClr val="000000"/>
                </a:solidFill>
              </a:rPr>
              <a:t>，求其中最大的和第二大的元素</a:t>
            </a:r>
          </a:p>
          <a:p>
            <a:r>
              <a:rPr lang="zh-CN" altLang="en-US" sz="2400" dirty="0">
                <a:solidFill>
                  <a:srgbClr val="000000"/>
                </a:solidFill>
              </a:rPr>
              <a:t>直接法：</a:t>
            </a:r>
            <a:r>
              <a:rPr lang="en-US" altLang="zh-CN" sz="2400" dirty="0">
                <a:solidFill>
                  <a:srgbClr val="000000"/>
                </a:solidFill>
              </a:rPr>
              <a:t>2n-3</a:t>
            </a:r>
          </a:p>
          <a:p>
            <a:r>
              <a:rPr lang="zh-CN" altLang="en-US" sz="2400" dirty="0">
                <a:solidFill>
                  <a:srgbClr val="000000"/>
                </a:solidFill>
              </a:rPr>
              <a:t>常规的分治法：</a:t>
            </a:r>
            <a:r>
              <a:rPr lang="en-US" altLang="zh-CN" sz="2400" dirty="0">
                <a:solidFill>
                  <a:srgbClr val="000000"/>
                </a:solidFill>
              </a:rPr>
              <a:t>3n/2-2</a:t>
            </a:r>
          </a:p>
          <a:p>
            <a:r>
              <a:rPr lang="zh-CN" altLang="en-US" sz="2400" dirty="0">
                <a:solidFill>
                  <a:srgbClr val="000000"/>
                </a:solidFill>
              </a:rPr>
              <a:t>多花一些分的时间的分治法：</a:t>
            </a:r>
            <a:r>
              <a:rPr lang="en-US" altLang="zh-CN" sz="2400" dirty="0">
                <a:solidFill>
                  <a:srgbClr val="000000"/>
                </a:solidFill>
              </a:rPr>
              <a:t>n+logn-2</a:t>
            </a:r>
          </a:p>
          <a:p>
            <a:r>
              <a:rPr lang="zh-CN" altLang="en-US" sz="2400" dirty="0">
                <a:solidFill>
                  <a:srgbClr val="000000"/>
                </a:solidFill>
              </a:rPr>
              <a:t>第二大元素的候选者集合：</a:t>
            </a:r>
            <a:r>
              <a:rPr lang="en-US" altLang="zh-CN" sz="2400" dirty="0">
                <a:solidFill>
                  <a:srgbClr val="000000"/>
                </a:solidFill>
              </a:rPr>
              <a:t>n+logn-2</a:t>
            </a:r>
          </a:p>
          <a:p>
            <a:endParaRPr lang="zh-CN" altLang="en-US" sz="2400" dirty="0"/>
          </a:p>
        </p:txBody>
      </p:sp>
    </p:spTree>
    <p:extLst>
      <p:ext uri="{BB962C8B-B14F-4D97-AF65-F5344CB8AC3E}">
        <p14:creationId xmlns:p14="http://schemas.microsoft.com/office/powerpoint/2010/main" val="24884382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7C786-9B4A-409A-A442-6B77797563A3}"/>
              </a:ext>
            </a:extLst>
          </p:cNvPr>
          <p:cNvSpPr>
            <a:spLocks noGrp="1"/>
          </p:cNvSpPr>
          <p:nvPr>
            <p:ph type="title"/>
          </p:nvPr>
        </p:nvSpPr>
        <p:spPr/>
        <p:txBody>
          <a:bodyPr/>
          <a:lstStyle/>
          <a:p>
            <a:r>
              <a:rPr lang="zh-CN" altLang="en-US" dirty="0"/>
              <a:t>计算多重集合的模</a:t>
            </a:r>
          </a:p>
        </p:txBody>
      </p:sp>
      <p:sp>
        <p:nvSpPr>
          <p:cNvPr id="3" name="内容占位符 2">
            <a:extLst>
              <a:ext uri="{FF2B5EF4-FFF2-40B4-BE49-F238E27FC236}">
                <a16:creationId xmlns:a16="http://schemas.microsoft.com/office/drawing/2014/main" id="{607019ED-071F-4C2B-8061-51FF81D4C20B}"/>
              </a:ext>
            </a:extLst>
          </p:cNvPr>
          <p:cNvSpPr>
            <a:spLocks noGrp="1"/>
          </p:cNvSpPr>
          <p:nvPr>
            <p:ph idx="1"/>
          </p:nvPr>
        </p:nvSpPr>
        <p:spPr/>
        <p:txBody>
          <a:bodyPr>
            <a:normAutofit/>
          </a:bodyPr>
          <a:lstStyle/>
          <a:p>
            <a:r>
              <a:rPr lang="zh-CN" altLang="en-US" sz="2400" dirty="0">
                <a:solidFill>
                  <a:srgbClr val="000000"/>
                </a:solidFill>
              </a:rPr>
              <a:t>求给定的多重集合</a:t>
            </a:r>
            <a:r>
              <a:rPr lang="en-US" altLang="zh-CN" sz="2400" dirty="0">
                <a:solidFill>
                  <a:srgbClr val="000000"/>
                </a:solidFill>
              </a:rPr>
              <a:t>(</a:t>
            </a:r>
            <a:r>
              <a:rPr lang="zh-CN" altLang="en-US" sz="2400" dirty="0">
                <a:solidFill>
                  <a:srgbClr val="000000"/>
                </a:solidFill>
              </a:rPr>
              <a:t>元素不必互异</a:t>
            </a:r>
            <a:r>
              <a:rPr lang="en-US" altLang="zh-CN" sz="2400" dirty="0">
                <a:solidFill>
                  <a:srgbClr val="000000"/>
                </a:solidFill>
              </a:rPr>
              <a:t>)S</a:t>
            </a:r>
            <a:r>
              <a:rPr lang="zh-CN" altLang="en-US" sz="2400" dirty="0">
                <a:solidFill>
                  <a:srgbClr val="000000"/>
                </a:solidFill>
              </a:rPr>
              <a:t>的模</a:t>
            </a:r>
          </a:p>
          <a:p>
            <a:r>
              <a:rPr lang="zh-CN" altLang="en-US" sz="2400" dirty="0">
                <a:solidFill>
                  <a:srgbClr val="000000"/>
                </a:solidFill>
              </a:rPr>
              <a:t>排序</a:t>
            </a:r>
          </a:p>
          <a:p>
            <a:r>
              <a:rPr lang="zh-CN" altLang="en-US" sz="2400" dirty="0">
                <a:solidFill>
                  <a:srgbClr val="000000"/>
                </a:solidFill>
              </a:rPr>
              <a:t>直接归纳</a:t>
            </a:r>
          </a:p>
          <a:p>
            <a:r>
              <a:rPr lang="zh-CN" altLang="en-US" sz="2400" dirty="0">
                <a:solidFill>
                  <a:srgbClr val="000000"/>
                </a:solidFill>
              </a:rPr>
              <a:t>分治法</a:t>
            </a:r>
            <a:r>
              <a:rPr lang="en-US" altLang="zh-CN" sz="2400" dirty="0">
                <a:solidFill>
                  <a:srgbClr val="000000"/>
                </a:solidFill>
              </a:rPr>
              <a:t>(</a:t>
            </a:r>
            <a:r>
              <a:rPr lang="zh-CN" altLang="en-US" sz="2400" dirty="0">
                <a:solidFill>
                  <a:srgbClr val="000000"/>
                </a:solidFill>
              </a:rPr>
              <a:t>利用中数</a:t>
            </a:r>
            <a:r>
              <a:rPr lang="en-US" altLang="zh-CN" sz="2400" dirty="0">
                <a:solidFill>
                  <a:srgbClr val="000000"/>
                </a:solidFill>
              </a:rPr>
              <a:t>)</a:t>
            </a:r>
            <a:r>
              <a:rPr lang="zh-CN" altLang="en-US" sz="2400" dirty="0">
                <a:solidFill>
                  <a:srgbClr val="000000"/>
                </a:solidFill>
              </a:rPr>
              <a:t>：</a:t>
            </a:r>
            <a:r>
              <a:rPr lang="en-US" altLang="zh-CN" sz="2400" dirty="0">
                <a:solidFill>
                  <a:srgbClr val="000000"/>
                </a:solidFill>
              </a:rPr>
              <a:t>O(</a:t>
            </a:r>
            <a:r>
              <a:rPr lang="en-US" altLang="zh-CN" sz="2400" dirty="0" err="1">
                <a:solidFill>
                  <a:srgbClr val="000000"/>
                </a:solidFill>
              </a:rPr>
              <a:t>nlogn</a:t>
            </a:r>
            <a:r>
              <a:rPr lang="en-US" altLang="zh-CN" sz="2400" dirty="0">
                <a:solidFill>
                  <a:srgbClr val="000000"/>
                </a:solidFill>
              </a:rPr>
              <a:t>)</a:t>
            </a:r>
          </a:p>
          <a:p>
            <a:r>
              <a:rPr lang="zh-CN" altLang="en-US" sz="2400" dirty="0">
                <a:solidFill>
                  <a:srgbClr val="000000"/>
                </a:solidFill>
              </a:rPr>
              <a:t>分治法</a:t>
            </a:r>
            <a:r>
              <a:rPr lang="en-US" altLang="zh-CN" sz="2400" dirty="0">
                <a:solidFill>
                  <a:srgbClr val="000000"/>
                </a:solidFill>
              </a:rPr>
              <a:t>(</a:t>
            </a:r>
            <a:r>
              <a:rPr lang="zh-CN" altLang="en-US" sz="2400" dirty="0">
                <a:solidFill>
                  <a:srgbClr val="000000"/>
                </a:solidFill>
              </a:rPr>
              <a:t>改变归纳基础</a:t>
            </a:r>
            <a:r>
              <a:rPr lang="en-US" altLang="zh-CN" sz="2400" dirty="0">
                <a:solidFill>
                  <a:srgbClr val="000000"/>
                </a:solidFill>
              </a:rPr>
              <a:t>)</a:t>
            </a:r>
            <a:r>
              <a:rPr lang="zh-CN" altLang="en-US" sz="2400" dirty="0">
                <a:solidFill>
                  <a:srgbClr val="000000"/>
                </a:solidFill>
              </a:rPr>
              <a:t>：</a:t>
            </a:r>
            <a:r>
              <a:rPr lang="en-US" altLang="zh-CN" sz="2400" dirty="0">
                <a:solidFill>
                  <a:srgbClr val="000000"/>
                </a:solidFill>
              </a:rPr>
              <a:t>O(</a:t>
            </a:r>
            <a:r>
              <a:rPr lang="en-US" altLang="zh-CN" sz="2400" dirty="0" err="1">
                <a:solidFill>
                  <a:srgbClr val="000000"/>
                </a:solidFill>
              </a:rPr>
              <a:t>nlog</a:t>
            </a:r>
            <a:r>
              <a:rPr lang="en-US" altLang="zh-CN" sz="2400" dirty="0">
                <a:solidFill>
                  <a:srgbClr val="000000"/>
                </a:solidFill>
              </a:rPr>
              <a:t>(n/M))</a:t>
            </a:r>
          </a:p>
          <a:p>
            <a:endParaRPr lang="zh-CN" altLang="en-US" sz="2400" dirty="0"/>
          </a:p>
        </p:txBody>
      </p:sp>
    </p:spTree>
    <p:extLst>
      <p:ext uri="{BB962C8B-B14F-4D97-AF65-F5344CB8AC3E}">
        <p14:creationId xmlns:p14="http://schemas.microsoft.com/office/powerpoint/2010/main" val="3992107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552</TotalTime>
  <Words>8751</Words>
  <Application>Microsoft Office PowerPoint</Application>
  <PresentationFormat>宽屏</PresentationFormat>
  <Paragraphs>501</Paragraphs>
  <Slides>49</Slides>
  <Notes>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58" baseType="lpstr">
      <vt:lpstr>等线</vt:lpstr>
      <vt:lpstr>等线 Light</vt:lpstr>
      <vt:lpstr>宋体</vt:lpstr>
      <vt:lpstr>Arial</vt:lpstr>
      <vt:lpstr>Calibri</vt:lpstr>
      <vt:lpstr>Cambria Math</vt:lpstr>
      <vt:lpstr>Office 主题​​</vt:lpstr>
      <vt:lpstr>Visio</vt:lpstr>
      <vt:lpstr>公式</vt:lpstr>
      <vt:lpstr>序列和集合的算法</vt:lpstr>
      <vt:lpstr>序列与集合</vt:lpstr>
      <vt:lpstr>二分搜索的几种形式</vt:lpstr>
      <vt:lpstr>二分搜索</vt:lpstr>
      <vt:lpstr>循环序列的二分搜索</vt:lpstr>
      <vt:lpstr>二分搜索特殊下标</vt:lpstr>
      <vt:lpstr>二分搜索长度未知的序列</vt:lpstr>
      <vt:lpstr>重叠子序列问题</vt:lpstr>
      <vt:lpstr>重叠子序列问题</vt:lpstr>
      <vt:lpstr>由重叠子序列问题得到的启示</vt:lpstr>
      <vt:lpstr>方程求解</vt:lpstr>
      <vt:lpstr>二分搜索的几种形式</vt:lpstr>
      <vt:lpstr>内插搜索</vt:lpstr>
      <vt:lpstr>排序</vt:lpstr>
      <vt:lpstr>排序</vt:lpstr>
      <vt:lpstr>快速排序</vt:lpstr>
      <vt:lpstr>堆排序</vt:lpstr>
      <vt:lpstr>堆排序</vt:lpstr>
      <vt:lpstr>堆排序</vt:lpstr>
      <vt:lpstr>决策树</vt:lpstr>
      <vt:lpstr>决策树</vt:lpstr>
      <vt:lpstr>计数排序</vt:lpstr>
      <vt:lpstr>桶排序算法</vt:lpstr>
      <vt:lpstr>桶排序算法的一个拓展</vt:lpstr>
      <vt:lpstr>桶排序算法-&gt;基数排序</vt:lpstr>
      <vt:lpstr>基数排序</vt:lpstr>
      <vt:lpstr>基数排序</vt:lpstr>
      <vt:lpstr>秩</vt:lpstr>
      <vt:lpstr>最大和最小数</vt:lpstr>
      <vt:lpstr>最大和最小数</vt:lpstr>
      <vt:lpstr>查找第k小的数</vt:lpstr>
      <vt:lpstr>加权中位数</vt:lpstr>
      <vt:lpstr>加权中位数</vt:lpstr>
      <vt:lpstr>两个有序数组的中位数</vt:lpstr>
      <vt:lpstr>另一个思路</vt:lpstr>
      <vt:lpstr>数据压缩</vt:lpstr>
      <vt:lpstr>数据压缩</vt:lpstr>
      <vt:lpstr>序列比较</vt:lpstr>
      <vt:lpstr>序列比较</vt:lpstr>
      <vt:lpstr>序列比较</vt:lpstr>
      <vt:lpstr>查找众数</vt:lpstr>
      <vt:lpstr>查找众数</vt:lpstr>
      <vt:lpstr>频繁元素</vt:lpstr>
      <vt:lpstr>频繁元素-- Misra-Gries算法</vt:lpstr>
      <vt:lpstr>性能分析</vt:lpstr>
      <vt:lpstr>最长递增序列</vt:lpstr>
      <vt:lpstr>最长递增序列</vt:lpstr>
      <vt:lpstr>查找集合中最大的两个元素</vt:lpstr>
      <vt:lpstr>计算多重集合的模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序列和集合的算法</dc:title>
  <dc:creator>z r</dc:creator>
  <cp:lastModifiedBy>z r</cp:lastModifiedBy>
  <cp:revision>18</cp:revision>
  <dcterms:created xsi:type="dcterms:W3CDTF">2026-01-14T02:21:57Z</dcterms:created>
  <dcterms:modified xsi:type="dcterms:W3CDTF">2026-03-11T13:56:02Z</dcterms:modified>
</cp:coreProperties>
</file>