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014" autoAdjust="0"/>
    <p:restoredTop sz="75243" autoAdjust="0"/>
  </p:normalViewPr>
  <p:slideViewPr>
    <p:cSldViewPr snapToGrid="0">
      <p:cViewPr varScale="1">
        <p:scale>
          <a:sx n="58" d="100"/>
          <a:sy n="58" d="100"/>
        </p:scale>
        <p:origin x="948" y="2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46443-B65F-436E-9202-20F4C40A81D4}"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E0B9B-A883-4D9F-8F93-834043A7FE68}" type="slidenum">
              <a:rPr lang="zh-CN" altLang="en-US" smtClean="0"/>
              <a:t>‹#›</a:t>
            </a:fld>
            <a:endParaRPr lang="zh-CN" altLang="en-US"/>
          </a:p>
        </p:txBody>
      </p:sp>
    </p:spTree>
    <p:extLst>
      <p:ext uri="{BB962C8B-B14F-4D97-AF65-F5344CB8AC3E}">
        <p14:creationId xmlns:p14="http://schemas.microsoft.com/office/powerpoint/2010/main" val="153532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3E0B9B-A883-4D9F-8F93-834043A7FE68}" type="slidenum">
              <a:rPr lang="zh-CN" altLang="en-US" smtClean="0"/>
              <a:t>7</a:t>
            </a:fld>
            <a:endParaRPr lang="zh-CN" altLang="en-US"/>
          </a:p>
        </p:txBody>
      </p:sp>
    </p:spTree>
    <p:extLst>
      <p:ext uri="{BB962C8B-B14F-4D97-AF65-F5344CB8AC3E}">
        <p14:creationId xmlns:p14="http://schemas.microsoft.com/office/powerpoint/2010/main" val="2191929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该运算符如何进行计算</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Python</a:t>
            </a:r>
            <a:r>
              <a:rPr lang="zh-CN" altLang="en-US" dirty="0"/>
              <a:t>的加法能支持任意长度，是因为其整数对象通过动态数组分段存储数值，并采用逐位进位算法来实现运算</a:t>
            </a:r>
          </a:p>
          <a:p>
            <a:endParaRPr lang="zh-CN" altLang="en-US" dirty="0"/>
          </a:p>
        </p:txBody>
      </p:sp>
      <p:sp>
        <p:nvSpPr>
          <p:cNvPr id="4" name="灯片编号占位符 3"/>
          <p:cNvSpPr>
            <a:spLocks noGrp="1"/>
          </p:cNvSpPr>
          <p:nvPr>
            <p:ph type="sldNum" sz="quarter" idx="5"/>
          </p:nvPr>
        </p:nvSpPr>
        <p:spPr/>
        <p:txBody>
          <a:bodyPr/>
          <a:lstStyle/>
          <a:p>
            <a:fld id="{6F3E0B9B-A883-4D9F-8F93-834043A7FE68}" type="slidenum">
              <a:rPr lang="zh-CN" altLang="en-US" smtClean="0"/>
              <a:t>20</a:t>
            </a:fld>
            <a:endParaRPr lang="zh-CN" altLang="en-US"/>
          </a:p>
        </p:txBody>
      </p:sp>
    </p:spTree>
    <p:extLst>
      <p:ext uri="{BB962C8B-B14F-4D97-AF65-F5344CB8AC3E}">
        <p14:creationId xmlns:p14="http://schemas.microsoft.com/office/powerpoint/2010/main" val="2476334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目前：</a:t>
            </a:r>
            <a:r>
              <a:rPr lang="en-US" altLang="zh-CN" dirty="0"/>
              <a:t>O((</a:t>
            </a:r>
            <a:r>
              <a:rPr lang="en-US" altLang="zh-CN" dirty="0" err="1"/>
              <a:t>logn</a:t>
            </a:r>
            <a:r>
              <a:rPr lang="en-US" altLang="zh-CN" dirty="0"/>
              <a:t>)^11)</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F3E0B9B-A883-4D9F-8F93-834043A7FE68}" type="slidenum">
              <a:rPr lang="zh-CN" altLang="en-US" smtClean="0"/>
              <a:t>21</a:t>
            </a:fld>
            <a:endParaRPr lang="zh-CN" altLang="en-US"/>
          </a:p>
        </p:txBody>
      </p:sp>
    </p:spTree>
    <p:extLst>
      <p:ext uri="{BB962C8B-B14F-4D97-AF65-F5344CB8AC3E}">
        <p14:creationId xmlns:p14="http://schemas.microsoft.com/office/powerpoint/2010/main" val="726909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AE4E5D-F035-46CE-8653-82BB37ECEA0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0BE48F-2E65-4E42-8E7D-F1B616C4CF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ACDF803-288A-425D-8267-AF47C4CA3771}"/>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FD90E69F-B8F3-4050-B282-15F427F189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08B652-52CC-4967-803D-B5BBBC907F4F}"/>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2331332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5C84-09B1-4012-80B8-031897DE6E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60E953-6DBA-4743-87F9-B664FF030BAD}"/>
              </a:ext>
            </a:extLst>
          </p:cNvPr>
          <p:cNvSpPr>
            <a:spLocks noGrp="1"/>
          </p:cNvSpPr>
          <p:nvPr>
            <p:ph idx="1"/>
          </p:nvPr>
        </p:nvSpPr>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9122D335-2017-4220-AC3F-2A661A38B6F1}"/>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A8B3658F-A80E-4E8D-A463-F05B917AA3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046EB4-F519-43A3-B5E8-24B37E032AAE}"/>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1349988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37021-64BB-4E1B-9679-851C2D5C2FA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9E5631F-51B2-44A4-AEF0-55652AACFB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1C15E57-784C-4BAB-9CAB-2B4B291656A1}"/>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961C385D-2371-4566-B649-9662ECEC64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9DFD19-C7DD-4ABC-9670-0BFD513DF600}"/>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280165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3B267-4EF0-4211-A2B0-869FB5D517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91CF8D-B36B-41A3-B1A7-5CB394AB5BA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5A00A1F-136E-4A8F-80B0-A67F66F6A47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7004B1A-20E1-4900-B4CA-02A5D994EE4D}"/>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6" name="页脚占位符 5">
            <a:extLst>
              <a:ext uri="{FF2B5EF4-FFF2-40B4-BE49-F238E27FC236}">
                <a16:creationId xmlns:a16="http://schemas.microsoft.com/office/drawing/2014/main" id="{BC61A8AB-297B-43CA-BC60-568E141154A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81C8F20-DF31-469E-8DFC-F0D9C7DE7FCE}"/>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179176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104835-D13C-4CBA-883A-C57EFD6CBEE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7CCFB52-8B02-4CF6-BEE0-A313E4C2A0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A986FC-F1A2-4B5E-A38C-E454FFAB80D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CF91E05-EB66-4F44-AD2F-E617847669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15C9B0A-3C35-401E-A95C-214533CADA3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1AB472A-83DC-48A5-924D-10930B5933DB}"/>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8" name="页脚占位符 7">
            <a:extLst>
              <a:ext uri="{FF2B5EF4-FFF2-40B4-BE49-F238E27FC236}">
                <a16:creationId xmlns:a16="http://schemas.microsoft.com/office/drawing/2014/main" id="{7E6838B7-A2F5-400A-8605-EC8515FA732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8577603-40CB-433D-A448-D501F8E9DB55}"/>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1158580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5EB35-3BB7-4821-B842-0D613DAF121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70A992-A424-49AD-8914-91A868C77B40}"/>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4" name="页脚占位符 3">
            <a:extLst>
              <a:ext uri="{FF2B5EF4-FFF2-40B4-BE49-F238E27FC236}">
                <a16:creationId xmlns:a16="http://schemas.microsoft.com/office/drawing/2014/main" id="{75441F7A-EE76-42DF-A54B-4F5E0E9DE56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6A61448-D816-4B1E-BA72-8FE8D6D5507B}"/>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262620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0BFBAC-ED84-4CDB-9B5C-C6148B979BE0}"/>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3" name="页脚占位符 2">
            <a:extLst>
              <a:ext uri="{FF2B5EF4-FFF2-40B4-BE49-F238E27FC236}">
                <a16:creationId xmlns:a16="http://schemas.microsoft.com/office/drawing/2014/main" id="{73F616F5-B91C-48F5-9BDD-A2310BD698B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6D8B45C-0F7F-4E16-9712-AD7EA7246C97}"/>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3229004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8BEDF9-C171-45F9-AC79-86392E2DBB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A8E5555-3EFF-4847-8BB2-8D33D145E7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589BE8-BEE1-4A5D-A830-EEA0E8BAE7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1C777A0-AAC8-4713-8ADD-D43C65340A01}"/>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6" name="页脚占位符 5">
            <a:extLst>
              <a:ext uri="{FF2B5EF4-FFF2-40B4-BE49-F238E27FC236}">
                <a16:creationId xmlns:a16="http://schemas.microsoft.com/office/drawing/2014/main" id="{081DB822-01FC-45E6-A2C1-B3EC885FC7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DFD4FB-76D2-4B35-970D-8A470210ADDD}"/>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100463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4C401-0A53-4E82-9863-599941E2E5C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25F6C50-82F0-4BC8-88F3-C3CA450DA5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12D9EEA-03A6-480C-9B42-2B9DA7950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A346F9-F8C9-436A-A36A-5B32D3D0DEDB}"/>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6" name="页脚占位符 5">
            <a:extLst>
              <a:ext uri="{FF2B5EF4-FFF2-40B4-BE49-F238E27FC236}">
                <a16:creationId xmlns:a16="http://schemas.microsoft.com/office/drawing/2014/main" id="{D5F0B355-7596-41A9-9BF5-129AC7F752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F5DB6CA-FB88-48D2-AB8A-E3DEA0B45889}"/>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2573486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297EA-E484-44AE-8554-E05088A8C1D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CA17B9A-3D83-46E5-AB83-0AF94485F94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E97332-5F6B-46D6-A089-41F03C5EEB17}"/>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DA380CD9-A947-42C1-8ED6-131C2555F51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FF0C13-3B59-4F0C-B368-AC154552883E}"/>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1992782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1963FC-B050-4CBF-9571-D9B8EB8DF3D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2C7895F-506B-4042-AB9D-6F447D2FB56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6E7BF1-2F5B-4E1C-8C12-C6523C78E676}"/>
              </a:ext>
            </a:extLst>
          </p:cNvPr>
          <p:cNvSpPr>
            <a:spLocks noGrp="1"/>
          </p:cNvSpPr>
          <p:nvPr>
            <p:ph type="dt" sz="half" idx="10"/>
          </p:nvPr>
        </p:nvSpPr>
        <p:spPr/>
        <p:txBody>
          <a:body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D4C7539F-F14C-4EEC-A9D3-39A8381724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6BFE28-AFE4-4E6D-82E2-37B5893EE2CC}"/>
              </a:ext>
            </a:extLst>
          </p:cNvPr>
          <p:cNvSpPr>
            <a:spLocks noGrp="1"/>
          </p:cNvSpPr>
          <p:nvPr>
            <p:ph type="sldNum" sz="quarter" idx="12"/>
          </p:nvPr>
        </p:nvSpPr>
        <p:spPr/>
        <p:txBody>
          <a:body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3490132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CB92E57-4F47-4877-8DB1-33B55685F9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F5AD8A-58F9-492B-95E2-EBFD5E4DF1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4E4CA0-BED2-4DA6-9029-DAB261FEB1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5E0E3C-FE39-4E8E-8108-C49C02DD3216}" type="datetimeFigureOut">
              <a:rPr lang="zh-CN" altLang="en-US" smtClean="0"/>
              <a:t>2026/3/3</a:t>
            </a:fld>
            <a:endParaRPr lang="zh-CN" altLang="en-US"/>
          </a:p>
        </p:txBody>
      </p:sp>
      <p:sp>
        <p:nvSpPr>
          <p:cNvPr id="5" name="页脚占位符 4">
            <a:extLst>
              <a:ext uri="{FF2B5EF4-FFF2-40B4-BE49-F238E27FC236}">
                <a16:creationId xmlns:a16="http://schemas.microsoft.com/office/drawing/2014/main" id="{456ABB4F-9D0B-4F02-A1A4-B953A8CF8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733FE53-E1C7-4651-8793-497B9F99A5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5228C4-C99C-4D89-B11E-B34650570966}" type="slidenum">
              <a:rPr lang="zh-CN" altLang="en-US" smtClean="0"/>
              <a:t>‹#›</a:t>
            </a:fld>
            <a:endParaRPr lang="zh-CN" altLang="en-US"/>
          </a:p>
        </p:txBody>
      </p:sp>
    </p:spTree>
    <p:extLst>
      <p:ext uri="{BB962C8B-B14F-4D97-AF65-F5344CB8AC3E}">
        <p14:creationId xmlns:p14="http://schemas.microsoft.com/office/powerpoint/2010/main" val="3546534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2BEA8-9612-4AC4-9C53-79988E537295}"/>
              </a:ext>
            </a:extLst>
          </p:cNvPr>
          <p:cNvSpPr>
            <a:spLocks noGrp="1"/>
          </p:cNvSpPr>
          <p:nvPr>
            <p:ph type="ctrTitle"/>
          </p:nvPr>
        </p:nvSpPr>
        <p:spPr/>
        <p:txBody>
          <a:bodyPr/>
          <a:lstStyle/>
          <a:p>
            <a:r>
              <a:rPr lang="zh-CN" altLang="en-US" dirty="0"/>
              <a:t>算法分析</a:t>
            </a:r>
          </a:p>
        </p:txBody>
      </p:sp>
      <p:sp>
        <p:nvSpPr>
          <p:cNvPr id="3" name="副标题 2">
            <a:extLst>
              <a:ext uri="{FF2B5EF4-FFF2-40B4-BE49-F238E27FC236}">
                <a16:creationId xmlns:a16="http://schemas.microsoft.com/office/drawing/2014/main" id="{715437D3-A633-4C87-81D2-8F7CF11B80FA}"/>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668721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82F302-E277-48FE-8E3A-ACC5B2079E4C}"/>
              </a:ext>
            </a:extLst>
          </p:cNvPr>
          <p:cNvSpPr>
            <a:spLocks noGrp="1"/>
          </p:cNvSpPr>
          <p:nvPr>
            <p:ph type="title"/>
          </p:nvPr>
        </p:nvSpPr>
        <p:spPr/>
        <p:txBody>
          <a:bodyPr/>
          <a:lstStyle/>
          <a:p>
            <a:r>
              <a:rPr lang="zh-CN" altLang="en-US" dirty="0"/>
              <a:t>算法分析</a:t>
            </a:r>
          </a:p>
        </p:txBody>
      </p:sp>
      <p:sp>
        <p:nvSpPr>
          <p:cNvPr id="3" name="内容占位符 2">
            <a:extLst>
              <a:ext uri="{FF2B5EF4-FFF2-40B4-BE49-F238E27FC236}">
                <a16:creationId xmlns:a16="http://schemas.microsoft.com/office/drawing/2014/main" id="{7D13E91D-102E-438C-BB98-3DF125273B3E}"/>
              </a:ext>
            </a:extLst>
          </p:cNvPr>
          <p:cNvSpPr>
            <a:spLocks noGrp="1"/>
          </p:cNvSpPr>
          <p:nvPr>
            <p:ph idx="1"/>
          </p:nvPr>
        </p:nvSpPr>
        <p:spPr/>
        <p:txBody>
          <a:bodyPr/>
          <a:lstStyle/>
          <a:p>
            <a:r>
              <a:rPr lang="zh-CN" altLang="en-US" dirty="0"/>
              <a:t>算法分析的目的是要</a:t>
            </a:r>
            <a:r>
              <a:rPr lang="zh-CN" altLang="en-US" dirty="0">
                <a:solidFill>
                  <a:srgbClr val="FF0000"/>
                </a:solidFill>
              </a:rPr>
              <a:t>预测</a:t>
            </a:r>
            <a:r>
              <a:rPr lang="zh-CN" altLang="en-US" dirty="0"/>
              <a:t>算法的行为，包括时间复杂性和空间复杂性，从而判断算法的优劣。</a:t>
            </a:r>
          </a:p>
          <a:p>
            <a:endParaRPr lang="zh-CN" altLang="en-US" dirty="0"/>
          </a:p>
        </p:txBody>
      </p:sp>
    </p:spTree>
    <p:extLst>
      <p:ext uri="{BB962C8B-B14F-4D97-AF65-F5344CB8AC3E}">
        <p14:creationId xmlns:p14="http://schemas.microsoft.com/office/powerpoint/2010/main" val="235864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48847-B41E-4E2F-A116-05F236C5597B}"/>
              </a:ext>
            </a:extLst>
          </p:cNvPr>
          <p:cNvSpPr>
            <a:spLocks noGrp="1"/>
          </p:cNvSpPr>
          <p:nvPr>
            <p:ph type="title"/>
          </p:nvPr>
        </p:nvSpPr>
        <p:spPr/>
        <p:txBody>
          <a:bodyPr/>
          <a:lstStyle/>
          <a:p>
            <a:r>
              <a:rPr lang="zh-CN" altLang="en-US" dirty="0"/>
              <a:t>时间复杂性</a:t>
            </a:r>
          </a:p>
        </p:txBody>
      </p:sp>
      <p:sp>
        <p:nvSpPr>
          <p:cNvPr id="3" name="内容占位符 2">
            <a:extLst>
              <a:ext uri="{FF2B5EF4-FFF2-40B4-BE49-F238E27FC236}">
                <a16:creationId xmlns:a16="http://schemas.microsoft.com/office/drawing/2014/main" id="{0C07BAAE-05DC-4CEC-8095-2CB309302B27}"/>
              </a:ext>
            </a:extLst>
          </p:cNvPr>
          <p:cNvSpPr>
            <a:spLocks noGrp="1"/>
          </p:cNvSpPr>
          <p:nvPr>
            <p:ph idx="1"/>
          </p:nvPr>
        </p:nvSpPr>
        <p:spPr/>
        <p:txBody>
          <a:bodyPr/>
          <a:lstStyle/>
          <a:p>
            <a:r>
              <a:rPr lang="zh-CN" altLang="en-US" dirty="0"/>
              <a:t>决定程序运行时间的因素：</a:t>
            </a:r>
          </a:p>
          <a:p>
            <a:pPr marL="457200" lvl="1" indent="0">
              <a:buNone/>
            </a:pPr>
            <a:r>
              <a:rPr lang="en-US" altLang="zh-CN" dirty="0"/>
              <a:t>1) </a:t>
            </a:r>
            <a:r>
              <a:rPr lang="zh-CN" altLang="en-US" dirty="0"/>
              <a:t>问题规模（输入规模）</a:t>
            </a:r>
          </a:p>
          <a:p>
            <a:pPr marL="457200" lvl="1" indent="0">
              <a:buNone/>
            </a:pPr>
            <a:r>
              <a:rPr lang="en-US" altLang="zh-CN" dirty="0"/>
              <a:t>2) </a:t>
            </a:r>
            <a:r>
              <a:rPr lang="zh-CN" altLang="en-US" dirty="0"/>
              <a:t>代码质量</a:t>
            </a:r>
          </a:p>
          <a:p>
            <a:pPr marL="457200" lvl="1" indent="0">
              <a:buNone/>
            </a:pPr>
            <a:r>
              <a:rPr lang="en-US" altLang="zh-CN" dirty="0"/>
              <a:t>3) </a:t>
            </a:r>
            <a:r>
              <a:rPr lang="zh-CN" altLang="en-US" dirty="0"/>
              <a:t>计算机系统性能</a:t>
            </a:r>
          </a:p>
          <a:p>
            <a:pPr marL="457200" lvl="1" indent="0">
              <a:buNone/>
            </a:pPr>
            <a:r>
              <a:rPr lang="en-US" altLang="zh-CN" dirty="0"/>
              <a:t>4) </a:t>
            </a:r>
            <a:r>
              <a:rPr lang="zh-CN" altLang="en-US" dirty="0"/>
              <a:t>算法的时间复杂性</a:t>
            </a:r>
          </a:p>
          <a:p>
            <a:endParaRPr lang="zh-CN" altLang="en-US" dirty="0"/>
          </a:p>
        </p:txBody>
      </p:sp>
    </p:spTree>
    <p:extLst>
      <p:ext uri="{BB962C8B-B14F-4D97-AF65-F5344CB8AC3E}">
        <p14:creationId xmlns:p14="http://schemas.microsoft.com/office/powerpoint/2010/main" val="1309630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8027ED-1747-4267-A948-7B228224C158}"/>
              </a:ext>
            </a:extLst>
          </p:cNvPr>
          <p:cNvSpPr>
            <a:spLocks noGrp="1"/>
          </p:cNvSpPr>
          <p:nvPr>
            <p:ph type="title"/>
          </p:nvPr>
        </p:nvSpPr>
        <p:spPr/>
        <p:txBody>
          <a:bodyPr/>
          <a:lstStyle/>
          <a:p>
            <a:r>
              <a:rPr lang="zh-CN" altLang="en-US" dirty="0"/>
              <a:t>时间复杂性</a:t>
            </a:r>
          </a:p>
        </p:txBody>
      </p:sp>
      <p:pic>
        <p:nvPicPr>
          <p:cNvPr id="4" name="Picture 4" descr="File0056">
            <a:extLst>
              <a:ext uri="{FF2B5EF4-FFF2-40B4-BE49-F238E27FC236}">
                <a16:creationId xmlns:a16="http://schemas.microsoft.com/office/drawing/2014/main" id="{D4CF4F70-C6AD-4CDA-A5CB-A5B813EAFB44}"/>
              </a:ext>
            </a:extLst>
          </p:cNvPr>
          <p:cNvPicPr>
            <a:picLocks noChangeAspect="1" noChangeArrowheads="1"/>
          </p:cNvPicPr>
          <p:nvPr/>
        </p:nvPicPr>
        <p:blipFill>
          <a:blip r:embed="rId2" cstate="print"/>
          <a:srcRect/>
          <a:stretch>
            <a:fillRect/>
          </a:stretch>
        </p:blipFill>
        <p:spPr bwMode="auto">
          <a:xfrm>
            <a:off x="2081462" y="1676403"/>
            <a:ext cx="7846770" cy="4816472"/>
          </a:xfrm>
          <a:prstGeom prst="rect">
            <a:avLst/>
          </a:prstGeom>
          <a:noFill/>
          <a:ln w="9525">
            <a:noFill/>
            <a:miter lim="800000"/>
            <a:headEnd/>
            <a:tailEnd/>
          </a:ln>
        </p:spPr>
      </p:pic>
    </p:spTree>
    <p:extLst>
      <p:ext uri="{BB962C8B-B14F-4D97-AF65-F5344CB8AC3E}">
        <p14:creationId xmlns:p14="http://schemas.microsoft.com/office/powerpoint/2010/main" val="82321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F51F27-E145-48BD-8A5F-51E346EC62CA}"/>
              </a:ext>
            </a:extLst>
          </p:cNvPr>
          <p:cNvSpPr>
            <a:spLocks noGrp="1"/>
          </p:cNvSpPr>
          <p:nvPr>
            <p:ph type="title"/>
          </p:nvPr>
        </p:nvSpPr>
        <p:spPr/>
        <p:txBody>
          <a:bodyPr/>
          <a:lstStyle/>
          <a:p>
            <a:r>
              <a:rPr lang="zh-CN" altLang="en-US" dirty="0"/>
              <a:t>时间复杂性</a:t>
            </a:r>
          </a:p>
        </p:txBody>
      </p:sp>
      <p:sp>
        <p:nvSpPr>
          <p:cNvPr id="8" name="Rectangle 3">
            <a:extLst>
              <a:ext uri="{FF2B5EF4-FFF2-40B4-BE49-F238E27FC236}">
                <a16:creationId xmlns:a16="http://schemas.microsoft.com/office/drawing/2014/main" id="{DC345E20-D3DE-4A5A-8287-758B43569F71}"/>
              </a:ext>
            </a:extLst>
          </p:cNvPr>
          <p:cNvSpPr>
            <a:spLocks noChangeArrowheads="1"/>
          </p:cNvSpPr>
          <p:nvPr/>
        </p:nvSpPr>
        <p:spPr bwMode="auto">
          <a:xfrm>
            <a:off x="2362200" y="1828800"/>
            <a:ext cx="7696200" cy="4419600"/>
          </a:xfrm>
          <a:prstGeom prst="rect">
            <a:avLst/>
          </a:prstGeom>
          <a:noFill/>
          <a:ln w="9525">
            <a:solidFill>
              <a:schemeClr val="tx1"/>
            </a:solidFill>
            <a:miter lim="800000"/>
            <a:headEnd/>
            <a:tailEnd/>
          </a:ln>
        </p:spPr>
        <p:txBody>
          <a:bodyPr wrap="none" anchor="ctr"/>
          <a:lstStyle/>
          <a:p>
            <a:endParaRPr lang="zh-CN" altLang="en-US"/>
          </a:p>
        </p:txBody>
      </p:sp>
      <p:sp>
        <p:nvSpPr>
          <p:cNvPr id="9" name="Line 4">
            <a:extLst>
              <a:ext uri="{FF2B5EF4-FFF2-40B4-BE49-F238E27FC236}">
                <a16:creationId xmlns:a16="http://schemas.microsoft.com/office/drawing/2014/main" id="{316BAB0E-7B1D-4C28-AF1C-BDBC4DCD7467}"/>
              </a:ext>
            </a:extLst>
          </p:cNvPr>
          <p:cNvSpPr>
            <a:spLocks noChangeShapeType="1"/>
          </p:cNvSpPr>
          <p:nvPr/>
        </p:nvSpPr>
        <p:spPr bwMode="auto">
          <a:xfrm>
            <a:off x="2362200" y="2667000"/>
            <a:ext cx="7696200" cy="0"/>
          </a:xfrm>
          <a:prstGeom prst="line">
            <a:avLst/>
          </a:prstGeom>
          <a:noFill/>
          <a:ln w="9525">
            <a:solidFill>
              <a:schemeClr val="tx1"/>
            </a:solidFill>
            <a:round/>
            <a:headEnd/>
            <a:tailEnd/>
          </a:ln>
        </p:spPr>
        <p:txBody>
          <a:bodyPr wrap="none" anchor="ctr"/>
          <a:lstStyle/>
          <a:p>
            <a:endParaRPr lang="zh-CN" altLang="en-US"/>
          </a:p>
        </p:txBody>
      </p:sp>
      <p:sp>
        <p:nvSpPr>
          <p:cNvPr id="10" name="Line 5">
            <a:extLst>
              <a:ext uri="{FF2B5EF4-FFF2-40B4-BE49-F238E27FC236}">
                <a16:creationId xmlns:a16="http://schemas.microsoft.com/office/drawing/2014/main" id="{4188DFE4-BE94-43C0-98E0-67B67C2ECF45}"/>
              </a:ext>
            </a:extLst>
          </p:cNvPr>
          <p:cNvSpPr>
            <a:spLocks noChangeShapeType="1"/>
          </p:cNvSpPr>
          <p:nvPr/>
        </p:nvSpPr>
        <p:spPr bwMode="auto">
          <a:xfrm>
            <a:off x="2362200" y="3200400"/>
            <a:ext cx="7696200" cy="0"/>
          </a:xfrm>
          <a:prstGeom prst="line">
            <a:avLst/>
          </a:prstGeom>
          <a:noFill/>
          <a:ln w="9525">
            <a:solidFill>
              <a:schemeClr val="tx1"/>
            </a:solidFill>
            <a:round/>
            <a:headEnd/>
            <a:tailEnd/>
          </a:ln>
        </p:spPr>
        <p:txBody>
          <a:bodyPr wrap="none" anchor="ctr"/>
          <a:lstStyle/>
          <a:p>
            <a:endParaRPr lang="zh-CN" altLang="en-US"/>
          </a:p>
        </p:txBody>
      </p:sp>
      <p:sp>
        <p:nvSpPr>
          <p:cNvPr id="11" name="Line 6">
            <a:extLst>
              <a:ext uri="{FF2B5EF4-FFF2-40B4-BE49-F238E27FC236}">
                <a16:creationId xmlns:a16="http://schemas.microsoft.com/office/drawing/2014/main" id="{8B64BC1E-08B9-42D1-AD4F-4C04676C07B7}"/>
              </a:ext>
            </a:extLst>
          </p:cNvPr>
          <p:cNvSpPr>
            <a:spLocks noChangeShapeType="1"/>
          </p:cNvSpPr>
          <p:nvPr/>
        </p:nvSpPr>
        <p:spPr bwMode="auto">
          <a:xfrm>
            <a:off x="2362200" y="3810000"/>
            <a:ext cx="7696200" cy="0"/>
          </a:xfrm>
          <a:prstGeom prst="line">
            <a:avLst/>
          </a:prstGeom>
          <a:noFill/>
          <a:ln w="9525">
            <a:solidFill>
              <a:schemeClr val="tx1"/>
            </a:solidFill>
            <a:round/>
            <a:headEnd/>
            <a:tailEnd/>
          </a:ln>
        </p:spPr>
        <p:txBody>
          <a:bodyPr wrap="none" anchor="ctr"/>
          <a:lstStyle/>
          <a:p>
            <a:endParaRPr lang="zh-CN" altLang="en-US"/>
          </a:p>
        </p:txBody>
      </p:sp>
      <p:sp>
        <p:nvSpPr>
          <p:cNvPr id="12" name="Line 7">
            <a:extLst>
              <a:ext uri="{FF2B5EF4-FFF2-40B4-BE49-F238E27FC236}">
                <a16:creationId xmlns:a16="http://schemas.microsoft.com/office/drawing/2014/main" id="{C0509564-BB50-4FDE-A8E7-70A9D4501FC4}"/>
              </a:ext>
            </a:extLst>
          </p:cNvPr>
          <p:cNvSpPr>
            <a:spLocks noChangeShapeType="1"/>
          </p:cNvSpPr>
          <p:nvPr/>
        </p:nvSpPr>
        <p:spPr bwMode="auto">
          <a:xfrm>
            <a:off x="2362200" y="4419600"/>
            <a:ext cx="7696200" cy="0"/>
          </a:xfrm>
          <a:prstGeom prst="line">
            <a:avLst/>
          </a:prstGeom>
          <a:noFill/>
          <a:ln w="9525">
            <a:solidFill>
              <a:schemeClr val="tx1"/>
            </a:solidFill>
            <a:round/>
            <a:headEnd/>
            <a:tailEnd/>
          </a:ln>
        </p:spPr>
        <p:txBody>
          <a:bodyPr wrap="none" anchor="ctr"/>
          <a:lstStyle/>
          <a:p>
            <a:endParaRPr lang="zh-CN" altLang="en-US"/>
          </a:p>
        </p:txBody>
      </p:sp>
      <p:sp>
        <p:nvSpPr>
          <p:cNvPr id="13" name="Line 8">
            <a:extLst>
              <a:ext uri="{FF2B5EF4-FFF2-40B4-BE49-F238E27FC236}">
                <a16:creationId xmlns:a16="http://schemas.microsoft.com/office/drawing/2014/main" id="{272915E3-F953-4AFC-BF37-E99761D3A60A}"/>
              </a:ext>
            </a:extLst>
          </p:cNvPr>
          <p:cNvSpPr>
            <a:spLocks noChangeShapeType="1"/>
          </p:cNvSpPr>
          <p:nvPr/>
        </p:nvSpPr>
        <p:spPr bwMode="auto">
          <a:xfrm>
            <a:off x="2362200" y="5029200"/>
            <a:ext cx="7696200" cy="0"/>
          </a:xfrm>
          <a:prstGeom prst="line">
            <a:avLst/>
          </a:prstGeom>
          <a:noFill/>
          <a:ln w="9525">
            <a:solidFill>
              <a:schemeClr val="tx1"/>
            </a:solidFill>
            <a:round/>
            <a:headEnd/>
            <a:tailEnd/>
          </a:ln>
        </p:spPr>
        <p:txBody>
          <a:bodyPr wrap="none" anchor="ctr"/>
          <a:lstStyle/>
          <a:p>
            <a:endParaRPr lang="zh-CN" altLang="en-US"/>
          </a:p>
        </p:txBody>
      </p:sp>
      <p:sp>
        <p:nvSpPr>
          <p:cNvPr id="14" name="Line 9">
            <a:extLst>
              <a:ext uri="{FF2B5EF4-FFF2-40B4-BE49-F238E27FC236}">
                <a16:creationId xmlns:a16="http://schemas.microsoft.com/office/drawing/2014/main" id="{CBA5BD96-E930-45E4-9233-630D39DFBD22}"/>
              </a:ext>
            </a:extLst>
          </p:cNvPr>
          <p:cNvSpPr>
            <a:spLocks noChangeShapeType="1"/>
          </p:cNvSpPr>
          <p:nvPr/>
        </p:nvSpPr>
        <p:spPr bwMode="auto">
          <a:xfrm>
            <a:off x="2362200" y="5638800"/>
            <a:ext cx="7696200" cy="0"/>
          </a:xfrm>
          <a:prstGeom prst="line">
            <a:avLst/>
          </a:prstGeom>
          <a:noFill/>
          <a:ln w="9525">
            <a:solidFill>
              <a:schemeClr val="tx1"/>
            </a:solidFill>
            <a:round/>
            <a:headEnd/>
            <a:tailEnd/>
          </a:ln>
        </p:spPr>
        <p:txBody>
          <a:bodyPr wrap="none" anchor="ctr"/>
          <a:lstStyle/>
          <a:p>
            <a:endParaRPr lang="zh-CN" altLang="en-US"/>
          </a:p>
        </p:txBody>
      </p:sp>
      <p:sp>
        <p:nvSpPr>
          <p:cNvPr id="15" name="Line 10">
            <a:extLst>
              <a:ext uri="{FF2B5EF4-FFF2-40B4-BE49-F238E27FC236}">
                <a16:creationId xmlns:a16="http://schemas.microsoft.com/office/drawing/2014/main" id="{2656D5CD-D20F-4D44-9541-F747FD932CF0}"/>
              </a:ext>
            </a:extLst>
          </p:cNvPr>
          <p:cNvSpPr>
            <a:spLocks noChangeShapeType="1"/>
          </p:cNvSpPr>
          <p:nvPr/>
        </p:nvSpPr>
        <p:spPr bwMode="auto">
          <a:xfrm>
            <a:off x="4038600" y="1828800"/>
            <a:ext cx="0" cy="4419600"/>
          </a:xfrm>
          <a:prstGeom prst="line">
            <a:avLst/>
          </a:prstGeom>
          <a:noFill/>
          <a:ln w="9525">
            <a:solidFill>
              <a:schemeClr val="tx1"/>
            </a:solidFill>
            <a:round/>
            <a:headEnd/>
            <a:tailEnd/>
          </a:ln>
        </p:spPr>
        <p:txBody>
          <a:bodyPr wrap="none" anchor="ctr"/>
          <a:lstStyle/>
          <a:p>
            <a:endParaRPr lang="zh-CN" altLang="en-US"/>
          </a:p>
        </p:txBody>
      </p:sp>
      <p:sp>
        <p:nvSpPr>
          <p:cNvPr id="16" name="Line 11">
            <a:extLst>
              <a:ext uri="{FF2B5EF4-FFF2-40B4-BE49-F238E27FC236}">
                <a16:creationId xmlns:a16="http://schemas.microsoft.com/office/drawing/2014/main" id="{850C7595-446A-45C0-85C7-FF0EA27FCF05}"/>
              </a:ext>
            </a:extLst>
          </p:cNvPr>
          <p:cNvSpPr>
            <a:spLocks noChangeShapeType="1"/>
          </p:cNvSpPr>
          <p:nvPr/>
        </p:nvSpPr>
        <p:spPr bwMode="auto">
          <a:xfrm>
            <a:off x="5715000" y="1828800"/>
            <a:ext cx="0" cy="4419600"/>
          </a:xfrm>
          <a:prstGeom prst="line">
            <a:avLst/>
          </a:prstGeom>
          <a:noFill/>
          <a:ln w="9525">
            <a:solidFill>
              <a:schemeClr val="tx1"/>
            </a:solidFill>
            <a:round/>
            <a:headEnd/>
            <a:tailEnd/>
          </a:ln>
        </p:spPr>
        <p:txBody>
          <a:bodyPr wrap="none" anchor="ctr"/>
          <a:lstStyle/>
          <a:p>
            <a:endParaRPr lang="zh-CN" altLang="en-US"/>
          </a:p>
        </p:txBody>
      </p:sp>
      <p:sp>
        <p:nvSpPr>
          <p:cNvPr id="17" name="Line 12">
            <a:extLst>
              <a:ext uri="{FF2B5EF4-FFF2-40B4-BE49-F238E27FC236}">
                <a16:creationId xmlns:a16="http://schemas.microsoft.com/office/drawing/2014/main" id="{3ECA3829-E79E-4A4A-9BE0-661E46D57CE4}"/>
              </a:ext>
            </a:extLst>
          </p:cNvPr>
          <p:cNvSpPr>
            <a:spLocks noChangeShapeType="1"/>
          </p:cNvSpPr>
          <p:nvPr/>
        </p:nvSpPr>
        <p:spPr bwMode="auto">
          <a:xfrm>
            <a:off x="8077200" y="1828800"/>
            <a:ext cx="0" cy="4419600"/>
          </a:xfrm>
          <a:prstGeom prst="line">
            <a:avLst/>
          </a:prstGeom>
          <a:noFill/>
          <a:ln w="9525">
            <a:solidFill>
              <a:schemeClr val="tx1"/>
            </a:solidFill>
            <a:round/>
            <a:headEnd/>
            <a:tailEnd/>
          </a:ln>
        </p:spPr>
        <p:txBody>
          <a:bodyPr wrap="none" anchor="ctr"/>
          <a:lstStyle/>
          <a:p>
            <a:endParaRPr lang="zh-CN" altLang="en-US"/>
          </a:p>
        </p:txBody>
      </p:sp>
      <p:sp>
        <p:nvSpPr>
          <p:cNvPr id="18" name="Text Box 13">
            <a:extLst>
              <a:ext uri="{FF2B5EF4-FFF2-40B4-BE49-F238E27FC236}">
                <a16:creationId xmlns:a16="http://schemas.microsoft.com/office/drawing/2014/main" id="{A7C36687-A632-439F-A9AB-1CC9DD431FF4}"/>
              </a:ext>
            </a:extLst>
          </p:cNvPr>
          <p:cNvSpPr txBox="1">
            <a:spLocks noChangeArrowheads="1"/>
          </p:cNvSpPr>
          <p:nvPr/>
        </p:nvSpPr>
        <p:spPr bwMode="auto">
          <a:xfrm>
            <a:off x="3048000" y="2743203"/>
            <a:ext cx="311150" cy="396875"/>
          </a:xfrm>
          <a:prstGeom prst="rect">
            <a:avLst/>
          </a:prstGeom>
          <a:noFill/>
          <a:ln w="9525">
            <a:noFill/>
            <a:miter lim="800000"/>
            <a:headEnd/>
            <a:tailEnd/>
          </a:ln>
        </p:spPr>
        <p:txBody>
          <a:bodyPr wrap="none">
            <a:spAutoFit/>
          </a:bodyPr>
          <a:lstStyle/>
          <a:p>
            <a:r>
              <a:rPr lang="en-US" altLang="ko-KR" sz="2000"/>
              <a:t>n</a:t>
            </a:r>
            <a:endParaRPr lang="en-US" altLang="ko-KR"/>
          </a:p>
        </p:txBody>
      </p:sp>
      <p:sp>
        <p:nvSpPr>
          <p:cNvPr id="19" name="Text Box 14">
            <a:extLst>
              <a:ext uri="{FF2B5EF4-FFF2-40B4-BE49-F238E27FC236}">
                <a16:creationId xmlns:a16="http://schemas.microsoft.com/office/drawing/2014/main" id="{24EA9B45-CA39-4008-AD1F-20954BF91963}"/>
              </a:ext>
            </a:extLst>
          </p:cNvPr>
          <p:cNvSpPr txBox="1">
            <a:spLocks noChangeArrowheads="1"/>
          </p:cNvSpPr>
          <p:nvPr/>
        </p:nvSpPr>
        <p:spPr bwMode="auto">
          <a:xfrm>
            <a:off x="3048000" y="3352800"/>
            <a:ext cx="397866" cy="400110"/>
          </a:xfrm>
          <a:prstGeom prst="rect">
            <a:avLst/>
          </a:prstGeom>
          <a:noFill/>
          <a:ln w="9525">
            <a:noFill/>
            <a:miter lim="800000"/>
            <a:headEnd/>
            <a:tailEnd/>
          </a:ln>
        </p:spPr>
        <p:txBody>
          <a:bodyPr wrap="none">
            <a:spAutoFit/>
          </a:bodyPr>
          <a:lstStyle/>
          <a:p>
            <a:r>
              <a:rPr lang="en-US" altLang="ko-KR" sz="2000"/>
              <a:t>n</a:t>
            </a:r>
            <a:r>
              <a:rPr lang="en-US" altLang="ko-KR" sz="2000" baseline="30000"/>
              <a:t>2</a:t>
            </a:r>
            <a:endParaRPr lang="en-US" altLang="ko-KR"/>
          </a:p>
        </p:txBody>
      </p:sp>
      <p:sp>
        <p:nvSpPr>
          <p:cNvPr id="20" name="Text Box 15">
            <a:extLst>
              <a:ext uri="{FF2B5EF4-FFF2-40B4-BE49-F238E27FC236}">
                <a16:creationId xmlns:a16="http://schemas.microsoft.com/office/drawing/2014/main" id="{5C881C93-6600-4F8B-9800-BE0D2EC8479D}"/>
              </a:ext>
            </a:extLst>
          </p:cNvPr>
          <p:cNvSpPr txBox="1">
            <a:spLocks noChangeArrowheads="1"/>
          </p:cNvSpPr>
          <p:nvPr/>
        </p:nvSpPr>
        <p:spPr bwMode="auto">
          <a:xfrm>
            <a:off x="3048000" y="3962400"/>
            <a:ext cx="397866" cy="400110"/>
          </a:xfrm>
          <a:prstGeom prst="rect">
            <a:avLst/>
          </a:prstGeom>
          <a:noFill/>
          <a:ln w="9525">
            <a:noFill/>
            <a:miter lim="800000"/>
            <a:headEnd/>
            <a:tailEnd/>
          </a:ln>
        </p:spPr>
        <p:txBody>
          <a:bodyPr wrap="none">
            <a:spAutoFit/>
          </a:bodyPr>
          <a:lstStyle/>
          <a:p>
            <a:r>
              <a:rPr lang="en-US" altLang="ko-KR" sz="2000"/>
              <a:t>n</a:t>
            </a:r>
            <a:r>
              <a:rPr lang="en-US" altLang="ko-KR" sz="2000" baseline="30000"/>
              <a:t>3</a:t>
            </a:r>
            <a:endParaRPr lang="en-US" altLang="ko-KR"/>
          </a:p>
        </p:txBody>
      </p:sp>
      <p:sp>
        <p:nvSpPr>
          <p:cNvPr id="21" name="Text Box 16">
            <a:extLst>
              <a:ext uri="{FF2B5EF4-FFF2-40B4-BE49-F238E27FC236}">
                <a16:creationId xmlns:a16="http://schemas.microsoft.com/office/drawing/2014/main" id="{659189E9-FF9F-4B23-ABFC-428E1F0E4F5E}"/>
              </a:ext>
            </a:extLst>
          </p:cNvPr>
          <p:cNvSpPr txBox="1">
            <a:spLocks noChangeArrowheads="1"/>
          </p:cNvSpPr>
          <p:nvPr/>
        </p:nvSpPr>
        <p:spPr bwMode="auto">
          <a:xfrm>
            <a:off x="3048000" y="4495800"/>
            <a:ext cx="397866" cy="400110"/>
          </a:xfrm>
          <a:prstGeom prst="rect">
            <a:avLst/>
          </a:prstGeom>
          <a:noFill/>
          <a:ln w="9525">
            <a:noFill/>
            <a:miter lim="800000"/>
            <a:headEnd/>
            <a:tailEnd/>
          </a:ln>
        </p:spPr>
        <p:txBody>
          <a:bodyPr wrap="none">
            <a:spAutoFit/>
          </a:bodyPr>
          <a:lstStyle/>
          <a:p>
            <a:r>
              <a:rPr lang="en-US" altLang="ko-KR" sz="2000"/>
              <a:t>n</a:t>
            </a:r>
            <a:r>
              <a:rPr lang="en-US" altLang="ko-KR" sz="2000" baseline="30000"/>
              <a:t>5</a:t>
            </a:r>
            <a:endParaRPr lang="en-US" altLang="ko-KR"/>
          </a:p>
        </p:txBody>
      </p:sp>
      <p:sp>
        <p:nvSpPr>
          <p:cNvPr id="22" name="Text Box 17">
            <a:extLst>
              <a:ext uri="{FF2B5EF4-FFF2-40B4-BE49-F238E27FC236}">
                <a16:creationId xmlns:a16="http://schemas.microsoft.com/office/drawing/2014/main" id="{DA1028B4-00BE-444E-85EF-B022653E1A01}"/>
              </a:ext>
            </a:extLst>
          </p:cNvPr>
          <p:cNvSpPr txBox="1">
            <a:spLocks noChangeArrowheads="1"/>
          </p:cNvSpPr>
          <p:nvPr/>
        </p:nvSpPr>
        <p:spPr bwMode="auto">
          <a:xfrm>
            <a:off x="3048000" y="5181600"/>
            <a:ext cx="397866" cy="400110"/>
          </a:xfrm>
          <a:prstGeom prst="rect">
            <a:avLst/>
          </a:prstGeom>
          <a:noFill/>
          <a:ln w="9525">
            <a:noFill/>
            <a:miter lim="800000"/>
            <a:headEnd/>
            <a:tailEnd/>
          </a:ln>
        </p:spPr>
        <p:txBody>
          <a:bodyPr wrap="none">
            <a:spAutoFit/>
          </a:bodyPr>
          <a:lstStyle/>
          <a:p>
            <a:r>
              <a:rPr lang="ko-KR" altLang="en-US" sz="2000"/>
              <a:t>2</a:t>
            </a:r>
            <a:r>
              <a:rPr lang="en-US" altLang="ko-KR" sz="2000" baseline="30000"/>
              <a:t>n</a:t>
            </a:r>
            <a:endParaRPr lang="en-US" altLang="ko-KR"/>
          </a:p>
        </p:txBody>
      </p:sp>
      <p:sp>
        <p:nvSpPr>
          <p:cNvPr id="23" name="Text Box 18">
            <a:extLst>
              <a:ext uri="{FF2B5EF4-FFF2-40B4-BE49-F238E27FC236}">
                <a16:creationId xmlns:a16="http://schemas.microsoft.com/office/drawing/2014/main" id="{D0CF8A41-C127-458C-9445-D033617CFC86}"/>
              </a:ext>
            </a:extLst>
          </p:cNvPr>
          <p:cNvSpPr txBox="1">
            <a:spLocks noChangeArrowheads="1"/>
          </p:cNvSpPr>
          <p:nvPr/>
        </p:nvSpPr>
        <p:spPr bwMode="auto">
          <a:xfrm>
            <a:off x="3048000" y="5715000"/>
            <a:ext cx="397866" cy="400110"/>
          </a:xfrm>
          <a:prstGeom prst="rect">
            <a:avLst/>
          </a:prstGeom>
          <a:noFill/>
          <a:ln w="9525">
            <a:noFill/>
            <a:miter lim="800000"/>
            <a:headEnd/>
            <a:tailEnd/>
          </a:ln>
        </p:spPr>
        <p:txBody>
          <a:bodyPr wrap="none">
            <a:spAutoFit/>
          </a:bodyPr>
          <a:lstStyle/>
          <a:p>
            <a:r>
              <a:rPr lang="ko-KR" altLang="en-US" sz="2000"/>
              <a:t>3</a:t>
            </a:r>
            <a:r>
              <a:rPr lang="en-US" altLang="ko-KR" sz="2000" baseline="30000"/>
              <a:t>n</a:t>
            </a:r>
            <a:endParaRPr lang="en-US" altLang="ko-KR"/>
          </a:p>
        </p:txBody>
      </p:sp>
      <p:sp>
        <p:nvSpPr>
          <p:cNvPr id="24" name="Text Box 19">
            <a:extLst>
              <a:ext uri="{FF2B5EF4-FFF2-40B4-BE49-F238E27FC236}">
                <a16:creationId xmlns:a16="http://schemas.microsoft.com/office/drawing/2014/main" id="{FA942686-60F9-49B1-9A98-33C13D32E605}"/>
              </a:ext>
            </a:extLst>
          </p:cNvPr>
          <p:cNvSpPr txBox="1">
            <a:spLocks noChangeArrowheads="1"/>
          </p:cNvSpPr>
          <p:nvPr/>
        </p:nvSpPr>
        <p:spPr bwMode="auto">
          <a:xfrm>
            <a:off x="4648200" y="27432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1</a:t>
            </a:r>
            <a:endParaRPr lang="en-US" altLang="ko-KR"/>
          </a:p>
        </p:txBody>
      </p:sp>
      <p:sp>
        <p:nvSpPr>
          <p:cNvPr id="25" name="Text Box 20">
            <a:extLst>
              <a:ext uri="{FF2B5EF4-FFF2-40B4-BE49-F238E27FC236}">
                <a16:creationId xmlns:a16="http://schemas.microsoft.com/office/drawing/2014/main" id="{DAC16FFB-4401-44C8-A449-316F3E310ADB}"/>
              </a:ext>
            </a:extLst>
          </p:cNvPr>
          <p:cNvSpPr txBox="1">
            <a:spLocks noChangeArrowheads="1"/>
          </p:cNvSpPr>
          <p:nvPr/>
        </p:nvSpPr>
        <p:spPr bwMode="auto">
          <a:xfrm>
            <a:off x="4648200" y="32766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2</a:t>
            </a:r>
            <a:endParaRPr lang="en-US" altLang="ko-KR"/>
          </a:p>
        </p:txBody>
      </p:sp>
      <p:sp>
        <p:nvSpPr>
          <p:cNvPr id="26" name="Text Box 21">
            <a:extLst>
              <a:ext uri="{FF2B5EF4-FFF2-40B4-BE49-F238E27FC236}">
                <a16:creationId xmlns:a16="http://schemas.microsoft.com/office/drawing/2014/main" id="{6E95F84E-0CA5-4C64-A08E-2CC60624C927}"/>
              </a:ext>
            </a:extLst>
          </p:cNvPr>
          <p:cNvSpPr txBox="1">
            <a:spLocks noChangeArrowheads="1"/>
          </p:cNvSpPr>
          <p:nvPr/>
        </p:nvSpPr>
        <p:spPr bwMode="auto">
          <a:xfrm>
            <a:off x="4648200" y="38862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3</a:t>
            </a:r>
            <a:endParaRPr lang="en-US" altLang="ko-KR"/>
          </a:p>
        </p:txBody>
      </p:sp>
      <p:sp>
        <p:nvSpPr>
          <p:cNvPr id="27" name="Text Box 22">
            <a:extLst>
              <a:ext uri="{FF2B5EF4-FFF2-40B4-BE49-F238E27FC236}">
                <a16:creationId xmlns:a16="http://schemas.microsoft.com/office/drawing/2014/main" id="{23A0F15F-28A0-4807-80B2-81F9D012818D}"/>
              </a:ext>
            </a:extLst>
          </p:cNvPr>
          <p:cNvSpPr txBox="1">
            <a:spLocks noChangeArrowheads="1"/>
          </p:cNvSpPr>
          <p:nvPr/>
        </p:nvSpPr>
        <p:spPr bwMode="auto">
          <a:xfrm>
            <a:off x="4648200" y="45720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4</a:t>
            </a:r>
            <a:endParaRPr lang="en-US" altLang="ko-KR"/>
          </a:p>
        </p:txBody>
      </p:sp>
      <p:sp>
        <p:nvSpPr>
          <p:cNvPr id="28" name="Text Box 23">
            <a:extLst>
              <a:ext uri="{FF2B5EF4-FFF2-40B4-BE49-F238E27FC236}">
                <a16:creationId xmlns:a16="http://schemas.microsoft.com/office/drawing/2014/main" id="{94A6B8EB-C23F-4377-B365-D1C0EEC127FE}"/>
              </a:ext>
            </a:extLst>
          </p:cNvPr>
          <p:cNvSpPr txBox="1">
            <a:spLocks noChangeArrowheads="1"/>
          </p:cNvSpPr>
          <p:nvPr/>
        </p:nvSpPr>
        <p:spPr bwMode="auto">
          <a:xfrm>
            <a:off x="4648200" y="51816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5</a:t>
            </a:r>
            <a:endParaRPr lang="en-US" altLang="ko-KR"/>
          </a:p>
        </p:txBody>
      </p:sp>
      <p:sp>
        <p:nvSpPr>
          <p:cNvPr id="29" name="Text Box 24">
            <a:extLst>
              <a:ext uri="{FF2B5EF4-FFF2-40B4-BE49-F238E27FC236}">
                <a16:creationId xmlns:a16="http://schemas.microsoft.com/office/drawing/2014/main" id="{E4002E54-AC5C-4B93-BB40-1C4B5C4E5A7C}"/>
              </a:ext>
            </a:extLst>
          </p:cNvPr>
          <p:cNvSpPr txBox="1">
            <a:spLocks noChangeArrowheads="1"/>
          </p:cNvSpPr>
          <p:nvPr/>
        </p:nvSpPr>
        <p:spPr bwMode="auto">
          <a:xfrm>
            <a:off x="4648200" y="5715000"/>
            <a:ext cx="455574" cy="400110"/>
          </a:xfrm>
          <a:prstGeom prst="rect">
            <a:avLst/>
          </a:prstGeom>
          <a:noFill/>
          <a:ln w="9525">
            <a:noFill/>
            <a:miter lim="800000"/>
            <a:headEnd/>
            <a:tailEnd/>
          </a:ln>
        </p:spPr>
        <p:txBody>
          <a:bodyPr wrap="none">
            <a:spAutoFit/>
          </a:bodyPr>
          <a:lstStyle/>
          <a:p>
            <a:r>
              <a:rPr lang="en-US" altLang="ko-KR" sz="2000"/>
              <a:t>N</a:t>
            </a:r>
            <a:r>
              <a:rPr lang="en-US" altLang="ko-KR" sz="2000" baseline="-25000"/>
              <a:t>6</a:t>
            </a:r>
            <a:endParaRPr lang="en-US" altLang="ko-KR"/>
          </a:p>
        </p:txBody>
      </p:sp>
      <p:sp>
        <p:nvSpPr>
          <p:cNvPr id="30" name="Text Box 25">
            <a:extLst>
              <a:ext uri="{FF2B5EF4-FFF2-40B4-BE49-F238E27FC236}">
                <a16:creationId xmlns:a16="http://schemas.microsoft.com/office/drawing/2014/main" id="{BAC2833F-E4DF-425D-9418-D64A2D74AC22}"/>
              </a:ext>
            </a:extLst>
          </p:cNvPr>
          <p:cNvSpPr txBox="1">
            <a:spLocks noChangeArrowheads="1"/>
          </p:cNvSpPr>
          <p:nvPr/>
        </p:nvSpPr>
        <p:spPr bwMode="auto">
          <a:xfrm>
            <a:off x="6553203" y="2743200"/>
            <a:ext cx="840295" cy="400110"/>
          </a:xfrm>
          <a:prstGeom prst="rect">
            <a:avLst/>
          </a:prstGeom>
          <a:noFill/>
          <a:ln w="9525">
            <a:noFill/>
            <a:miter lim="800000"/>
            <a:headEnd/>
            <a:tailEnd/>
          </a:ln>
        </p:spPr>
        <p:txBody>
          <a:bodyPr wrap="none">
            <a:spAutoFit/>
          </a:bodyPr>
          <a:lstStyle/>
          <a:p>
            <a:r>
              <a:rPr lang="ko-KR" altLang="en-US" sz="2000"/>
              <a:t>100</a:t>
            </a:r>
            <a:r>
              <a:rPr lang="en-US" altLang="ko-KR" sz="2000"/>
              <a:t>N</a:t>
            </a:r>
            <a:r>
              <a:rPr lang="en-US" altLang="ko-KR" sz="2000" baseline="-25000"/>
              <a:t>1</a:t>
            </a:r>
            <a:endParaRPr lang="en-US" altLang="ko-KR"/>
          </a:p>
        </p:txBody>
      </p:sp>
      <p:sp>
        <p:nvSpPr>
          <p:cNvPr id="31" name="Text Box 26">
            <a:extLst>
              <a:ext uri="{FF2B5EF4-FFF2-40B4-BE49-F238E27FC236}">
                <a16:creationId xmlns:a16="http://schemas.microsoft.com/office/drawing/2014/main" id="{7AF1F5D3-A7BC-4B42-B36A-548972DAB19A}"/>
              </a:ext>
            </a:extLst>
          </p:cNvPr>
          <p:cNvSpPr txBox="1">
            <a:spLocks noChangeArrowheads="1"/>
          </p:cNvSpPr>
          <p:nvPr/>
        </p:nvSpPr>
        <p:spPr bwMode="auto">
          <a:xfrm>
            <a:off x="6629400" y="3352800"/>
            <a:ext cx="712054" cy="400110"/>
          </a:xfrm>
          <a:prstGeom prst="rect">
            <a:avLst/>
          </a:prstGeom>
          <a:noFill/>
          <a:ln w="9525">
            <a:noFill/>
            <a:miter lim="800000"/>
            <a:headEnd/>
            <a:tailEnd/>
          </a:ln>
        </p:spPr>
        <p:txBody>
          <a:bodyPr wrap="none">
            <a:spAutoFit/>
          </a:bodyPr>
          <a:lstStyle/>
          <a:p>
            <a:r>
              <a:rPr lang="ko-KR" altLang="en-US" sz="2000"/>
              <a:t>10</a:t>
            </a:r>
            <a:r>
              <a:rPr lang="en-US" altLang="ko-KR" sz="2000"/>
              <a:t>N</a:t>
            </a:r>
            <a:r>
              <a:rPr lang="en-US" altLang="ko-KR" sz="2000" baseline="-25000"/>
              <a:t>2</a:t>
            </a:r>
            <a:endParaRPr lang="en-US" altLang="ko-KR"/>
          </a:p>
        </p:txBody>
      </p:sp>
      <p:sp>
        <p:nvSpPr>
          <p:cNvPr id="32" name="Text Box 27">
            <a:extLst>
              <a:ext uri="{FF2B5EF4-FFF2-40B4-BE49-F238E27FC236}">
                <a16:creationId xmlns:a16="http://schemas.microsoft.com/office/drawing/2014/main" id="{73BD2F0B-C30A-4C85-A9D6-7E73692E960C}"/>
              </a:ext>
            </a:extLst>
          </p:cNvPr>
          <p:cNvSpPr txBox="1">
            <a:spLocks noChangeArrowheads="1"/>
          </p:cNvSpPr>
          <p:nvPr/>
        </p:nvSpPr>
        <p:spPr bwMode="auto">
          <a:xfrm>
            <a:off x="6477003" y="3962400"/>
            <a:ext cx="904415" cy="400110"/>
          </a:xfrm>
          <a:prstGeom prst="rect">
            <a:avLst/>
          </a:prstGeom>
          <a:noFill/>
          <a:ln w="9525">
            <a:noFill/>
            <a:miter lim="800000"/>
            <a:headEnd/>
            <a:tailEnd/>
          </a:ln>
        </p:spPr>
        <p:txBody>
          <a:bodyPr wrap="none">
            <a:spAutoFit/>
          </a:bodyPr>
          <a:lstStyle/>
          <a:p>
            <a:r>
              <a:rPr lang="ko-KR" altLang="en-US" sz="2000"/>
              <a:t>4.64</a:t>
            </a:r>
            <a:r>
              <a:rPr lang="en-US" altLang="ko-KR" sz="2000"/>
              <a:t>N</a:t>
            </a:r>
            <a:r>
              <a:rPr lang="en-US" altLang="ko-KR" sz="2000" baseline="-25000"/>
              <a:t>3</a:t>
            </a:r>
            <a:endParaRPr lang="en-US" altLang="ko-KR"/>
          </a:p>
        </p:txBody>
      </p:sp>
      <p:sp>
        <p:nvSpPr>
          <p:cNvPr id="33" name="Text Box 28">
            <a:extLst>
              <a:ext uri="{FF2B5EF4-FFF2-40B4-BE49-F238E27FC236}">
                <a16:creationId xmlns:a16="http://schemas.microsoft.com/office/drawing/2014/main" id="{B62067EC-87DE-4012-9461-499F3A0E0BF7}"/>
              </a:ext>
            </a:extLst>
          </p:cNvPr>
          <p:cNvSpPr txBox="1">
            <a:spLocks noChangeArrowheads="1"/>
          </p:cNvSpPr>
          <p:nvPr/>
        </p:nvSpPr>
        <p:spPr bwMode="auto">
          <a:xfrm>
            <a:off x="6629403" y="4572000"/>
            <a:ext cx="776175" cy="400110"/>
          </a:xfrm>
          <a:prstGeom prst="rect">
            <a:avLst/>
          </a:prstGeom>
          <a:noFill/>
          <a:ln w="9525">
            <a:noFill/>
            <a:miter lim="800000"/>
            <a:headEnd/>
            <a:tailEnd/>
          </a:ln>
        </p:spPr>
        <p:txBody>
          <a:bodyPr wrap="none">
            <a:spAutoFit/>
          </a:bodyPr>
          <a:lstStyle/>
          <a:p>
            <a:r>
              <a:rPr lang="ko-KR" altLang="en-US" sz="2000"/>
              <a:t>2.5</a:t>
            </a:r>
            <a:r>
              <a:rPr lang="en-US" altLang="ko-KR" sz="2000"/>
              <a:t>N</a:t>
            </a:r>
            <a:r>
              <a:rPr lang="en-US" altLang="ko-KR" sz="2000" baseline="-25000"/>
              <a:t>4</a:t>
            </a:r>
            <a:endParaRPr lang="en-US" altLang="ko-KR"/>
          </a:p>
        </p:txBody>
      </p:sp>
      <p:sp>
        <p:nvSpPr>
          <p:cNvPr id="34" name="Text Box 29">
            <a:extLst>
              <a:ext uri="{FF2B5EF4-FFF2-40B4-BE49-F238E27FC236}">
                <a16:creationId xmlns:a16="http://schemas.microsoft.com/office/drawing/2014/main" id="{AB8FDF59-2A87-4AE8-8ACC-8972505AB87D}"/>
              </a:ext>
            </a:extLst>
          </p:cNvPr>
          <p:cNvSpPr txBox="1">
            <a:spLocks noChangeArrowheads="1"/>
          </p:cNvSpPr>
          <p:nvPr/>
        </p:nvSpPr>
        <p:spPr bwMode="auto">
          <a:xfrm>
            <a:off x="6324600" y="5181600"/>
            <a:ext cx="1091966" cy="400110"/>
          </a:xfrm>
          <a:prstGeom prst="rect">
            <a:avLst/>
          </a:prstGeom>
          <a:noFill/>
          <a:ln w="9525">
            <a:noFill/>
            <a:miter lim="800000"/>
            <a:headEnd/>
            <a:tailEnd/>
          </a:ln>
        </p:spPr>
        <p:txBody>
          <a:bodyPr wrap="none">
            <a:spAutoFit/>
          </a:bodyPr>
          <a:lstStyle/>
          <a:p>
            <a:r>
              <a:rPr lang="en-US" altLang="ko-KR" sz="2000"/>
              <a:t>N</a:t>
            </a:r>
            <a:r>
              <a:rPr lang="en-US" altLang="ko-KR" sz="2000" baseline="-25000"/>
              <a:t>5 </a:t>
            </a:r>
            <a:r>
              <a:rPr lang="en-US" altLang="ko-KR" sz="2000"/>
              <a:t>+6.64</a:t>
            </a:r>
            <a:endParaRPr lang="en-US" altLang="ko-KR" sz="2000" baseline="-25000"/>
          </a:p>
        </p:txBody>
      </p:sp>
      <p:sp>
        <p:nvSpPr>
          <p:cNvPr id="35" name="Text Box 30">
            <a:extLst>
              <a:ext uri="{FF2B5EF4-FFF2-40B4-BE49-F238E27FC236}">
                <a16:creationId xmlns:a16="http://schemas.microsoft.com/office/drawing/2014/main" id="{ADFF52EC-D0FB-41E0-8016-B9B0AB1EADDE}"/>
              </a:ext>
            </a:extLst>
          </p:cNvPr>
          <p:cNvSpPr txBox="1">
            <a:spLocks noChangeArrowheads="1"/>
          </p:cNvSpPr>
          <p:nvPr/>
        </p:nvSpPr>
        <p:spPr bwMode="auto">
          <a:xfrm>
            <a:off x="8686803" y="2743200"/>
            <a:ext cx="968535" cy="400110"/>
          </a:xfrm>
          <a:prstGeom prst="rect">
            <a:avLst/>
          </a:prstGeom>
          <a:noFill/>
          <a:ln w="9525">
            <a:noFill/>
            <a:miter lim="800000"/>
            <a:headEnd/>
            <a:tailEnd/>
          </a:ln>
        </p:spPr>
        <p:txBody>
          <a:bodyPr wrap="none">
            <a:spAutoFit/>
          </a:bodyPr>
          <a:lstStyle/>
          <a:p>
            <a:r>
              <a:rPr lang="ko-KR" altLang="en-US" sz="2000"/>
              <a:t>1000</a:t>
            </a:r>
            <a:r>
              <a:rPr lang="en-US" altLang="ko-KR" sz="2000"/>
              <a:t>N</a:t>
            </a:r>
            <a:r>
              <a:rPr lang="en-US" altLang="ko-KR" sz="2000" baseline="-25000"/>
              <a:t>1</a:t>
            </a:r>
            <a:endParaRPr lang="en-US" altLang="ko-KR"/>
          </a:p>
        </p:txBody>
      </p:sp>
      <p:sp>
        <p:nvSpPr>
          <p:cNvPr id="36" name="Text Box 31">
            <a:extLst>
              <a:ext uri="{FF2B5EF4-FFF2-40B4-BE49-F238E27FC236}">
                <a16:creationId xmlns:a16="http://schemas.microsoft.com/office/drawing/2014/main" id="{6F0CF2C3-39E4-4D23-B0F4-E76C4C7C68F8}"/>
              </a:ext>
            </a:extLst>
          </p:cNvPr>
          <p:cNvSpPr txBox="1">
            <a:spLocks noChangeArrowheads="1"/>
          </p:cNvSpPr>
          <p:nvPr/>
        </p:nvSpPr>
        <p:spPr bwMode="auto">
          <a:xfrm>
            <a:off x="8763003" y="3276600"/>
            <a:ext cx="904415" cy="400110"/>
          </a:xfrm>
          <a:prstGeom prst="rect">
            <a:avLst/>
          </a:prstGeom>
          <a:noFill/>
          <a:ln w="9525">
            <a:noFill/>
            <a:miter lim="800000"/>
            <a:headEnd/>
            <a:tailEnd/>
          </a:ln>
        </p:spPr>
        <p:txBody>
          <a:bodyPr wrap="none">
            <a:spAutoFit/>
          </a:bodyPr>
          <a:lstStyle/>
          <a:p>
            <a:r>
              <a:rPr lang="ko-KR" altLang="en-US" sz="2000"/>
              <a:t>31.6</a:t>
            </a:r>
            <a:r>
              <a:rPr lang="en-US" altLang="ko-KR" sz="2000"/>
              <a:t>N</a:t>
            </a:r>
            <a:r>
              <a:rPr lang="en-US" altLang="ko-KR" sz="2000" baseline="-25000"/>
              <a:t>2</a:t>
            </a:r>
            <a:endParaRPr lang="en-US" altLang="ko-KR"/>
          </a:p>
        </p:txBody>
      </p:sp>
      <p:sp>
        <p:nvSpPr>
          <p:cNvPr id="37" name="Text Box 32">
            <a:extLst>
              <a:ext uri="{FF2B5EF4-FFF2-40B4-BE49-F238E27FC236}">
                <a16:creationId xmlns:a16="http://schemas.microsoft.com/office/drawing/2014/main" id="{7E78237D-BA23-4657-B217-C6084D2DCC63}"/>
              </a:ext>
            </a:extLst>
          </p:cNvPr>
          <p:cNvSpPr txBox="1">
            <a:spLocks noChangeArrowheads="1"/>
          </p:cNvSpPr>
          <p:nvPr/>
        </p:nvSpPr>
        <p:spPr bwMode="auto">
          <a:xfrm>
            <a:off x="8991600" y="3962400"/>
            <a:ext cx="712054" cy="400110"/>
          </a:xfrm>
          <a:prstGeom prst="rect">
            <a:avLst/>
          </a:prstGeom>
          <a:noFill/>
          <a:ln w="9525">
            <a:noFill/>
            <a:miter lim="800000"/>
            <a:headEnd/>
            <a:tailEnd/>
          </a:ln>
        </p:spPr>
        <p:txBody>
          <a:bodyPr wrap="none">
            <a:spAutoFit/>
          </a:bodyPr>
          <a:lstStyle/>
          <a:p>
            <a:r>
              <a:rPr lang="ko-KR" altLang="en-US" sz="2000"/>
              <a:t>10</a:t>
            </a:r>
            <a:r>
              <a:rPr lang="en-US" altLang="ko-KR" sz="2000"/>
              <a:t>N</a:t>
            </a:r>
            <a:r>
              <a:rPr lang="en-US" altLang="ko-KR" sz="2000" baseline="-25000"/>
              <a:t>3</a:t>
            </a:r>
            <a:endParaRPr lang="en-US" altLang="ko-KR"/>
          </a:p>
        </p:txBody>
      </p:sp>
      <p:sp>
        <p:nvSpPr>
          <p:cNvPr id="38" name="Text Box 33">
            <a:extLst>
              <a:ext uri="{FF2B5EF4-FFF2-40B4-BE49-F238E27FC236}">
                <a16:creationId xmlns:a16="http://schemas.microsoft.com/office/drawing/2014/main" id="{02A54418-81C9-42F3-95E7-EE4F94C63C3D}"/>
              </a:ext>
            </a:extLst>
          </p:cNvPr>
          <p:cNvSpPr txBox="1">
            <a:spLocks noChangeArrowheads="1"/>
          </p:cNvSpPr>
          <p:nvPr/>
        </p:nvSpPr>
        <p:spPr bwMode="auto">
          <a:xfrm>
            <a:off x="8839203" y="4572000"/>
            <a:ext cx="904415" cy="400110"/>
          </a:xfrm>
          <a:prstGeom prst="rect">
            <a:avLst/>
          </a:prstGeom>
          <a:noFill/>
          <a:ln w="9525">
            <a:noFill/>
            <a:miter lim="800000"/>
            <a:headEnd/>
            <a:tailEnd/>
          </a:ln>
        </p:spPr>
        <p:txBody>
          <a:bodyPr wrap="none">
            <a:spAutoFit/>
          </a:bodyPr>
          <a:lstStyle/>
          <a:p>
            <a:r>
              <a:rPr lang="ko-KR" altLang="en-US" sz="2000"/>
              <a:t>3.98</a:t>
            </a:r>
            <a:r>
              <a:rPr lang="en-US" altLang="ko-KR" sz="2000"/>
              <a:t>N</a:t>
            </a:r>
            <a:r>
              <a:rPr lang="en-US" altLang="ko-KR" sz="2000" baseline="-25000"/>
              <a:t>4</a:t>
            </a:r>
            <a:endParaRPr lang="en-US" altLang="ko-KR"/>
          </a:p>
        </p:txBody>
      </p:sp>
      <p:sp>
        <p:nvSpPr>
          <p:cNvPr id="39" name="Text Box 34">
            <a:extLst>
              <a:ext uri="{FF2B5EF4-FFF2-40B4-BE49-F238E27FC236}">
                <a16:creationId xmlns:a16="http://schemas.microsoft.com/office/drawing/2014/main" id="{C11F57C3-E480-4E52-94C7-2651ACA03B75}"/>
              </a:ext>
            </a:extLst>
          </p:cNvPr>
          <p:cNvSpPr txBox="1">
            <a:spLocks noChangeArrowheads="1"/>
          </p:cNvSpPr>
          <p:nvPr/>
        </p:nvSpPr>
        <p:spPr bwMode="auto">
          <a:xfrm>
            <a:off x="6324600" y="5715000"/>
            <a:ext cx="1091966" cy="400110"/>
          </a:xfrm>
          <a:prstGeom prst="rect">
            <a:avLst/>
          </a:prstGeom>
          <a:noFill/>
          <a:ln w="9525">
            <a:noFill/>
            <a:miter lim="800000"/>
            <a:headEnd/>
            <a:tailEnd/>
          </a:ln>
        </p:spPr>
        <p:txBody>
          <a:bodyPr wrap="none">
            <a:spAutoFit/>
          </a:bodyPr>
          <a:lstStyle/>
          <a:p>
            <a:r>
              <a:rPr lang="en-US" altLang="ko-KR" sz="2000"/>
              <a:t>N</a:t>
            </a:r>
            <a:r>
              <a:rPr lang="en-US" altLang="ko-KR" sz="2000" baseline="-25000"/>
              <a:t>6 </a:t>
            </a:r>
            <a:r>
              <a:rPr lang="en-US" altLang="ko-KR" sz="2000"/>
              <a:t>+4.19</a:t>
            </a:r>
            <a:endParaRPr lang="en-US" altLang="ko-KR" sz="2000" baseline="-25000"/>
          </a:p>
        </p:txBody>
      </p:sp>
      <p:sp>
        <p:nvSpPr>
          <p:cNvPr id="40" name="Text Box 35">
            <a:extLst>
              <a:ext uri="{FF2B5EF4-FFF2-40B4-BE49-F238E27FC236}">
                <a16:creationId xmlns:a16="http://schemas.microsoft.com/office/drawing/2014/main" id="{0E6BAA39-68EB-4F5F-BBBB-49FBCCA5BF88}"/>
              </a:ext>
            </a:extLst>
          </p:cNvPr>
          <p:cNvSpPr txBox="1">
            <a:spLocks noChangeArrowheads="1"/>
          </p:cNvSpPr>
          <p:nvPr/>
        </p:nvSpPr>
        <p:spPr bwMode="auto">
          <a:xfrm>
            <a:off x="8686800" y="5181600"/>
            <a:ext cx="1091966" cy="400110"/>
          </a:xfrm>
          <a:prstGeom prst="rect">
            <a:avLst/>
          </a:prstGeom>
          <a:noFill/>
          <a:ln w="9525">
            <a:noFill/>
            <a:miter lim="800000"/>
            <a:headEnd/>
            <a:tailEnd/>
          </a:ln>
        </p:spPr>
        <p:txBody>
          <a:bodyPr wrap="none">
            <a:spAutoFit/>
          </a:bodyPr>
          <a:lstStyle/>
          <a:p>
            <a:r>
              <a:rPr lang="en-US" altLang="ko-KR" sz="2000"/>
              <a:t>N</a:t>
            </a:r>
            <a:r>
              <a:rPr lang="en-US" altLang="ko-KR" sz="2000" baseline="-25000"/>
              <a:t>5 </a:t>
            </a:r>
            <a:r>
              <a:rPr lang="en-US" altLang="ko-KR" sz="2000">
                <a:sym typeface="Symbol" pitchFamily="18" charset="2"/>
              </a:rPr>
              <a:t>+</a:t>
            </a:r>
            <a:r>
              <a:rPr lang="en-US" altLang="ko-KR" sz="2000"/>
              <a:t>9.97</a:t>
            </a:r>
            <a:endParaRPr lang="en-US" altLang="ko-KR" sz="2000" baseline="-25000"/>
          </a:p>
        </p:txBody>
      </p:sp>
      <p:sp>
        <p:nvSpPr>
          <p:cNvPr id="41" name="Text Box 36">
            <a:extLst>
              <a:ext uri="{FF2B5EF4-FFF2-40B4-BE49-F238E27FC236}">
                <a16:creationId xmlns:a16="http://schemas.microsoft.com/office/drawing/2014/main" id="{3AFE3A10-F559-48D3-9127-2D8EBE81414C}"/>
              </a:ext>
            </a:extLst>
          </p:cNvPr>
          <p:cNvSpPr txBox="1">
            <a:spLocks noChangeArrowheads="1"/>
          </p:cNvSpPr>
          <p:nvPr/>
        </p:nvSpPr>
        <p:spPr bwMode="auto">
          <a:xfrm>
            <a:off x="8686800" y="5721350"/>
            <a:ext cx="1091966" cy="400110"/>
          </a:xfrm>
          <a:prstGeom prst="rect">
            <a:avLst/>
          </a:prstGeom>
          <a:noFill/>
          <a:ln w="9525">
            <a:noFill/>
            <a:miter lim="800000"/>
            <a:headEnd/>
            <a:tailEnd/>
          </a:ln>
        </p:spPr>
        <p:txBody>
          <a:bodyPr wrap="none">
            <a:spAutoFit/>
          </a:bodyPr>
          <a:lstStyle/>
          <a:p>
            <a:r>
              <a:rPr lang="en-US" altLang="ko-KR" sz="2000"/>
              <a:t>N</a:t>
            </a:r>
            <a:r>
              <a:rPr lang="en-US" altLang="ko-KR" sz="2000" baseline="-25000"/>
              <a:t>6 </a:t>
            </a:r>
            <a:r>
              <a:rPr lang="en-US" altLang="ko-KR" sz="2000">
                <a:sym typeface="Symbol" pitchFamily="18" charset="2"/>
              </a:rPr>
              <a:t>+</a:t>
            </a:r>
            <a:r>
              <a:rPr lang="en-US" altLang="ko-KR" sz="2000"/>
              <a:t>6.29</a:t>
            </a:r>
            <a:endParaRPr lang="en-US" altLang="ko-KR" sz="2000" baseline="-25000"/>
          </a:p>
        </p:txBody>
      </p:sp>
      <p:sp>
        <p:nvSpPr>
          <p:cNvPr id="42" name="Text Box 37">
            <a:extLst>
              <a:ext uri="{FF2B5EF4-FFF2-40B4-BE49-F238E27FC236}">
                <a16:creationId xmlns:a16="http://schemas.microsoft.com/office/drawing/2014/main" id="{59F5028F-368C-4DD7-B631-40CAA0F2B38B}"/>
              </a:ext>
            </a:extLst>
          </p:cNvPr>
          <p:cNvSpPr txBox="1">
            <a:spLocks noChangeArrowheads="1"/>
          </p:cNvSpPr>
          <p:nvPr/>
        </p:nvSpPr>
        <p:spPr bwMode="auto">
          <a:xfrm>
            <a:off x="2590803" y="1752603"/>
            <a:ext cx="1323975" cy="1006475"/>
          </a:xfrm>
          <a:prstGeom prst="rect">
            <a:avLst/>
          </a:prstGeom>
          <a:noFill/>
          <a:ln w="9525">
            <a:noFill/>
            <a:miter lim="800000"/>
            <a:headEnd/>
            <a:tailEnd/>
          </a:ln>
        </p:spPr>
        <p:txBody>
          <a:bodyPr wrap="none">
            <a:spAutoFit/>
          </a:bodyPr>
          <a:lstStyle/>
          <a:p>
            <a:r>
              <a:rPr lang="en-US" altLang="ko-KR" sz="2000" dirty="0"/>
              <a:t>Time</a:t>
            </a:r>
          </a:p>
          <a:p>
            <a:r>
              <a:rPr lang="en-US" altLang="ko-KR" sz="2000" dirty="0"/>
              <a:t>complexity</a:t>
            </a:r>
          </a:p>
          <a:p>
            <a:r>
              <a:rPr lang="en-US" altLang="ko-KR" sz="2000" dirty="0"/>
              <a:t>function</a:t>
            </a:r>
            <a:endParaRPr lang="en-US" altLang="ko-KR" dirty="0"/>
          </a:p>
        </p:txBody>
      </p:sp>
      <p:sp>
        <p:nvSpPr>
          <p:cNvPr id="43" name="Text Box 38">
            <a:extLst>
              <a:ext uri="{FF2B5EF4-FFF2-40B4-BE49-F238E27FC236}">
                <a16:creationId xmlns:a16="http://schemas.microsoft.com/office/drawing/2014/main" id="{C1E7F91C-FA8C-41B3-9CAA-154D54FE657F}"/>
              </a:ext>
            </a:extLst>
          </p:cNvPr>
          <p:cNvSpPr txBox="1">
            <a:spLocks noChangeArrowheads="1"/>
          </p:cNvSpPr>
          <p:nvPr/>
        </p:nvSpPr>
        <p:spPr bwMode="auto">
          <a:xfrm>
            <a:off x="4114800" y="1905003"/>
            <a:ext cx="1485900" cy="701675"/>
          </a:xfrm>
          <a:prstGeom prst="rect">
            <a:avLst/>
          </a:prstGeom>
          <a:noFill/>
          <a:ln w="9525">
            <a:noFill/>
            <a:miter lim="800000"/>
            <a:headEnd/>
            <a:tailEnd/>
          </a:ln>
        </p:spPr>
        <p:txBody>
          <a:bodyPr wrap="none">
            <a:spAutoFit/>
          </a:bodyPr>
          <a:lstStyle/>
          <a:p>
            <a:r>
              <a:rPr lang="en-US" altLang="ko-KR" sz="2000"/>
              <a:t>With present</a:t>
            </a:r>
          </a:p>
          <a:p>
            <a:r>
              <a:rPr lang="en-US" altLang="ko-KR" sz="2000"/>
              <a:t>computer</a:t>
            </a:r>
            <a:endParaRPr lang="en-US" altLang="ko-KR"/>
          </a:p>
        </p:txBody>
      </p:sp>
      <p:sp>
        <p:nvSpPr>
          <p:cNvPr id="44" name="Text Box 39">
            <a:extLst>
              <a:ext uri="{FF2B5EF4-FFF2-40B4-BE49-F238E27FC236}">
                <a16:creationId xmlns:a16="http://schemas.microsoft.com/office/drawing/2014/main" id="{D554BB7B-E0A8-4928-9627-5A4F7DF93201}"/>
              </a:ext>
            </a:extLst>
          </p:cNvPr>
          <p:cNvSpPr txBox="1">
            <a:spLocks noChangeArrowheads="1"/>
          </p:cNvSpPr>
          <p:nvPr/>
        </p:nvSpPr>
        <p:spPr bwMode="auto">
          <a:xfrm>
            <a:off x="6019803" y="1905003"/>
            <a:ext cx="1801813" cy="701675"/>
          </a:xfrm>
          <a:prstGeom prst="rect">
            <a:avLst/>
          </a:prstGeom>
          <a:noFill/>
          <a:ln w="9525">
            <a:noFill/>
            <a:miter lim="800000"/>
            <a:headEnd/>
            <a:tailEnd/>
          </a:ln>
        </p:spPr>
        <p:txBody>
          <a:bodyPr wrap="none">
            <a:spAutoFit/>
          </a:bodyPr>
          <a:lstStyle/>
          <a:p>
            <a:r>
              <a:rPr lang="en-US" altLang="ko-KR" sz="2000"/>
              <a:t>With computer</a:t>
            </a:r>
          </a:p>
          <a:p>
            <a:r>
              <a:rPr lang="en-US" altLang="ko-KR" sz="2000"/>
              <a:t>100 times faster</a:t>
            </a:r>
            <a:endParaRPr lang="en-US" altLang="ko-KR"/>
          </a:p>
        </p:txBody>
      </p:sp>
      <p:sp>
        <p:nvSpPr>
          <p:cNvPr id="45" name="Text Box 40">
            <a:extLst>
              <a:ext uri="{FF2B5EF4-FFF2-40B4-BE49-F238E27FC236}">
                <a16:creationId xmlns:a16="http://schemas.microsoft.com/office/drawing/2014/main" id="{8F400E92-5B10-43DA-BA7F-64F9422EB84A}"/>
              </a:ext>
            </a:extLst>
          </p:cNvPr>
          <p:cNvSpPr txBox="1">
            <a:spLocks noChangeArrowheads="1"/>
          </p:cNvSpPr>
          <p:nvPr/>
        </p:nvSpPr>
        <p:spPr bwMode="auto">
          <a:xfrm>
            <a:off x="8153403" y="1981203"/>
            <a:ext cx="1928813" cy="701675"/>
          </a:xfrm>
          <a:prstGeom prst="rect">
            <a:avLst/>
          </a:prstGeom>
          <a:noFill/>
          <a:ln w="9525">
            <a:noFill/>
            <a:miter lim="800000"/>
            <a:headEnd/>
            <a:tailEnd/>
          </a:ln>
        </p:spPr>
        <p:txBody>
          <a:bodyPr wrap="none">
            <a:spAutoFit/>
          </a:bodyPr>
          <a:lstStyle/>
          <a:p>
            <a:r>
              <a:rPr lang="en-US" altLang="ko-KR" sz="2000"/>
              <a:t>With computer</a:t>
            </a:r>
          </a:p>
          <a:p>
            <a:r>
              <a:rPr lang="en-US" altLang="ko-KR" sz="2000"/>
              <a:t>1000 times faster</a:t>
            </a:r>
            <a:endParaRPr lang="en-US" altLang="ko-KR"/>
          </a:p>
        </p:txBody>
      </p:sp>
    </p:spTree>
    <p:extLst>
      <p:ext uri="{BB962C8B-B14F-4D97-AF65-F5344CB8AC3E}">
        <p14:creationId xmlns:p14="http://schemas.microsoft.com/office/powerpoint/2010/main" val="170715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8CC1CF-9CF2-4661-BBCF-E116A22DC7D2}"/>
              </a:ext>
            </a:extLst>
          </p:cNvPr>
          <p:cNvSpPr>
            <a:spLocks noGrp="1"/>
          </p:cNvSpPr>
          <p:nvPr>
            <p:ph type="title"/>
          </p:nvPr>
        </p:nvSpPr>
        <p:spPr/>
        <p:txBody>
          <a:bodyPr/>
          <a:lstStyle/>
          <a:p>
            <a:r>
              <a:rPr lang="zh-CN" altLang="en-US" dirty="0"/>
              <a:t>渐近时间复杂性</a:t>
            </a:r>
          </a:p>
        </p:txBody>
      </p:sp>
      <p:sp>
        <p:nvSpPr>
          <p:cNvPr id="3" name="内容占位符 2">
            <a:extLst>
              <a:ext uri="{FF2B5EF4-FFF2-40B4-BE49-F238E27FC236}">
                <a16:creationId xmlns:a16="http://schemas.microsoft.com/office/drawing/2014/main" id="{3D310313-2C7F-4852-84E5-3370CA7AFDEE}"/>
              </a:ext>
            </a:extLst>
          </p:cNvPr>
          <p:cNvSpPr>
            <a:spLocks noGrp="1"/>
          </p:cNvSpPr>
          <p:nvPr>
            <p:ph idx="1"/>
          </p:nvPr>
        </p:nvSpPr>
        <p:spPr/>
        <p:txBody>
          <a:bodyPr/>
          <a:lstStyle/>
          <a:p>
            <a:r>
              <a:rPr lang="zh-CN" altLang="en-US" dirty="0"/>
              <a:t>评估算法性能并不需要对其执行时间作出准确统计，关心相对性能</a:t>
            </a:r>
          </a:p>
          <a:p>
            <a:r>
              <a:rPr lang="zh-CN" altLang="en-US" dirty="0"/>
              <a:t>在问题规模较小的情况下，不同算法求解同一问题的时间虽然会有差异，但可以忽略不计</a:t>
            </a:r>
          </a:p>
          <a:p>
            <a:r>
              <a:rPr lang="zh-CN" altLang="en-US" dirty="0"/>
              <a:t>我们最关心的是</a:t>
            </a:r>
            <a:r>
              <a:rPr lang="zh-CN" altLang="en-US" dirty="0">
                <a:solidFill>
                  <a:srgbClr val="FF0000"/>
                </a:solidFill>
              </a:rPr>
              <a:t>大规模问题</a:t>
            </a:r>
            <a:r>
              <a:rPr lang="zh-CN" altLang="en-US" dirty="0"/>
              <a:t>的性能</a:t>
            </a:r>
          </a:p>
          <a:p>
            <a:r>
              <a:rPr lang="zh-CN" altLang="en-US" dirty="0"/>
              <a:t>我们更为关心的是在大规模的输入下时间复杂性增长趋势的差异，因此在比较两个算法时间复杂性时，通常是在输入规模</a:t>
            </a:r>
            <a:r>
              <a:rPr lang="en-US" altLang="zh-CN" dirty="0"/>
              <a:t>n</a:t>
            </a:r>
            <a:r>
              <a:rPr lang="zh-CN" altLang="en-US" dirty="0"/>
              <a:t>趋向无穷大的情形下进行讨论的，即进行</a:t>
            </a:r>
            <a:r>
              <a:rPr lang="zh-CN" altLang="en-US" dirty="0">
                <a:solidFill>
                  <a:srgbClr val="FF0000"/>
                </a:solidFill>
              </a:rPr>
              <a:t>渐近分析</a:t>
            </a:r>
            <a:r>
              <a:rPr lang="zh-CN" altLang="en-US" dirty="0"/>
              <a:t>。</a:t>
            </a:r>
          </a:p>
          <a:p>
            <a:r>
              <a:rPr lang="zh-CN" altLang="en-US" dirty="0"/>
              <a:t>那么如何度量和评价算法执行时间的总体变化趋势和增长速度呢？</a:t>
            </a:r>
          </a:p>
          <a:p>
            <a:endParaRPr lang="zh-CN" altLang="en-US" dirty="0"/>
          </a:p>
          <a:p>
            <a:endParaRPr lang="zh-CN" altLang="en-US" dirty="0"/>
          </a:p>
        </p:txBody>
      </p:sp>
    </p:spTree>
    <p:extLst>
      <p:ext uri="{BB962C8B-B14F-4D97-AF65-F5344CB8AC3E}">
        <p14:creationId xmlns:p14="http://schemas.microsoft.com/office/powerpoint/2010/main" val="4111232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BF6EE2-6FF9-4B6E-9538-495B4FFD9447}"/>
              </a:ext>
            </a:extLst>
          </p:cNvPr>
          <p:cNvSpPr>
            <a:spLocks noGrp="1"/>
          </p:cNvSpPr>
          <p:nvPr>
            <p:ph type="title"/>
          </p:nvPr>
        </p:nvSpPr>
        <p:spPr/>
        <p:txBody>
          <a:bodyPr/>
          <a:lstStyle/>
          <a:p>
            <a:r>
              <a:rPr lang="zh-CN" altLang="en-US" dirty="0"/>
              <a:t>符号</a:t>
            </a:r>
            <a:r>
              <a:rPr lang="en-US" altLang="zh-CN" dirty="0"/>
              <a:t>O</a:t>
            </a:r>
            <a:endParaRPr lang="zh-CN" altLang="en-US" dirty="0"/>
          </a:p>
        </p:txBody>
      </p:sp>
      <p:sp>
        <p:nvSpPr>
          <p:cNvPr id="3" name="内容占位符 2">
            <a:extLst>
              <a:ext uri="{FF2B5EF4-FFF2-40B4-BE49-F238E27FC236}">
                <a16:creationId xmlns:a16="http://schemas.microsoft.com/office/drawing/2014/main" id="{3F0D82C3-0D26-47DB-B2AD-BBB1E3CE4EC0}"/>
              </a:ext>
            </a:extLst>
          </p:cNvPr>
          <p:cNvSpPr>
            <a:spLocks noGrp="1"/>
          </p:cNvSpPr>
          <p:nvPr>
            <p:ph idx="1"/>
          </p:nvPr>
        </p:nvSpPr>
        <p:spPr/>
        <p:txBody>
          <a:bodyPr/>
          <a:lstStyle/>
          <a:p>
            <a:r>
              <a:rPr lang="zh-CN" altLang="en-US" dirty="0"/>
              <a:t>如果存在常数</a:t>
            </a:r>
            <a:r>
              <a:rPr lang="en-US" altLang="zh-CN" dirty="0"/>
              <a:t>c</a:t>
            </a:r>
            <a:r>
              <a:rPr lang="zh-CN" altLang="en-US" dirty="0"/>
              <a:t>和</a:t>
            </a:r>
            <a:r>
              <a:rPr lang="en-US" altLang="zh-CN" dirty="0"/>
              <a:t>N</a:t>
            </a:r>
            <a:r>
              <a:rPr lang="zh-CN" altLang="en-US" dirty="0"/>
              <a:t>，使得对于所有的</a:t>
            </a:r>
            <a:r>
              <a:rPr lang="en-US" altLang="zh-CN" dirty="0" err="1"/>
              <a:t>n</a:t>
            </a:r>
            <a:r>
              <a:rPr lang="en-US" altLang="zh-CN" sz="2800" dirty="0" err="1">
                <a:solidFill>
                  <a:srgbClr val="000000"/>
                </a:solidFill>
                <a:sym typeface="Symbol" pitchFamily="18" charset="2"/>
              </a:rPr>
              <a:t></a:t>
            </a:r>
            <a:r>
              <a:rPr lang="en-US" altLang="zh-CN" dirty="0" err="1"/>
              <a:t>N</a:t>
            </a:r>
            <a:r>
              <a:rPr lang="zh-CN" altLang="en-US" dirty="0"/>
              <a:t>，有</a:t>
            </a:r>
            <a:r>
              <a:rPr lang="en-US" altLang="zh-CN" dirty="0"/>
              <a:t>g(n)</a:t>
            </a:r>
            <a:r>
              <a:rPr lang="en-US" altLang="zh-CN" sz="2800" dirty="0">
                <a:solidFill>
                  <a:srgbClr val="000000"/>
                </a:solidFill>
                <a:sym typeface="Symbol" pitchFamily="18" charset="2"/>
              </a:rPr>
              <a:t></a:t>
            </a:r>
            <a:r>
              <a:rPr lang="en-US" altLang="zh-CN" dirty="0" err="1"/>
              <a:t>cf</a:t>
            </a:r>
            <a:r>
              <a:rPr lang="en-US" altLang="zh-CN" dirty="0"/>
              <a:t>(n)</a:t>
            </a:r>
            <a:r>
              <a:rPr lang="zh-CN" altLang="en-US" dirty="0"/>
              <a:t>，则称函数</a:t>
            </a:r>
            <a:r>
              <a:rPr lang="en-US" altLang="zh-CN" dirty="0"/>
              <a:t>g(n)</a:t>
            </a:r>
            <a:r>
              <a:rPr lang="zh-CN" altLang="en-US" dirty="0"/>
              <a:t>相对于另一函数</a:t>
            </a:r>
            <a:r>
              <a:rPr lang="en-US" altLang="zh-CN" dirty="0"/>
              <a:t>f(n)</a:t>
            </a:r>
            <a:r>
              <a:rPr lang="zh-CN" altLang="en-US" dirty="0"/>
              <a:t>是</a:t>
            </a:r>
            <a:r>
              <a:rPr lang="en-US" altLang="zh-CN" dirty="0"/>
              <a:t>O(f(n))</a:t>
            </a:r>
            <a:r>
              <a:rPr lang="zh-CN" altLang="en-US" dirty="0"/>
              <a:t>的</a:t>
            </a:r>
            <a:r>
              <a:rPr lang="en-US" altLang="zh-CN" dirty="0"/>
              <a:t>(</a:t>
            </a:r>
            <a:r>
              <a:rPr lang="zh-CN" altLang="en-US" dirty="0"/>
              <a:t>读作“</a:t>
            </a:r>
            <a:r>
              <a:rPr lang="en-US" altLang="zh-CN" dirty="0"/>
              <a:t>O”</a:t>
            </a:r>
            <a:r>
              <a:rPr lang="zh-CN" altLang="en-US" dirty="0"/>
              <a:t>或者“大</a:t>
            </a:r>
            <a:r>
              <a:rPr lang="en-US" altLang="zh-CN" dirty="0"/>
              <a:t>O”)</a:t>
            </a:r>
            <a:r>
              <a:rPr lang="zh-CN" altLang="en-US" dirty="0"/>
              <a:t>。对于足够大的</a:t>
            </a:r>
            <a:r>
              <a:rPr lang="en-US" altLang="zh-CN" dirty="0"/>
              <a:t>n</a:t>
            </a:r>
            <a:r>
              <a:rPr lang="zh-CN" altLang="en-US" dirty="0"/>
              <a:t>，函数</a:t>
            </a:r>
            <a:r>
              <a:rPr lang="en-US" altLang="zh-CN" dirty="0"/>
              <a:t>g(n)</a:t>
            </a:r>
            <a:r>
              <a:rPr lang="zh-CN" altLang="en-US" dirty="0"/>
              <a:t>不超过函数</a:t>
            </a:r>
            <a:r>
              <a:rPr lang="en-US" altLang="zh-CN" dirty="0"/>
              <a:t>f(n)</a:t>
            </a:r>
            <a:r>
              <a:rPr lang="zh-CN" altLang="en-US" dirty="0"/>
              <a:t>的一个固定倍数。函数</a:t>
            </a:r>
            <a:r>
              <a:rPr lang="en-US" altLang="zh-CN" dirty="0"/>
              <a:t>g(n)</a:t>
            </a:r>
            <a:r>
              <a:rPr lang="zh-CN" altLang="en-US" dirty="0"/>
              <a:t>可能比</a:t>
            </a:r>
            <a:r>
              <a:rPr lang="en-US" altLang="zh-CN" dirty="0" err="1"/>
              <a:t>cf</a:t>
            </a:r>
            <a:r>
              <a:rPr lang="en-US" altLang="zh-CN" dirty="0"/>
              <a:t>(n)</a:t>
            </a:r>
            <a:r>
              <a:rPr lang="zh-CN" altLang="en-US" dirty="0"/>
              <a:t>小，甚至是非常小；符号</a:t>
            </a:r>
            <a:r>
              <a:rPr lang="en-US" altLang="zh-CN" dirty="0"/>
              <a:t>O</a:t>
            </a:r>
            <a:r>
              <a:rPr lang="zh-CN" altLang="en-US" dirty="0"/>
              <a:t>仅仅是从上限来约束它。</a:t>
            </a:r>
          </a:p>
          <a:p>
            <a:r>
              <a:rPr lang="zh-CN" altLang="en-US" dirty="0"/>
              <a:t>如果</a:t>
            </a:r>
            <a:r>
              <a:rPr lang="en-US" altLang="zh-CN" dirty="0"/>
              <a:t>g(n)=O(f(n))</a:t>
            </a:r>
            <a:r>
              <a:rPr lang="zh-CN" altLang="en-US" dirty="0"/>
              <a:t>，通常</a:t>
            </a:r>
            <a:r>
              <a:rPr lang="en-US" altLang="zh-CN" dirty="0"/>
              <a:t>f(n)</a:t>
            </a:r>
            <a:r>
              <a:rPr lang="zh-CN" altLang="en-US" dirty="0"/>
              <a:t>的形式比</a:t>
            </a:r>
            <a:r>
              <a:rPr lang="en-US" altLang="zh-CN" dirty="0"/>
              <a:t>g(n)</a:t>
            </a:r>
            <a:r>
              <a:rPr lang="zh-CN" altLang="en-US" dirty="0"/>
              <a:t>简洁，但仍然能够反映</a:t>
            </a:r>
            <a:r>
              <a:rPr lang="en-US" altLang="zh-CN" dirty="0"/>
              <a:t>g(n)</a:t>
            </a:r>
            <a:r>
              <a:rPr lang="zh-CN" altLang="en-US" dirty="0"/>
              <a:t>的增长趋势</a:t>
            </a:r>
          </a:p>
          <a:p>
            <a:endParaRPr lang="zh-CN" altLang="en-US" dirty="0"/>
          </a:p>
        </p:txBody>
      </p:sp>
      <p:sp>
        <p:nvSpPr>
          <p:cNvPr id="4" name="文本框 3">
            <a:extLst>
              <a:ext uri="{FF2B5EF4-FFF2-40B4-BE49-F238E27FC236}">
                <a16:creationId xmlns:a16="http://schemas.microsoft.com/office/drawing/2014/main" id="{5F62DBF1-CA1E-49EE-86DC-239DE2FA5DF7}"/>
              </a:ext>
            </a:extLst>
          </p:cNvPr>
          <p:cNvSpPr txBox="1"/>
          <p:nvPr/>
        </p:nvSpPr>
        <p:spPr>
          <a:xfrm>
            <a:off x="8976139" y="4553883"/>
            <a:ext cx="2880320" cy="1938992"/>
          </a:xfrm>
          <a:prstGeom prst="rect">
            <a:avLst/>
          </a:prstGeom>
          <a:noFill/>
        </p:spPr>
        <p:txBody>
          <a:bodyPr wrap="square" rtlCol="0">
            <a:spAutoFit/>
          </a:bodyPr>
          <a:lstStyle/>
          <a:p>
            <a:r>
              <a:rPr lang="en-US" altLang="zh-CN" sz="2000" dirty="0">
                <a:latin typeface="+mn-ea"/>
              </a:rPr>
              <a:t>N</a:t>
            </a:r>
            <a:r>
              <a:rPr lang="zh-CN" altLang="en-US" sz="2000" dirty="0">
                <a:latin typeface="+mn-ea"/>
              </a:rPr>
              <a:t>的意义：</a:t>
            </a:r>
          </a:p>
          <a:p>
            <a:r>
              <a:rPr lang="en-US" altLang="zh-CN" sz="2000" dirty="0">
                <a:latin typeface="+mn-ea"/>
              </a:rPr>
              <a:t>  f1(n)=n^2</a:t>
            </a:r>
          </a:p>
          <a:p>
            <a:r>
              <a:rPr lang="en-US" altLang="zh-CN" sz="2000" dirty="0">
                <a:latin typeface="+mn-ea"/>
              </a:rPr>
              <a:t>  f2(n)=2n+20</a:t>
            </a:r>
          </a:p>
          <a:p>
            <a:r>
              <a:rPr lang="en-US" altLang="zh-CN" sz="2000" dirty="0">
                <a:latin typeface="+mn-ea"/>
              </a:rPr>
              <a:t>  f2=O(f1)</a:t>
            </a:r>
          </a:p>
          <a:p>
            <a:r>
              <a:rPr lang="en-US" altLang="zh-CN" sz="2000" dirty="0">
                <a:latin typeface="+mn-ea"/>
              </a:rPr>
              <a:t>  f1!=O(f2)</a:t>
            </a:r>
          </a:p>
          <a:p>
            <a:r>
              <a:rPr lang="zh-CN" altLang="en-US" sz="2000" dirty="0">
                <a:latin typeface="+mn-ea"/>
              </a:rPr>
              <a:t>  但是</a:t>
            </a:r>
            <a:r>
              <a:rPr lang="en-US" altLang="zh-CN" sz="2000" dirty="0">
                <a:latin typeface="+mn-ea"/>
              </a:rPr>
              <a:t>n&lt;=5</a:t>
            </a:r>
            <a:r>
              <a:rPr lang="zh-CN" altLang="en-US" sz="2000" dirty="0">
                <a:latin typeface="+mn-ea"/>
              </a:rPr>
              <a:t>时</a:t>
            </a:r>
            <a:r>
              <a:rPr lang="en-US" altLang="zh-CN" sz="2000" dirty="0">
                <a:latin typeface="+mn-ea"/>
              </a:rPr>
              <a:t>f1(n)&lt;f2(n)</a:t>
            </a:r>
            <a:endParaRPr lang="zh-CN" altLang="en-US" sz="2000" dirty="0">
              <a:latin typeface="+mn-ea"/>
            </a:endParaRPr>
          </a:p>
        </p:txBody>
      </p:sp>
    </p:spTree>
    <p:extLst>
      <p:ext uri="{BB962C8B-B14F-4D97-AF65-F5344CB8AC3E}">
        <p14:creationId xmlns:p14="http://schemas.microsoft.com/office/powerpoint/2010/main" val="85721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FD0C22-87EA-4376-B605-1D289E9EBC59}"/>
              </a:ext>
            </a:extLst>
          </p:cNvPr>
          <p:cNvSpPr>
            <a:spLocks noGrp="1"/>
          </p:cNvSpPr>
          <p:nvPr>
            <p:ph type="title"/>
          </p:nvPr>
        </p:nvSpPr>
        <p:spPr/>
        <p:txBody>
          <a:bodyPr/>
          <a:lstStyle/>
          <a:p>
            <a:r>
              <a:rPr lang="zh-CN" altLang="en-US" dirty="0"/>
              <a:t>符号</a:t>
            </a:r>
            <a:r>
              <a:rPr lang="en-US" altLang="zh-CN" dirty="0"/>
              <a:t>O</a:t>
            </a:r>
            <a:endParaRPr lang="zh-CN" altLang="en-US" dirty="0"/>
          </a:p>
        </p:txBody>
      </p:sp>
      <p:sp>
        <p:nvSpPr>
          <p:cNvPr id="3" name="内容占位符 2">
            <a:extLst>
              <a:ext uri="{FF2B5EF4-FFF2-40B4-BE49-F238E27FC236}">
                <a16:creationId xmlns:a16="http://schemas.microsoft.com/office/drawing/2014/main" id="{489BE7B5-A5F4-41E5-A7B4-3E24D2994074}"/>
              </a:ext>
            </a:extLst>
          </p:cNvPr>
          <p:cNvSpPr>
            <a:spLocks noGrp="1"/>
          </p:cNvSpPr>
          <p:nvPr>
            <p:ph idx="1"/>
          </p:nvPr>
        </p:nvSpPr>
        <p:spPr/>
        <p:txBody>
          <a:bodyPr>
            <a:noAutofit/>
          </a:bodyPr>
          <a:lstStyle/>
          <a:p>
            <a:pPr algn="just"/>
            <a:r>
              <a:rPr lang="zh-CN" altLang="en-US" sz="2400" dirty="0">
                <a:solidFill>
                  <a:srgbClr val="000000"/>
                </a:solidFill>
              </a:rPr>
              <a:t>定理</a:t>
            </a:r>
            <a:r>
              <a:rPr lang="en-US" altLang="zh-CN" sz="2400" dirty="0">
                <a:solidFill>
                  <a:srgbClr val="000000"/>
                </a:solidFill>
              </a:rPr>
              <a:t>3.1</a:t>
            </a:r>
            <a:r>
              <a:rPr lang="zh-CN" altLang="en-US" sz="2400" dirty="0">
                <a:solidFill>
                  <a:srgbClr val="000000"/>
                </a:solidFill>
              </a:rPr>
              <a:t>：对于所有的常数</a:t>
            </a:r>
            <a:r>
              <a:rPr lang="en-US" altLang="zh-CN" sz="2400" dirty="0">
                <a:solidFill>
                  <a:srgbClr val="000000"/>
                </a:solidFill>
              </a:rPr>
              <a:t>c</a:t>
            </a:r>
            <a:r>
              <a:rPr lang="en-US" altLang="zh-CN" sz="2400" dirty="0">
                <a:solidFill>
                  <a:srgbClr val="000000"/>
                </a:solidFill>
                <a:sym typeface="Symbol" pitchFamily="18" charset="2"/>
              </a:rPr>
              <a:t></a:t>
            </a:r>
            <a:r>
              <a:rPr lang="en-US" altLang="zh-CN" sz="2400" dirty="0">
                <a:solidFill>
                  <a:srgbClr val="000000"/>
                </a:solidFill>
              </a:rPr>
              <a:t>0</a:t>
            </a:r>
            <a:r>
              <a:rPr lang="zh-CN" altLang="en-US" sz="2400" dirty="0">
                <a:solidFill>
                  <a:srgbClr val="000000"/>
                </a:solidFill>
              </a:rPr>
              <a:t>和</a:t>
            </a:r>
            <a:r>
              <a:rPr lang="en-US" altLang="zh-CN" sz="2400" dirty="0">
                <a:solidFill>
                  <a:srgbClr val="000000"/>
                </a:solidFill>
              </a:rPr>
              <a:t>a</a:t>
            </a:r>
            <a:r>
              <a:rPr lang="en-US" altLang="zh-CN" sz="2400" dirty="0">
                <a:solidFill>
                  <a:srgbClr val="000000"/>
                </a:solidFill>
                <a:sym typeface="Symbol" pitchFamily="18" charset="2"/>
              </a:rPr>
              <a:t></a:t>
            </a:r>
            <a:r>
              <a:rPr lang="en-US" altLang="zh-CN" sz="2400" dirty="0">
                <a:solidFill>
                  <a:srgbClr val="000000"/>
                </a:solidFill>
              </a:rPr>
              <a:t>1</a:t>
            </a:r>
            <a:r>
              <a:rPr lang="zh-CN" altLang="en-US" sz="2400" dirty="0">
                <a:solidFill>
                  <a:srgbClr val="000000"/>
                </a:solidFill>
              </a:rPr>
              <a:t>，以及所有的单调递增函数</a:t>
            </a:r>
            <a:r>
              <a:rPr lang="en-US" altLang="zh-CN" sz="2400" dirty="0">
                <a:solidFill>
                  <a:srgbClr val="000000"/>
                </a:solidFill>
              </a:rPr>
              <a:t>f(n)</a:t>
            </a:r>
            <a:r>
              <a:rPr lang="zh-CN" altLang="en-US" sz="2400" dirty="0">
                <a:solidFill>
                  <a:srgbClr val="000000"/>
                </a:solidFill>
              </a:rPr>
              <a:t>，有</a:t>
            </a:r>
            <a:r>
              <a:rPr lang="en-US" altLang="zh-CN" sz="2400" dirty="0">
                <a:solidFill>
                  <a:srgbClr val="000000"/>
                </a:solidFill>
              </a:rPr>
              <a:t>(f(n))</a:t>
            </a:r>
            <a:r>
              <a:rPr lang="en-US" altLang="zh-CN" sz="2400" baseline="30000" dirty="0">
                <a:solidFill>
                  <a:srgbClr val="000000"/>
                </a:solidFill>
              </a:rPr>
              <a:t>c</a:t>
            </a:r>
            <a:r>
              <a:rPr lang="en-US" altLang="zh-CN" sz="2400" dirty="0">
                <a:solidFill>
                  <a:srgbClr val="000000"/>
                </a:solidFill>
              </a:rPr>
              <a:t>=O(</a:t>
            </a:r>
            <a:r>
              <a:rPr lang="en-US" altLang="zh-CN" sz="2400" dirty="0" err="1">
                <a:solidFill>
                  <a:srgbClr val="000000"/>
                </a:solidFill>
              </a:rPr>
              <a:t>a</a:t>
            </a:r>
            <a:r>
              <a:rPr lang="en-US" altLang="zh-CN" sz="2400" baseline="30000" dirty="0" err="1">
                <a:solidFill>
                  <a:srgbClr val="000000"/>
                </a:solidFill>
              </a:rPr>
              <a:t>f</a:t>
            </a:r>
            <a:r>
              <a:rPr lang="en-US" altLang="zh-CN" sz="2400" baseline="30000" dirty="0">
                <a:solidFill>
                  <a:srgbClr val="000000"/>
                </a:solidFill>
              </a:rPr>
              <a:t>(n)</a:t>
            </a:r>
            <a:r>
              <a:rPr lang="en-US" altLang="zh-CN" sz="2400" dirty="0">
                <a:solidFill>
                  <a:srgbClr val="000000"/>
                </a:solidFill>
              </a:rPr>
              <a:t>)</a:t>
            </a:r>
            <a:r>
              <a:rPr lang="zh-CN" altLang="en-US" sz="2400" dirty="0">
                <a:solidFill>
                  <a:srgbClr val="000000"/>
                </a:solidFill>
              </a:rPr>
              <a:t>。即一个指数函数要比一个多项式函数增长得快。</a:t>
            </a:r>
          </a:p>
          <a:p>
            <a:pPr algn="just"/>
            <a:r>
              <a:rPr lang="zh-CN" altLang="en-US" sz="2400" dirty="0">
                <a:solidFill>
                  <a:srgbClr val="000000"/>
                </a:solidFill>
              </a:rPr>
              <a:t>引理</a:t>
            </a:r>
            <a:r>
              <a:rPr lang="en-US" altLang="zh-CN" sz="2400" dirty="0">
                <a:solidFill>
                  <a:srgbClr val="000000"/>
                </a:solidFill>
              </a:rPr>
              <a:t>3.2</a:t>
            </a: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）如果</a:t>
            </a:r>
            <a:r>
              <a:rPr lang="en-US" altLang="zh-CN" sz="2400" dirty="0">
                <a:solidFill>
                  <a:srgbClr val="000000"/>
                </a:solidFill>
              </a:rPr>
              <a:t>f(n)=O(s(n))</a:t>
            </a:r>
            <a:r>
              <a:rPr lang="zh-CN" altLang="en-US" sz="2400" dirty="0">
                <a:solidFill>
                  <a:srgbClr val="000000"/>
                </a:solidFill>
              </a:rPr>
              <a:t>并且</a:t>
            </a:r>
            <a:r>
              <a:rPr lang="en-US" altLang="zh-CN" sz="2400" dirty="0">
                <a:solidFill>
                  <a:srgbClr val="000000"/>
                </a:solidFill>
              </a:rPr>
              <a:t>g(n)=O(r(n))</a:t>
            </a:r>
            <a:r>
              <a:rPr lang="zh-CN" altLang="en-US" sz="2400" dirty="0">
                <a:solidFill>
                  <a:srgbClr val="000000"/>
                </a:solidFill>
              </a:rPr>
              <a:t>，则</a:t>
            </a:r>
            <a:r>
              <a:rPr lang="en-US" altLang="zh-CN" sz="2400" dirty="0">
                <a:solidFill>
                  <a:srgbClr val="000000"/>
                </a:solidFill>
              </a:rPr>
              <a:t>f(n)+g(n) = O(s(n)+r(n))</a:t>
            </a: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）如果</a:t>
            </a:r>
            <a:r>
              <a:rPr lang="en-US" altLang="zh-CN" sz="2400" dirty="0">
                <a:solidFill>
                  <a:srgbClr val="000000"/>
                </a:solidFill>
              </a:rPr>
              <a:t>f(n)=O(s(n))</a:t>
            </a:r>
            <a:r>
              <a:rPr lang="zh-CN" altLang="en-US" sz="2400" dirty="0">
                <a:solidFill>
                  <a:srgbClr val="000000"/>
                </a:solidFill>
              </a:rPr>
              <a:t>并且</a:t>
            </a:r>
            <a:r>
              <a:rPr lang="en-US" altLang="zh-CN" sz="2400" dirty="0">
                <a:solidFill>
                  <a:srgbClr val="000000"/>
                </a:solidFill>
              </a:rPr>
              <a:t>g(n)=O(r(n))</a:t>
            </a:r>
            <a:r>
              <a:rPr lang="zh-CN" altLang="en-US" sz="2400" dirty="0">
                <a:solidFill>
                  <a:srgbClr val="000000"/>
                </a:solidFill>
              </a:rPr>
              <a:t>，则</a:t>
            </a:r>
            <a:r>
              <a:rPr lang="en-US" altLang="zh-CN" sz="2400" dirty="0">
                <a:solidFill>
                  <a:srgbClr val="000000"/>
                </a:solidFill>
              </a:rPr>
              <a:t>f(n)g(n) = O(s(n)g(n))</a:t>
            </a:r>
            <a:r>
              <a:rPr lang="zh-CN" altLang="en-US" sz="2400" dirty="0">
                <a:solidFill>
                  <a:srgbClr val="000000"/>
                </a:solidFill>
              </a:rPr>
              <a:t>。</a:t>
            </a:r>
            <a:endParaRPr lang="en-US" altLang="zh-CN" sz="2400" dirty="0">
              <a:solidFill>
                <a:srgbClr val="000000"/>
              </a:solidFill>
            </a:endParaRPr>
          </a:p>
          <a:p>
            <a:pPr algn="just"/>
            <a:r>
              <a:rPr lang="zh-CN" altLang="en-US" sz="2400" dirty="0">
                <a:solidFill>
                  <a:srgbClr val="000000"/>
                </a:solidFill>
              </a:rPr>
              <a:t>如果</a:t>
            </a:r>
            <a:r>
              <a:rPr lang="en-US" altLang="zh-CN" sz="2400" dirty="0">
                <a:solidFill>
                  <a:srgbClr val="000000"/>
                </a:solidFill>
              </a:rPr>
              <a:t>f(n)=O(g(n))</a:t>
            </a:r>
            <a:r>
              <a:rPr lang="zh-CN" altLang="en-US" sz="2400" dirty="0">
                <a:solidFill>
                  <a:srgbClr val="000000"/>
                </a:solidFill>
              </a:rPr>
              <a:t>，则</a:t>
            </a:r>
            <a:r>
              <a:rPr lang="en-US" altLang="zh-CN" sz="2400" dirty="0">
                <a:solidFill>
                  <a:srgbClr val="000000"/>
                </a:solidFill>
              </a:rPr>
              <a:t>O(f(n)+g(n))=O(g(n))</a:t>
            </a:r>
          </a:p>
          <a:p>
            <a:pPr algn="just"/>
            <a:r>
              <a:rPr lang="zh-CN" altLang="en-US" sz="2400" dirty="0">
                <a:solidFill>
                  <a:srgbClr val="000000"/>
                </a:solidFill>
              </a:rPr>
              <a:t>如果常数</a:t>
            </a:r>
            <a:r>
              <a:rPr lang="en-US" altLang="zh-CN" sz="2400" dirty="0">
                <a:solidFill>
                  <a:srgbClr val="000000"/>
                </a:solidFill>
              </a:rPr>
              <a:t>c&gt;0</a:t>
            </a:r>
            <a:r>
              <a:rPr lang="zh-CN" altLang="en-US" sz="2400" dirty="0">
                <a:solidFill>
                  <a:srgbClr val="000000"/>
                </a:solidFill>
              </a:rPr>
              <a:t>，则</a:t>
            </a:r>
            <a:r>
              <a:rPr lang="en-US" altLang="zh-CN" sz="2400" dirty="0">
                <a:solidFill>
                  <a:srgbClr val="000000"/>
                </a:solidFill>
              </a:rPr>
              <a:t>O(c*f(n))=O(f(n))</a:t>
            </a:r>
          </a:p>
          <a:p>
            <a:pPr algn="just"/>
            <a:r>
              <a:rPr lang="zh-CN" altLang="en-US" sz="2400" dirty="0">
                <a:solidFill>
                  <a:srgbClr val="000000"/>
                </a:solidFill>
              </a:rPr>
              <a:t>如果常数</a:t>
            </a:r>
            <a:r>
              <a:rPr lang="en-US" altLang="zh-CN" sz="2400" dirty="0">
                <a:solidFill>
                  <a:srgbClr val="000000"/>
                </a:solidFill>
              </a:rPr>
              <a:t>a&gt;b&gt;0</a:t>
            </a:r>
            <a:r>
              <a:rPr lang="zh-CN" altLang="en-US" sz="2400" dirty="0">
                <a:solidFill>
                  <a:srgbClr val="000000"/>
                </a:solidFill>
              </a:rPr>
              <a:t>，则</a:t>
            </a:r>
            <a:r>
              <a:rPr lang="en-US" altLang="zh-CN" sz="2400" dirty="0">
                <a:solidFill>
                  <a:srgbClr val="000000"/>
                </a:solidFill>
              </a:rPr>
              <a:t>O(</a:t>
            </a:r>
            <a:r>
              <a:rPr lang="en-US" altLang="zh-CN" sz="2400" dirty="0" err="1">
                <a:solidFill>
                  <a:srgbClr val="000000"/>
                </a:solidFill>
              </a:rPr>
              <a:t>n^a+n^b</a:t>
            </a:r>
            <a:r>
              <a:rPr lang="en-US" altLang="zh-CN" sz="2400" dirty="0">
                <a:solidFill>
                  <a:srgbClr val="000000"/>
                </a:solidFill>
              </a:rPr>
              <a:t>)=O(</a:t>
            </a:r>
            <a:r>
              <a:rPr lang="en-US" altLang="zh-CN" sz="2400" dirty="0" err="1">
                <a:solidFill>
                  <a:srgbClr val="000000"/>
                </a:solidFill>
              </a:rPr>
              <a:t>n^a</a:t>
            </a:r>
            <a:r>
              <a:rPr lang="en-US" altLang="zh-CN" sz="2400" dirty="0">
                <a:solidFill>
                  <a:srgbClr val="000000"/>
                </a:solidFill>
              </a:rPr>
              <a:t>)</a:t>
            </a:r>
          </a:p>
          <a:p>
            <a:pPr algn="just"/>
            <a:r>
              <a:rPr lang="zh-CN" altLang="en-US" sz="2400" dirty="0">
                <a:solidFill>
                  <a:srgbClr val="000000"/>
                </a:solidFill>
              </a:rPr>
              <a:t>由于符号</a:t>
            </a:r>
            <a:r>
              <a:rPr lang="en-US" altLang="zh-CN" sz="2400" dirty="0">
                <a:solidFill>
                  <a:srgbClr val="000000"/>
                </a:solidFill>
              </a:rPr>
              <a:t>O</a:t>
            </a:r>
            <a:r>
              <a:rPr lang="zh-CN" altLang="en-US" sz="2400" dirty="0">
                <a:solidFill>
                  <a:srgbClr val="000000"/>
                </a:solidFill>
              </a:rPr>
              <a:t>对应于关系“</a:t>
            </a:r>
            <a:r>
              <a:rPr lang="zh-CN" altLang="en-US" sz="2400" dirty="0">
                <a:solidFill>
                  <a:srgbClr val="000000"/>
                </a:solidFill>
                <a:sym typeface="Symbol" pitchFamily="18" charset="2"/>
              </a:rPr>
              <a:t></a:t>
            </a:r>
            <a:r>
              <a:rPr lang="zh-CN" altLang="en-US" sz="2400" dirty="0">
                <a:solidFill>
                  <a:srgbClr val="000000"/>
                </a:solidFill>
              </a:rPr>
              <a:t>”，不能对其定义减法和除法运算。也就是说，通常</a:t>
            </a:r>
            <a:r>
              <a:rPr lang="en-US" altLang="zh-CN" sz="2400" dirty="0">
                <a:solidFill>
                  <a:srgbClr val="000000"/>
                </a:solidFill>
              </a:rPr>
              <a:t>f(n) = O(s(n))</a:t>
            </a:r>
            <a:r>
              <a:rPr lang="zh-CN" altLang="en-US" sz="2400" dirty="0">
                <a:solidFill>
                  <a:srgbClr val="000000"/>
                </a:solidFill>
              </a:rPr>
              <a:t>和</a:t>
            </a:r>
            <a:r>
              <a:rPr lang="en-US" altLang="zh-CN" sz="2400" dirty="0">
                <a:solidFill>
                  <a:srgbClr val="000000"/>
                </a:solidFill>
              </a:rPr>
              <a:t>g(n) = O(r(n))</a:t>
            </a:r>
            <a:r>
              <a:rPr lang="zh-CN" altLang="en-US" sz="2400" dirty="0">
                <a:solidFill>
                  <a:srgbClr val="000000"/>
                </a:solidFill>
              </a:rPr>
              <a:t>并不意味</a:t>
            </a:r>
            <a:r>
              <a:rPr lang="en-US" altLang="zh-CN" sz="2400" dirty="0">
                <a:solidFill>
                  <a:srgbClr val="000000"/>
                </a:solidFill>
              </a:rPr>
              <a:t>f(n) - g(n) = O(s(n) - r(n))</a:t>
            </a:r>
            <a:r>
              <a:rPr lang="zh-CN" altLang="en-US" sz="2400" dirty="0">
                <a:solidFill>
                  <a:srgbClr val="000000"/>
                </a:solidFill>
              </a:rPr>
              <a:t>，或者</a:t>
            </a:r>
            <a:r>
              <a:rPr lang="en-US" altLang="zh-CN" sz="2400" dirty="0">
                <a:solidFill>
                  <a:srgbClr val="000000"/>
                </a:solidFill>
              </a:rPr>
              <a:t>f(n)/g(n) = O(s(n)/r(n))</a:t>
            </a:r>
          </a:p>
          <a:p>
            <a:endParaRPr lang="zh-CN" altLang="en-US" sz="2400" dirty="0"/>
          </a:p>
        </p:txBody>
      </p:sp>
    </p:spTree>
    <p:extLst>
      <p:ext uri="{BB962C8B-B14F-4D97-AF65-F5344CB8AC3E}">
        <p14:creationId xmlns:p14="http://schemas.microsoft.com/office/powerpoint/2010/main" val="151080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63B6D-811D-48B0-8CAB-8073E5908A81}"/>
              </a:ext>
            </a:extLst>
          </p:cNvPr>
          <p:cNvSpPr>
            <a:spLocks noGrp="1"/>
          </p:cNvSpPr>
          <p:nvPr>
            <p:ph type="title"/>
          </p:nvPr>
        </p:nvSpPr>
        <p:spPr/>
        <p:txBody>
          <a:bodyPr/>
          <a:lstStyle/>
          <a:p>
            <a:r>
              <a:rPr lang="zh-CN" altLang="en-US" dirty="0"/>
              <a:t>不同的</a:t>
            </a:r>
            <a:r>
              <a:rPr lang="en-US" altLang="zh-CN" dirty="0"/>
              <a:t>O(f(n))</a:t>
            </a:r>
            <a:endParaRPr lang="zh-CN" altLang="en-US" dirty="0"/>
          </a:p>
        </p:txBody>
      </p:sp>
      <p:sp>
        <p:nvSpPr>
          <p:cNvPr id="3" name="内容占位符 2">
            <a:extLst>
              <a:ext uri="{FF2B5EF4-FFF2-40B4-BE49-F238E27FC236}">
                <a16:creationId xmlns:a16="http://schemas.microsoft.com/office/drawing/2014/main" id="{9553BFE2-B04E-4CA9-A11A-90C64BA9C72E}"/>
              </a:ext>
            </a:extLst>
          </p:cNvPr>
          <p:cNvSpPr>
            <a:spLocks noGrp="1"/>
          </p:cNvSpPr>
          <p:nvPr>
            <p:ph idx="1"/>
          </p:nvPr>
        </p:nvSpPr>
        <p:spPr>
          <a:xfrm>
            <a:off x="838200" y="1825625"/>
            <a:ext cx="10515600" cy="905543"/>
          </a:xfrm>
        </p:spPr>
        <p:txBody>
          <a:bodyPr>
            <a:noAutofit/>
          </a:bodyPr>
          <a:lstStyle/>
          <a:p>
            <a:pPr marL="0" indent="0">
              <a:buNone/>
            </a:pPr>
            <a:r>
              <a:rPr lang="en-US" altLang="zh-CN" sz="2400" dirty="0"/>
              <a:t>1) O(</a:t>
            </a:r>
            <a:r>
              <a:rPr lang="en-US" altLang="zh-CN" sz="2400" dirty="0" err="1"/>
              <a:t>logn</a:t>
            </a:r>
            <a:r>
              <a:rPr lang="en-US" altLang="zh-CN" sz="2400" dirty="0"/>
              <a:t>)		2) O(sqrt(n))		3) O(n)</a:t>
            </a:r>
          </a:p>
          <a:p>
            <a:pPr marL="0" indent="0">
              <a:buNone/>
            </a:pPr>
            <a:r>
              <a:rPr lang="en-US" altLang="zh-CN" sz="2400" dirty="0"/>
              <a:t>4) O(</a:t>
            </a:r>
            <a:r>
              <a:rPr lang="en-US" altLang="zh-CN" sz="2400" dirty="0" err="1"/>
              <a:t>nlogn</a:t>
            </a:r>
            <a:r>
              <a:rPr lang="en-US" altLang="zh-CN" sz="2400" dirty="0"/>
              <a:t>)		5) O(n^2)		6) O(n^3)		7) O(2^n)</a:t>
            </a:r>
            <a:endParaRPr lang="zh-CN" altLang="en-US" sz="2400" dirty="0"/>
          </a:p>
          <a:p>
            <a:endParaRPr lang="zh-CN" altLang="en-US" sz="2400" dirty="0"/>
          </a:p>
        </p:txBody>
      </p:sp>
      <p:pic>
        <p:nvPicPr>
          <p:cNvPr id="4" name="图片 3">
            <a:extLst>
              <a:ext uri="{FF2B5EF4-FFF2-40B4-BE49-F238E27FC236}">
                <a16:creationId xmlns:a16="http://schemas.microsoft.com/office/drawing/2014/main" id="{F5B07164-7262-4C5D-94E6-360A08B3B40C}"/>
              </a:ext>
            </a:extLst>
          </p:cNvPr>
          <p:cNvPicPr>
            <a:picLocks noChangeAspect="1"/>
          </p:cNvPicPr>
          <p:nvPr/>
        </p:nvPicPr>
        <p:blipFill>
          <a:blip r:embed="rId2"/>
          <a:stretch>
            <a:fillRect/>
          </a:stretch>
        </p:blipFill>
        <p:spPr>
          <a:xfrm>
            <a:off x="1163151" y="2843093"/>
            <a:ext cx="10114449" cy="3898603"/>
          </a:xfrm>
          <a:prstGeom prst="rect">
            <a:avLst/>
          </a:prstGeom>
        </p:spPr>
      </p:pic>
    </p:spTree>
    <p:extLst>
      <p:ext uri="{BB962C8B-B14F-4D97-AF65-F5344CB8AC3E}">
        <p14:creationId xmlns:p14="http://schemas.microsoft.com/office/powerpoint/2010/main" val="384681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E3E092-C886-4002-9048-37C4E98713C5}"/>
              </a:ext>
            </a:extLst>
          </p:cNvPr>
          <p:cNvSpPr>
            <a:spLocks noGrp="1"/>
          </p:cNvSpPr>
          <p:nvPr>
            <p:ph type="title"/>
          </p:nvPr>
        </p:nvSpPr>
        <p:spPr/>
        <p:txBody>
          <a:bodyPr/>
          <a:lstStyle/>
          <a:p>
            <a:r>
              <a:rPr lang="zh-CN" altLang="en-US" dirty="0"/>
              <a:t>符号</a:t>
            </a:r>
            <a:r>
              <a:rPr lang="en-US" altLang="zh-CN" dirty="0"/>
              <a:t>Ω</a:t>
            </a:r>
            <a:endParaRPr lang="zh-CN" altLang="en-US" dirty="0"/>
          </a:p>
        </p:txBody>
      </p:sp>
      <p:sp>
        <p:nvSpPr>
          <p:cNvPr id="3" name="内容占位符 2">
            <a:extLst>
              <a:ext uri="{FF2B5EF4-FFF2-40B4-BE49-F238E27FC236}">
                <a16:creationId xmlns:a16="http://schemas.microsoft.com/office/drawing/2014/main" id="{8A4177E2-AB56-432D-A112-11E86F09528B}"/>
              </a:ext>
            </a:extLst>
          </p:cNvPr>
          <p:cNvSpPr>
            <a:spLocks noGrp="1"/>
          </p:cNvSpPr>
          <p:nvPr>
            <p:ph idx="1"/>
          </p:nvPr>
        </p:nvSpPr>
        <p:spPr/>
        <p:txBody>
          <a:bodyPr/>
          <a:lstStyle/>
          <a:p>
            <a:pPr algn="just"/>
            <a:r>
              <a:rPr lang="zh-CN" altLang="en-US" sz="2800" dirty="0">
                <a:solidFill>
                  <a:srgbClr val="000000"/>
                </a:solidFill>
              </a:rPr>
              <a:t>如果存在常数</a:t>
            </a:r>
            <a:r>
              <a:rPr lang="en-US" altLang="zh-CN" sz="2800" dirty="0">
                <a:solidFill>
                  <a:srgbClr val="000000"/>
                </a:solidFill>
              </a:rPr>
              <a:t>c</a:t>
            </a:r>
            <a:r>
              <a:rPr lang="zh-CN" altLang="en-US" sz="2800" dirty="0">
                <a:solidFill>
                  <a:srgbClr val="000000"/>
                </a:solidFill>
              </a:rPr>
              <a:t>和</a:t>
            </a:r>
            <a:r>
              <a:rPr lang="en-US" altLang="zh-CN" sz="2800" dirty="0">
                <a:solidFill>
                  <a:srgbClr val="000000"/>
                </a:solidFill>
              </a:rPr>
              <a:t>N</a:t>
            </a:r>
            <a:r>
              <a:rPr lang="zh-CN" altLang="en-US" sz="2800" dirty="0">
                <a:solidFill>
                  <a:srgbClr val="000000"/>
                </a:solidFill>
              </a:rPr>
              <a:t>，使得对于所有的</a:t>
            </a:r>
            <a:r>
              <a:rPr lang="en-US" altLang="zh-CN" sz="2800" dirty="0" err="1">
                <a:solidFill>
                  <a:srgbClr val="000000"/>
                </a:solidFill>
              </a:rPr>
              <a:t>n</a:t>
            </a:r>
            <a:r>
              <a:rPr lang="en-US" altLang="zh-CN" sz="2800" dirty="0" err="1">
                <a:solidFill>
                  <a:srgbClr val="000000"/>
                </a:solidFill>
                <a:sym typeface="Symbol" pitchFamily="18" charset="2"/>
              </a:rPr>
              <a:t></a:t>
            </a:r>
            <a:r>
              <a:rPr lang="en-US" altLang="zh-CN" sz="2800" dirty="0" err="1">
                <a:solidFill>
                  <a:srgbClr val="000000"/>
                </a:solidFill>
              </a:rPr>
              <a:t>N</a:t>
            </a:r>
            <a:r>
              <a:rPr lang="zh-CN" altLang="en-US" sz="2800" dirty="0">
                <a:solidFill>
                  <a:srgbClr val="000000"/>
                </a:solidFill>
              </a:rPr>
              <a:t>，有</a:t>
            </a:r>
            <a:r>
              <a:rPr lang="en-US" altLang="zh-CN" sz="2800" dirty="0">
                <a:solidFill>
                  <a:srgbClr val="000000"/>
                </a:solidFill>
              </a:rPr>
              <a:t>g(n) </a:t>
            </a:r>
            <a:r>
              <a:rPr lang="en-US" altLang="zh-CN" sz="2800" dirty="0">
                <a:solidFill>
                  <a:srgbClr val="000000"/>
                </a:solidFill>
                <a:sym typeface="Symbol" pitchFamily="18" charset="2"/>
              </a:rPr>
              <a:t> </a:t>
            </a:r>
            <a:r>
              <a:rPr lang="en-US" altLang="zh-CN" sz="2800" dirty="0" err="1">
                <a:solidFill>
                  <a:srgbClr val="000000"/>
                </a:solidFill>
              </a:rPr>
              <a:t>cf</a:t>
            </a:r>
            <a:r>
              <a:rPr lang="en-US" altLang="zh-CN" sz="2800" dirty="0">
                <a:solidFill>
                  <a:srgbClr val="000000"/>
                </a:solidFill>
              </a:rPr>
              <a:t>(n)</a:t>
            </a:r>
            <a:r>
              <a:rPr lang="zh-CN" altLang="en-US" sz="2800" dirty="0">
                <a:solidFill>
                  <a:srgbClr val="000000"/>
                </a:solidFill>
              </a:rPr>
              <a:t>，则称函数</a:t>
            </a:r>
            <a:r>
              <a:rPr lang="en-US" altLang="zh-CN" sz="2800" dirty="0">
                <a:solidFill>
                  <a:srgbClr val="000000"/>
                </a:solidFill>
              </a:rPr>
              <a:t>g(n)</a:t>
            </a:r>
            <a:r>
              <a:rPr lang="zh-CN" altLang="en-US" sz="2800" dirty="0">
                <a:solidFill>
                  <a:srgbClr val="000000"/>
                </a:solidFill>
              </a:rPr>
              <a:t>相对于另一函数</a:t>
            </a:r>
            <a:r>
              <a:rPr lang="en-US" altLang="zh-CN" sz="2800" dirty="0">
                <a:solidFill>
                  <a:srgbClr val="000000"/>
                </a:solidFill>
              </a:rPr>
              <a:t>f(n)</a:t>
            </a:r>
            <a:r>
              <a:rPr lang="zh-CN" altLang="en-US" sz="2800" dirty="0">
                <a:solidFill>
                  <a:srgbClr val="000000"/>
                </a:solidFill>
              </a:rPr>
              <a:t>是</a:t>
            </a:r>
            <a:r>
              <a:rPr lang="zh-CN" altLang="en-US" sz="2800" dirty="0">
                <a:solidFill>
                  <a:srgbClr val="000000"/>
                </a:solidFill>
                <a:sym typeface="Symbol" pitchFamily="18" charset="2"/>
              </a:rPr>
              <a:t></a:t>
            </a:r>
            <a:r>
              <a:rPr lang="en-US" altLang="zh-CN" sz="2800" dirty="0">
                <a:solidFill>
                  <a:srgbClr val="000000"/>
                </a:solidFill>
              </a:rPr>
              <a:t>(f(n))</a:t>
            </a:r>
            <a:r>
              <a:rPr lang="zh-CN" altLang="en-US" sz="2800" dirty="0">
                <a:solidFill>
                  <a:srgbClr val="000000"/>
                </a:solidFill>
              </a:rPr>
              <a:t>的。 </a:t>
            </a:r>
          </a:p>
          <a:p>
            <a:pPr algn="just"/>
            <a:endParaRPr lang="zh-CN" altLang="en-US" sz="2800" dirty="0">
              <a:solidFill>
                <a:srgbClr val="000000"/>
              </a:solidFill>
              <a:sym typeface="Symbol" pitchFamily="18" charset="2"/>
            </a:endParaRPr>
          </a:p>
          <a:p>
            <a:pPr algn="just"/>
            <a:r>
              <a:rPr lang="en-US" altLang="zh-CN" sz="2800" dirty="0">
                <a:solidFill>
                  <a:srgbClr val="000000"/>
                </a:solidFill>
                <a:sym typeface="Symbol" pitchFamily="18" charset="2"/>
              </a:rPr>
              <a:t>f(n)=(g(n))</a:t>
            </a:r>
            <a:r>
              <a:rPr lang="zh-CN" altLang="en-US" sz="2800" dirty="0">
                <a:solidFill>
                  <a:srgbClr val="000000"/>
                </a:solidFill>
                <a:sym typeface="Symbol" pitchFamily="18" charset="2"/>
              </a:rPr>
              <a:t>当且仅当</a:t>
            </a:r>
            <a:r>
              <a:rPr lang="en-US" altLang="zh-CN" sz="2800" dirty="0">
                <a:solidFill>
                  <a:srgbClr val="000000"/>
                </a:solidFill>
                <a:sym typeface="Symbol" pitchFamily="18" charset="2"/>
              </a:rPr>
              <a:t>g(n)=O(f(n))</a:t>
            </a:r>
          </a:p>
          <a:p>
            <a:endParaRPr lang="zh-CN" altLang="en-US" dirty="0"/>
          </a:p>
        </p:txBody>
      </p:sp>
    </p:spTree>
    <p:extLst>
      <p:ext uri="{BB962C8B-B14F-4D97-AF65-F5344CB8AC3E}">
        <p14:creationId xmlns:p14="http://schemas.microsoft.com/office/powerpoint/2010/main" val="3251013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E683EA-9B20-4F0F-90BB-54885F522B4E}"/>
              </a:ext>
            </a:extLst>
          </p:cNvPr>
          <p:cNvSpPr>
            <a:spLocks noGrp="1"/>
          </p:cNvSpPr>
          <p:nvPr>
            <p:ph type="title"/>
          </p:nvPr>
        </p:nvSpPr>
        <p:spPr/>
        <p:txBody>
          <a:bodyPr/>
          <a:lstStyle/>
          <a:p>
            <a:r>
              <a:rPr lang="zh-CN" altLang="en-US" dirty="0"/>
              <a:t>符号</a:t>
            </a:r>
            <a:r>
              <a:rPr lang="en-US" altLang="zh-CN" dirty="0"/>
              <a:t>Θ</a:t>
            </a:r>
            <a:endParaRPr lang="zh-CN" altLang="en-US" dirty="0"/>
          </a:p>
        </p:txBody>
      </p:sp>
      <p:sp>
        <p:nvSpPr>
          <p:cNvPr id="3" name="内容占位符 2">
            <a:extLst>
              <a:ext uri="{FF2B5EF4-FFF2-40B4-BE49-F238E27FC236}">
                <a16:creationId xmlns:a16="http://schemas.microsoft.com/office/drawing/2014/main" id="{42B47990-FDA9-4D29-9C4D-E498B7EC3F72}"/>
              </a:ext>
            </a:extLst>
          </p:cNvPr>
          <p:cNvSpPr>
            <a:spLocks noGrp="1"/>
          </p:cNvSpPr>
          <p:nvPr>
            <p:ph idx="1"/>
          </p:nvPr>
        </p:nvSpPr>
        <p:spPr/>
        <p:txBody>
          <a:bodyPr/>
          <a:lstStyle/>
          <a:p>
            <a:pPr algn="just"/>
            <a:r>
              <a:rPr lang="zh-CN" altLang="en-US" sz="2800" dirty="0">
                <a:solidFill>
                  <a:srgbClr val="000000"/>
                </a:solidFill>
              </a:rPr>
              <a:t>如果存在常数</a:t>
            </a:r>
            <a:r>
              <a:rPr lang="en-US" altLang="zh-CN" sz="2800" dirty="0">
                <a:solidFill>
                  <a:srgbClr val="000000"/>
                </a:solidFill>
              </a:rPr>
              <a:t>c</a:t>
            </a:r>
            <a:r>
              <a:rPr lang="en-US" altLang="zh-CN" sz="2800" baseline="-25000" dirty="0">
                <a:solidFill>
                  <a:srgbClr val="000000"/>
                </a:solidFill>
              </a:rPr>
              <a:t>1</a:t>
            </a:r>
            <a:r>
              <a:rPr lang="zh-CN" altLang="en-US" sz="2800" dirty="0">
                <a:solidFill>
                  <a:srgbClr val="000000"/>
                </a:solidFill>
              </a:rPr>
              <a:t>，</a:t>
            </a:r>
            <a:r>
              <a:rPr lang="en-US" altLang="zh-CN" sz="2800" dirty="0">
                <a:solidFill>
                  <a:srgbClr val="000000"/>
                </a:solidFill>
              </a:rPr>
              <a:t>c</a:t>
            </a:r>
            <a:r>
              <a:rPr lang="en-US" altLang="zh-CN" sz="2800" baseline="-25000" dirty="0">
                <a:solidFill>
                  <a:srgbClr val="000000"/>
                </a:solidFill>
              </a:rPr>
              <a:t>2</a:t>
            </a:r>
            <a:r>
              <a:rPr lang="zh-CN" altLang="en-US" sz="2800" dirty="0">
                <a:solidFill>
                  <a:srgbClr val="000000"/>
                </a:solidFill>
              </a:rPr>
              <a:t>和</a:t>
            </a:r>
            <a:r>
              <a:rPr lang="en-US" altLang="zh-CN" sz="2800" dirty="0">
                <a:solidFill>
                  <a:srgbClr val="000000"/>
                </a:solidFill>
              </a:rPr>
              <a:t>N</a:t>
            </a:r>
            <a:r>
              <a:rPr lang="zh-CN" altLang="en-US" sz="2800" dirty="0">
                <a:solidFill>
                  <a:srgbClr val="000000"/>
                </a:solidFill>
              </a:rPr>
              <a:t>，使得对于所有的</a:t>
            </a:r>
            <a:r>
              <a:rPr lang="en-US" altLang="zh-CN" sz="2800" dirty="0" err="1">
                <a:solidFill>
                  <a:srgbClr val="000000"/>
                </a:solidFill>
              </a:rPr>
              <a:t>n</a:t>
            </a:r>
            <a:r>
              <a:rPr lang="en-US" altLang="zh-CN" sz="2800" dirty="0" err="1">
                <a:solidFill>
                  <a:srgbClr val="000000"/>
                </a:solidFill>
                <a:sym typeface="Symbol" pitchFamily="18" charset="2"/>
              </a:rPr>
              <a:t></a:t>
            </a:r>
            <a:r>
              <a:rPr lang="en-US" altLang="zh-CN" sz="2800" dirty="0" err="1">
                <a:solidFill>
                  <a:srgbClr val="000000"/>
                </a:solidFill>
              </a:rPr>
              <a:t>N</a:t>
            </a:r>
            <a:r>
              <a:rPr lang="zh-CN" altLang="en-US" sz="2800" dirty="0">
                <a:solidFill>
                  <a:srgbClr val="000000"/>
                </a:solidFill>
              </a:rPr>
              <a:t>，有</a:t>
            </a:r>
            <a:r>
              <a:rPr lang="en-US" altLang="zh-CN" sz="2800" dirty="0">
                <a:solidFill>
                  <a:srgbClr val="000000"/>
                </a:solidFill>
                <a:sym typeface="Symbol" pitchFamily="18" charset="2"/>
              </a:rPr>
              <a:t>c</a:t>
            </a:r>
            <a:r>
              <a:rPr lang="en-US" altLang="zh-CN" sz="2800" baseline="-25000" dirty="0">
                <a:solidFill>
                  <a:srgbClr val="000000"/>
                </a:solidFill>
                <a:sym typeface="Symbol" pitchFamily="18" charset="2"/>
              </a:rPr>
              <a:t>1</a:t>
            </a:r>
            <a:r>
              <a:rPr lang="en-US" altLang="zh-CN" sz="2800" dirty="0">
                <a:solidFill>
                  <a:srgbClr val="000000"/>
                </a:solidFill>
                <a:sym typeface="Symbol" pitchFamily="18" charset="2"/>
              </a:rPr>
              <a:t>f(n)g(n)c</a:t>
            </a:r>
            <a:r>
              <a:rPr lang="en-US" altLang="zh-CN" sz="2800" baseline="-25000" dirty="0">
                <a:solidFill>
                  <a:srgbClr val="000000"/>
                </a:solidFill>
                <a:sym typeface="Symbol" pitchFamily="18" charset="2"/>
              </a:rPr>
              <a:t>2</a:t>
            </a:r>
            <a:r>
              <a:rPr lang="en-US" altLang="zh-CN" sz="2800" dirty="0">
                <a:solidFill>
                  <a:srgbClr val="000000"/>
                </a:solidFill>
                <a:sym typeface="Symbol" pitchFamily="18" charset="2"/>
              </a:rPr>
              <a:t>f(n)</a:t>
            </a:r>
            <a:r>
              <a:rPr lang="zh-CN" altLang="en-US" sz="2800" dirty="0">
                <a:solidFill>
                  <a:srgbClr val="000000"/>
                </a:solidFill>
              </a:rPr>
              <a:t>，则称函数</a:t>
            </a:r>
            <a:r>
              <a:rPr lang="en-US" altLang="zh-CN" sz="2800" dirty="0">
                <a:solidFill>
                  <a:srgbClr val="000000"/>
                </a:solidFill>
              </a:rPr>
              <a:t>g(n)</a:t>
            </a:r>
            <a:r>
              <a:rPr lang="zh-CN" altLang="en-US" sz="2800" dirty="0">
                <a:solidFill>
                  <a:srgbClr val="000000"/>
                </a:solidFill>
              </a:rPr>
              <a:t>相对于另一函数</a:t>
            </a:r>
            <a:r>
              <a:rPr lang="en-US" altLang="zh-CN" sz="2800" dirty="0">
                <a:solidFill>
                  <a:srgbClr val="000000"/>
                </a:solidFill>
              </a:rPr>
              <a:t>f(n)</a:t>
            </a:r>
            <a:r>
              <a:rPr lang="zh-CN" altLang="en-US" sz="2800" dirty="0">
                <a:solidFill>
                  <a:srgbClr val="000000"/>
                </a:solidFill>
              </a:rPr>
              <a:t>是</a:t>
            </a:r>
            <a:r>
              <a:rPr lang="zh-CN" altLang="en-US" sz="2800" dirty="0">
                <a:solidFill>
                  <a:srgbClr val="000000"/>
                </a:solidFill>
                <a:sym typeface="Symbol" pitchFamily="18" charset="2"/>
              </a:rPr>
              <a:t></a:t>
            </a:r>
            <a:r>
              <a:rPr lang="en-US" altLang="zh-CN" sz="2800" dirty="0">
                <a:solidFill>
                  <a:srgbClr val="000000"/>
                </a:solidFill>
              </a:rPr>
              <a:t>(f(n))</a:t>
            </a:r>
            <a:r>
              <a:rPr lang="zh-CN" altLang="en-US" sz="2800" dirty="0">
                <a:solidFill>
                  <a:srgbClr val="000000"/>
                </a:solidFill>
              </a:rPr>
              <a:t>的。 </a:t>
            </a:r>
          </a:p>
          <a:p>
            <a:pPr algn="just"/>
            <a:endParaRPr lang="zh-CN" altLang="en-US" sz="2800" dirty="0">
              <a:solidFill>
                <a:srgbClr val="000000"/>
              </a:solidFill>
              <a:sym typeface="Symbol" pitchFamily="18" charset="2"/>
            </a:endParaRPr>
          </a:p>
          <a:p>
            <a:pPr algn="just"/>
            <a:r>
              <a:rPr lang="en-US" altLang="zh-CN" sz="2800" dirty="0">
                <a:solidFill>
                  <a:srgbClr val="000000"/>
                </a:solidFill>
                <a:sym typeface="Symbol" pitchFamily="18" charset="2"/>
              </a:rPr>
              <a:t>f(n)=(g(n))</a:t>
            </a:r>
            <a:r>
              <a:rPr lang="zh-CN" altLang="en-US" sz="2800" dirty="0">
                <a:solidFill>
                  <a:srgbClr val="000000"/>
                </a:solidFill>
                <a:sym typeface="Symbol" pitchFamily="18" charset="2"/>
              </a:rPr>
              <a:t>当且仅当</a:t>
            </a:r>
            <a:r>
              <a:rPr lang="en-US" altLang="zh-CN" sz="2800" dirty="0">
                <a:solidFill>
                  <a:srgbClr val="000000"/>
                </a:solidFill>
                <a:sym typeface="Symbol" pitchFamily="18" charset="2"/>
              </a:rPr>
              <a:t>f(n)=(g(n))</a:t>
            </a:r>
            <a:r>
              <a:rPr lang="zh-CN" altLang="en-US" sz="2800" dirty="0">
                <a:solidFill>
                  <a:srgbClr val="000000"/>
                </a:solidFill>
                <a:sym typeface="Symbol" pitchFamily="18" charset="2"/>
              </a:rPr>
              <a:t>，</a:t>
            </a:r>
            <a:r>
              <a:rPr lang="en-US" altLang="zh-CN" sz="2800" dirty="0">
                <a:solidFill>
                  <a:srgbClr val="000000"/>
                </a:solidFill>
                <a:sym typeface="Symbol" pitchFamily="18" charset="2"/>
              </a:rPr>
              <a:t>f(n)=O(g(n))</a:t>
            </a:r>
          </a:p>
          <a:p>
            <a:endParaRPr lang="zh-CN" altLang="en-US" dirty="0"/>
          </a:p>
        </p:txBody>
      </p:sp>
      <p:pic>
        <p:nvPicPr>
          <p:cNvPr id="4" name="图片 3">
            <a:extLst>
              <a:ext uri="{FF2B5EF4-FFF2-40B4-BE49-F238E27FC236}">
                <a16:creationId xmlns:a16="http://schemas.microsoft.com/office/drawing/2014/main" id="{944E7128-6EEB-460E-8F3B-372199463811}"/>
              </a:ext>
            </a:extLst>
          </p:cNvPr>
          <p:cNvPicPr>
            <a:picLocks noChangeAspect="1"/>
          </p:cNvPicPr>
          <p:nvPr/>
        </p:nvPicPr>
        <p:blipFill>
          <a:blip r:embed="rId2"/>
          <a:stretch>
            <a:fillRect/>
          </a:stretch>
        </p:blipFill>
        <p:spPr>
          <a:xfrm>
            <a:off x="2462208" y="4109761"/>
            <a:ext cx="7267584" cy="2557812"/>
          </a:xfrm>
          <a:prstGeom prst="rect">
            <a:avLst/>
          </a:prstGeom>
        </p:spPr>
      </p:pic>
    </p:spTree>
    <p:extLst>
      <p:ext uri="{BB962C8B-B14F-4D97-AF65-F5344CB8AC3E}">
        <p14:creationId xmlns:p14="http://schemas.microsoft.com/office/powerpoint/2010/main" val="60849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5DD1CC-CF07-4997-B9FD-59C7D00BB7AC}"/>
              </a:ext>
            </a:extLst>
          </p:cNvPr>
          <p:cNvSpPr>
            <a:spLocks noGrp="1"/>
          </p:cNvSpPr>
          <p:nvPr>
            <p:ph type="title"/>
          </p:nvPr>
        </p:nvSpPr>
        <p:spPr/>
        <p:txBody>
          <a:bodyPr/>
          <a:lstStyle/>
          <a:p>
            <a:r>
              <a:rPr lang="zh-CN" altLang="en-US" dirty="0"/>
              <a:t>符号</a:t>
            </a:r>
            <a:r>
              <a:rPr lang="en-US" altLang="zh-CN" dirty="0"/>
              <a:t>o</a:t>
            </a:r>
            <a:endParaRPr lang="zh-CN" altLang="en-US" dirty="0"/>
          </a:p>
        </p:txBody>
      </p:sp>
      <p:sp>
        <p:nvSpPr>
          <p:cNvPr id="3" name="内容占位符 2">
            <a:extLst>
              <a:ext uri="{FF2B5EF4-FFF2-40B4-BE49-F238E27FC236}">
                <a16:creationId xmlns:a16="http://schemas.microsoft.com/office/drawing/2014/main" id="{E4A306AD-D707-4FE1-AF5B-7639BF2FD2DD}"/>
              </a:ext>
            </a:extLst>
          </p:cNvPr>
          <p:cNvSpPr>
            <a:spLocks noGrp="1"/>
          </p:cNvSpPr>
          <p:nvPr>
            <p:ph idx="1"/>
          </p:nvPr>
        </p:nvSpPr>
        <p:spPr/>
        <p:txBody>
          <a:bodyPr/>
          <a:lstStyle/>
          <a:p>
            <a:pPr algn="just"/>
            <a:r>
              <a:rPr lang="zh-CN" altLang="en-US" sz="2800" dirty="0">
                <a:solidFill>
                  <a:srgbClr val="000000"/>
                </a:solidFill>
              </a:rPr>
              <a:t>如果对于</a:t>
            </a:r>
            <a:r>
              <a:rPr lang="zh-CN" altLang="en-US" sz="2800" dirty="0">
                <a:solidFill>
                  <a:srgbClr val="FF0000"/>
                </a:solidFill>
              </a:rPr>
              <a:t>任意</a:t>
            </a:r>
            <a:r>
              <a:rPr lang="zh-CN" altLang="en-US" sz="2800" dirty="0">
                <a:solidFill>
                  <a:srgbClr val="000000"/>
                </a:solidFill>
              </a:rPr>
              <a:t>的</a:t>
            </a:r>
            <a:r>
              <a:rPr lang="en-US" altLang="zh-CN" sz="2800" dirty="0">
                <a:solidFill>
                  <a:srgbClr val="000000"/>
                </a:solidFill>
              </a:rPr>
              <a:t>c&gt;0</a:t>
            </a:r>
            <a:r>
              <a:rPr lang="zh-CN" altLang="en-US" sz="2800" dirty="0">
                <a:solidFill>
                  <a:srgbClr val="000000"/>
                </a:solidFill>
              </a:rPr>
              <a:t>，可以找到</a:t>
            </a:r>
            <a:r>
              <a:rPr lang="en-US" altLang="zh-CN" sz="2800" dirty="0">
                <a:solidFill>
                  <a:srgbClr val="000000"/>
                </a:solidFill>
              </a:rPr>
              <a:t>N&gt;0</a:t>
            </a:r>
            <a:r>
              <a:rPr lang="zh-CN" altLang="en-US" sz="2800" dirty="0">
                <a:solidFill>
                  <a:srgbClr val="000000"/>
                </a:solidFill>
              </a:rPr>
              <a:t>，使得对于所有的</a:t>
            </a:r>
            <a:r>
              <a:rPr lang="en-US" altLang="zh-CN" sz="2800" dirty="0" err="1">
                <a:solidFill>
                  <a:srgbClr val="000000"/>
                </a:solidFill>
              </a:rPr>
              <a:t>n</a:t>
            </a:r>
            <a:r>
              <a:rPr lang="en-US" altLang="zh-CN" sz="2800" dirty="0" err="1">
                <a:solidFill>
                  <a:srgbClr val="000000"/>
                </a:solidFill>
                <a:sym typeface="Symbol" pitchFamily="18" charset="2"/>
              </a:rPr>
              <a:t></a:t>
            </a:r>
            <a:r>
              <a:rPr lang="en-US" altLang="zh-CN" sz="2800" dirty="0" err="1">
                <a:solidFill>
                  <a:srgbClr val="000000"/>
                </a:solidFill>
              </a:rPr>
              <a:t>N</a:t>
            </a:r>
            <a:r>
              <a:rPr lang="zh-CN" altLang="en-US" sz="2800" dirty="0">
                <a:solidFill>
                  <a:srgbClr val="000000"/>
                </a:solidFill>
              </a:rPr>
              <a:t>，有</a:t>
            </a:r>
            <a:r>
              <a:rPr lang="en-US" altLang="zh-CN" sz="2800" dirty="0">
                <a:solidFill>
                  <a:srgbClr val="000000"/>
                </a:solidFill>
              </a:rPr>
              <a:t>g(n)&lt;</a:t>
            </a:r>
            <a:r>
              <a:rPr lang="en-US" altLang="zh-CN" sz="2800" dirty="0" err="1">
                <a:solidFill>
                  <a:srgbClr val="000000"/>
                </a:solidFill>
              </a:rPr>
              <a:t>cf</a:t>
            </a:r>
            <a:r>
              <a:rPr lang="en-US" altLang="zh-CN" sz="2800" dirty="0">
                <a:solidFill>
                  <a:srgbClr val="000000"/>
                </a:solidFill>
              </a:rPr>
              <a:t>(n)</a:t>
            </a:r>
            <a:r>
              <a:rPr lang="zh-CN" altLang="en-US" sz="2800" dirty="0">
                <a:solidFill>
                  <a:srgbClr val="000000"/>
                </a:solidFill>
              </a:rPr>
              <a:t>，则称函数</a:t>
            </a:r>
            <a:r>
              <a:rPr lang="en-US" altLang="zh-CN" sz="2800" dirty="0">
                <a:solidFill>
                  <a:srgbClr val="000000"/>
                </a:solidFill>
              </a:rPr>
              <a:t>g(n)</a:t>
            </a:r>
            <a:r>
              <a:rPr lang="zh-CN" altLang="en-US" sz="2800" dirty="0">
                <a:solidFill>
                  <a:srgbClr val="000000"/>
                </a:solidFill>
              </a:rPr>
              <a:t>相对于另一函数</a:t>
            </a:r>
            <a:r>
              <a:rPr lang="en-US" altLang="zh-CN" sz="2800" dirty="0">
                <a:solidFill>
                  <a:srgbClr val="000000"/>
                </a:solidFill>
              </a:rPr>
              <a:t>f(n)</a:t>
            </a:r>
            <a:r>
              <a:rPr lang="zh-CN" altLang="en-US" sz="2800" dirty="0">
                <a:solidFill>
                  <a:srgbClr val="000000"/>
                </a:solidFill>
              </a:rPr>
              <a:t>是</a:t>
            </a:r>
            <a:r>
              <a:rPr lang="en-US" altLang="zh-CN" sz="2800" dirty="0">
                <a:solidFill>
                  <a:srgbClr val="000000"/>
                </a:solidFill>
              </a:rPr>
              <a:t>o(f(n))</a:t>
            </a:r>
          </a:p>
          <a:p>
            <a:pPr algn="just"/>
            <a:r>
              <a:rPr lang="zh-CN" altLang="en-US" sz="2800" dirty="0"/>
              <a:t>如果</a:t>
            </a:r>
            <a:r>
              <a:rPr lang="en-US" altLang="zh-CN" sz="2800" dirty="0"/>
              <a:t>lim</a:t>
            </a:r>
            <a:r>
              <a:rPr lang="en-US" altLang="zh-CN" sz="2800" baseline="-25000" dirty="0"/>
              <a:t>n→∞</a:t>
            </a:r>
            <a:r>
              <a:rPr lang="en-US" altLang="zh-CN" sz="2800" dirty="0"/>
              <a:t>f(n)/g(n)=0</a:t>
            </a:r>
            <a:r>
              <a:rPr lang="zh-CN" altLang="en-US" sz="2800" dirty="0"/>
              <a:t>，则</a:t>
            </a:r>
            <a:r>
              <a:rPr lang="en-US" altLang="zh-CN" sz="2800" dirty="0"/>
              <a:t>f(n)=o(g(n))</a:t>
            </a:r>
          </a:p>
          <a:p>
            <a:pPr algn="just"/>
            <a:r>
              <a:rPr lang="en-US" altLang="zh-CN" sz="2800" dirty="0">
                <a:solidFill>
                  <a:srgbClr val="000000"/>
                </a:solidFill>
                <a:sym typeface="Symbol" pitchFamily="18" charset="2"/>
              </a:rPr>
              <a:t>f(n)=o(g(n))</a:t>
            </a:r>
            <a:r>
              <a:rPr lang="zh-CN" altLang="en-US" sz="2800" dirty="0">
                <a:solidFill>
                  <a:srgbClr val="000000"/>
                </a:solidFill>
                <a:sym typeface="Symbol" pitchFamily="18" charset="2"/>
              </a:rPr>
              <a:t>当且仅当</a:t>
            </a:r>
            <a:r>
              <a:rPr lang="en-US" altLang="zh-CN" sz="2800" dirty="0">
                <a:solidFill>
                  <a:srgbClr val="000000"/>
                </a:solidFill>
                <a:sym typeface="Symbol" pitchFamily="18" charset="2"/>
              </a:rPr>
              <a:t>f(n)=O(g(n))</a:t>
            </a:r>
            <a:r>
              <a:rPr lang="zh-CN" altLang="en-US" sz="2800" dirty="0">
                <a:solidFill>
                  <a:srgbClr val="000000"/>
                </a:solidFill>
                <a:sym typeface="Symbol" pitchFamily="18" charset="2"/>
              </a:rPr>
              <a:t>但</a:t>
            </a:r>
            <a:r>
              <a:rPr lang="en-US" altLang="zh-CN" sz="2800" dirty="0">
                <a:solidFill>
                  <a:srgbClr val="000000"/>
                </a:solidFill>
                <a:sym typeface="Symbol" pitchFamily="18" charset="2"/>
              </a:rPr>
              <a:t>g(n)O(f(n))</a:t>
            </a:r>
          </a:p>
          <a:p>
            <a:pPr algn="just"/>
            <a:r>
              <a:rPr lang="zh-CN" altLang="en-US" sz="2800" dirty="0">
                <a:solidFill>
                  <a:srgbClr val="000000"/>
                </a:solidFill>
              </a:rPr>
              <a:t>定理</a:t>
            </a:r>
            <a:r>
              <a:rPr lang="en-US" altLang="zh-CN" sz="2800" dirty="0">
                <a:solidFill>
                  <a:srgbClr val="000000"/>
                </a:solidFill>
              </a:rPr>
              <a:t>3.3</a:t>
            </a:r>
            <a:r>
              <a:rPr lang="zh-CN" altLang="en-US" sz="2800" dirty="0">
                <a:solidFill>
                  <a:srgbClr val="000000"/>
                </a:solidFill>
              </a:rPr>
              <a:t>：对于所有的常数</a:t>
            </a:r>
            <a:r>
              <a:rPr lang="en-US" altLang="zh-CN" sz="2800" dirty="0">
                <a:solidFill>
                  <a:srgbClr val="000000"/>
                </a:solidFill>
              </a:rPr>
              <a:t>c</a:t>
            </a:r>
            <a:r>
              <a:rPr lang="en-US" altLang="zh-CN" sz="2800" dirty="0">
                <a:solidFill>
                  <a:srgbClr val="000000"/>
                </a:solidFill>
                <a:sym typeface="Symbol" pitchFamily="18" charset="2"/>
              </a:rPr>
              <a:t></a:t>
            </a:r>
            <a:r>
              <a:rPr lang="en-US" altLang="zh-CN" sz="2800" dirty="0">
                <a:solidFill>
                  <a:srgbClr val="000000"/>
                </a:solidFill>
              </a:rPr>
              <a:t>0</a:t>
            </a:r>
            <a:r>
              <a:rPr lang="zh-CN" altLang="en-US" sz="2800" dirty="0">
                <a:solidFill>
                  <a:srgbClr val="000000"/>
                </a:solidFill>
              </a:rPr>
              <a:t>和</a:t>
            </a:r>
            <a:r>
              <a:rPr lang="en-US" altLang="zh-CN" sz="2800" dirty="0">
                <a:solidFill>
                  <a:srgbClr val="000000"/>
                </a:solidFill>
              </a:rPr>
              <a:t>a</a:t>
            </a:r>
            <a:r>
              <a:rPr lang="en-US" altLang="zh-CN" sz="2800" dirty="0">
                <a:solidFill>
                  <a:srgbClr val="000000"/>
                </a:solidFill>
                <a:sym typeface="Symbol" pitchFamily="18" charset="2"/>
              </a:rPr>
              <a:t></a:t>
            </a:r>
            <a:r>
              <a:rPr lang="en-US" altLang="zh-CN" sz="2800" dirty="0">
                <a:solidFill>
                  <a:srgbClr val="000000"/>
                </a:solidFill>
              </a:rPr>
              <a:t>1</a:t>
            </a:r>
            <a:r>
              <a:rPr lang="zh-CN" altLang="en-US" sz="2800" dirty="0">
                <a:solidFill>
                  <a:srgbClr val="000000"/>
                </a:solidFill>
              </a:rPr>
              <a:t>，以及所有的单调递增函数</a:t>
            </a:r>
            <a:r>
              <a:rPr lang="en-US" altLang="zh-CN" sz="2800" dirty="0">
                <a:solidFill>
                  <a:srgbClr val="000000"/>
                </a:solidFill>
              </a:rPr>
              <a:t>f(n)</a:t>
            </a:r>
            <a:r>
              <a:rPr lang="zh-CN" altLang="en-US" sz="2800" dirty="0">
                <a:solidFill>
                  <a:srgbClr val="000000"/>
                </a:solidFill>
              </a:rPr>
              <a:t>，有</a:t>
            </a:r>
            <a:r>
              <a:rPr lang="en-US" altLang="zh-CN" sz="2800" dirty="0">
                <a:solidFill>
                  <a:srgbClr val="000000"/>
                </a:solidFill>
              </a:rPr>
              <a:t>(f(n))</a:t>
            </a:r>
            <a:r>
              <a:rPr lang="en-US" altLang="zh-CN" sz="2800" baseline="30000" dirty="0">
                <a:solidFill>
                  <a:srgbClr val="000000"/>
                </a:solidFill>
              </a:rPr>
              <a:t>c</a:t>
            </a:r>
            <a:r>
              <a:rPr lang="en-US" altLang="zh-CN" sz="2800" dirty="0">
                <a:solidFill>
                  <a:srgbClr val="000000"/>
                </a:solidFill>
              </a:rPr>
              <a:t>=o(</a:t>
            </a:r>
            <a:r>
              <a:rPr lang="en-US" altLang="zh-CN" sz="2800" dirty="0" err="1">
                <a:solidFill>
                  <a:srgbClr val="000000"/>
                </a:solidFill>
              </a:rPr>
              <a:t>a</a:t>
            </a:r>
            <a:r>
              <a:rPr lang="en-US" altLang="zh-CN" sz="2800" baseline="30000" dirty="0" err="1">
                <a:solidFill>
                  <a:srgbClr val="000000"/>
                </a:solidFill>
              </a:rPr>
              <a:t>f</a:t>
            </a:r>
            <a:r>
              <a:rPr lang="en-US" altLang="zh-CN" sz="2800" baseline="30000" dirty="0">
                <a:solidFill>
                  <a:srgbClr val="000000"/>
                </a:solidFill>
              </a:rPr>
              <a:t>(n)</a:t>
            </a:r>
            <a:r>
              <a:rPr lang="en-US" altLang="zh-CN" sz="2800" dirty="0">
                <a:solidFill>
                  <a:srgbClr val="000000"/>
                </a:solidFill>
              </a:rPr>
              <a:t>)</a:t>
            </a:r>
            <a:r>
              <a:rPr lang="zh-CN" altLang="en-US" dirty="0">
                <a:solidFill>
                  <a:srgbClr val="000000"/>
                </a:solidFill>
              </a:rPr>
              <a:t>，</a:t>
            </a:r>
            <a:r>
              <a:rPr lang="zh-CN" altLang="en-US" sz="2800" dirty="0">
                <a:solidFill>
                  <a:srgbClr val="000000"/>
                </a:solidFill>
              </a:rPr>
              <a:t>即一个指数式函数要比一个多项式函数增长得快。</a:t>
            </a:r>
          </a:p>
          <a:p>
            <a:endParaRPr lang="zh-CN" altLang="en-US" dirty="0"/>
          </a:p>
        </p:txBody>
      </p:sp>
      <mc:AlternateContent xmlns:mc="http://schemas.openxmlformats.org/markup-compatibility/2006" xmlns:a14="http://schemas.microsoft.com/office/drawing/2010/main">
        <mc:Choice Requires="a14">
          <p:sp>
            <p:nvSpPr>
              <p:cNvPr id="4" name="Object 5">
                <a:extLst>
                  <a:ext uri="{FF2B5EF4-FFF2-40B4-BE49-F238E27FC236}">
                    <a16:creationId xmlns:a16="http://schemas.microsoft.com/office/drawing/2014/main" id="{0D81F551-A6BF-4722-BA85-4CE0155B4BB4}"/>
                  </a:ext>
                </a:extLst>
              </p:cNvPr>
              <p:cNvSpPr txBox="1"/>
              <p:nvPr/>
            </p:nvSpPr>
            <p:spPr bwMode="auto">
              <a:xfrm>
                <a:off x="2539464" y="5403669"/>
                <a:ext cx="7113071" cy="4968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loglog</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𝑛</m:t>
                          </m:r>
                        </m:e>
                      </m:rad>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3/4</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2</m:t>
                              </m:r>
                            </m:sup>
                          </m:sSup>
                        </m:sup>
                      </m:sSup>
                    </m:oMath>
                  </m:oMathPara>
                </a14:m>
                <a:endParaRPr lang="zh-CN" altLang="en-US"/>
              </a:p>
            </p:txBody>
          </p:sp>
        </mc:Choice>
        <mc:Fallback xmlns="">
          <p:sp>
            <p:nvSpPr>
              <p:cNvPr id="4" name="Object 5">
                <a:extLst>
                  <a:ext uri="{FF2B5EF4-FFF2-40B4-BE49-F238E27FC236}">
                    <a16:creationId xmlns:a16="http://schemas.microsoft.com/office/drawing/2014/main" id="{0D81F551-A6BF-4722-BA85-4CE0155B4BB4}"/>
                  </a:ext>
                </a:extLst>
              </p:cNvPr>
              <p:cNvSpPr txBox="1">
                <a:spLocks noRot="1" noChangeAspect="1" noMove="1" noResize="1" noEditPoints="1" noAdjustHandles="1" noChangeArrowheads="1" noChangeShapeType="1" noTextEdit="1"/>
              </p:cNvSpPr>
              <p:nvPr/>
            </p:nvSpPr>
            <p:spPr bwMode="auto">
              <a:xfrm>
                <a:off x="2539464" y="5403669"/>
                <a:ext cx="7113071" cy="496888"/>
              </a:xfrm>
              <a:prstGeom prst="rect">
                <a:avLst/>
              </a:prstGeom>
              <a:blipFill>
                <a:blip r:embed="rId2"/>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16332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538D8-E1B3-4D65-B813-EF930AF5C622}"/>
              </a:ext>
            </a:extLst>
          </p:cNvPr>
          <p:cNvSpPr>
            <a:spLocks noGrp="1"/>
          </p:cNvSpPr>
          <p:nvPr>
            <p:ph type="title"/>
          </p:nvPr>
        </p:nvSpPr>
        <p:spPr/>
        <p:txBody>
          <a:bodyPr/>
          <a:lstStyle/>
          <a:p>
            <a:r>
              <a:rPr lang="zh-CN" altLang="en-US" dirty="0"/>
              <a:t>空间复杂性</a:t>
            </a:r>
          </a:p>
        </p:txBody>
      </p:sp>
      <p:sp>
        <p:nvSpPr>
          <p:cNvPr id="3" name="内容占位符 2">
            <a:extLst>
              <a:ext uri="{FF2B5EF4-FFF2-40B4-BE49-F238E27FC236}">
                <a16:creationId xmlns:a16="http://schemas.microsoft.com/office/drawing/2014/main" id="{097569C4-2790-4C1D-9421-F7CBAC521F84}"/>
              </a:ext>
            </a:extLst>
          </p:cNvPr>
          <p:cNvSpPr>
            <a:spLocks noGrp="1"/>
          </p:cNvSpPr>
          <p:nvPr>
            <p:ph idx="1"/>
          </p:nvPr>
        </p:nvSpPr>
        <p:spPr/>
        <p:txBody>
          <a:bodyPr/>
          <a:lstStyle/>
          <a:p>
            <a:r>
              <a:rPr lang="zh-CN" altLang="en-US" dirty="0"/>
              <a:t>空间复杂度表明的是运行一个算法所需要的临时存储空间。</a:t>
            </a:r>
          </a:p>
          <a:p>
            <a:r>
              <a:rPr lang="zh-CN" altLang="en-US" dirty="0"/>
              <a:t>不把输入和输出需要的空间作为空间复杂度的一部分，也不对程序自身占用的空间计数</a:t>
            </a:r>
          </a:p>
          <a:p>
            <a:r>
              <a:rPr lang="en-US" altLang="zh-CN" dirty="0"/>
              <a:t>S(n)=O(T(n))</a:t>
            </a:r>
          </a:p>
          <a:p>
            <a:r>
              <a:rPr lang="zh-CN" altLang="en-US" dirty="0"/>
              <a:t>空间可以复用，时间不能复用。例如用二进制表示法从</a:t>
            </a:r>
            <a:r>
              <a:rPr lang="en-US" altLang="zh-CN" dirty="0"/>
              <a:t>0</a:t>
            </a:r>
            <a:r>
              <a:rPr lang="zh-CN" altLang="en-US" dirty="0"/>
              <a:t>到</a:t>
            </a:r>
            <a:r>
              <a:rPr lang="en-US" altLang="zh-CN" dirty="0"/>
              <a:t>2</a:t>
            </a:r>
            <a:r>
              <a:rPr lang="en-US" altLang="zh-CN" baseline="30000" dirty="0"/>
              <a:t>n</a:t>
            </a:r>
            <a:r>
              <a:rPr lang="en-US" altLang="zh-CN" dirty="0"/>
              <a:t>-1</a:t>
            </a:r>
            <a:r>
              <a:rPr lang="zh-CN" altLang="en-US" dirty="0"/>
              <a:t>计数，时间为指数，空间为多项式</a:t>
            </a:r>
          </a:p>
          <a:p>
            <a:r>
              <a:rPr lang="zh-CN" altLang="en-US" dirty="0"/>
              <a:t>时间与空间的平衡</a:t>
            </a:r>
          </a:p>
          <a:p>
            <a:r>
              <a:rPr lang="zh-CN" altLang="en-US" dirty="0"/>
              <a:t>虽然</a:t>
            </a:r>
            <a:r>
              <a:rPr lang="en-US" altLang="zh-CN" dirty="0"/>
              <a:t>T(n)</a:t>
            </a:r>
            <a:r>
              <a:rPr lang="zh-CN" altLang="en-US" dirty="0"/>
              <a:t>是</a:t>
            </a:r>
            <a:r>
              <a:rPr lang="en-US" altLang="zh-CN" dirty="0"/>
              <a:t>S(n)</a:t>
            </a:r>
            <a:r>
              <a:rPr lang="zh-CN" altLang="en-US" dirty="0"/>
              <a:t>的一个上界，但是在一些对空间效率要求较高或者输入规模巨大的场合还是需要进行更加精确的空间复杂性分析</a:t>
            </a:r>
          </a:p>
          <a:p>
            <a:endParaRPr lang="zh-CN" altLang="en-US" dirty="0"/>
          </a:p>
          <a:p>
            <a:endParaRPr lang="zh-CN" altLang="en-US" dirty="0"/>
          </a:p>
        </p:txBody>
      </p:sp>
    </p:spTree>
    <p:extLst>
      <p:ext uri="{BB962C8B-B14F-4D97-AF65-F5344CB8AC3E}">
        <p14:creationId xmlns:p14="http://schemas.microsoft.com/office/powerpoint/2010/main" val="1326737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4C8CB-5908-4AB1-855D-1EBE92AE9894}"/>
              </a:ext>
            </a:extLst>
          </p:cNvPr>
          <p:cNvSpPr>
            <a:spLocks noGrp="1"/>
          </p:cNvSpPr>
          <p:nvPr>
            <p:ph type="title"/>
          </p:nvPr>
        </p:nvSpPr>
        <p:spPr/>
        <p:txBody>
          <a:bodyPr/>
          <a:lstStyle/>
          <a:p>
            <a:r>
              <a:rPr lang="zh-CN" altLang="en-US" dirty="0"/>
              <a:t>最优算法</a:t>
            </a:r>
          </a:p>
        </p:txBody>
      </p:sp>
      <p:sp>
        <p:nvSpPr>
          <p:cNvPr id="3" name="内容占位符 2">
            <a:extLst>
              <a:ext uri="{FF2B5EF4-FFF2-40B4-BE49-F238E27FC236}">
                <a16:creationId xmlns:a16="http://schemas.microsoft.com/office/drawing/2014/main" id="{9EE6043F-C508-4952-B45A-545B1CA2EA36}"/>
              </a:ext>
            </a:extLst>
          </p:cNvPr>
          <p:cNvSpPr>
            <a:spLocks noGrp="1"/>
          </p:cNvSpPr>
          <p:nvPr>
            <p:ph idx="1"/>
          </p:nvPr>
        </p:nvSpPr>
        <p:spPr/>
        <p:txBody>
          <a:bodyPr/>
          <a:lstStyle/>
          <a:p>
            <a:r>
              <a:rPr lang="zh-CN" altLang="en-US" dirty="0"/>
              <a:t>通常如果我们能够证明某一问题的时间复杂性为</a:t>
            </a:r>
            <a:r>
              <a:rPr lang="en-US" altLang="zh-CN" dirty="0"/>
              <a:t>Ω(f(n))</a:t>
            </a:r>
            <a:r>
              <a:rPr lang="zh-CN" altLang="en-US" dirty="0"/>
              <a:t>， 那么任一能够在</a:t>
            </a:r>
            <a:r>
              <a:rPr lang="en-US" altLang="zh-CN" dirty="0"/>
              <a:t>O(f(n))</a:t>
            </a:r>
            <a:r>
              <a:rPr lang="zh-CN" altLang="en-US" dirty="0"/>
              <a:t>时间内求解该问题的算法即为最优算法</a:t>
            </a:r>
          </a:p>
          <a:p>
            <a:endParaRPr lang="zh-CN" altLang="en-US" dirty="0"/>
          </a:p>
          <a:p>
            <a:endParaRPr lang="zh-CN" altLang="en-US" dirty="0"/>
          </a:p>
        </p:txBody>
      </p:sp>
    </p:spTree>
    <p:extLst>
      <p:ext uri="{BB962C8B-B14F-4D97-AF65-F5344CB8AC3E}">
        <p14:creationId xmlns:p14="http://schemas.microsoft.com/office/powerpoint/2010/main" val="4203321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0F568-A835-4A81-9DAC-27EDFE1E7EA5}"/>
              </a:ext>
            </a:extLst>
          </p:cNvPr>
          <p:cNvSpPr>
            <a:spLocks noGrp="1"/>
          </p:cNvSpPr>
          <p:nvPr>
            <p:ph type="title"/>
          </p:nvPr>
        </p:nvSpPr>
        <p:spPr/>
        <p:txBody>
          <a:bodyPr/>
          <a:lstStyle/>
          <a:p>
            <a:r>
              <a:rPr lang="zh-CN" altLang="en-US" dirty="0"/>
              <a:t>如何估计算法运行时间</a:t>
            </a:r>
          </a:p>
        </p:txBody>
      </p:sp>
      <p:sp>
        <p:nvSpPr>
          <p:cNvPr id="3" name="内容占位符 2">
            <a:extLst>
              <a:ext uri="{FF2B5EF4-FFF2-40B4-BE49-F238E27FC236}">
                <a16:creationId xmlns:a16="http://schemas.microsoft.com/office/drawing/2014/main" id="{B06787E1-D67D-4CBC-8C5A-1B46B8F337B5}"/>
              </a:ext>
            </a:extLst>
          </p:cNvPr>
          <p:cNvSpPr>
            <a:spLocks noGrp="1"/>
          </p:cNvSpPr>
          <p:nvPr>
            <p:ph idx="1"/>
          </p:nvPr>
        </p:nvSpPr>
        <p:spPr/>
        <p:txBody>
          <a:bodyPr/>
          <a:lstStyle/>
          <a:p>
            <a:r>
              <a:rPr lang="zh-CN" altLang="en-US" sz="2800" dirty="0"/>
              <a:t>计算迭代次数</a:t>
            </a:r>
          </a:p>
          <a:p>
            <a:r>
              <a:rPr lang="zh-CN" altLang="en-US" sz="2800" dirty="0"/>
              <a:t>计算基本运算的频度</a:t>
            </a:r>
          </a:p>
          <a:p>
            <a:r>
              <a:rPr lang="zh-CN" altLang="en-US" sz="2800" dirty="0"/>
              <a:t>使用递推关系</a:t>
            </a:r>
          </a:p>
          <a:p>
            <a:endParaRPr lang="zh-CN" altLang="en-US" dirty="0"/>
          </a:p>
        </p:txBody>
      </p:sp>
    </p:spTree>
    <p:extLst>
      <p:ext uri="{BB962C8B-B14F-4D97-AF65-F5344CB8AC3E}">
        <p14:creationId xmlns:p14="http://schemas.microsoft.com/office/powerpoint/2010/main" val="1088629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98732-D3F3-4A4E-A435-571CB484548C}"/>
              </a:ext>
            </a:extLst>
          </p:cNvPr>
          <p:cNvSpPr>
            <a:spLocks noGrp="1"/>
          </p:cNvSpPr>
          <p:nvPr>
            <p:ph type="title"/>
          </p:nvPr>
        </p:nvSpPr>
        <p:spPr/>
        <p:txBody>
          <a:bodyPr/>
          <a:lstStyle/>
          <a:p>
            <a:r>
              <a:rPr lang="zh-CN" altLang="en-US" dirty="0"/>
              <a:t>基本运算</a:t>
            </a:r>
          </a:p>
        </p:txBody>
      </p:sp>
      <p:sp>
        <p:nvSpPr>
          <p:cNvPr id="3" name="内容占位符 2">
            <a:extLst>
              <a:ext uri="{FF2B5EF4-FFF2-40B4-BE49-F238E27FC236}">
                <a16:creationId xmlns:a16="http://schemas.microsoft.com/office/drawing/2014/main" id="{A936F142-49D1-4B41-A24B-AD687931342E}"/>
              </a:ext>
            </a:extLst>
          </p:cNvPr>
          <p:cNvSpPr>
            <a:spLocks noGrp="1"/>
          </p:cNvSpPr>
          <p:nvPr>
            <p:ph idx="1"/>
          </p:nvPr>
        </p:nvSpPr>
        <p:spPr/>
        <p:txBody>
          <a:bodyPr>
            <a:normAutofit/>
          </a:bodyPr>
          <a:lstStyle/>
          <a:p>
            <a:r>
              <a:rPr lang="zh-CN" altLang="en-US" sz="2400" dirty="0"/>
              <a:t>所谓基本运算是指具有</a:t>
            </a:r>
            <a:r>
              <a:rPr lang="zh-CN" altLang="en-US" sz="2400" dirty="0">
                <a:solidFill>
                  <a:srgbClr val="FF0000"/>
                </a:solidFill>
              </a:rPr>
              <a:t>最高频度</a:t>
            </a:r>
            <a:r>
              <a:rPr lang="zh-CN" altLang="en-US" sz="2400" dirty="0"/>
              <a:t>的运算，其它运算的频度最多为基本运算频度的</a:t>
            </a:r>
            <a:r>
              <a:rPr lang="zh-CN" altLang="en-US" sz="2400" dirty="0">
                <a:solidFill>
                  <a:srgbClr val="FF0000"/>
                </a:solidFill>
              </a:rPr>
              <a:t>常数倍</a:t>
            </a:r>
          </a:p>
          <a:p>
            <a:endParaRPr lang="zh-CN" altLang="en-US" sz="2400" dirty="0"/>
          </a:p>
        </p:txBody>
      </p:sp>
      <p:sp>
        <p:nvSpPr>
          <p:cNvPr id="4" name="内容占位符 2">
            <a:extLst>
              <a:ext uri="{FF2B5EF4-FFF2-40B4-BE49-F238E27FC236}">
                <a16:creationId xmlns:a16="http://schemas.microsoft.com/office/drawing/2014/main" id="{636494B2-AB67-4E34-B586-460F806D5339}"/>
              </a:ext>
            </a:extLst>
          </p:cNvPr>
          <p:cNvSpPr txBox="1">
            <a:spLocks/>
          </p:cNvSpPr>
          <p:nvPr/>
        </p:nvSpPr>
        <p:spPr>
          <a:xfrm>
            <a:off x="851448" y="2663174"/>
            <a:ext cx="4968552" cy="41148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1800"/>
              <a:t>Algorithm 1 INSERTIONSORT</a:t>
            </a:r>
          </a:p>
          <a:p>
            <a:pPr>
              <a:buFontTx/>
              <a:buNone/>
            </a:pPr>
            <a:r>
              <a:rPr lang="en-US" altLang="zh-CN" sz="1800"/>
              <a:t>Input: An array A[1..n] of n elements</a:t>
            </a:r>
          </a:p>
          <a:p>
            <a:pPr>
              <a:buFontTx/>
              <a:buNone/>
            </a:pPr>
            <a:r>
              <a:rPr lang="en-US" altLang="zh-CN" sz="1800"/>
              <a:t>Output: A[1..n] sorted in nondecreasing order</a:t>
            </a:r>
          </a:p>
          <a:p>
            <a:pPr>
              <a:buFontTx/>
              <a:buNone/>
            </a:pPr>
            <a:r>
              <a:rPr lang="en-US" altLang="zh-CN" sz="1800"/>
              <a:t>    1. for i</a:t>
            </a:r>
            <a:r>
              <a:rPr lang="en-US" altLang="zh-CN" sz="1800">
                <a:sym typeface="Symbol" pitchFamily="18" charset="2"/>
              </a:rPr>
              <a:t>2 to n</a:t>
            </a:r>
          </a:p>
          <a:p>
            <a:pPr>
              <a:buFontTx/>
              <a:buNone/>
            </a:pPr>
            <a:r>
              <a:rPr lang="en-US" altLang="zh-CN" sz="1800">
                <a:sym typeface="Symbol" pitchFamily="18" charset="2"/>
              </a:rPr>
              <a:t>    2.     xA[i]</a:t>
            </a:r>
          </a:p>
          <a:p>
            <a:pPr>
              <a:buFontTx/>
              <a:buNone/>
            </a:pPr>
            <a:r>
              <a:rPr lang="en-US" altLang="zh-CN" sz="1800">
                <a:sym typeface="Symbol" pitchFamily="18" charset="2"/>
              </a:rPr>
              <a:t>    3.     ji-1</a:t>
            </a:r>
          </a:p>
          <a:p>
            <a:pPr>
              <a:buFontTx/>
              <a:buNone/>
            </a:pPr>
            <a:r>
              <a:rPr lang="en-US" altLang="zh-CN" sz="1800">
                <a:sym typeface="Symbol" pitchFamily="18" charset="2"/>
              </a:rPr>
              <a:t>    4.     while (j&gt;0) and (A[j]&gt;x)</a:t>
            </a:r>
          </a:p>
          <a:p>
            <a:pPr>
              <a:buFontTx/>
              <a:buNone/>
            </a:pPr>
            <a:r>
              <a:rPr lang="en-US" altLang="zh-CN" sz="1800">
                <a:sym typeface="Symbol" pitchFamily="18" charset="2"/>
              </a:rPr>
              <a:t>    5.         A[j+1]A[j]</a:t>
            </a:r>
          </a:p>
          <a:p>
            <a:pPr>
              <a:buFontTx/>
              <a:buNone/>
            </a:pPr>
            <a:r>
              <a:rPr lang="en-US" altLang="zh-CN" sz="1800">
                <a:sym typeface="Symbol" pitchFamily="18" charset="2"/>
              </a:rPr>
              <a:t>    6.         jj-1</a:t>
            </a:r>
          </a:p>
          <a:p>
            <a:pPr>
              <a:buFontTx/>
              <a:buNone/>
            </a:pPr>
            <a:r>
              <a:rPr lang="en-US" altLang="zh-CN" sz="1800">
                <a:sym typeface="Symbol" pitchFamily="18" charset="2"/>
              </a:rPr>
              <a:t>    7.     end while</a:t>
            </a:r>
            <a:fld id="{28C115A6-CB02-4F69-A67D-50052A95C567}" type="slidenum">
              <a:rPr lang="en-US" altLang="zh-CN" sz="1800" smtClean="0">
                <a:sym typeface="Symbol" pitchFamily="18" charset="2"/>
              </a:rPr>
              <a:pPr>
                <a:buFontTx/>
                <a:buNone/>
              </a:pPr>
              <a:t>16</a:t>
            </a:fld>
            <a:endParaRPr lang="en-US" altLang="zh-CN" sz="1800">
              <a:sym typeface="Symbol" pitchFamily="18" charset="2"/>
            </a:endParaRPr>
          </a:p>
          <a:p>
            <a:pPr>
              <a:buFontTx/>
              <a:buNone/>
            </a:pPr>
            <a:r>
              <a:rPr lang="en-US" altLang="zh-CN" sz="1800">
                <a:sym typeface="Symbol" pitchFamily="18" charset="2"/>
              </a:rPr>
              <a:t>    8.     A[j+1]x</a:t>
            </a:r>
          </a:p>
          <a:p>
            <a:pPr>
              <a:buFontTx/>
              <a:buNone/>
            </a:pPr>
            <a:r>
              <a:rPr lang="en-US" altLang="zh-CN" sz="1800">
                <a:sym typeface="Symbol" pitchFamily="18" charset="2"/>
              </a:rPr>
              <a:t>    9. endfor</a:t>
            </a:r>
            <a:endParaRPr lang="en-US" altLang="zh-CN" sz="1800" dirty="0"/>
          </a:p>
        </p:txBody>
      </p:sp>
      <p:sp>
        <p:nvSpPr>
          <p:cNvPr id="5" name="内容占位符 2">
            <a:extLst>
              <a:ext uri="{FF2B5EF4-FFF2-40B4-BE49-F238E27FC236}">
                <a16:creationId xmlns:a16="http://schemas.microsoft.com/office/drawing/2014/main" id="{D353F737-19A6-47EA-806D-434C0427F9E4}"/>
              </a:ext>
            </a:extLst>
          </p:cNvPr>
          <p:cNvSpPr txBox="1">
            <a:spLocks/>
          </p:cNvSpPr>
          <p:nvPr/>
        </p:nvSpPr>
        <p:spPr bwMode="auto">
          <a:xfrm>
            <a:off x="6254653" y="2649854"/>
            <a:ext cx="5253979" cy="4114800"/>
          </a:xfrm>
          <a:prstGeom prst="rect">
            <a:avLst/>
          </a:prstGeom>
          <a:noFill/>
          <a:ln w="9525">
            <a:noFill/>
            <a:miter lim="800000"/>
            <a:headEnd/>
            <a:tailEnd/>
          </a:ln>
          <a:effectLst/>
        </p:spPr>
        <p:txBody>
          <a:bodyPr/>
          <a:lstStyle/>
          <a:p>
            <a:pPr marL="342900" indent="-342900">
              <a:spcBef>
                <a:spcPct val="20000"/>
              </a:spcBef>
              <a:defRPr/>
            </a:pPr>
            <a:r>
              <a:rPr lang="en-US" altLang="zh-CN" sz="1800" kern="0" dirty="0">
                <a:latin typeface="+mn-lt"/>
                <a:ea typeface="+mn-ea"/>
              </a:rPr>
              <a:t>Algorithm 2 MODINSERTIONSORT</a:t>
            </a:r>
          </a:p>
          <a:p>
            <a:pPr marL="342900" indent="-342900">
              <a:spcBef>
                <a:spcPct val="20000"/>
              </a:spcBef>
              <a:defRPr/>
            </a:pPr>
            <a:r>
              <a:rPr lang="en-US" altLang="zh-CN" sz="1800" kern="0" dirty="0">
                <a:latin typeface="+mn-lt"/>
                <a:ea typeface="+mn-ea"/>
              </a:rPr>
              <a:t>Input: An array A[1..n] of n elements</a:t>
            </a:r>
          </a:p>
          <a:p>
            <a:pPr marL="342900" indent="-342900">
              <a:spcBef>
                <a:spcPct val="20000"/>
              </a:spcBef>
              <a:defRPr/>
            </a:pPr>
            <a:r>
              <a:rPr lang="en-US" altLang="zh-CN" sz="1800" kern="0" dirty="0">
                <a:latin typeface="+mn-lt"/>
                <a:ea typeface="+mn-ea"/>
              </a:rPr>
              <a:t>Output: A[1..n] sorted in </a:t>
            </a:r>
            <a:r>
              <a:rPr lang="en-US" altLang="zh-CN" sz="1800" kern="0" dirty="0" err="1">
                <a:latin typeface="+mn-lt"/>
                <a:ea typeface="+mn-ea"/>
              </a:rPr>
              <a:t>nondecreasing</a:t>
            </a:r>
            <a:r>
              <a:rPr lang="en-US" altLang="zh-CN" sz="1800" kern="0" dirty="0">
                <a:latin typeface="+mn-lt"/>
                <a:ea typeface="+mn-ea"/>
              </a:rPr>
              <a:t> order</a:t>
            </a:r>
          </a:p>
          <a:p>
            <a:pPr marL="342900" indent="-342900">
              <a:spcBef>
                <a:spcPct val="20000"/>
              </a:spcBef>
              <a:defRPr/>
            </a:pPr>
            <a:r>
              <a:rPr lang="en-US" altLang="zh-CN" sz="1800" kern="0" dirty="0">
                <a:latin typeface="+mn-lt"/>
                <a:ea typeface="+mn-ea"/>
              </a:rPr>
              <a:t>    1. for i</a:t>
            </a:r>
            <a:r>
              <a:rPr lang="en-US" altLang="zh-CN" sz="1800" kern="0" dirty="0">
                <a:latin typeface="+mn-lt"/>
                <a:ea typeface="+mn-ea"/>
                <a:sym typeface="Symbol" pitchFamily="18" charset="2"/>
              </a:rPr>
              <a:t>2 to n</a:t>
            </a:r>
          </a:p>
          <a:p>
            <a:pPr marL="342900" indent="-342900">
              <a:spcBef>
                <a:spcPct val="20000"/>
              </a:spcBef>
              <a:defRPr/>
            </a:pPr>
            <a:r>
              <a:rPr lang="en-US" altLang="zh-CN" sz="1800" kern="0" dirty="0">
                <a:latin typeface="+mn-lt"/>
                <a:ea typeface="+mn-ea"/>
                <a:sym typeface="Symbol" pitchFamily="18" charset="2"/>
              </a:rPr>
              <a:t>    2.     </a:t>
            </a:r>
            <a:r>
              <a:rPr lang="en-US" altLang="zh-CN" sz="1800" kern="0" dirty="0" err="1">
                <a:latin typeface="+mn-lt"/>
                <a:ea typeface="+mn-ea"/>
                <a:sym typeface="Symbol" pitchFamily="18" charset="2"/>
              </a:rPr>
              <a:t>xA</a:t>
            </a:r>
            <a:r>
              <a:rPr lang="en-US" altLang="zh-CN" sz="1800" kern="0" dirty="0">
                <a:latin typeface="+mn-lt"/>
                <a:ea typeface="+mn-ea"/>
                <a:sym typeface="Symbol" pitchFamily="18" charset="2"/>
              </a:rPr>
              <a:t>[</a:t>
            </a:r>
            <a:r>
              <a:rPr lang="en-US" altLang="zh-CN" sz="1800" kern="0" dirty="0" err="1">
                <a:latin typeface="+mn-lt"/>
                <a:ea typeface="+mn-ea"/>
                <a:sym typeface="Symbol" pitchFamily="18" charset="2"/>
              </a:rPr>
              <a:t>i</a:t>
            </a:r>
            <a:r>
              <a:rPr lang="en-US" altLang="zh-CN" sz="1800" kern="0" dirty="0">
                <a:latin typeface="+mn-lt"/>
                <a:ea typeface="+mn-ea"/>
                <a:sym typeface="Symbol" pitchFamily="18" charset="2"/>
              </a:rPr>
              <a:t>]</a:t>
            </a:r>
          </a:p>
          <a:p>
            <a:pPr marL="342900" indent="-342900">
              <a:spcBef>
                <a:spcPct val="20000"/>
              </a:spcBef>
              <a:defRPr/>
            </a:pPr>
            <a:r>
              <a:rPr lang="en-US" altLang="zh-CN" sz="1800" kern="0" dirty="0">
                <a:latin typeface="+mn-lt"/>
                <a:ea typeface="+mn-ea"/>
                <a:sym typeface="Symbol" pitchFamily="18" charset="2"/>
              </a:rPr>
              <a:t>    3.     </a:t>
            </a:r>
            <a:r>
              <a:rPr lang="en-US" altLang="zh-CN" sz="1800" kern="0" dirty="0" err="1">
                <a:solidFill>
                  <a:srgbClr val="FF0000"/>
                </a:solidFill>
                <a:latin typeface="+mn-lt"/>
                <a:ea typeface="+mn-ea"/>
                <a:sym typeface="Symbol" pitchFamily="18" charset="2"/>
              </a:rPr>
              <a:t>kMODBINARYSEARCH</a:t>
            </a:r>
            <a:r>
              <a:rPr lang="en-US" altLang="zh-CN" sz="1800" kern="0" dirty="0">
                <a:solidFill>
                  <a:srgbClr val="FF0000"/>
                </a:solidFill>
                <a:latin typeface="+mn-lt"/>
                <a:ea typeface="+mn-ea"/>
                <a:sym typeface="Symbol" pitchFamily="18" charset="2"/>
              </a:rPr>
              <a:t>(A[1..i-1],x)</a:t>
            </a:r>
          </a:p>
          <a:p>
            <a:pPr marL="342900" indent="-342900">
              <a:spcBef>
                <a:spcPct val="20000"/>
              </a:spcBef>
              <a:defRPr/>
            </a:pPr>
            <a:r>
              <a:rPr lang="en-US" altLang="zh-CN" sz="1800" kern="0" dirty="0">
                <a:latin typeface="+mn-lt"/>
                <a:ea typeface="+mn-ea"/>
                <a:sym typeface="Symbol" pitchFamily="18" charset="2"/>
              </a:rPr>
              <a:t>    4.     for j</a:t>
            </a:r>
            <a:r>
              <a:rPr lang="en-US" altLang="zh-CN" sz="1800" kern="0" dirty="0">
                <a:ea typeface="宋体" pitchFamily="2" charset="-122"/>
                <a:sym typeface="Symbol" pitchFamily="18" charset="2"/>
              </a:rPr>
              <a:t>  i-1 </a:t>
            </a:r>
            <a:r>
              <a:rPr lang="en-US" altLang="zh-CN" sz="1800" kern="0" dirty="0" err="1">
                <a:ea typeface="宋体" pitchFamily="2" charset="-122"/>
                <a:sym typeface="Symbol" pitchFamily="18" charset="2"/>
              </a:rPr>
              <a:t>downto</a:t>
            </a:r>
            <a:r>
              <a:rPr lang="en-US" altLang="zh-CN" sz="1800" kern="0" dirty="0">
                <a:ea typeface="宋体" pitchFamily="2" charset="-122"/>
                <a:sym typeface="Symbol" pitchFamily="18" charset="2"/>
              </a:rPr>
              <a:t> k</a:t>
            </a:r>
            <a:endParaRPr lang="en-US" altLang="zh-CN" sz="1800" kern="0" dirty="0">
              <a:latin typeface="+mn-lt"/>
              <a:ea typeface="+mn-ea"/>
              <a:sym typeface="Symbol" pitchFamily="18" charset="2"/>
            </a:endParaRPr>
          </a:p>
          <a:p>
            <a:pPr marL="342900" indent="-342900">
              <a:spcBef>
                <a:spcPct val="20000"/>
              </a:spcBef>
              <a:defRPr/>
            </a:pPr>
            <a:r>
              <a:rPr lang="en-US" altLang="zh-CN" sz="1800" kern="0" dirty="0">
                <a:latin typeface="+mn-lt"/>
                <a:ea typeface="+mn-ea"/>
                <a:sym typeface="Symbol" pitchFamily="18" charset="2"/>
              </a:rPr>
              <a:t>    5.         A[j+1]A[j]</a:t>
            </a:r>
          </a:p>
          <a:p>
            <a:pPr marL="342900" indent="-342900">
              <a:spcBef>
                <a:spcPct val="20000"/>
              </a:spcBef>
              <a:defRPr/>
            </a:pPr>
            <a:r>
              <a:rPr lang="en-US" altLang="zh-CN" sz="1800" kern="0" dirty="0">
                <a:latin typeface="+mn-lt"/>
                <a:ea typeface="+mn-ea"/>
                <a:sym typeface="Symbol" pitchFamily="18" charset="2"/>
              </a:rPr>
              <a:t>    6.     </a:t>
            </a:r>
            <a:r>
              <a:rPr lang="en-US" altLang="zh-CN" sz="1800" kern="0" dirty="0" err="1">
                <a:latin typeface="+mn-lt"/>
                <a:ea typeface="+mn-ea"/>
                <a:sym typeface="Symbol" pitchFamily="18" charset="2"/>
              </a:rPr>
              <a:t>endfor</a:t>
            </a:r>
            <a:endParaRPr lang="en-US" altLang="zh-CN" sz="1800" kern="0" dirty="0">
              <a:latin typeface="+mn-lt"/>
              <a:ea typeface="+mn-ea"/>
              <a:sym typeface="Symbol" pitchFamily="18" charset="2"/>
            </a:endParaRPr>
          </a:p>
          <a:p>
            <a:pPr marL="342900" indent="-342900">
              <a:spcBef>
                <a:spcPct val="20000"/>
              </a:spcBef>
              <a:defRPr/>
            </a:pPr>
            <a:r>
              <a:rPr lang="en-US" altLang="zh-CN" sz="1800" kern="0" dirty="0">
                <a:latin typeface="+mn-lt"/>
                <a:ea typeface="+mn-ea"/>
                <a:sym typeface="Symbol" pitchFamily="18" charset="2"/>
              </a:rPr>
              <a:t>    7.     A[k]x</a:t>
            </a:r>
          </a:p>
          <a:p>
            <a:pPr marL="342900" indent="-342900">
              <a:spcBef>
                <a:spcPct val="20000"/>
              </a:spcBef>
              <a:defRPr/>
            </a:pPr>
            <a:r>
              <a:rPr lang="en-US" altLang="zh-CN" sz="1800" kern="0" dirty="0">
                <a:latin typeface="+mn-lt"/>
                <a:ea typeface="+mn-ea"/>
                <a:sym typeface="Symbol" pitchFamily="18" charset="2"/>
              </a:rPr>
              <a:t>    8. </a:t>
            </a:r>
            <a:r>
              <a:rPr lang="en-US" altLang="zh-CN" sz="1800" kern="0" dirty="0" err="1">
                <a:latin typeface="+mn-lt"/>
                <a:ea typeface="+mn-ea"/>
                <a:sym typeface="Symbol" pitchFamily="18" charset="2"/>
              </a:rPr>
              <a:t>endfor</a:t>
            </a:r>
            <a:endParaRPr lang="en-US" altLang="zh-CN" sz="1800" kern="0" dirty="0">
              <a:latin typeface="+mn-lt"/>
              <a:ea typeface="+mn-ea"/>
            </a:endParaRPr>
          </a:p>
        </p:txBody>
      </p:sp>
    </p:spTree>
    <p:extLst>
      <p:ext uri="{BB962C8B-B14F-4D97-AF65-F5344CB8AC3E}">
        <p14:creationId xmlns:p14="http://schemas.microsoft.com/office/powerpoint/2010/main" val="143592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0399B1-75E1-4C92-9BDE-6085F76B5E6D}"/>
              </a:ext>
            </a:extLst>
          </p:cNvPr>
          <p:cNvSpPr>
            <a:spLocks noGrp="1"/>
          </p:cNvSpPr>
          <p:nvPr>
            <p:ph type="title"/>
          </p:nvPr>
        </p:nvSpPr>
        <p:spPr/>
        <p:txBody>
          <a:bodyPr/>
          <a:lstStyle/>
          <a:p>
            <a:r>
              <a:rPr lang="zh-CN" altLang="en-US" dirty="0"/>
              <a:t>最坏情况和平均情况分析</a:t>
            </a:r>
          </a:p>
        </p:txBody>
      </p:sp>
      <p:sp>
        <p:nvSpPr>
          <p:cNvPr id="3" name="内容占位符 2">
            <a:extLst>
              <a:ext uri="{FF2B5EF4-FFF2-40B4-BE49-F238E27FC236}">
                <a16:creationId xmlns:a16="http://schemas.microsoft.com/office/drawing/2014/main" id="{46CD16B2-3785-46E1-8E1E-3024DD54EDB3}"/>
              </a:ext>
            </a:extLst>
          </p:cNvPr>
          <p:cNvSpPr>
            <a:spLocks noGrp="1"/>
          </p:cNvSpPr>
          <p:nvPr>
            <p:ph idx="1"/>
          </p:nvPr>
        </p:nvSpPr>
        <p:spPr/>
        <p:txBody>
          <a:bodyPr/>
          <a:lstStyle/>
          <a:p>
            <a:r>
              <a:rPr lang="zh-CN" altLang="en-US" dirty="0"/>
              <a:t>对很多问题，算法性能不仅取决于输入的规模，也取决于输入的形式</a:t>
            </a:r>
          </a:p>
          <a:p>
            <a:r>
              <a:rPr lang="zh-CN" altLang="en-US" dirty="0"/>
              <a:t>最坏情况，平均情况，最优情况</a:t>
            </a:r>
          </a:p>
          <a:p>
            <a:endParaRPr lang="zh-CN" altLang="en-US" dirty="0"/>
          </a:p>
        </p:txBody>
      </p:sp>
    </p:spTree>
    <p:extLst>
      <p:ext uri="{BB962C8B-B14F-4D97-AF65-F5344CB8AC3E}">
        <p14:creationId xmlns:p14="http://schemas.microsoft.com/office/powerpoint/2010/main" val="825893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76E7A-F470-4952-B425-3F655082F5F9}"/>
              </a:ext>
            </a:extLst>
          </p:cNvPr>
          <p:cNvSpPr>
            <a:spLocks noGrp="1"/>
          </p:cNvSpPr>
          <p:nvPr>
            <p:ph type="title"/>
          </p:nvPr>
        </p:nvSpPr>
        <p:spPr/>
        <p:txBody>
          <a:bodyPr/>
          <a:lstStyle/>
          <a:p>
            <a:r>
              <a:rPr lang="zh-CN" altLang="en-US" dirty="0"/>
              <a:t>输入规模</a:t>
            </a:r>
          </a:p>
        </p:txBody>
      </p:sp>
      <p:sp>
        <p:nvSpPr>
          <p:cNvPr id="3" name="内容占位符 2">
            <a:extLst>
              <a:ext uri="{FF2B5EF4-FFF2-40B4-BE49-F238E27FC236}">
                <a16:creationId xmlns:a16="http://schemas.microsoft.com/office/drawing/2014/main" id="{28E1E669-6935-4359-9470-161C98B5B219}"/>
              </a:ext>
            </a:extLst>
          </p:cNvPr>
          <p:cNvSpPr>
            <a:spLocks noGrp="1"/>
          </p:cNvSpPr>
          <p:nvPr>
            <p:ph idx="1"/>
          </p:nvPr>
        </p:nvSpPr>
        <p:spPr/>
        <p:txBody>
          <a:bodyPr/>
          <a:lstStyle/>
          <a:p>
            <a:r>
              <a:rPr lang="zh-CN" altLang="en-US" dirty="0"/>
              <a:t>排序和搜索：数组或表中的元素的个数</a:t>
            </a:r>
          </a:p>
          <a:p>
            <a:r>
              <a:rPr lang="zh-CN" altLang="en-US" dirty="0"/>
              <a:t>图：图中的顶点数及边数</a:t>
            </a:r>
          </a:p>
          <a:p>
            <a:r>
              <a:rPr lang="zh-CN" altLang="en-US" dirty="0"/>
              <a:t>计算几何：点数，边数，线段数，多边形的数目等</a:t>
            </a:r>
          </a:p>
          <a:p>
            <a:r>
              <a:rPr lang="zh-CN" altLang="en-US" dirty="0"/>
              <a:t>矩阵运算：矩阵的维数</a:t>
            </a:r>
          </a:p>
          <a:p>
            <a:r>
              <a:rPr lang="zh-CN" altLang="en-US" dirty="0"/>
              <a:t>数论和密码学：</a:t>
            </a:r>
            <a:r>
              <a:rPr lang="zh-CN" altLang="en-US" dirty="0">
                <a:solidFill>
                  <a:srgbClr val="FF0000"/>
                </a:solidFill>
              </a:rPr>
              <a:t>比特数</a:t>
            </a:r>
          </a:p>
          <a:p>
            <a:endParaRPr lang="zh-CN" altLang="en-US" dirty="0"/>
          </a:p>
          <a:p>
            <a:endParaRPr lang="zh-CN" altLang="en-US" dirty="0"/>
          </a:p>
        </p:txBody>
      </p:sp>
    </p:spTree>
    <p:extLst>
      <p:ext uri="{BB962C8B-B14F-4D97-AF65-F5344CB8AC3E}">
        <p14:creationId xmlns:p14="http://schemas.microsoft.com/office/powerpoint/2010/main" val="155215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03E844-8D6D-4162-93A5-9EA0184F31A5}"/>
              </a:ext>
            </a:extLst>
          </p:cNvPr>
          <p:cNvSpPr>
            <a:spLocks noGrp="1"/>
          </p:cNvSpPr>
          <p:nvPr>
            <p:ph type="title"/>
          </p:nvPr>
        </p:nvSpPr>
        <p:spPr/>
        <p:txBody>
          <a:bodyPr/>
          <a:lstStyle/>
          <a:p>
            <a:r>
              <a:rPr lang="zh-CN" altLang="en-US" dirty="0"/>
              <a:t>第一个简单的例子</a:t>
            </a:r>
          </a:p>
        </p:txBody>
      </p:sp>
      <p:sp>
        <p:nvSpPr>
          <p:cNvPr id="3" name="内容占位符 2">
            <a:extLst>
              <a:ext uri="{FF2B5EF4-FFF2-40B4-BE49-F238E27FC236}">
                <a16:creationId xmlns:a16="http://schemas.microsoft.com/office/drawing/2014/main" id="{4367FC4E-7462-40E0-B92D-5ECA08EBDE58}"/>
              </a:ext>
            </a:extLst>
          </p:cNvPr>
          <p:cNvSpPr>
            <a:spLocks noGrp="1"/>
          </p:cNvSpPr>
          <p:nvPr>
            <p:ph idx="1"/>
          </p:nvPr>
        </p:nvSpPr>
        <p:spPr/>
        <p:txBody>
          <a:bodyPr/>
          <a:lstStyle/>
          <a:p>
            <a:pPr marL="0" indent="0">
              <a:buNone/>
            </a:pPr>
            <a:r>
              <a:rPr lang="zh-CN" altLang="en-US" sz="2800" dirty="0"/>
              <a:t>输入：两个整数</a:t>
            </a:r>
            <a:r>
              <a:rPr lang="en-US" altLang="zh-CN" sz="2800" dirty="0"/>
              <a:t>n1</a:t>
            </a:r>
            <a:r>
              <a:rPr lang="zh-CN" altLang="en-US" sz="2800" dirty="0"/>
              <a:t>和</a:t>
            </a:r>
            <a:r>
              <a:rPr lang="en-US" altLang="zh-CN" sz="2800" dirty="0"/>
              <a:t>n2</a:t>
            </a:r>
          </a:p>
          <a:p>
            <a:pPr marL="0" indent="0">
              <a:buNone/>
            </a:pPr>
            <a:r>
              <a:rPr lang="zh-CN" altLang="en-US" sz="2800" dirty="0"/>
              <a:t>输出：两个整数之和</a:t>
            </a:r>
            <a:endParaRPr lang="en-US" altLang="zh-CN" sz="2800" dirty="0"/>
          </a:p>
          <a:p>
            <a:pPr marL="0" indent="0">
              <a:buNone/>
            </a:pPr>
            <a:r>
              <a:rPr lang="en-US" altLang="zh-CN" sz="2800" dirty="0"/>
              <a:t>    1. sum=n1+n2</a:t>
            </a:r>
          </a:p>
          <a:p>
            <a:pPr marL="0" indent="0">
              <a:buNone/>
            </a:pPr>
            <a:r>
              <a:rPr lang="en-US" altLang="zh-CN" sz="2800" dirty="0"/>
              <a:t>    2. </a:t>
            </a:r>
            <a:r>
              <a:rPr lang="zh-CN" altLang="en-US" sz="2800" dirty="0"/>
              <a:t>输出</a:t>
            </a:r>
            <a:r>
              <a:rPr lang="en-US" altLang="zh-CN" sz="2800" dirty="0"/>
              <a:t>sum</a:t>
            </a:r>
          </a:p>
          <a:p>
            <a:endParaRPr lang="zh-CN" altLang="en-US" dirty="0"/>
          </a:p>
        </p:txBody>
      </p:sp>
    </p:spTree>
    <p:extLst>
      <p:ext uri="{BB962C8B-B14F-4D97-AF65-F5344CB8AC3E}">
        <p14:creationId xmlns:p14="http://schemas.microsoft.com/office/powerpoint/2010/main" val="358650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03E844-8D6D-4162-93A5-9EA0184F31A5}"/>
              </a:ext>
            </a:extLst>
          </p:cNvPr>
          <p:cNvSpPr>
            <a:spLocks noGrp="1"/>
          </p:cNvSpPr>
          <p:nvPr>
            <p:ph type="title"/>
          </p:nvPr>
        </p:nvSpPr>
        <p:spPr/>
        <p:txBody>
          <a:bodyPr/>
          <a:lstStyle/>
          <a:p>
            <a:r>
              <a:rPr lang="zh-CN" altLang="en-US" dirty="0"/>
              <a:t>第一个简单的例子</a:t>
            </a:r>
          </a:p>
        </p:txBody>
      </p:sp>
      <p:sp>
        <p:nvSpPr>
          <p:cNvPr id="3" name="内容占位符 2">
            <a:extLst>
              <a:ext uri="{FF2B5EF4-FFF2-40B4-BE49-F238E27FC236}">
                <a16:creationId xmlns:a16="http://schemas.microsoft.com/office/drawing/2014/main" id="{4367FC4E-7462-40E0-B92D-5ECA08EBDE58}"/>
              </a:ext>
            </a:extLst>
          </p:cNvPr>
          <p:cNvSpPr>
            <a:spLocks noGrp="1"/>
          </p:cNvSpPr>
          <p:nvPr>
            <p:ph idx="1"/>
          </p:nvPr>
        </p:nvSpPr>
        <p:spPr/>
        <p:txBody>
          <a:bodyPr/>
          <a:lstStyle/>
          <a:p>
            <a:pPr marL="0" indent="0">
              <a:buNone/>
            </a:pPr>
            <a:r>
              <a:rPr lang="zh-CN" altLang="en-US" sz="2800" dirty="0"/>
              <a:t>输入：两个整数</a:t>
            </a:r>
            <a:r>
              <a:rPr lang="en-US" altLang="zh-CN" sz="2800" dirty="0"/>
              <a:t>n1</a:t>
            </a:r>
            <a:r>
              <a:rPr lang="zh-CN" altLang="en-US" sz="2800" dirty="0"/>
              <a:t>和</a:t>
            </a:r>
            <a:r>
              <a:rPr lang="en-US" altLang="zh-CN" sz="2800" dirty="0"/>
              <a:t>n2</a:t>
            </a:r>
          </a:p>
          <a:p>
            <a:pPr marL="0" indent="0">
              <a:buNone/>
            </a:pPr>
            <a:r>
              <a:rPr lang="zh-CN" altLang="en-US" sz="2800" dirty="0"/>
              <a:t>输出：两个整数之和</a:t>
            </a:r>
            <a:endParaRPr lang="en-US" altLang="zh-CN" sz="2800" dirty="0"/>
          </a:p>
          <a:p>
            <a:pPr marL="0" indent="0">
              <a:buNone/>
            </a:pPr>
            <a:r>
              <a:rPr lang="en-US" altLang="zh-CN" sz="2800" dirty="0"/>
              <a:t>    1. sum=n1+n2</a:t>
            </a:r>
          </a:p>
          <a:p>
            <a:pPr marL="0" indent="0">
              <a:buNone/>
            </a:pPr>
            <a:r>
              <a:rPr lang="en-US" altLang="zh-CN" sz="2800" dirty="0"/>
              <a:t>    2. </a:t>
            </a:r>
            <a:r>
              <a:rPr lang="zh-CN" altLang="en-US" sz="2800" dirty="0"/>
              <a:t>输出</a:t>
            </a:r>
            <a:r>
              <a:rPr lang="en-US" altLang="zh-CN" sz="2800" dirty="0"/>
              <a:t>sum</a:t>
            </a:r>
          </a:p>
          <a:p>
            <a:endParaRPr lang="en-US" altLang="zh-CN" dirty="0"/>
          </a:p>
          <a:p>
            <a:pPr marL="0" indent="0">
              <a:buNone/>
            </a:pPr>
            <a:endParaRPr lang="en-US" altLang="zh-CN" sz="2800" dirty="0"/>
          </a:p>
          <a:p>
            <a:pPr marL="0" indent="0">
              <a:buNone/>
            </a:pPr>
            <a:r>
              <a:rPr lang="zh-CN" altLang="en-US" sz="2800" dirty="0"/>
              <a:t>数值范围？</a:t>
            </a:r>
          </a:p>
          <a:p>
            <a:pPr marL="0" indent="0">
              <a:buNone/>
            </a:pPr>
            <a:r>
              <a:rPr lang="zh-CN" altLang="en-US" sz="2800" dirty="0"/>
              <a:t>直接利用编程语言提供的运算符？</a:t>
            </a:r>
            <a:endParaRPr lang="en-US" altLang="zh-CN" sz="2800" dirty="0"/>
          </a:p>
          <a:p>
            <a:endParaRPr lang="zh-CN" altLang="en-US" dirty="0"/>
          </a:p>
        </p:txBody>
      </p:sp>
    </p:spTree>
    <p:extLst>
      <p:ext uri="{BB962C8B-B14F-4D97-AF65-F5344CB8AC3E}">
        <p14:creationId xmlns:p14="http://schemas.microsoft.com/office/powerpoint/2010/main" val="1883130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1A4AC-2638-4C89-B420-118034528874}"/>
              </a:ext>
            </a:extLst>
          </p:cNvPr>
          <p:cNvSpPr>
            <a:spLocks noGrp="1"/>
          </p:cNvSpPr>
          <p:nvPr>
            <p:ph type="title"/>
          </p:nvPr>
        </p:nvSpPr>
        <p:spPr/>
        <p:txBody>
          <a:bodyPr/>
          <a:lstStyle/>
          <a:p>
            <a:r>
              <a:rPr lang="zh-CN" altLang="en-US" dirty="0"/>
              <a:t>第二个简单的例子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066E8D9-703C-484D-B90D-A64924664D30}"/>
                  </a:ext>
                </a:extLst>
              </p:cNvPr>
              <p:cNvSpPr>
                <a:spLocks noGrp="1"/>
              </p:cNvSpPr>
              <p:nvPr>
                <p:ph idx="1"/>
              </p:nvPr>
            </p:nvSpPr>
            <p:spPr/>
            <p:txBody>
              <a:bodyPr/>
              <a:lstStyle/>
              <a:p>
                <a:pPr marL="0" indent="0">
                  <a:buFontTx/>
                  <a:buNone/>
                </a:pPr>
                <a:r>
                  <a:rPr lang="zh-CN" altLang="en-US" sz="2800" kern="0" dirty="0"/>
                  <a:t>输入：大于等于</a:t>
                </a:r>
                <a:r>
                  <a:rPr lang="en-US" altLang="zh-CN" sz="2800" kern="0" dirty="0"/>
                  <a:t>2</a:t>
                </a:r>
                <a:r>
                  <a:rPr lang="zh-CN" altLang="en-US" sz="2800" kern="0" dirty="0"/>
                  <a:t>的正整数</a:t>
                </a:r>
                <a:r>
                  <a:rPr lang="en-US" altLang="zh-CN" sz="2800" kern="0" dirty="0"/>
                  <a:t>n</a:t>
                </a:r>
              </a:p>
              <a:p>
                <a:pPr marL="0" indent="0">
                  <a:buFontTx/>
                  <a:buNone/>
                </a:pPr>
                <a:r>
                  <a:rPr lang="zh-CN" altLang="en-US" sz="2800" kern="0" dirty="0"/>
                  <a:t>输出：</a:t>
                </a:r>
                <a:r>
                  <a:rPr lang="en-US" altLang="zh-CN" sz="2800" kern="0" dirty="0"/>
                  <a:t>n</a:t>
                </a:r>
                <a:r>
                  <a:rPr lang="zh-CN" altLang="en-US" sz="2800" kern="0" dirty="0"/>
                  <a:t>是否为素数</a:t>
                </a:r>
                <a:endParaRPr lang="en-US" altLang="zh-CN" sz="2800" kern="0" dirty="0"/>
              </a:p>
              <a:p>
                <a:pPr marL="0" indent="0">
                  <a:buFontTx/>
                  <a:buNone/>
                </a:pPr>
                <a:r>
                  <a:rPr lang="en-US" altLang="zh-CN" sz="2800" kern="0" dirty="0"/>
                  <a:t>    1. for </a:t>
                </a:r>
                <a:r>
                  <a:rPr lang="en-US" altLang="zh-CN" sz="2800" kern="0" dirty="0" err="1"/>
                  <a:t>i</a:t>
                </a:r>
                <a:r>
                  <a:rPr lang="en-US" altLang="zh-CN" sz="2800" kern="0" dirty="0"/>
                  <a:t>=2 to </a:t>
                </a:r>
                <a14:m>
                  <m:oMath xmlns:m="http://schemas.openxmlformats.org/officeDocument/2006/math">
                    <m:rad>
                      <m:radPr>
                        <m:degHide m:val="on"/>
                        <m:ctrlPr>
                          <a:rPr lang="en-US" altLang="zh-CN" sz="2800" i="1" kern="0" smtClean="0">
                            <a:latin typeface="Cambria Math" panose="02040503050406030204" pitchFamily="18" charset="0"/>
                          </a:rPr>
                        </m:ctrlPr>
                      </m:radPr>
                      <m:deg/>
                      <m:e>
                        <m:r>
                          <m:rPr>
                            <m:sty m:val="p"/>
                          </m:rPr>
                          <a:rPr lang="en-US" altLang="zh-CN" sz="2800" i="1" kern="0">
                            <a:latin typeface="Cambria Math" panose="02040503050406030204" pitchFamily="18" charset="0"/>
                          </a:rPr>
                          <m:t>n</m:t>
                        </m:r>
                      </m:e>
                    </m:rad>
                  </m:oMath>
                </a14:m>
                <a:endParaRPr lang="en-US" altLang="zh-CN" sz="2800" kern="0" dirty="0"/>
              </a:p>
              <a:p>
                <a:pPr marL="0" indent="0">
                  <a:buNone/>
                </a:pPr>
                <a:r>
                  <a:rPr lang="en-US" altLang="zh-CN" sz="2800" kern="0" dirty="0"/>
                  <a:t>    2.     if(</a:t>
                </a:r>
                <a:r>
                  <a:rPr lang="en-US" altLang="zh-CN" sz="2800" kern="0" dirty="0" err="1"/>
                  <a:t>n%i</a:t>
                </a:r>
                <a:r>
                  <a:rPr lang="en-US" altLang="zh-CN" sz="2800" kern="0" dirty="0"/>
                  <a:t>==0) return false;</a:t>
                </a:r>
              </a:p>
              <a:p>
                <a:pPr marL="0" indent="0">
                  <a:buFontTx/>
                  <a:buNone/>
                </a:pPr>
                <a:r>
                  <a:rPr lang="en-US" altLang="zh-CN" sz="2800" kern="0" dirty="0"/>
                  <a:t>    3. end for</a:t>
                </a:r>
              </a:p>
              <a:p>
                <a:pPr marL="0" indent="0">
                  <a:buFontTx/>
                  <a:buNone/>
                </a:pPr>
                <a:r>
                  <a:rPr lang="en-US" altLang="zh-CN" sz="2800" kern="0" dirty="0"/>
                  <a:t>    4. return true</a:t>
                </a:r>
                <a:endParaRPr lang="zh-CN" altLang="en-US" sz="2800" kern="0" dirty="0"/>
              </a:p>
              <a:p>
                <a:endParaRPr lang="zh-CN" altLang="en-US" dirty="0"/>
              </a:p>
            </p:txBody>
          </p:sp>
        </mc:Choice>
        <mc:Fallback xmlns="">
          <p:sp>
            <p:nvSpPr>
              <p:cNvPr id="3" name="内容占位符 2">
                <a:extLst>
                  <a:ext uri="{FF2B5EF4-FFF2-40B4-BE49-F238E27FC236}">
                    <a16:creationId xmlns:a16="http://schemas.microsoft.com/office/drawing/2014/main" id="{3066E8D9-703C-484D-B90D-A64924664D30}"/>
                  </a:ext>
                </a:extLst>
              </p:cNvPr>
              <p:cNvSpPr>
                <a:spLocks noGrp="1" noRot="1" noChangeAspect="1" noMove="1" noResize="1" noEditPoints="1" noAdjustHandles="1" noChangeArrowheads="1" noChangeShapeType="1" noTextEdit="1"/>
              </p:cNvSpPr>
              <p:nvPr>
                <p:ph idx="1"/>
              </p:nvPr>
            </p:nvSpPr>
            <p:spPr>
              <a:blipFill>
                <a:blip r:embed="rId3"/>
                <a:stretch>
                  <a:fillRect l="-1217" t="-15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8154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1080E6-8105-4638-9F86-E954539542D2}"/>
              </a:ext>
            </a:extLst>
          </p:cNvPr>
          <p:cNvSpPr>
            <a:spLocks noGrp="1"/>
          </p:cNvSpPr>
          <p:nvPr>
            <p:ph type="title"/>
          </p:nvPr>
        </p:nvSpPr>
        <p:spPr/>
        <p:txBody>
          <a:bodyPr/>
          <a:lstStyle/>
          <a:p>
            <a:r>
              <a:rPr lang="zh-CN" altLang="en-US" dirty="0"/>
              <a:t>编程时注意的问题</a:t>
            </a:r>
          </a:p>
        </p:txBody>
      </p:sp>
      <p:sp>
        <p:nvSpPr>
          <p:cNvPr id="3" name="内容占位符 2">
            <a:extLst>
              <a:ext uri="{FF2B5EF4-FFF2-40B4-BE49-F238E27FC236}">
                <a16:creationId xmlns:a16="http://schemas.microsoft.com/office/drawing/2014/main" id="{4BDEA7D0-834C-423C-ABD2-E47FF6BC6BB6}"/>
              </a:ext>
            </a:extLst>
          </p:cNvPr>
          <p:cNvSpPr>
            <a:spLocks noGrp="1"/>
          </p:cNvSpPr>
          <p:nvPr>
            <p:ph idx="1"/>
          </p:nvPr>
        </p:nvSpPr>
        <p:spPr/>
        <p:txBody>
          <a:bodyPr>
            <a:normAutofit/>
          </a:bodyPr>
          <a:lstStyle/>
          <a:p>
            <a:pPr marL="0" indent="0">
              <a:buNone/>
            </a:pPr>
            <a:r>
              <a:rPr lang="zh-CN" altLang="en-US" sz="2400" dirty="0"/>
              <a:t>将由小写字母构成的字符串</a:t>
            </a:r>
            <a:r>
              <a:rPr lang="en-US" altLang="zh-CN" sz="2400" dirty="0"/>
              <a:t>str</a:t>
            </a:r>
            <a:r>
              <a:rPr lang="zh-CN" altLang="en-US" sz="2400" dirty="0"/>
              <a:t>转换为大写字母</a:t>
            </a:r>
            <a:endParaRPr lang="en-US" altLang="zh-CN" sz="2400" dirty="0"/>
          </a:p>
          <a:p>
            <a:pPr marL="400050" lvl="1" indent="0">
              <a:buNone/>
            </a:pPr>
            <a:r>
              <a:rPr lang="en-US" altLang="zh-CN" dirty="0"/>
              <a:t>for(</a:t>
            </a:r>
            <a:r>
              <a:rPr lang="en-US" altLang="zh-CN" dirty="0" err="1"/>
              <a:t>i</a:t>
            </a:r>
            <a:r>
              <a:rPr lang="en-US" altLang="zh-CN" dirty="0"/>
              <a:t>=0;i&lt;</a:t>
            </a:r>
            <a:r>
              <a:rPr lang="en-US" altLang="zh-CN" dirty="0" err="1"/>
              <a:t>strlen</a:t>
            </a:r>
            <a:r>
              <a:rPr lang="en-US" altLang="zh-CN" dirty="0"/>
              <a:t>(str);</a:t>
            </a:r>
            <a:r>
              <a:rPr lang="en-US" altLang="zh-CN" dirty="0" err="1"/>
              <a:t>i</a:t>
            </a:r>
            <a:r>
              <a:rPr lang="en-US" altLang="zh-CN" dirty="0"/>
              <a:t>++)</a:t>
            </a:r>
          </a:p>
          <a:p>
            <a:pPr marL="400050" lvl="1" indent="0">
              <a:buNone/>
            </a:pPr>
            <a:r>
              <a:rPr lang="en-US" altLang="zh-CN" dirty="0"/>
              <a:t>{</a:t>
            </a:r>
          </a:p>
          <a:p>
            <a:pPr marL="400050" lvl="1" indent="0">
              <a:buNone/>
            </a:pPr>
            <a:r>
              <a:rPr lang="en-US" altLang="zh-CN" dirty="0"/>
              <a:t>	str[</a:t>
            </a:r>
            <a:r>
              <a:rPr lang="en-US" altLang="zh-CN" dirty="0" err="1"/>
              <a:t>i</a:t>
            </a:r>
            <a:r>
              <a:rPr lang="en-US" altLang="zh-CN" dirty="0"/>
              <a:t>]=str[</a:t>
            </a:r>
            <a:r>
              <a:rPr lang="en-US" altLang="zh-CN" dirty="0" err="1"/>
              <a:t>i</a:t>
            </a:r>
            <a:r>
              <a:rPr lang="en-US" altLang="zh-CN" dirty="0"/>
              <a:t>]-’</a:t>
            </a:r>
            <a:r>
              <a:rPr lang="en-US" altLang="zh-CN" dirty="0" err="1"/>
              <a:t>a’+’A</a:t>
            </a:r>
            <a:r>
              <a:rPr lang="en-US" altLang="zh-CN" dirty="0"/>
              <a:t>’;</a:t>
            </a:r>
          </a:p>
          <a:p>
            <a:pPr marL="400050" lvl="1" indent="0">
              <a:buNone/>
            </a:pPr>
            <a:r>
              <a:rPr lang="en-US" altLang="zh-CN" dirty="0"/>
              <a:t>}</a:t>
            </a:r>
          </a:p>
          <a:p>
            <a:pPr marL="400050" lvl="1" indent="0">
              <a:buNone/>
            </a:pPr>
            <a:endParaRPr lang="zh-CN" altLang="en-US" dirty="0"/>
          </a:p>
          <a:p>
            <a:pPr marL="400050" lvl="1" indent="0">
              <a:buNone/>
            </a:pPr>
            <a:r>
              <a:rPr lang="en-US" altLang="zh-CN" dirty="0"/>
              <a:t>for(</a:t>
            </a:r>
            <a:r>
              <a:rPr lang="en-US" altLang="zh-CN" dirty="0" err="1"/>
              <a:t>i</a:t>
            </a:r>
            <a:r>
              <a:rPr lang="en-US" altLang="zh-CN" dirty="0"/>
              <a:t>=0;i&lt;</a:t>
            </a:r>
            <a:r>
              <a:rPr lang="en-US" altLang="zh-CN" dirty="0" err="1"/>
              <a:t>str.length</a:t>
            </a:r>
            <a:r>
              <a:rPr lang="en-US" altLang="zh-CN" dirty="0"/>
              <a:t>();</a:t>
            </a:r>
            <a:r>
              <a:rPr lang="en-US" altLang="zh-CN" dirty="0" err="1"/>
              <a:t>i</a:t>
            </a:r>
            <a:r>
              <a:rPr lang="en-US" altLang="zh-CN" dirty="0"/>
              <a:t>++)  //</a:t>
            </a:r>
            <a:r>
              <a:rPr lang="zh-CN" altLang="en-US" dirty="0"/>
              <a:t>或</a:t>
            </a:r>
            <a:r>
              <a:rPr lang="en-US" altLang="zh-CN" dirty="0" err="1"/>
              <a:t>str.size</a:t>
            </a:r>
            <a:r>
              <a:rPr lang="en-US" altLang="zh-CN" dirty="0"/>
              <a:t>()</a:t>
            </a:r>
          </a:p>
          <a:p>
            <a:pPr marL="400050" lvl="1" indent="0">
              <a:buNone/>
            </a:pPr>
            <a:r>
              <a:rPr lang="en-US" altLang="zh-CN" dirty="0"/>
              <a:t>{</a:t>
            </a:r>
          </a:p>
          <a:p>
            <a:pPr marL="400050" lvl="1" indent="0">
              <a:buNone/>
            </a:pPr>
            <a:r>
              <a:rPr lang="en-US" altLang="zh-CN" dirty="0"/>
              <a:t>	str[</a:t>
            </a:r>
            <a:r>
              <a:rPr lang="en-US" altLang="zh-CN" dirty="0" err="1"/>
              <a:t>i</a:t>
            </a:r>
            <a:r>
              <a:rPr lang="en-US" altLang="zh-CN" dirty="0"/>
              <a:t>]=str[</a:t>
            </a:r>
            <a:r>
              <a:rPr lang="en-US" altLang="zh-CN" dirty="0" err="1"/>
              <a:t>i</a:t>
            </a:r>
            <a:r>
              <a:rPr lang="en-US" altLang="zh-CN" dirty="0"/>
              <a:t>]-’</a:t>
            </a:r>
            <a:r>
              <a:rPr lang="en-US" altLang="zh-CN" dirty="0" err="1"/>
              <a:t>a’+’A</a:t>
            </a:r>
            <a:r>
              <a:rPr lang="en-US" altLang="zh-CN" dirty="0"/>
              <a:t>’;</a:t>
            </a:r>
          </a:p>
          <a:p>
            <a:pPr marL="400050" lvl="1" indent="0">
              <a:buNone/>
            </a:pPr>
            <a:r>
              <a:rPr lang="en-US" altLang="zh-CN" dirty="0"/>
              <a:t>}</a:t>
            </a:r>
            <a:endParaRPr lang="zh-CN" altLang="en-US" dirty="0"/>
          </a:p>
          <a:p>
            <a:endParaRPr lang="zh-CN" altLang="en-US" sz="2400" dirty="0"/>
          </a:p>
        </p:txBody>
      </p:sp>
    </p:spTree>
    <p:extLst>
      <p:ext uri="{BB962C8B-B14F-4D97-AF65-F5344CB8AC3E}">
        <p14:creationId xmlns:p14="http://schemas.microsoft.com/office/powerpoint/2010/main" val="1390738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C2E91F-74E7-4A7A-AC24-A9DF7882DFC3}"/>
              </a:ext>
            </a:extLst>
          </p:cNvPr>
          <p:cNvSpPr>
            <a:spLocks noGrp="1"/>
          </p:cNvSpPr>
          <p:nvPr>
            <p:ph type="title"/>
          </p:nvPr>
        </p:nvSpPr>
        <p:spPr/>
        <p:txBody>
          <a:bodyPr/>
          <a:lstStyle/>
          <a:p>
            <a:r>
              <a:rPr lang="zh-CN" altLang="en-US" dirty="0"/>
              <a:t>对数</a:t>
            </a:r>
          </a:p>
        </p:txBody>
      </p:sp>
      <mc:AlternateContent xmlns:mc="http://schemas.openxmlformats.org/markup-compatibility/2006">
        <mc:Choice xmlns:a14="http://schemas.microsoft.com/office/drawing/2010/main" Requires="a14">
          <p:sp>
            <p:nvSpPr>
              <p:cNvPr id="4" name="Object 4">
                <a:extLst>
                  <a:ext uri="{FF2B5EF4-FFF2-40B4-BE49-F238E27FC236}">
                    <a16:creationId xmlns:a16="http://schemas.microsoft.com/office/drawing/2014/main" id="{3B79DEDF-96E8-4A14-993C-C4D42DF4B87F}"/>
                  </a:ext>
                </a:extLst>
              </p:cNvPr>
              <p:cNvSpPr txBox="1"/>
              <p:nvPr/>
            </p:nvSpPr>
            <p:spPr bwMode="auto">
              <a:xfrm>
                <a:off x="838200" y="2039356"/>
                <a:ext cx="10447638" cy="434496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𝑥</m:t>
                          </m:r>
                        </m:e>
                      </m:func>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𝑥</m:t>
                          </m:r>
                        </m:e>
                      </m:func>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𝑦</m:t>
                          </m:r>
                        </m:e>
                      </m:func>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m:t>
                          </m:r>
                        </m:e>
                      </m:func>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𝑦</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𝑐</m:t>
                          </m:r>
                        </m:e>
                      </m:func>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𝑎</m:t>
                              </m:r>
                            </m:sub>
                          </m:sSub>
                        </m:fName>
                        <m:e>
                          <m:r>
                            <a:rPr lang="zh-CN" altLang="en-US" sz="2400" i="1">
                              <a:solidFill>
                                <a:srgbClr val="000000"/>
                              </a:solidFill>
                              <a:latin typeface="Cambria Math" panose="02040503050406030204" pitchFamily="18" charset="0"/>
                            </a:rPr>
                            <m:t>𝑏</m:t>
                          </m:r>
                        </m:e>
                      </m:func>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𝑎</m:t>
                              </m:r>
                            </m:e>
                          </m:func>
                        </m:den>
                      </m:f>
                      <m:r>
                        <m:rPr>
                          <m:nor/>
                        </m:rPr>
                        <a:rPr lang="zh-CN" altLang="en-US" sz="2400" i="0">
                          <a:solidFill>
                            <a:srgbClr val="000000"/>
                          </a:solidFill>
                          <a:latin typeface="Cambria Math" panose="02040503050406030204" pitchFamily="18" charset="0"/>
                        </a:rPr>
                        <m:t>        </m:t>
                      </m:r>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𝑥</m:t>
                          </m:r>
                        </m:e>
                      </m:func>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𝑎</m:t>
                                  </m:r>
                                </m:sub>
                              </m:sSub>
                            </m:fName>
                            <m:e>
                              <m:r>
                                <a:rPr lang="zh-CN" altLang="en-US" sz="2400" i="1">
                                  <a:solidFill>
                                    <a:srgbClr val="000000"/>
                                  </a:solidFill>
                                  <a:latin typeface="Cambria Math" panose="02040503050406030204" pitchFamily="18" charset="0"/>
                                </a:rPr>
                                <m:t>𝑥</m:t>
                              </m:r>
                            </m:e>
                          </m:func>
                        </m:num>
                        <m:den>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𝑎</m:t>
                                  </m:r>
                                </m:sub>
                              </m:sSub>
                            </m:fName>
                            <m:e>
                              <m:r>
                                <a:rPr lang="zh-CN" altLang="en-US" sz="2400" i="1">
                                  <a:solidFill>
                                    <a:srgbClr val="000000"/>
                                  </a:solidFill>
                                  <a:latin typeface="Cambria Math" panose="02040503050406030204" pitchFamily="18" charset="0"/>
                                </a:rPr>
                                <m:t>𝑏</m:t>
                              </m:r>
                            </m:e>
                          </m:func>
                        </m:den>
                      </m:f>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𝑎</m:t>
                          </m:r>
                        </m:e>
                        <m:sup>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𝑎</m:t>
                                  </m:r>
                                </m:sub>
                              </m:sSub>
                            </m:fName>
                            <m:e>
                              <m:r>
                                <a:rPr lang="zh-CN" altLang="en-US" sz="2400" i="1">
                                  <a:solidFill>
                                    <a:srgbClr val="000000"/>
                                  </a:solidFill>
                                  <a:latin typeface="Cambria Math" panose="02040503050406030204" pitchFamily="18" charset="0"/>
                                </a:rPr>
                                <m:t>𝑥</m:t>
                              </m:r>
                            </m:e>
                          </m:func>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m:rPr>
                          <m:nor/>
                        </m:rPr>
                        <a:rPr lang="zh-CN" altLang="en-US" sz="2400" i="0">
                          <a:solidFill>
                            <a:srgbClr val="000000"/>
                          </a:solidFill>
                          <a:latin typeface="Cambria Math" panose="02040503050406030204" pitchFamily="18" charset="0"/>
                        </a:rPr>
                        <m:t>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𝑦</m:t>
                              </m:r>
                            </m:e>
                          </m:func>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𝑥</m:t>
                              </m:r>
                            </m:e>
                          </m:func>
                        </m:sup>
                      </m:sSup>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𝑛</m:t>
                          </m:r>
                        </m:sup>
                        <m:e>
                          <m:d>
                            <m:dPr>
                              <m:begChr m:val="⌊"/>
                              <m:endChr m:val="⌋"/>
                              <m:ctrlPr>
                                <a:rPr lang="zh-CN" altLang="en-US" sz="2400" i="1">
                                  <a:solidFill>
                                    <a:srgbClr val="000000"/>
                                  </a:solidFill>
                                  <a:latin typeface="Cambria Math" panose="02040503050406030204" pitchFamily="18" charset="0"/>
                                </a:rPr>
                              </m:ctrlPr>
                            </m:dPr>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𝑖</m:t>
                                  </m:r>
                                </m:e>
                              </m:func>
                            </m:e>
                          </m:d>
                        </m:e>
                      </m:nary>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d>
                        <m:dPr>
                          <m:begChr m:val="⌊"/>
                          <m:endChr m:val="⌋"/>
                          <m:ctrlPr>
                            <a:rPr lang="zh-CN" altLang="en-US" sz="2400" i="1">
                              <a:solidFill>
                                <a:srgbClr val="000000"/>
                              </a:solidFill>
                              <a:latin typeface="Cambria Math" panose="02040503050406030204" pitchFamily="18" charset="0"/>
                            </a:rPr>
                          </m:ctrlPr>
                        </m:dPr>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𝑛</m:t>
                              </m:r>
                            </m:e>
                          </m:func>
                        </m:e>
                      </m:d>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2</m:t>
                          </m:r>
                        </m:e>
                        <m:sup>
                          <m:d>
                            <m:dPr>
                              <m:begChr m:val="⌊"/>
                              <m:endChr m:val="⌋"/>
                              <m:ctrlPr>
                                <a:rPr lang="zh-CN" altLang="en-US" sz="2400" i="1">
                                  <a:solidFill>
                                    <a:srgbClr val="000000"/>
                                  </a:solidFill>
                                  <a:latin typeface="Cambria Math" panose="02040503050406030204" pitchFamily="18" charset="0"/>
                                </a:rPr>
                              </m:ctrlPr>
                            </m:dPr>
                            <m:e>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𝑛</m:t>
                                  </m:r>
                                </m:e>
                              </m:func>
                            </m:e>
                          </m:d>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+2=</m:t>
                      </m:r>
                      <m:r>
                        <m:rPr>
                          <m:sty m:val="p"/>
                        </m:rPr>
                        <a:rPr lang="zh-CN" altLang="en-US" sz="2400" i="1">
                          <a:solidFill>
                            <a:srgbClr val="000000"/>
                          </a:solidFill>
                          <a:latin typeface="Cambria Math" panose="02040503050406030204" pitchFamily="18" charset="0"/>
                        </a:rPr>
                        <m:t>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𝑛</m:t>
                          </m:r>
                        </m:e>
                      </m:func>
                      <m:r>
                        <a:rPr lang="zh-CN" altLang="en-US" sz="2400" i="1">
                          <a:solidFill>
                            <a:srgbClr val="000000"/>
                          </a:solidFill>
                          <a:latin typeface="Cambria Math" panose="02040503050406030204" pitchFamily="18" charset="0"/>
                        </a:rPr>
                        <m:t>)</m:t>
                      </m:r>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limLow>
                            <m:limLowPr>
                              <m:ctrlPr>
                                <a:rPr lang="zh-CN" altLang="en-US" sz="2400" i="1">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lim</m:t>
                              </m:r>
                            </m:e>
                            <m:lim>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lim>
                          </m:limLow>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𝑛</m:t>
                          </m:r>
                        </m:den>
                      </m:f>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1!</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3!</m:t>
                          </m:r>
                        </m:den>
                      </m:f>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4" name="Object 4">
                <a:extLst>
                  <a:ext uri="{FF2B5EF4-FFF2-40B4-BE49-F238E27FC236}">
                    <a16:creationId xmlns:a16="http://schemas.microsoft.com/office/drawing/2014/main" id="{3B79DEDF-96E8-4A14-993C-C4D42DF4B87F}"/>
                  </a:ext>
                </a:extLst>
              </p:cNvPr>
              <p:cNvSpPr txBox="1">
                <a:spLocks noRot="1" noChangeAspect="1" noMove="1" noResize="1" noEditPoints="1" noAdjustHandles="1" noChangeArrowheads="1" noChangeShapeType="1" noTextEdit="1"/>
              </p:cNvSpPr>
              <p:nvPr/>
            </p:nvSpPr>
            <p:spPr bwMode="auto">
              <a:xfrm>
                <a:off x="838200" y="2039356"/>
                <a:ext cx="10447638" cy="4344968"/>
              </a:xfrm>
              <a:prstGeom prst="rect">
                <a:avLst/>
              </a:prstGeom>
              <a:blipFill>
                <a:blip r:embed="rId2"/>
                <a:stretch>
                  <a:fillRect l="-525"/>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292836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421D5D-C5A0-435B-8CC1-DBB18744BBB2}"/>
              </a:ext>
            </a:extLst>
          </p:cNvPr>
          <p:cNvSpPr>
            <a:spLocks noGrp="1"/>
          </p:cNvSpPr>
          <p:nvPr>
            <p:ph type="title"/>
          </p:nvPr>
        </p:nvSpPr>
        <p:spPr/>
        <p:txBody>
          <a:bodyPr/>
          <a:lstStyle/>
          <a:p>
            <a:r>
              <a:rPr lang="zh-CN" altLang="en-US" dirty="0"/>
              <a:t>顶函数和底函数</a:t>
            </a:r>
          </a:p>
        </p:txBody>
      </p:sp>
      <p:sp>
        <p:nvSpPr>
          <p:cNvPr id="3" name="内容占位符 2">
            <a:extLst>
              <a:ext uri="{FF2B5EF4-FFF2-40B4-BE49-F238E27FC236}">
                <a16:creationId xmlns:a16="http://schemas.microsoft.com/office/drawing/2014/main" id="{DD878255-840E-48F0-8052-0596A494770F}"/>
              </a:ext>
            </a:extLst>
          </p:cNvPr>
          <p:cNvSpPr>
            <a:spLocks noGrp="1"/>
          </p:cNvSpPr>
          <p:nvPr>
            <p:ph idx="1"/>
          </p:nvPr>
        </p:nvSpPr>
        <p:spPr/>
        <p:txBody>
          <a:bodyPr/>
          <a:lstStyle/>
          <a:p>
            <a:r>
              <a:rPr lang="zh-CN" altLang="en-US" sz="2800" dirty="0"/>
              <a:t>若</a:t>
            </a:r>
            <a:r>
              <a:rPr lang="en-US" altLang="zh-CN" sz="2800" dirty="0"/>
              <a:t>x</a:t>
            </a:r>
            <a:r>
              <a:rPr lang="zh-CN" altLang="en-US" sz="2800" dirty="0"/>
              <a:t>为实数，则</a:t>
            </a:r>
            <a:r>
              <a:rPr lang="en-US" altLang="zh-CN" sz="2800" dirty="0"/>
              <a:t>x</a:t>
            </a:r>
            <a:r>
              <a:rPr lang="zh-CN" altLang="en-US" sz="2800" dirty="0"/>
              <a:t>的底函数</a:t>
            </a:r>
            <a:r>
              <a:rPr lang="zh-CN" altLang="en-US" sz="2800" dirty="0">
                <a:sym typeface="Symbol" pitchFamily="18" charset="2"/>
              </a:rPr>
              <a:t></a:t>
            </a:r>
            <a:r>
              <a:rPr lang="en-US" altLang="zh-CN" sz="2800" dirty="0">
                <a:sym typeface="Symbol" pitchFamily="18" charset="2"/>
              </a:rPr>
              <a:t>x</a:t>
            </a:r>
            <a:r>
              <a:rPr lang="en-US" altLang="zh-CN" sz="2800" dirty="0"/>
              <a:t> </a:t>
            </a:r>
            <a:r>
              <a:rPr lang="zh-CN" altLang="en-US" sz="2800" dirty="0"/>
              <a:t>为不大于</a:t>
            </a:r>
            <a:r>
              <a:rPr lang="en-US" altLang="zh-CN" sz="2800" dirty="0"/>
              <a:t>x</a:t>
            </a:r>
            <a:r>
              <a:rPr lang="zh-CN" altLang="en-US" sz="2800" dirty="0"/>
              <a:t>的最大整数，</a:t>
            </a:r>
            <a:r>
              <a:rPr lang="en-US" altLang="zh-CN" sz="2800" dirty="0"/>
              <a:t>x</a:t>
            </a:r>
            <a:r>
              <a:rPr lang="zh-CN" altLang="en-US" sz="2800" dirty="0"/>
              <a:t>的顶函数</a:t>
            </a:r>
            <a:r>
              <a:rPr lang="zh-CN" altLang="en-US" sz="2800" dirty="0">
                <a:sym typeface="Symbol" pitchFamily="18" charset="2"/>
              </a:rPr>
              <a:t></a:t>
            </a:r>
            <a:r>
              <a:rPr lang="en-US" altLang="zh-CN" sz="2800" dirty="0">
                <a:sym typeface="Symbol" pitchFamily="18" charset="2"/>
              </a:rPr>
              <a:t>x</a:t>
            </a:r>
            <a:r>
              <a:rPr lang="en-US" altLang="zh-CN" sz="2800" dirty="0"/>
              <a:t> </a:t>
            </a:r>
            <a:r>
              <a:rPr lang="zh-CN" altLang="en-US" sz="2800" dirty="0"/>
              <a:t>为不小于</a:t>
            </a:r>
            <a:r>
              <a:rPr lang="en-US" altLang="zh-CN" sz="2800" dirty="0"/>
              <a:t>x</a:t>
            </a:r>
            <a:r>
              <a:rPr lang="zh-CN" altLang="en-US" sz="2800" dirty="0"/>
              <a:t>的最小整数</a:t>
            </a:r>
            <a:endParaRPr lang="zh-CN" altLang="en-US" sz="2800" dirty="0">
              <a:sym typeface="Symbol" pitchFamily="18" charset="2"/>
            </a:endParaRPr>
          </a:p>
          <a:p>
            <a:r>
              <a:rPr lang="zh-CN" altLang="en-US" sz="2800" dirty="0">
                <a:sym typeface="Symbol" pitchFamily="18" charset="2"/>
              </a:rPr>
              <a:t></a:t>
            </a:r>
            <a:r>
              <a:rPr lang="en-US" altLang="zh-CN" sz="2800" dirty="0">
                <a:sym typeface="Symbol" pitchFamily="18" charset="2"/>
              </a:rPr>
              <a:t>x/2+x/2=x      </a:t>
            </a:r>
            <a:r>
              <a:rPr lang="en-US" altLang="zh-CN" sz="2800" dirty="0" err="1">
                <a:sym typeface="Symbol" pitchFamily="18" charset="2"/>
              </a:rPr>
              <a:t>x</a:t>
            </a:r>
            <a:r>
              <a:rPr lang="zh-CN" altLang="en-US" sz="2800" dirty="0">
                <a:sym typeface="Symbol" pitchFamily="18" charset="2"/>
              </a:rPr>
              <a:t>为整数</a:t>
            </a:r>
            <a:endParaRPr lang="en-US" altLang="zh-CN" sz="2800" dirty="0">
              <a:sym typeface="Symbol" pitchFamily="18" charset="2"/>
            </a:endParaRPr>
          </a:p>
          <a:p>
            <a:r>
              <a:rPr lang="en-US" altLang="zh-CN" sz="2800" dirty="0">
                <a:sym typeface="Symbol" pitchFamily="18" charset="2"/>
              </a:rPr>
              <a:t>-x=-x, -x=-x</a:t>
            </a:r>
          </a:p>
          <a:p>
            <a:r>
              <a:rPr lang="en-US" altLang="zh-CN" sz="2800" dirty="0">
                <a:sym typeface="Symbol" pitchFamily="18" charset="2"/>
              </a:rPr>
              <a:t>x-1&lt;x&lt;=x&lt;= x&lt;x+1</a:t>
            </a:r>
          </a:p>
          <a:p>
            <a:r>
              <a:rPr lang="zh-CN" altLang="en-US" sz="2800" dirty="0">
                <a:sym typeface="Symbol" pitchFamily="18" charset="2"/>
              </a:rPr>
              <a:t>定理：</a:t>
            </a:r>
            <a:r>
              <a:rPr lang="en-US" altLang="zh-CN" sz="2800" dirty="0">
                <a:sym typeface="Symbol" pitchFamily="18" charset="2"/>
              </a:rPr>
              <a:t>f(x)</a:t>
            </a:r>
            <a:r>
              <a:rPr lang="zh-CN" altLang="en-US" sz="2800" dirty="0">
                <a:sym typeface="Symbol" pitchFamily="18" charset="2"/>
              </a:rPr>
              <a:t>为单调递增函数，若</a:t>
            </a:r>
            <a:r>
              <a:rPr lang="en-US" altLang="zh-CN" sz="2800" dirty="0">
                <a:sym typeface="Symbol" pitchFamily="18" charset="2"/>
              </a:rPr>
              <a:t>f(x)</a:t>
            </a:r>
            <a:r>
              <a:rPr lang="zh-CN" altLang="en-US" sz="2800" dirty="0">
                <a:sym typeface="Symbol" pitchFamily="18" charset="2"/>
              </a:rPr>
              <a:t>是整数时</a:t>
            </a:r>
            <a:r>
              <a:rPr lang="en-US" altLang="zh-CN" sz="2800" dirty="0">
                <a:sym typeface="Symbol" pitchFamily="18" charset="2"/>
              </a:rPr>
              <a:t>x</a:t>
            </a:r>
            <a:r>
              <a:rPr lang="zh-CN" altLang="en-US" sz="2800" dirty="0">
                <a:sym typeface="Symbol" pitchFamily="18" charset="2"/>
              </a:rPr>
              <a:t>必为整数，则</a:t>
            </a:r>
            <a:r>
              <a:rPr lang="en-US" altLang="zh-CN" sz="2800" dirty="0">
                <a:sym typeface="Symbol" pitchFamily="18" charset="2"/>
              </a:rPr>
              <a:t>f(x)=f(x) and f(x)=f(x)</a:t>
            </a:r>
          </a:p>
          <a:p>
            <a:endParaRPr lang="zh-CN" altLang="en-US" dirty="0"/>
          </a:p>
        </p:txBody>
      </p:sp>
    </p:spTree>
    <p:extLst>
      <p:ext uri="{BB962C8B-B14F-4D97-AF65-F5344CB8AC3E}">
        <p14:creationId xmlns:p14="http://schemas.microsoft.com/office/powerpoint/2010/main" val="82951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FD9E71-7AC1-4410-9DE5-4923F22C0D8D}"/>
              </a:ext>
            </a:extLst>
          </p:cNvPr>
          <p:cNvSpPr>
            <a:spLocks noGrp="1"/>
          </p:cNvSpPr>
          <p:nvPr>
            <p:ph type="title"/>
          </p:nvPr>
        </p:nvSpPr>
        <p:spPr/>
        <p:txBody>
          <a:bodyPr/>
          <a:lstStyle/>
          <a:p>
            <a:r>
              <a:rPr lang="zh-CN" altLang="en-US" dirty="0"/>
              <a:t>阶乘</a:t>
            </a:r>
          </a:p>
        </p:txBody>
      </p:sp>
      <p:sp>
        <p:nvSpPr>
          <p:cNvPr id="3" name="内容占位符 2">
            <a:extLst>
              <a:ext uri="{FF2B5EF4-FFF2-40B4-BE49-F238E27FC236}">
                <a16:creationId xmlns:a16="http://schemas.microsoft.com/office/drawing/2014/main" id="{8DD06972-FDDF-449B-8C48-F6B8D583749D}"/>
              </a:ext>
            </a:extLst>
          </p:cNvPr>
          <p:cNvSpPr>
            <a:spLocks noGrp="1"/>
          </p:cNvSpPr>
          <p:nvPr>
            <p:ph idx="1"/>
          </p:nvPr>
        </p:nvSpPr>
        <p:spPr/>
        <p:txBody>
          <a:bodyPr/>
          <a:lstStyle/>
          <a:p>
            <a:r>
              <a:rPr lang="pt-BR" altLang="zh-CN" dirty="0"/>
              <a:t>0!=1</a:t>
            </a:r>
          </a:p>
          <a:p>
            <a:r>
              <a:rPr lang="pt-BR" altLang="zh-CN" dirty="0"/>
              <a:t>n!=n(n-1)! n</a:t>
            </a:r>
            <a:r>
              <a:rPr lang="en-US" altLang="zh-CN" dirty="0"/>
              <a:t>&gt;=</a:t>
            </a:r>
            <a:r>
              <a:rPr lang="pt-BR" altLang="zh-CN" dirty="0"/>
              <a:t>1</a:t>
            </a:r>
          </a:p>
          <a:p>
            <a:endParaRPr lang="pt-BR" altLang="zh-CN" dirty="0"/>
          </a:p>
          <a:p>
            <a:r>
              <a:rPr lang="pt-BR" altLang="zh-CN" dirty="0"/>
              <a:t>Stirling</a:t>
            </a:r>
            <a:r>
              <a:rPr lang="zh-CN" altLang="pt-BR" dirty="0"/>
              <a:t>公式</a:t>
            </a:r>
          </a:p>
          <a:p>
            <a:endParaRPr lang="zh-CN" altLang="en-US" dirty="0"/>
          </a:p>
        </p:txBody>
      </p:sp>
      <mc:AlternateContent xmlns:mc="http://schemas.openxmlformats.org/markup-compatibility/2006">
        <mc:Choice xmlns:a14="http://schemas.microsoft.com/office/drawing/2010/main" Requires="a14">
          <p:sp>
            <p:nvSpPr>
              <p:cNvPr id="4" name="Object 4">
                <a:extLst>
                  <a:ext uri="{FF2B5EF4-FFF2-40B4-BE49-F238E27FC236}">
                    <a16:creationId xmlns:a16="http://schemas.microsoft.com/office/drawing/2014/main" id="{24A7CECC-3F1F-4E73-884A-80D77F70EA3B}"/>
                  </a:ext>
                </a:extLst>
              </p:cNvPr>
              <p:cNvSpPr txBox="1"/>
              <p:nvPr/>
            </p:nvSpPr>
            <p:spPr bwMode="auto">
              <a:xfrm>
                <a:off x="2971798" y="3733799"/>
                <a:ext cx="7567247" cy="244316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ad>
                        <m:radPr>
                          <m:degHide m:val="on"/>
                          <m:ctrlPr>
                            <a:rPr lang="zh-CN" altLang="en-US" sz="2400" i="1">
                              <a:solidFill>
                                <a:srgbClr val="000000"/>
                              </a:solidFill>
                              <a:latin typeface="Cambria Math" panose="02040503050406030204" pitchFamily="18" charset="0"/>
                            </a:rPr>
                          </m:ctrlPr>
                        </m:radPr>
                        <m:deg/>
                        <m:e>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𝜋</m:t>
                          </m:r>
                          <m:r>
                            <a:rPr lang="zh-CN" altLang="en-US" sz="2400" i="1">
                              <a:solidFill>
                                <a:srgbClr val="000000"/>
                              </a:solidFill>
                              <a:latin typeface="Cambria Math" panose="02040503050406030204" pitchFamily="18" charset="0"/>
                            </a:rPr>
                            <m:t>𝑛</m:t>
                          </m:r>
                        </m:e>
                      </m:rad>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𝑛</m:t>
                                  </m:r>
                                </m:num>
                                <m:den>
                                  <m:r>
                                    <a:rPr lang="zh-CN" altLang="en-US" sz="2400" i="1">
                                      <a:solidFill>
                                        <a:srgbClr val="000000"/>
                                      </a:solidFill>
                                      <a:latin typeface="Cambria Math" panose="02040503050406030204" pitchFamily="18" charset="0"/>
                                    </a:rPr>
                                    <m:t>𝑒</m:t>
                                  </m:r>
                                </m:den>
                              </m:f>
                            </m:e>
                          </m:d>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𝑂</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ad>
                        <m:radPr>
                          <m:degHide m:val="on"/>
                          <m:ctrlPr>
                            <a:rPr lang="zh-CN" altLang="en-US" sz="2400" i="1">
                              <a:solidFill>
                                <a:srgbClr val="000000"/>
                              </a:solidFill>
                              <a:latin typeface="Cambria Math" panose="02040503050406030204" pitchFamily="18" charset="0"/>
                            </a:rPr>
                          </m:ctrlPr>
                        </m:radPr>
                        <m:deg/>
                        <m:e>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𝜋</m:t>
                          </m:r>
                          <m:r>
                            <a:rPr lang="zh-CN" altLang="en-US" sz="2400" i="1">
                              <a:solidFill>
                                <a:srgbClr val="000000"/>
                              </a:solidFill>
                              <a:latin typeface="Cambria Math" panose="02040503050406030204" pitchFamily="18" charset="0"/>
                            </a:rPr>
                            <m:t>𝑛</m:t>
                          </m:r>
                        </m:e>
                      </m:rad>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𝑛</m:t>
                                  </m:r>
                                </m:num>
                                <m:den>
                                  <m:r>
                                    <a:rPr lang="zh-CN" altLang="en-US" sz="2400" i="1">
                                      <a:solidFill>
                                        <a:srgbClr val="000000"/>
                                      </a:solidFill>
                                      <a:latin typeface="Cambria Math" panose="02040503050406030204" pitchFamily="18" charset="0"/>
                                    </a:rPr>
                                    <m:t>𝑒</m:t>
                                  </m:r>
                                </m:den>
                              </m:f>
                            </m:e>
                          </m:d>
                        </m:e>
                        <m:sup>
                          <m:r>
                            <a:rPr lang="zh-CN" altLang="en-US" sz="2400" i="1">
                              <a:solidFill>
                                <a:srgbClr val="000000"/>
                              </a:solidFill>
                              <a:latin typeface="Cambria Math" panose="02040503050406030204" pitchFamily="18" charset="0"/>
                            </a:rPr>
                            <m:t>𝑛</m:t>
                          </m:r>
                        </m:sup>
                      </m:sSup>
                    </m:oMath>
                    <m:oMath xmlns:m="http://schemas.openxmlformats.org/officeDocument/2006/math">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Θ</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𝑛</m:t>
                          </m:r>
                        </m:e>
                      </m:func>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4" name="Object 4">
                <a:extLst>
                  <a:ext uri="{FF2B5EF4-FFF2-40B4-BE49-F238E27FC236}">
                    <a16:creationId xmlns:a16="http://schemas.microsoft.com/office/drawing/2014/main" id="{24A7CECC-3F1F-4E73-884A-80D77F70EA3B}"/>
                  </a:ext>
                </a:extLst>
              </p:cNvPr>
              <p:cNvSpPr txBox="1">
                <a:spLocks noRot="1" noChangeAspect="1" noMove="1" noResize="1" noEditPoints="1" noAdjustHandles="1" noChangeArrowheads="1" noChangeShapeType="1" noTextEdit="1"/>
              </p:cNvSpPr>
              <p:nvPr/>
            </p:nvSpPr>
            <p:spPr bwMode="auto">
              <a:xfrm>
                <a:off x="2971798" y="3733799"/>
                <a:ext cx="7567247" cy="2443164"/>
              </a:xfrm>
              <a:prstGeom prst="rect">
                <a:avLst/>
              </a:prstGeom>
              <a:blipFill>
                <a:blip r:embed="rId2"/>
                <a:stretch>
                  <a:fillRect l="-644"/>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868093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98801-B969-45FF-A25F-6491688BB61A}"/>
              </a:ext>
            </a:extLst>
          </p:cNvPr>
          <p:cNvSpPr>
            <a:spLocks noGrp="1"/>
          </p:cNvSpPr>
          <p:nvPr>
            <p:ph type="title"/>
          </p:nvPr>
        </p:nvSpPr>
        <p:spPr/>
        <p:txBody>
          <a:bodyPr/>
          <a:lstStyle/>
          <a:p>
            <a:r>
              <a:rPr lang="zh-CN" altLang="en-US" dirty="0"/>
              <a:t>二项式系数</a:t>
            </a:r>
          </a:p>
        </p:txBody>
      </p:sp>
      <mc:AlternateContent xmlns:mc="http://schemas.openxmlformats.org/markup-compatibility/2006">
        <mc:Choice xmlns:a14="http://schemas.microsoft.com/office/drawing/2010/main" Requires="a14">
          <p:sp>
            <p:nvSpPr>
              <p:cNvPr id="4" name="Object 4">
                <a:extLst>
                  <a:ext uri="{FF2B5EF4-FFF2-40B4-BE49-F238E27FC236}">
                    <a16:creationId xmlns:a16="http://schemas.microsoft.com/office/drawing/2014/main" id="{6D559BDD-26A5-4731-898D-E32E7927978F}"/>
                  </a:ext>
                </a:extLst>
              </p:cNvPr>
              <p:cNvSpPr txBox="1"/>
              <p:nvPr/>
            </p:nvSpPr>
            <p:spPr bwMode="auto">
              <a:xfrm>
                <a:off x="838200" y="1690688"/>
                <a:ext cx="6910754" cy="39814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𝑛</m:t>
                          </m:r>
                        </m:sub>
                        <m:sup>
                          <m:r>
                            <a:rPr lang="zh-CN" altLang="en-US" sz="2400" i="1">
                              <a:solidFill>
                                <a:srgbClr val="000000"/>
                              </a:solidFill>
                              <a:latin typeface="Cambria Math" panose="02040503050406030204" pitchFamily="18" charset="0"/>
                            </a:rPr>
                            <m:t>𝑘</m:t>
                          </m:r>
                        </m:sup>
                      </m:sSubSup>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num>
                        <m:den>
                          <m:r>
                            <a:rPr lang="zh-CN" altLang="en-US" sz="2400" i="1">
                              <a:solidFill>
                                <a:srgbClr val="000000"/>
                              </a:solidFill>
                              <a:latin typeface="Cambria Math" panose="02040503050406030204" pitchFamily="18" charset="0"/>
                            </a:rPr>
                            <m:t>𝑘</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𝑘</m:t>
                          </m:r>
                          <m:r>
                            <a:rPr lang="zh-CN" altLang="en-US" sz="2400" i="1">
                              <a:solidFill>
                                <a:srgbClr val="000000"/>
                              </a:solidFill>
                              <a:latin typeface="Cambria Math" panose="02040503050406030204" pitchFamily="18" charset="0"/>
                            </a:rPr>
                            <m:t>)!</m:t>
                          </m:r>
                        </m:den>
                      </m:f>
                    </m:oMath>
                    <m:oMath xmlns:m="http://schemas.openxmlformats.org/officeDocument/2006/math">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e>
                            </m:mr>
                            <m:mr>
                              <m:e>
                                <m:r>
                                  <a:rPr lang="zh-CN" altLang="en-US" sz="2400" i="1">
                                    <a:solidFill>
                                      <a:srgbClr val="000000"/>
                                    </a:solidFill>
                                    <a:latin typeface="Cambria Math" panose="02040503050406030204" pitchFamily="18" charset="0"/>
                                  </a:rPr>
                                  <m:t>𝑘</m:t>
                                </m:r>
                              </m:e>
                            </m:mr>
                          </m:m>
                        </m:e>
                      </m:d>
                    </m:oMath>
                    <m:oMath xmlns:m="http://schemas.openxmlformats.org/officeDocument/2006/math">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e>
                            </m:mr>
                            <m:mr>
                              <m:e>
                                <m:r>
                                  <a:rPr lang="zh-CN" altLang="en-US" sz="2400" i="1">
                                    <a:solidFill>
                                      <a:srgbClr val="000000"/>
                                    </a:solidFill>
                                    <a:latin typeface="Cambria Math" panose="02040503050406030204" pitchFamily="18" charset="0"/>
                                  </a:rPr>
                                  <m:t>𝑘</m:t>
                                </m:r>
                              </m:e>
                            </m:mr>
                          </m:m>
                        </m:e>
                      </m:d>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e>
                            </m:mr>
                            <m:mr>
                              <m:e>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𝑘</m:t>
                                </m:r>
                              </m:e>
                            </m:mr>
                          </m:m>
                        </m:e>
                      </m:d>
                      <m:r>
                        <m:rPr>
                          <m:nor/>
                        </m:rPr>
                        <a:rPr lang="zh-CN" altLang="en-US" sz="2400" i="0">
                          <a:solidFill>
                            <a:srgbClr val="000000"/>
                          </a:solidFill>
                          <a:latin typeface="Cambria Math" panose="02040503050406030204" pitchFamily="18" charset="0"/>
                        </a:rPr>
                        <m:t>              </m:t>
                      </m:r>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e>
                            </m:mr>
                            <m:mr>
                              <m:e>
                                <m:r>
                                  <a:rPr lang="zh-CN" altLang="en-US" sz="2400" i="1">
                                    <a:solidFill>
                                      <a:srgbClr val="000000"/>
                                    </a:solidFill>
                                    <a:latin typeface="Cambria Math" panose="02040503050406030204" pitchFamily="18" charset="0"/>
                                  </a:rPr>
                                  <m:t>𝑘</m:t>
                                </m:r>
                              </m:e>
                            </m:mr>
                          </m:m>
                        </m:e>
                      </m:d>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e>
                            </m:mr>
                            <m:mr>
                              <m:e>
                                <m:r>
                                  <a:rPr lang="zh-CN" altLang="en-US" sz="2400" i="1">
                                    <a:solidFill>
                                      <a:srgbClr val="000000"/>
                                    </a:solidFill>
                                    <a:latin typeface="Cambria Math" panose="02040503050406030204" pitchFamily="18" charset="0"/>
                                  </a:rPr>
                                  <m:t>𝑘</m:t>
                                </m:r>
                              </m:e>
                            </m:mr>
                          </m:m>
                        </m:e>
                      </m:d>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e>
                            </m:mr>
                            <m:mr>
                              <m:e>
                                <m:r>
                                  <a:rPr lang="zh-CN" altLang="en-US" sz="2400" i="1">
                                    <a:solidFill>
                                      <a:srgbClr val="000000"/>
                                    </a:solidFill>
                                    <a:latin typeface="Cambria Math" panose="02040503050406030204" pitchFamily="18" charset="0"/>
                                  </a:rPr>
                                  <m:t>𝑘</m:t>
                                </m:r>
                                <m:r>
                                  <a:rPr lang="zh-CN" altLang="en-US" sz="2400" i="1">
                                    <a:solidFill>
                                      <a:srgbClr val="000000"/>
                                    </a:solidFill>
                                    <a:latin typeface="Cambria Math" panose="02040503050406030204" pitchFamily="18" charset="0"/>
                                  </a:rPr>
                                  <m:t>−1</m:t>
                                </m:r>
                              </m:e>
                            </m:mr>
                          </m:m>
                        </m:e>
                      </m:d>
                    </m:oMath>
                    <m:oMath xmlns:m="http://schemas.openxmlformats.org/officeDocument/2006/math">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𝑥</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=0</m:t>
                          </m:r>
                        </m:sub>
                        <m:sup>
                          <m:r>
                            <a:rPr lang="zh-CN" altLang="en-US" sz="2400" i="1">
                              <a:solidFill>
                                <a:srgbClr val="000000"/>
                              </a:solidFill>
                              <a:latin typeface="Cambria Math" panose="02040503050406030204" pitchFamily="18" charset="0"/>
                            </a:rPr>
                            <m:t>𝑛</m:t>
                          </m:r>
                        </m:sup>
                        <m:e>
                          <m:d>
                            <m:dPr>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𝑛</m:t>
                                    </m:r>
                                  </m:e>
                                </m:mr>
                                <m:mr>
                                  <m:e>
                                    <m:r>
                                      <a:rPr lang="zh-CN" altLang="en-US" sz="2400" i="1">
                                        <a:solidFill>
                                          <a:srgbClr val="000000"/>
                                        </a:solidFill>
                                        <a:latin typeface="Cambria Math" panose="02040503050406030204" pitchFamily="18" charset="0"/>
                                      </a:rPr>
                                      <m:t>𝑗</m:t>
                                    </m:r>
                                  </m:e>
                                </m:mr>
                              </m:m>
                            </m:e>
                          </m:d>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𝑗</m:t>
                              </m:r>
                            </m:sup>
                          </m:sSup>
                        </m:e>
                      </m:nary>
                    </m:oMath>
                    <m:oMath xmlns:m="http://schemas.openxmlformats.org/officeDocument/2006/math">
                      <m:r>
                        <m:rPr>
                          <m:nor/>
                        </m:rPr>
                        <a:rPr lang="zh-CN" altLang="en-US" sz="2400" i="0">
                          <a:solidFill>
                            <a:srgbClr val="000000"/>
                          </a:solidFill>
                          <a:latin typeface="Cambria Math" panose="02040503050406030204" pitchFamily="18" charset="0"/>
                        </a:rPr>
                        <m:t>Pascal</m:t>
                      </m:r>
                      <m:r>
                        <a:rPr lang="zh-CN" altLang="en-US" sz="2400" i="1">
                          <a:solidFill>
                            <a:srgbClr val="000000"/>
                          </a:solidFill>
                          <a:latin typeface="Cambria Math" panose="02040503050406030204" pitchFamily="18" charset="0"/>
                        </a:rPr>
                        <m:t>三角形</m:t>
                      </m:r>
                    </m:oMath>
                  </m:oMathPara>
                </a14:m>
                <a:endParaRPr lang="zh-CN" altLang="en-US" sz="2400" dirty="0"/>
              </a:p>
            </p:txBody>
          </p:sp>
        </mc:Choice>
        <mc:Fallback>
          <p:sp>
            <p:nvSpPr>
              <p:cNvPr id="4" name="Object 4">
                <a:extLst>
                  <a:ext uri="{FF2B5EF4-FFF2-40B4-BE49-F238E27FC236}">
                    <a16:creationId xmlns:a16="http://schemas.microsoft.com/office/drawing/2014/main" id="{6D559BDD-26A5-4731-898D-E32E7927978F}"/>
                  </a:ext>
                </a:extLst>
              </p:cNvPr>
              <p:cNvSpPr txBox="1">
                <a:spLocks noRot="1" noChangeAspect="1" noMove="1" noResize="1" noEditPoints="1" noAdjustHandles="1" noChangeArrowheads="1" noChangeShapeType="1" noTextEdit="1"/>
              </p:cNvSpPr>
              <p:nvPr/>
            </p:nvSpPr>
            <p:spPr bwMode="auto">
              <a:xfrm>
                <a:off x="838200" y="1690688"/>
                <a:ext cx="6910754" cy="3981450"/>
              </a:xfrm>
              <a:prstGeom prst="rect">
                <a:avLst/>
              </a:prstGeom>
              <a:blipFill>
                <a:blip r:embed="rId2"/>
                <a:stretch>
                  <a:fillRect l="-265"/>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359827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927C34-D31E-487A-881F-902CCE807414}"/>
              </a:ext>
            </a:extLst>
          </p:cNvPr>
          <p:cNvSpPr>
            <a:spLocks noGrp="1"/>
          </p:cNvSpPr>
          <p:nvPr>
            <p:ph type="title"/>
          </p:nvPr>
        </p:nvSpPr>
        <p:spPr/>
        <p:txBody>
          <a:bodyPr/>
          <a:lstStyle/>
          <a:p>
            <a:r>
              <a:rPr lang="zh-CN" altLang="en-US" dirty="0"/>
              <a:t>鸽巢原理</a:t>
            </a:r>
          </a:p>
        </p:txBody>
      </p:sp>
      <p:sp>
        <p:nvSpPr>
          <p:cNvPr id="3" name="内容占位符 2">
            <a:extLst>
              <a:ext uri="{FF2B5EF4-FFF2-40B4-BE49-F238E27FC236}">
                <a16:creationId xmlns:a16="http://schemas.microsoft.com/office/drawing/2014/main" id="{39EDDE15-F318-4DA6-B3B3-9A97A54A3872}"/>
              </a:ext>
            </a:extLst>
          </p:cNvPr>
          <p:cNvSpPr>
            <a:spLocks noGrp="1"/>
          </p:cNvSpPr>
          <p:nvPr>
            <p:ph idx="1"/>
          </p:nvPr>
        </p:nvSpPr>
        <p:spPr/>
        <p:txBody>
          <a:bodyPr/>
          <a:lstStyle/>
          <a:p>
            <a:r>
              <a:rPr lang="zh-CN" altLang="en-US" sz="2800" dirty="0"/>
              <a:t>定理：如果要把</a:t>
            </a:r>
            <a:r>
              <a:rPr lang="en-US" altLang="zh-CN" sz="2800" dirty="0"/>
              <a:t>n</a:t>
            </a:r>
            <a:r>
              <a:rPr lang="zh-CN" altLang="en-US" sz="2800" dirty="0"/>
              <a:t>个球放入</a:t>
            </a:r>
            <a:r>
              <a:rPr lang="en-US" altLang="zh-CN" sz="2800" dirty="0"/>
              <a:t>m</a:t>
            </a:r>
            <a:r>
              <a:rPr lang="zh-CN" altLang="en-US" sz="2800" dirty="0"/>
              <a:t>个盒子中，则</a:t>
            </a:r>
          </a:p>
          <a:p>
            <a:pPr marL="457200" lvl="1" indent="0">
              <a:buNone/>
            </a:pPr>
            <a:r>
              <a:rPr lang="en-US" altLang="zh-CN" dirty="0"/>
              <a:t>1) </a:t>
            </a:r>
            <a:r>
              <a:rPr lang="zh-CN" altLang="en-US" dirty="0"/>
              <a:t>存在一个盒子，至少装了</a:t>
            </a:r>
            <a:r>
              <a:rPr lang="zh-CN" altLang="en-US" dirty="0">
                <a:sym typeface="Symbol" pitchFamily="18" charset="2"/>
              </a:rPr>
              <a:t></a:t>
            </a:r>
            <a:r>
              <a:rPr lang="en-US" altLang="zh-CN" dirty="0">
                <a:sym typeface="Symbol" pitchFamily="18" charset="2"/>
              </a:rPr>
              <a:t>n/m</a:t>
            </a:r>
            <a:r>
              <a:rPr lang="zh-CN" altLang="en-US" dirty="0">
                <a:sym typeface="Symbol" pitchFamily="18" charset="2"/>
              </a:rPr>
              <a:t>个球</a:t>
            </a:r>
          </a:p>
          <a:p>
            <a:pPr marL="457200" lvl="1" indent="0">
              <a:buNone/>
            </a:pPr>
            <a:r>
              <a:rPr lang="en-US" altLang="zh-CN" dirty="0">
                <a:sym typeface="Symbol" pitchFamily="18" charset="2"/>
              </a:rPr>
              <a:t>2) </a:t>
            </a:r>
            <a:r>
              <a:rPr lang="zh-CN" altLang="en-US" dirty="0"/>
              <a:t>存在一个盒子，至多装了</a:t>
            </a:r>
            <a:r>
              <a:rPr lang="zh-CN" altLang="en-US" dirty="0">
                <a:sym typeface="Symbol" pitchFamily="18" charset="2"/>
              </a:rPr>
              <a:t></a:t>
            </a:r>
            <a:r>
              <a:rPr lang="en-US" altLang="zh-CN" dirty="0">
                <a:sym typeface="Symbol" pitchFamily="18" charset="2"/>
              </a:rPr>
              <a:t>n/m</a:t>
            </a:r>
            <a:r>
              <a:rPr lang="zh-CN" altLang="en-US" dirty="0">
                <a:sym typeface="Symbol" pitchFamily="18" charset="2"/>
              </a:rPr>
              <a:t>个球</a:t>
            </a:r>
          </a:p>
          <a:p>
            <a:endParaRPr lang="zh-CN" altLang="en-US" dirty="0"/>
          </a:p>
        </p:txBody>
      </p:sp>
    </p:spTree>
    <p:extLst>
      <p:ext uri="{BB962C8B-B14F-4D97-AF65-F5344CB8AC3E}">
        <p14:creationId xmlns:p14="http://schemas.microsoft.com/office/powerpoint/2010/main" val="1604427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E9A171-2C8E-4590-9047-2921B6DE5BBA}"/>
              </a:ext>
            </a:extLst>
          </p:cNvPr>
          <p:cNvSpPr>
            <a:spLocks noGrp="1"/>
          </p:cNvSpPr>
          <p:nvPr>
            <p:ph type="title"/>
          </p:nvPr>
        </p:nvSpPr>
        <p:spPr/>
        <p:txBody>
          <a:bodyPr/>
          <a:lstStyle/>
          <a:p>
            <a:r>
              <a:rPr lang="zh-CN" altLang="en-US" dirty="0"/>
              <a:t>和式</a:t>
            </a:r>
          </a:p>
        </p:txBody>
      </p:sp>
      <mc:AlternateContent xmlns:mc="http://schemas.openxmlformats.org/markup-compatibility/2006" xmlns:a14="http://schemas.microsoft.com/office/drawing/2010/main">
        <mc:Choice Requires="a14">
          <p:sp>
            <p:nvSpPr>
              <p:cNvPr id="4" name="Object 0">
                <a:extLst>
                  <a:ext uri="{FF2B5EF4-FFF2-40B4-BE49-F238E27FC236}">
                    <a16:creationId xmlns:a16="http://schemas.microsoft.com/office/drawing/2014/main" id="{0AA4D8B6-FAFA-4524-A5CD-F32FF45D20E2}"/>
                  </a:ext>
                </a:extLst>
              </p:cNvPr>
              <p:cNvSpPr txBox="1"/>
              <p:nvPr/>
            </p:nvSpPr>
            <p:spPr bwMode="auto">
              <a:xfrm>
                <a:off x="838200" y="1690688"/>
                <a:ext cx="4972050" cy="495300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b>
                          </m:sSub>
                        </m:e>
                      </m:nary>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or</m:t>
                      </m:r>
                      <m:r>
                        <m:rPr>
                          <m:nor/>
                        </m:rPr>
                        <a:rPr lang="zh-CN" altLang="en-US" i="0">
                          <a:solidFill>
                            <a:srgbClr val="000000"/>
                          </a:solidFill>
                          <a:latin typeface="Cambria Math" panose="02040503050406030204" pitchFamily="18" charset="0"/>
                        </a:rPr>
                        <m:t>  </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b>
                          </m:sSub>
                        </m:e>
                      </m:nary>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𝑗</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𝑗</m:t>
                              </m:r>
                            </m:e>
                            <m:sup>
                              <m:r>
                                <a:rPr lang="zh-CN" altLang="en-US" i="1">
                                  <a:solidFill>
                                    <a:srgbClr val="000000"/>
                                  </a:solidFill>
                                  <a:latin typeface="Cambria Math" panose="02040503050406030204" pitchFamily="18" charset="0"/>
                                </a:rPr>
                                <m:t>2</m:t>
                              </m:r>
                            </m:sup>
                          </m:sSup>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6</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𝑗</m:t>
                              </m:r>
                            </m:sup>
                          </m:sSup>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−1</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≠1</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den>
                          </m:f>
                        </m:e>
                      </m:nary>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r>
                            <a:rPr lang="zh-CN" altLang="en-US" i="1">
                              <a:solidFill>
                                <a:srgbClr val="000000"/>
                              </a:solidFill>
                              <a:latin typeface="Cambria Math" panose="02040503050406030204" pitchFamily="18" charset="0"/>
                            </a:rPr>
                            <m:t>𝑛</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𝛾</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Euler</m:t>
                      </m:r>
                      <m:r>
                        <a:rPr lang="zh-CN" altLang="en-US" i="1">
                          <a:solidFill>
                            <a:srgbClr val="000000"/>
                          </a:solidFill>
                          <a:latin typeface="Cambria Math" panose="02040503050406030204" pitchFamily="18" charset="0"/>
                        </a:rPr>
                        <m:t>常数</m:t>
                      </m:r>
                      <m:r>
                        <a:rPr lang="zh-CN" altLang="en-US" i="1">
                          <a:solidFill>
                            <a:srgbClr val="000000"/>
                          </a:solidFill>
                          <a:latin typeface="Cambria Math" panose="02040503050406030204" pitchFamily="18" charset="0"/>
                        </a:rPr>
                        <m:t>𝛾</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0.577...</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𝑗</m:t>
                              </m:r>
                            </m:sup>
                          </m:sSup>
                        </m:e>
                      </m:nary>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−1=</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𝑗</m:t>
                                  </m:r>
                                </m:sup>
                              </m:sSup>
                            </m:den>
                          </m:f>
                        </m:e>
                      </m:nary>
                      <m:r>
                        <a:rPr lang="zh-CN" altLang="en-US" i="1">
                          <a:solidFill>
                            <a:srgbClr val="000000"/>
                          </a:solidFill>
                          <a:latin typeface="Cambria Math" panose="02040503050406030204" pitchFamily="18" charset="0"/>
                        </a:rPr>
                        <m:t>=2−</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sup>
                          </m:sSup>
                        </m:den>
                      </m:f>
                      <m:r>
                        <a:rPr lang="zh-CN" altLang="en-US" i="1">
                          <a:solidFill>
                            <a:srgbClr val="000000"/>
                          </a:solidFill>
                          <a:latin typeface="Cambria Math" panose="02040503050406030204" pitchFamily="18" charset="0"/>
                        </a:rPr>
                        <m:t>&lt;2=</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(1)</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𝑗</m:t>
                              </m:r>
                            </m:sup>
                          </m:sSup>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|&lt;1</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𝑗</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𝑗</m:t>
                              </m:r>
                            </m:sup>
                          </m:sSup>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≠1</m:t>
                      </m:r>
                    </m:oMath>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𝑗</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𝑗</m:t>
                                  </m:r>
                                </m:sup>
                              </m:sSup>
                            </m:den>
                          </m:f>
                        </m:e>
                      </m:nary>
                      <m:r>
                        <a:rPr lang="zh-CN" altLang="en-US" i="1">
                          <a:solidFill>
                            <a:srgbClr val="000000"/>
                          </a:solidFill>
                          <a:latin typeface="Cambria Math" panose="02040503050406030204" pitchFamily="18" charset="0"/>
                        </a:rPr>
                        <m:t>=2−</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𝑛</m:t>
                              </m:r>
                            </m:sup>
                          </m:sSup>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        </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𝑗</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𝑗</m:t>
                              </m:r>
                            </m:sup>
                          </m:sSup>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𝑐</m:t>
                          </m:r>
                        </m:num>
                        <m:den>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𝑐</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Θ</m:t>
                      </m:r>
                      <m:r>
                        <a:rPr lang="zh-CN" altLang="en-US" i="1">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|&lt;1</m:t>
                      </m:r>
                    </m:oMath>
                  </m:oMathPara>
                </a14:m>
                <a:endParaRPr lang="zh-CN" altLang="en-US" dirty="0"/>
              </a:p>
            </p:txBody>
          </p:sp>
        </mc:Choice>
        <mc:Fallback xmlns="">
          <p:sp>
            <p:nvSpPr>
              <p:cNvPr id="4" name="Object 0">
                <a:extLst>
                  <a:ext uri="{FF2B5EF4-FFF2-40B4-BE49-F238E27FC236}">
                    <a16:creationId xmlns:a16="http://schemas.microsoft.com/office/drawing/2014/main" id="{0AA4D8B6-FAFA-4524-A5CD-F32FF45D20E2}"/>
                  </a:ext>
                </a:extLst>
              </p:cNvPr>
              <p:cNvSpPr txBox="1">
                <a:spLocks noRot="1" noChangeAspect="1" noMove="1" noResize="1" noEditPoints="1" noAdjustHandles="1" noChangeArrowheads="1" noChangeShapeType="1" noTextEdit="1"/>
              </p:cNvSpPr>
              <p:nvPr/>
            </p:nvSpPr>
            <p:spPr bwMode="auto">
              <a:xfrm>
                <a:off x="838200" y="1690688"/>
                <a:ext cx="4972050" cy="4953000"/>
              </a:xfrm>
              <a:prstGeom prst="rect">
                <a:avLst/>
              </a:prstGeom>
              <a:blipFill>
                <a:blip r:embed="rId2"/>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163449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B7E09D-8BAF-479A-B25F-9CF8553910F4}"/>
              </a:ext>
            </a:extLst>
          </p:cNvPr>
          <p:cNvSpPr>
            <a:spLocks noGrp="1"/>
          </p:cNvSpPr>
          <p:nvPr>
            <p:ph type="title"/>
          </p:nvPr>
        </p:nvSpPr>
        <p:spPr/>
        <p:txBody>
          <a:bodyPr/>
          <a:lstStyle/>
          <a:p>
            <a:r>
              <a:rPr lang="zh-CN" altLang="en-US" dirty="0"/>
              <a:t>求和的积分近似</a:t>
            </a:r>
          </a:p>
        </p:txBody>
      </p:sp>
      <p:sp>
        <p:nvSpPr>
          <p:cNvPr id="3" name="内容占位符 2">
            <a:extLst>
              <a:ext uri="{FF2B5EF4-FFF2-40B4-BE49-F238E27FC236}">
                <a16:creationId xmlns:a16="http://schemas.microsoft.com/office/drawing/2014/main" id="{1D606834-4E45-444D-B74A-4AB23DF19BFF}"/>
              </a:ext>
            </a:extLst>
          </p:cNvPr>
          <p:cNvSpPr>
            <a:spLocks noGrp="1"/>
          </p:cNvSpPr>
          <p:nvPr>
            <p:ph idx="1"/>
          </p:nvPr>
        </p:nvSpPr>
        <p:spPr/>
        <p:txBody>
          <a:bodyPr/>
          <a:lstStyle/>
          <a:p>
            <a:r>
              <a:rPr lang="en-US" altLang="zh-CN" dirty="0"/>
              <a:t>f(x)</a:t>
            </a:r>
            <a:r>
              <a:rPr lang="zh-CN" altLang="en-US" dirty="0"/>
              <a:t>是单调递减的连续函数，则</a:t>
            </a:r>
          </a:p>
          <a:p>
            <a:endParaRPr lang="zh-CN" altLang="en-US" dirty="0"/>
          </a:p>
          <a:p>
            <a:endParaRPr lang="zh-CN" altLang="en-US" dirty="0"/>
          </a:p>
          <a:p>
            <a:endParaRPr lang="en-US" altLang="zh-CN" dirty="0"/>
          </a:p>
          <a:p>
            <a:r>
              <a:rPr lang="en-US" altLang="zh-CN" dirty="0"/>
              <a:t>f(x)</a:t>
            </a:r>
            <a:r>
              <a:rPr lang="zh-CN" altLang="en-US" dirty="0"/>
              <a:t>是单调递增的连续函数，则</a:t>
            </a:r>
            <a:endParaRPr lang="en-US" altLang="zh-CN" dirty="0"/>
          </a:p>
          <a:p>
            <a:endParaRPr lang="zh-CN" altLang="en-US" dirty="0"/>
          </a:p>
          <a:p>
            <a:endParaRPr lang="zh-CN" altLang="en-US" dirty="0"/>
          </a:p>
        </p:txBody>
      </p:sp>
      <mc:AlternateContent xmlns:mc="http://schemas.openxmlformats.org/markup-compatibility/2006">
        <mc:Choice xmlns:a14="http://schemas.microsoft.com/office/drawing/2010/main" Requires="a14">
          <p:sp>
            <p:nvSpPr>
              <p:cNvPr id="4" name="Object 0">
                <a:extLst>
                  <a:ext uri="{FF2B5EF4-FFF2-40B4-BE49-F238E27FC236}">
                    <a16:creationId xmlns:a16="http://schemas.microsoft.com/office/drawing/2014/main" id="{BCB2D4EE-31FC-4703-AA80-85941C7C840E}"/>
                  </a:ext>
                </a:extLst>
              </p:cNvPr>
              <p:cNvSpPr txBox="1"/>
              <p:nvPr/>
            </p:nvSpPr>
            <p:spPr bwMode="auto">
              <a:xfrm>
                <a:off x="3648074" y="4170783"/>
                <a:ext cx="5601433" cy="903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𝑛</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m:t>
                          </m:r>
                        </m:e>
                      </m:nary>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sub>
                        <m:sup>
                          <m:r>
                            <a:rPr lang="zh-CN" altLang="en-US" sz="2400" i="1">
                              <a:solidFill>
                                <a:srgbClr val="000000"/>
                              </a:solidFill>
                              <a:latin typeface="Cambria Math" panose="02040503050406030204" pitchFamily="18" charset="0"/>
                            </a:rPr>
                            <m:t>𝑛</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m:t>
                          </m:r>
                        </m:e>
                      </m:nary>
                      <m:r>
                        <a:rPr lang="zh-CN" altLang="en-US" sz="2400" i="1">
                          <a:solidFill>
                            <a:srgbClr val="000000"/>
                          </a:solidFill>
                          <a:latin typeface="Cambria Math" panose="02040503050406030204" pitchFamily="18" charset="0"/>
                        </a:rPr>
                        <m:t>≤</m:t>
                      </m:r>
                      <m:nary>
                        <m:naryP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sub>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m:t>
                          </m:r>
                        </m:e>
                      </m:nary>
                    </m:oMath>
                  </m:oMathPara>
                </a14:m>
                <a:endParaRPr lang="zh-CN" altLang="en-US" sz="2400" dirty="0"/>
              </a:p>
            </p:txBody>
          </p:sp>
        </mc:Choice>
        <mc:Fallback>
          <p:sp>
            <p:nvSpPr>
              <p:cNvPr id="4" name="Object 0">
                <a:extLst>
                  <a:ext uri="{FF2B5EF4-FFF2-40B4-BE49-F238E27FC236}">
                    <a16:creationId xmlns:a16="http://schemas.microsoft.com/office/drawing/2014/main" id="{BCB2D4EE-31FC-4703-AA80-85941C7C840E}"/>
                  </a:ext>
                </a:extLst>
              </p:cNvPr>
              <p:cNvSpPr txBox="1">
                <a:spLocks noRot="1" noChangeAspect="1" noMove="1" noResize="1" noEditPoints="1" noAdjustHandles="1" noChangeArrowheads="1" noChangeShapeType="1" noTextEdit="1"/>
              </p:cNvSpPr>
              <p:nvPr/>
            </p:nvSpPr>
            <p:spPr bwMode="auto">
              <a:xfrm>
                <a:off x="3648074" y="4170783"/>
                <a:ext cx="5601433" cy="903288"/>
              </a:xfrm>
              <a:prstGeom prst="rect">
                <a:avLst/>
              </a:prstGeom>
              <a:blipFill>
                <a:blip r:embed="rId2"/>
                <a:stretch>
                  <a:fillRect b="-2027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1">
                <a:extLst>
                  <a:ext uri="{FF2B5EF4-FFF2-40B4-BE49-F238E27FC236}">
                    <a16:creationId xmlns:a16="http://schemas.microsoft.com/office/drawing/2014/main" id="{8BAFB4D6-7EF5-476A-83FE-DEC24104D422}"/>
                  </a:ext>
                </a:extLst>
              </p:cNvPr>
              <p:cNvSpPr txBox="1"/>
              <p:nvPr/>
            </p:nvSpPr>
            <p:spPr bwMode="auto">
              <a:xfrm>
                <a:off x="3637879" y="2439500"/>
                <a:ext cx="6326735" cy="9191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sub>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+1</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m:t>
                          </m:r>
                        </m:e>
                      </m:nary>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sub>
                        <m:sup>
                          <m:r>
                            <a:rPr lang="zh-CN" altLang="en-US" sz="2400" i="1">
                              <a:solidFill>
                                <a:srgbClr val="000000"/>
                              </a:solidFill>
                              <a:latin typeface="Cambria Math" panose="02040503050406030204" pitchFamily="18" charset="0"/>
                            </a:rPr>
                            <m:t>𝑛</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m:t>
                          </m:r>
                        </m:e>
                      </m:nary>
                      <m:r>
                        <a:rPr lang="zh-CN" altLang="en-US" sz="2400" i="1">
                          <a:solidFill>
                            <a:srgbClr val="000000"/>
                          </a:solidFill>
                          <a:latin typeface="Cambria Math" panose="02040503050406030204" pitchFamily="18" charset="0"/>
                        </a:rPr>
                        <m:t>≤</m:t>
                      </m:r>
                      <m:nary>
                        <m:naryP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𝑛</m:t>
                          </m:r>
                        </m:sup>
                        <m:e>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𝑑𝑥</m:t>
                          </m:r>
                        </m:e>
                      </m:nary>
                    </m:oMath>
                  </m:oMathPara>
                </a14:m>
                <a:endParaRPr lang="zh-CN" altLang="en-US" sz="2400" dirty="0"/>
              </a:p>
            </p:txBody>
          </p:sp>
        </mc:Choice>
        <mc:Fallback>
          <p:sp>
            <p:nvSpPr>
              <p:cNvPr id="5" name="Object 1">
                <a:extLst>
                  <a:ext uri="{FF2B5EF4-FFF2-40B4-BE49-F238E27FC236}">
                    <a16:creationId xmlns:a16="http://schemas.microsoft.com/office/drawing/2014/main" id="{8BAFB4D6-7EF5-476A-83FE-DEC24104D422}"/>
                  </a:ext>
                </a:extLst>
              </p:cNvPr>
              <p:cNvSpPr txBox="1">
                <a:spLocks noRot="1" noChangeAspect="1" noMove="1" noResize="1" noEditPoints="1" noAdjustHandles="1" noChangeArrowheads="1" noChangeShapeType="1" noTextEdit="1"/>
              </p:cNvSpPr>
              <p:nvPr/>
            </p:nvSpPr>
            <p:spPr bwMode="auto">
              <a:xfrm>
                <a:off x="3637879" y="2439500"/>
                <a:ext cx="6326735" cy="919162"/>
              </a:xfrm>
              <a:prstGeom prst="rect">
                <a:avLst/>
              </a:prstGeom>
              <a:blipFill>
                <a:blip r:embed="rId3"/>
                <a:stretch>
                  <a:fillRect b="-17881"/>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329059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E4FC47-8B44-4207-BD5F-7089C0B0D07C}"/>
              </a:ext>
            </a:extLst>
          </p:cNvPr>
          <p:cNvSpPr>
            <a:spLocks noGrp="1"/>
          </p:cNvSpPr>
          <p:nvPr>
            <p:ph type="title"/>
          </p:nvPr>
        </p:nvSpPr>
        <p:spPr/>
        <p:txBody>
          <a:bodyPr/>
          <a:lstStyle/>
          <a:p>
            <a:r>
              <a:rPr lang="zh-CN" altLang="en-US" dirty="0"/>
              <a:t>递推关系</a:t>
            </a:r>
          </a:p>
        </p:txBody>
      </p:sp>
      <p:sp>
        <p:nvSpPr>
          <p:cNvPr id="3" name="内容占位符 2">
            <a:extLst>
              <a:ext uri="{FF2B5EF4-FFF2-40B4-BE49-F238E27FC236}">
                <a16:creationId xmlns:a16="http://schemas.microsoft.com/office/drawing/2014/main" id="{DA18D19B-CCE1-47B1-AD62-C70385E1096F}"/>
              </a:ext>
            </a:extLst>
          </p:cNvPr>
          <p:cNvSpPr>
            <a:spLocks noGrp="1"/>
          </p:cNvSpPr>
          <p:nvPr>
            <p:ph idx="1"/>
          </p:nvPr>
        </p:nvSpPr>
        <p:spPr/>
        <p:txBody>
          <a:bodyPr/>
          <a:lstStyle/>
          <a:p>
            <a:r>
              <a:rPr lang="zh-CN" altLang="en-US" dirty="0"/>
              <a:t>递推关系（</a:t>
            </a:r>
            <a:r>
              <a:rPr lang="en-US" altLang="zh-CN" dirty="0"/>
              <a:t>Recurrence relation</a:t>
            </a:r>
            <a:r>
              <a:rPr lang="zh-CN" altLang="en-US" dirty="0"/>
              <a:t>，也称递归关系）是一种函数定义方式，其在函数的定义体中包含了函数本身。</a:t>
            </a:r>
            <a:endParaRPr lang="en-US" altLang="zh-CN" dirty="0"/>
          </a:p>
          <a:p>
            <a:r>
              <a:rPr lang="zh-CN" altLang="en-US" dirty="0"/>
              <a:t>最著名的递推关系</a:t>
            </a:r>
          </a:p>
          <a:p>
            <a:pPr marL="0" indent="0">
              <a:buNone/>
            </a:pPr>
            <a:r>
              <a:rPr lang="zh-CN" altLang="en-US" dirty="0"/>
              <a:t>        </a:t>
            </a:r>
            <a:r>
              <a:rPr lang="en-US" altLang="zh-CN" dirty="0"/>
              <a:t>F(n)=F(n-1)+F(n-2)</a:t>
            </a:r>
            <a:r>
              <a:rPr lang="zh-CN" altLang="en-US" dirty="0"/>
              <a:t>，</a:t>
            </a:r>
            <a:r>
              <a:rPr lang="en-US" altLang="zh-CN" dirty="0"/>
              <a:t>F(1)=1</a:t>
            </a:r>
            <a:r>
              <a:rPr lang="zh-CN" altLang="en-US" dirty="0"/>
              <a:t>，</a:t>
            </a:r>
            <a:r>
              <a:rPr lang="en-US" altLang="zh-CN" dirty="0"/>
              <a:t>F(2)=1</a:t>
            </a:r>
          </a:p>
          <a:p>
            <a:r>
              <a:rPr lang="zh-CN" altLang="en-US" dirty="0"/>
              <a:t>如果有一个</a:t>
            </a:r>
            <a:r>
              <a:rPr lang="en-US" altLang="zh-CN" dirty="0"/>
              <a:t>F(n)</a:t>
            </a:r>
            <a:r>
              <a:rPr lang="zh-CN" altLang="en-US" dirty="0"/>
              <a:t>的显式</a:t>
            </a:r>
            <a:r>
              <a:rPr lang="en-US" altLang="zh-CN" dirty="0"/>
              <a:t>(</a:t>
            </a:r>
            <a:r>
              <a:rPr lang="zh-CN" altLang="en-US" dirty="0"/>
              <a:t>或称闭形式的</a:t>
            </a:r>
            <a:r>
              <a:rPr lang="en-US" altLang="zh-CN" dirty="0"/>
              <a:t>)</a:t>
            </a:r>
            <a:r>
              <a:rPr lang="zh-CN" altLang="en-US" dirty="0"/>
              <a:t>表达式，就可以快速计算出</a:t>
            </a:r>
            <a:r>
              <a:rPr lang="en-US" altLang="zh-CN" dirty="0"/>
              <a:t>F(n)</a:t>
            </a:r>
            <a:r>
              <a:rPr lang="zh-CN" altLang="en-US" dirty="0"/>
              <a:t>并与其它函数相比较。由递推关系求出显式表达式这个过程称为求解递推关系。</a:t>
            </a:r>
          </a:p>
          <a:p>
            <a:endParaRPr lang="zh-CN" altLang="en-US" dirty="0"/>
          </a:p>
        </p:txBody>
      </p:sp>
    </p:spTree>
    <p:extLst>
      <p:ext uri="{BB962C8B-B14F-4D97-AF65-F5344CB8AC3E}">
        <p14:creationId xmlns:p14="http://schemas.microsoft.com/office/powerpoint/2010/main" val="3706837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774C6-D5E9-45D9-96E4-BF045B2689E1}"/>
              </a:ext>
            </a:extLst>
          </p:cNvPr>
          <p:cNvSpPr>
            <a:spLocks noGrp="1"/>
          </p:cNvSpPr>
          <p:nvPr>
            <p:ph type="title"/>
          </p:nvPr>
        </p:nvSpPr>
        <p:spPr/>
        <p:txBody>
          <a:bodyPr/>
          <a:lstStyle/>
          <a:p>
            <a:r>
              <a:rPr lang="zh-CN" altLang="en-US" dirty="0"/>
              <a:t>巧妙地猜测</a:t>
            </a:r>
          </a:p>
        </p:txBody>
      </p:sp>
      <p:sp>
        <p:nvSpPr>
          <p:cNvPr id="3" name="内容占位符 2">
            <a:extLst>
              <a:ext uri="{FF2B5EF4-FFF2-40B4-BE49-F238E27FC236}">
                <a16:creationId xmlns:a16="http://schemas.microsoft.com/office/drawing/2014/main" id="{03BA75CC-8DCE-41AB-B6B6-032CA73D170E}"/>
              </a:ext>
            </a:extLst>
          </p:cNvPr>
          <p:cNvSpPr>
            <a:spLocks noGrp="1"/>
          </p:cNvSpPr>
          <p:nvPr>
            <p:ph idx="1"/>
          </p:nvPr>
        </p:nvSpPr>
        <p:spPr/>
        <p:txBody>
          <a:bodyPr/>
          <a:lstStyle/>
          <a:p>
            <a:pPr algn="just"/>
            <a:r>
              <a:rPr lang="zh-CN" altLang="en-US" sz="2800" dirty="0">
                <a:solidFill>
                  <a:srgbClr val="000000"/>
                </a:solidFill>
              </a:rPr>
              <a:t>猜测一个问题的解是一个科学的方法吗？</a:t>
            </a:r>
          </a:p>
          <a:p>
            <a:pPr marL="0" indent="0" algn="just">
              <a:buNone/>
            </a:pPr>
            <a:r>
              <a:rPr lang="zh-CN" altLang="en-US" sz="2800" dirty="0">
                <a:solidFill>
                  <a:srgbClr val="000000"/>
                </a:solidFill>
              </a:rPr>
              <a:t>        </a:t>
            </a:r>
            <a:r>
              <a:rPr lang="en-US" altLang="zh-CN" sz="2800" dirty="0">
                <a:solidFill>
                  <a:srgbClr val="000000"/>
                </a:solidFill>
              </a:rPr>
              <a:t>T(2n)</a:t>
            </a:r>
            <a:r>
              <a:rPr lang="en-US" altLang="zh-CN" sz="2800" dirty="0">
                <a:solidFill>
                  <a:srgbClr val="000000"/>
                </a:solidFill>
                <a:sym typeface="Symbol" pitchFamily="18" charset="2"/>
              </a:rPr>
              <a:t>2T(n)+2n-1, T(2)=1</a:t>
            </a:r>
          </a:p>
          <a:p>
            <a:pPr marL="0" indent="0" algn="just">
              <a:buNone/>
            </a:pPr>
            <a:r>
              <a:rPr lang="en-US" altLang="zh-CN" sz="2800" dirty="0">
                <a:solidFill>
                  <a:srgbClr val="000000"/>
                </a:solidFill>
                <a:sym typeface="Symbol" pitchFamily="18" charset="2"/>
              </a:rPr>
              <a:t>        T(n)=O(</a:t>
            </a:r>
            <a:r>
              <a:rPr lang="en-US" altLang="zh-CN" sz="2800" dirty="0" err="1">
                <a:solidFill>
                  <a:srgbClr val="000000"/>
                </a:solidFill>
                <a:sym typeface="Symbol" pitchFamily="18" charset="2"/>
              </a:rPr>
              <a:t>nlogn</a:t>
            </a:r>
            <a:r>
              <a:rPr lang="en-US" altLang="zh-CN" sz="2800" dirty="0">
                <a:solidFill>
                  <a:srgbClr val="000000"/>
                </a:solidFill>
                <a:sym typeface="Symbol" pitchFamily="18" charset="2"/>
              </a:rPr>
              <a:t>)</a:t>
            </a:r>
            <a:endParaRPr lang="en-US" altLang="zh-CN" sz="2800" dirty="0">
              <a:solidFill>
                <a:srgbClr val="000000"/>
              </a:solidFill>
            </a:endParaRPr>
          </a:p>
          <a:p>
            <a:pPr algn="just"/>
            <a:endParaRPr lang="en-US" altLang="zh-CN" sz="2800" dirty="0">
              <a:solidFill>
                <a:srgbClr val="000000"/>
              </a:solidFill>
            </a:endParaRPr>
          </a:p>
          <a:p>
            <a:pPr algn="just"/>
            <a:r>
              <a:rPr lang="zh-CN" altLang="en-US" sz="2800" dirty="0">
                <a:solidFill>
                  <a:srgbClr val="000000"/>
                </a:solidFill>
              </a:rPr>
              <a:t>一个常见的错误是试图证明相反的一面</a:t>
            </a:r>
          </a:p>
          <a:p>
            <a:pPr algn="just"/>
            <a:r>
              <a:rPr lang="zh-CN" altLang="en-US" sz="2800" dirty="0">
                <a:solidFill>
                  <a:srgbClr val="000000"/>
                </a:solidFill>
              </a:rPr>
              <a:t>另一个错误是当进行猜测时使用符号</a:t>
            </a:r>
            <a:r>
              <a:rPr lang="en-US" altLang="zh-CN" sz="2800" dirty="0">
                <a:solidFill>
                  <a:srgbClr val="000000"/>
                </a:solidFill>
              </a:rPr>
              <a:t>O</a:t>
            </a:r>
          </a:p>
          <a:p>
            <a:pPr algn="just"/>
            <a:endParaRPr lang="en-US" altLang="zh-CN" sz="2800" dirty="0">
              <a:solidFill>
                <a:srgbClr val="000000"/>
              </a:solidFill>
            </a:endParaRPr>
          </a:p>
          <a:p>
            <a:pPr algn="just"/>
            <a:r>
              <a:rPr lang="zh-CN" altLang="en-US" sz="2800" dirty="0">
                <a:solidFill>
                  <a:srgbClr val="000000"/>
                </a:solidFill>
              </a:rPr>
              <a:t>注：诸如</a:t>
            </a:r>
            <a:r>
              <a:rPr lang="en-US" altLang="zh-CN" sz="2800" dirty="0">
                <a:solidFill>
                  <a:srgbClr val="000000"/>
                </a:solidFill>
              </a:rPr>
              <a:t>O(n)</a:t>
            </a:r>
            <a:r>
              <a:rPr lang="zh-CN" altLang="en-US" sz="2800" dirty="0">
                <a:solidFill>
                  <a:srgbClr val="000000"/>
                </a:solidFill>
              </a:rPr>
              <a:t>这种形式可能蕴含很大的系数和常数项，从而</a:t>
            </a:r>
            <a:r>
              <a:rPr lang="en-US" altLang="zh-CN" sz="2800" dirty="0">
                <a:solidFill>
                  <a:srgbClr val="000000"/>
                </a:solidFill>
              </a:rPr>
              <a:t>c*</a:t>
            </a:r>
            <a:r>
              <a:rPr lang="en-US" altLang="zh-CN" sz="2800" dirty="0" err="1">
                <a:solidFill>
                  <a:srgbClr val="000000"/>
                </a:solidFill>
              </a:rPr>
              <a:t>n+O</a:t>
            </a:r>
            <a:r>
              <a:rPr lang="en-US" altLang="zh-CN" sz="2800" dirty="0">
                <a:solidFill>
                  <a:srgbClr val="000000"/>
                </a:solidFill>
              </a:rPr>
              <a:t>(n)&lt;=c*n</a:t>
            </a:r>
            <a:r>
              <a:rPr lang="zh-CN" altLang="en-US" sz="2800" dirty="0">
                <a:solidFill>
                  <a:srgbClr val="000000"/>
                </a:solidFill>
              </a:rPr>
              <a:t>这个不等式不一定成立</a:t>
            </a:r>
          </a:p>
          <a:p>
            <a:pPr algn="just"/>
            <a:r>
              <a:rPr lang="zh-CN" altLang="en-US" sz="2800" dirty="0">
                <a:solidFill>
                  <a:srgbClr val="000000"/>
                </a:solidFill>
              </a:rPr>
              <a:t>要证明</a:t>
            </a:r>
            <a:r>
              <a:rPr lang="en-US" altLang="zh-CN" sz="2800" dirty="0">
                <a:solidFill>
                  <a:srgbClr val="000000"/>
                </a:solidFill>
              </a:rPr>
              <a:t>T(n)=O(n)</a:t>
            </a:r>
            <a:r>
              <a:rPr lang="zh-CN" altLang="en-US" sz="2800" dirty="0">
                <a:solidFill>
                  <a:srgbClr val="000000"/>
                </a:solidFill>
              </a:rPr>
              <a:t>，需要通过证明</a:t>
            </a:r>
            <a:r>
              <a:rPr lang="en-US" altLang="zh-CN" sz="2800" dirty="0">
                <a:solidFill>
                  <a:srgbClr val="000000"/>
                </a:solidFill>
              </a:rPr>
              <a:t>T(n)&lt;=</a:t>
            </a:r>
            <a:r>
              <a:rPr lang="en-US" altLang="zh-CN" sz="2800" dirty="0" err="1">
                <a:solidFill>
                  <a:srgbClr val="000000"/>
                </a:solidFill>
              </a:rPr>
              <a:t>cn</a:t>
            </a:r>
            <a:r>
              <a:rPr lang="zh-CN" altLang="en-US" sz="2800" dirty="0">
                <a:solidFill>
                  <a:srgbClr val="000000"/>
                </a:solidFill>
              </a:rPr>
              <a:t>来完成</a:t>
            </a:r>
          </a:p>
          <a:p>
            <a:pPr algn="just"/>
            <a:endParaRPr lang="en-US" altLang="zh-CN" sz="2800" dirty="0">
              <a:solidFill>
                <a:srgbClr val="000000"/>
              </a:solidFill>
            </a:endParaRPr>
          </a:p>
          <a:p>
            <a:endParaRPr lang="zh-CN" altLang="en-US" dirty="0"/>
          </a:p>
        </p:txBody>
      </p:sp>
    </p:spTree>
    <p:extLst>
      <p:ext uri="{BB962C8B-B14F-4D97-AF65-F5344CB8AC3E}">
        <p14:creationId xmlns:p14="http://schemas.microsoft.com/office/powerpoint/2010/main" val="1343872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825EA8-5222-4E37-87C4-23FC460FE6C5}"/>
              </a:ext>
            </a:extLst>
          </p:cNvPr>
          <p:cNvSpPr>
            <a:spLocks noGrp="1"/>
          </p:cNvSpPr>
          <p:nvPr>
            <p:ph type="title"/>
          </p:nvPr>
        </p:nvSpPr>
        <p:spPr/>
        <p:txBody>
          <a:bodyPr/>
          <a:lstStyle/>
          <a:p>
            <a:r>
              <a:rPr lang="zh-CN" altLang="en-US" dirty="0"/>
              <a:t>线性齐次递推式</a:t>
            </a:r>
          </a:p>
        </p:txBody>
      </p:sp>
      <p:sp>
        <p:nvSpPr>
          <p:cNvPr id="3" name="内容占位符 2">
            <a:extLst>
              <a:ext uri="{FF2B5EF4-FFF2-40B4-BE49-F238E27FC236}">
                <a16:creationId xmlns:a16="http://schemas.microsoft.com/office/drawing/2014/main" id="{96C7A1FB-3A2B-4DB4-99D7-F1D0C94CBD8E}"/>
              </a:ext>
            </a:extLst>
          </p:cNvPr>
          <p:cNvSpPr>
            <a:spLocks noGrp="1"/>
          </p:cNvSpPr>
          <p:nvPr>
            <p:ph idx="1"/>
          </p:nvPr>
        </p:nvSpPr>
        <p:spPr/>
        <p:txBody>
          <a:bodyPr/>
          <a:lstStyle/>
          <a:p>
            <a:r>
              <a:rPr lang="zh-CN" altLang="en-US" sz="2800" dirty="0"/>
              <a:t>线性齐次递推式：</a:t>
            </a:r>
            <a:r>
              <a:rPr lang="en-US" altLang="zh-CN" sz="2800" dirty="0"/>
              <a:t>f(n)=a</a:t>
            </a:r>
            <a:r>
              <a:rPr lang="en-US" altLang="zh-CN" sz="2800" baseline="-25000" dirty="0"/>
              <a:t>1</a:t>
            </a:r>
            <a:r>
              <a:rPr lang="en-US" altLang="zh-CN" sz="2800" dirty="0"/>
              <a:t>f(n-1)+a</a:t>
            </a:r>
            <a:r>
              <a:rPr lang="en-US" altLang="zh-CN" sz="2800" baseline="-25000" dirty="0"/>
              <a:t>2</a:t>
            </a:r>
            <a:r>
              <a:rPr lang="en-US" altLang="zh-CN" sz="2800" dirty="0"/>
              <a:t>f(n-2)+...+</a:t>
            </a:r>
            <a:r>
              <a:rPr lang="en-US" altLang="zh-CN" sz="2800" dirty="0" err="1"/>
              <a:t>a</a:t>
            </a:r>
            <a:r>
              <a:rPr lang="en-US" altLang="zh-CN" sz="2800" baseline="-25000" dirty="0" err="1"/>
              <a:t>k</a:t>
            </a:r>
            <a:r>
              <a:rPr lang="en-US" altLang="zh-CN" sz="2800" dirty="0" err="1"/>
              <a:t>f</a:t>
            </a:r>
            <a:r>
              <a:rPr lang="en-US" altLang="zh-CN" sz="2800" dirty="0"/>
              <a:t>(n-k)</a:t>
            </a:r>
          </a:p>
          <a:p>
            <a:r>
              <a:rPr lang="en-US" altLang="zh-CN" sz="2800" dirty="0"/>
              <a:t>f(n)</a:t>
            </a:r>
            <a:r>
              <a:rPr lang="zh-CN" altLang="en-US" sz="2800" dirty="0"/>
              <a:t>被称为是</a:t>
            </a:r>
            <a:r>
              <a:rPr lang="en-US" altLang="zh-CN" sz="2800" dirty="0"/>
              <a:t>k</a:t>
            </a:r>
            <a:r>
              <a:rPr lang="zh-CN" altLang="en-US" sz="2800" dirty="0"/>
              <a:t>阶的 </a:t>
            </a:r>
          </a:p>
          <a:p>
            <a:r>
              <a:rPr lang="zh-CN" altLang="en-US" sz="2800" dirty="0"/>
              <a:t>求解方法：特征方程</a:t>
            </a:r>
          </a:p>
          <a:p>
            <a:endParaRPr lang="zh-CN" altLang="en-US" dirty="0"/>
          </a:p>
        </p:txBody>
      </p:sp>
    </p:spTree>
    <p:extLst>
      <p:ext uri="{BB962C8B-B14F-4D97-AF65-F5344CB8AC3E}">
        <p14:creationId xmlns:p14="http://schemas.microsoft.com/office/powerpoint/2010/main" val="1508740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18134-6FB3-4C08-B403-5F984345159B}"/>
              </a:ext>
            </a:extLst>
          </p:cNvPr>
          <p:cNvSpPr>
            <a:spLocks noGrp="1"/>
          </p:cNvSpPr>
          <p:nvPr>
            <p:ph type="title"/>
          </p:nvPr>
        </p:nvSpPr>
        <p:spPr/>
        <p:txBody>
          <a:bodyPr/>
          <a:lstStyle/>
          <a:p>
            <a:r>
              <a:rPr lang="zh-CN" altLang="en-US" dirty="0"/>
              <a:t>分治关系</a:t>
            </a:r>
          </a:p>
        </p:txBody>
      </p:sp>
      <p:sp>
        <p:nvSpPr>
          <p:cNvPr id="3" name="内容占位符 2">
            <a:extLst>
              <a:ext uri="{FF2B5EF4-FFF2-40B4-BE49-F238E27FC236}">
                <a16:creationId xmlns:a16="http://schemas.microsoft.com/office/drawing/2014/main" id="{BFF798E6-F5DA-464A-9763-21D202DCBEAF}"/>
              </a:ext>
            </a:extLst>
          </p:cNvPr>
          <p:cNvSpPr>
            <a:spLocks noGrp="1"/>
          </p:cNvSpPr>
          <p:nvPr>
            <p:ph idx="1"/>
          </p:nvPr>
        </p:nvSpPr>
        <p:spPr/>
        <p:txBody>
          <a:bodyPr/>
          <a:lstStyle/>
          <a:p>
            <a:pPr algn="just"/>
            <a:r>
              <a:rPr lang="zh-CN" altLang="en-US" sz="2800" dirty="0"/>
              <a:t>在分治法中，问题通常被分割成几个子问题，其中每一个子问题也将被递归求解，得到结果后，再使用一个操作来组合子问题的解以得到原始问题的解。假设有</a:t>
            </a:r>
            <a:r>
              <a:rPr lang="en-US" altLang="zh-CN" sz="2800" dirty="0"/>
              <a:t>a</a:t>
            </a:r>
            <a:r>
              <a:rPr lang="zh-CN" altLang="en-US" sz="2800" dirty="0"/>
              <a:t>个子问题，每个问题的规模是原始问题的</a:t>
            </a:r>
            <a:r>
              <a:rPr lang="en-US" altLang="zh-CN" sz="2800" dirty="0"/>
              <a:t>1/b</a:t>
            </a:r>
            <a:r>
              <a:rPr lang="zh-CN" altLang="en-US" sz="2800" dirty="0"/>
              <a:t>，并且用于组合各子问题解的算法运行时间是</a:t>
            </a:r>
            <a:r>
              <a:rPr lang="en-US" altLang="zh-CN" sz="2800" dirty="0" err="1"/>
              <a:t>cn</a:t>
            </a:r>
            <a:r>
              <a:rPr lang="en-US" altLang="zh-CN" sz="2800" baseline="30000" dirty="0" err="1"/>
              <a:t>k</a:t>
            </a:r>
            <a:r>
              <a:rPr lang="zh-CN" altLang="en-US" sz="2800" dirty="0"/>
              <a:t>，其中</a:t>
            </a:r>
            <a:r>
              <a:rPr lang="en-US" altLang="zh-CN" sz="2800" dirty="0"/>
              <a:t>a</a:t>
            </a:r>
            <a:r>
              <a:rPr lang="zh-CN" altLang="en-US" sz="2800" dirty="0"/>
              <a:t>，</a:t>
            </a:r>
            <a:r>
              <a:rPr lang="en-US" altLang="zh-CN" sz="2800" dirty="0"/>
              <a:t>b</a:t>
            </a:r>
            <a:r>
              <a:rPr lang="zh-CN" altLang="en-US" sz="2800" dirty="0"/>
              <a:t>，</a:t>
            </a:r>
            <a:r>
              <a:rPr lang="en-US" altLang="zh-CN" sz="2800" dirty="0"/>
              <a:t>c</a:t>
            </a:r>
            <a:r>
              <a:rPr lang="zh-CN" altLang="en-US" sz="2800" dirty="0"/>
              <a:t>和</a:t>
            </a:r>
            <a:r>
              <a:rPr lang="en-US" altLang="zh-CN" sz="2800" dirty="0"/>
              <a:t>k</a:t>
            </a:r>
            <a:r>
              <a:rPr lang="zh-CN" altLang="en-US" sz="2800" dirty="0"/>
              <a:t>是常数，即</a:t>
            </a:r>
          </a:p>
          <a:p>
            <a:pPr algn="just"/>
            <a:r>
              <a:rPr lang="zh-CN" altLang="en-US" sz="2800" dirty="0"/>
              <a:t>          </a:t>
            </a:r>
            <a:r>
              <a:rPr lang="en-US" altLang="zh-CN" sz="2800" dirty="0"/>
              <a:t>T(n)=</a:t>
            </a:r>
            <a:r>
              <a:rPr lang="en-US" altLang="zh-CN" sz="2800" dirty="0" err="1"/>
              <a:t>aT</a:t>
            </a:r>
            <a:r>
              <a:rPr lang="en-US" altLang="zh-CN" sz="2800" dirty="0"/>
              <a:t>(n/b)+</a:t>
            </a:r>
            <a:r>
              <a:rPr lang="en-US" altLang="zh-CN" sz="2800" dirty="0" err="1"/>
              <a:t>cn</a:t>
            </a:r>
            <a:r>
              <a:rPr lang="en-US" altLang="zh-CN" sz="2800" baseline="30000" dirty="0" err="1"/>
              <a:t>k</a:t>
            </a:r>
            <a:endParaRPr lang="en-US" altLang="zh-CN" sz="2800" baseline="30000" dirty="0"/>
          </a:p>
          <a:p>
            <a:pPr algn="just"/>
            <a:r>
              <a:rPr lang="zh-CN" altLang="en-US" sz="2800" dirty="0">
                <a:solidFill>
                  <a:srgbClr val="000000"/>
                </a:solidFill>
              </a:rPr>
              <a:t>定理</a:t>
            </a:r>
            <a:r>
              <a:rPr lang="en-US" altLang="zh-CN" sz="2800" dirty="0">
                <a:solidFill>
                  <a:srgbClr val="000000"/>
                </a:solidFill>
              </a:rPr>
              <a:t>3.4</a:t>
            </a:r>
            <a:r>
              <a:rPr lang="zh-CN" altLang="en-US" sz="2800" dirty="0">
                <a:solidFill>
                  <a:srgbClr val="000000"/>
                </a:solidFill>
              </a:rPr>
              <a:t>：常数</a:t>
            </a:r>
            <a:r>
              <a:rPr lang="en-US" altLang="zh-CN" sz="2800" dirty="0">
                <a:solidFill>
                  <a:srgbClr val="000000"/>
                </a:solidFill>
              </a:rPr>
              <a:t>a</a:t>
            </a:r>
            <a:r>
              <a:rPr lang="zh-CN" altLang="en-US" sz="2800" dirty="0">
                <a:solidFill>
                  <a:srgbClr val="000000"/>
                </a:solidFill>
              </a:rPr>
              <a:t>和</a:t>
            </a:r>
            <a:r>
              <a:rPr lang="en-US" altLang="zh-CN" sz="2800" dirty="0">
                <a:solidFill>
                  <a:srgbClr val="000000"/>
                </a:solidFill>
              </a:rPr>
              <a:t>b</a:t>
            </a:r>
            <a:r>
              <a:rPr lang="zh-CN" altLang="en-US" sz="2800" dirty="0">
                <a:solidFill>
                  <a:srgbClr val="000000"/>
                </a:solidFill>
              </a:rPr>
              <a:t>为整数，</a:t>
            </a:r>
            <a:r>
              <a:rPr lang="en-US" altLang="zh-CN" sz="2800" dirty="0">
                <a:solidFill>
                  <a:srgbClr val="000000"/>
                </a:solidFill>
              </a:rPr>
              <a:t>a</a:t>
            </a:r>
            <a:r>
              <a:rPr lang="en-US" altLang="zh-CN" sz="2800" dirty="0">
                <a:solidFill>
                  <a:srgbClr val="000000"/>
                </a:solidFill>
                <a:sym typeface="Symbol" pitchFamily="18" charset="2"/>
              </a:rPr>
              <a:t></a:t>
            </a:r>
            <a:r>
              <a:rPr lang="en-US" altLang="zh-CN" sz="2800" dirty="0">
                <a:solidFill>
                  <a:srgbClr val="000000"/>
                </a:solidFill>
              </a:rPr>
              <a:t>1</a:t>
            </a:r>
            <a:r>
              <a:rPr lang="zh-CN" altLang="en-US" sz="2800" dirty="0">
                <a:solidFill>
                  <a:srgbClr val="000000"/>
                </a:solidFill>
              </a:rPr>
              <a:t>，</a:t>
            </a:r>
            <a:r>
              <a:rPr lang="en-US" altLang="zh-CN" sz="2800" dirty="0">
                <a:solidFill>
                  <a:srgbClr val="000000"/>
                </a:solidFill>
              </a:rPr>
              <a:t>b</a:t>
            </a:r>
            <a:r>
              <a:rPr lang="en-US" altLang="zh-CN" sz="2800" dirty="0">
                <a:solidFill>
                  <a:srgbClr val="000000"/>
                </a:solidFill>
                <a:sym typeface="Symbol" pitchFamily="18" charset="2"/>
              </a:rPr>
              <a:t></a:t>
            </a:r>
            <a:r>
              <a:rPr lang="en-US" altLang="zh-CN" sz="2800" dirty="0">
                <a:solidFill>
                  <a:srgbClr val="000000"/>
                </a:solidFill>
              </a:rPr>
              <a:t>2</a:t>
            </a:r>
            <a:r>
              <a:rPr lang="zh-CN" altLang="en-US" sz="2800" dirty="0">
                <a:solidFill>
                  <a:srgbClr val="000000"/>
                </a:solidFill>
              </a:rPr>
              <a:t>，且</a:t>
            </a:r>
            <a:r>
              <a:rPr lang="en-US" altLang="zh-CN" sz="2800" dirty="0">
                <a:solidFill>
                  <a:srgbClr val="000000"/>
                </a:solidFill>
              </a:rPr>
              <a:t>c</a:t>
            </a:r>
            <a:r>
              <a:rPr lang="zh-CN" altLang="en-US" sz="2800" dirty="0">
                <a:solidFill>
                  <a:srgbClr val="000000"/>
                </a:solidFill>
              </a:rPr>
              <a:t>和</a:t>
            </a:r>
            <a:r>
              <a:rPr lang="en-US" altLang="zh-CN" sz="2800" dirty="0">
                <a:solidFill>
                  <a:srgbClr val="000000"/>
                </a:solidFill>
              </a:rPr>
              <a:t>k</a:t>
            </a:r>
            <a:r>
              <a:rPr lang="zh-CN" altLang="en-US" sz="2800" dirty="0">
                <a:solidFill>
                  <a:srgbClr val="000000"/>
                </a:solidFill>
              </a:rPr>
              <a:t>是正常数，则递推关系</a:t>
            </a:r>
            <a:r>
              <a:rPr lang="en-US" altLang="zh-CN" sz="2800" dirty="0">
                <a:solidFill>
                  <a:srgbClr val="000000"/>
                </a:solidFill>
              </a:rPr>
              <a:t>T(n)=</a:t>
            </a:r>
            <a:r>
              <a:rPr lang="en-US" altLang="zh-CN" sz="2800" dirty="0" err="1">
                <a:solidFill>
                  <a:srgbClr val="000000"/>
                </a:solidFill>
              </a:rPr>
              <a:t>aT</a:t>
            </a:r>
            <a:r>
              <a:rPr lang="en-US" altLang="zh-CN" sz="2800" dirty="0">
                <a:solidFill>
                  <a:srgbClr val="000000"/>
                </a:solidFill>
              </a:rPr>
              <a:t>(n/b)+</a:t>
            </a:r>
            <a:r>
              <a:rPr lang="en-US" altLang="zh-CN" sz="2800" dirty="0" err="1">
                <a:solidFill>
                  <a:srgbClr val="000000"/>
                </a:solidFill>
              </a:rPr>
              <a:t>cn</a:t>
            </a:r>
            <a:r>
              <a:rPr lang="en-US" altLang="zh-CN" sz="2800" baseline="30000" dirty="0" err="1">
                <a:solidFill>
                  <a:srgbClr val="000000"/>
                </a:solidFill>
              </a:rPr>
              <a:t>k</a:t>
            </a:r>
            <a:r>
              <a:rPr lang="zh-CN" altLang="en-US" sz="2800" dirty="0">
                <a:solidFill>
                  <a:srgbClr val="000000"/>
                </a:solidFill>
              </a:rPr>
              <a:t>的解是</a:t>
            </a:r>
          </a:p>
          <a:p>
            <a:endParaRPr lang="zh-CN" altLang="en-US" dirty="0"/>
          </a:p>
        </p:txBody>
      </p:sp>
      <mc:AlternateContent xmlns:mc="http://schemas.openxmlformats.org/markup-compatibility/2006">
        <mc:Choice xmlns:a14="http://schemas.microsoft.com/office/drawing/2010/main" Requires="a14">
          <p:sp>
            <p:nvSpPr>
              <p:cNvPr id="4" name="Object 4">
                <a:extLst>
                  <a:ext uri="{FF2B5EF4-FFF2-40B4-BE49-F238E27FC236}">
                    <a16:creationId xmlns:a16="http://schemas.microsoft.com/office/drawing/2014/main" id="{BC059FD0-4F66-4FC0-89C3-B815A4E8D30E}"/>
                  </a:ext>
                </a:extLst>
              </p:cNvPr>
              <p:cNvSpPr txBox="1"/>
              <p:nvPr/>
            </p:nvSpPr>
            <p:spPr bwMode="auto">
              <a:xfrm>
                <a:off x="5149850" y="5448179"/>
                <a:ext cx="4580304" cy="12906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𝑇</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2"/>
                                    <m:mcJc m:val="center"/>
                                  </m:mcPr>
                                </m:mc>
                              </m:mcs>
                              <m:ctrlPr>
                                <a:rPr lang="zh-CN" altLang="en-US" sz="2400" i="1">
                                  <a:solidFill>
                                    <a:srgbClr val="000000"/>
                                  </a:solidFill>
                                  <a:latin typeface="Cambria Math" panose="02040503050406030204" pitchFamily="18" charset="0"/>
                                </a:rPr>
                              </m:ctrlPr>
                            </m:mPr>
                            <m:m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𝑂</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𝑛</m:t>
                                          </m:r>
                                        </m:e>
                                        <m:sup>
                                          <m:func>
                                            <m:funcPr>
                                              <m:ctrlPr>
                                                <a:rPr lang="zh-CN" altLang="en-US" sz="2400" i="1">
                                                  <a:solidFill>
                                                    <a:srgbClr val="000000"/>
                                                  </a:solidFill>
                                                  <a:latin typeface="Cambria Math" panose="02040503050406030204" pitchFamily="18" charset="0"/>
                                                </a:rPr>
                                              </m:ctrlPr>
                                            </m:funcPr>
                                            <m:fName>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log</m:t>
                                                  </m:r>
                                                </m:e>
                                                <m:sub>
                                                  <m:r>
                                                    <a:rPr lang="zh-CN" altLang="en-US" sz="2400" i="1">
                                                      <a:solidFill>
                                                        <a:srgbClr val="000000"/>
                                                      </a:solidFill>
                                                      <a:latin typeface="Cambria Math" panose="02040503050406030204" pitchFamily="18" charset="0"/>
                                                    </a:rPr>
                                                    <m:t>𝑏</m:t>
                                                  </m:r>
                                                </m:sub>
                                              </m:sSub>
                                            </m:fName>
                                            <m:e>
                                              <m:r>
                                                <a:rPr lang="zh-CN" altLang="en-US" sz="2400" i="1">
                                                  <a:solidFill>
                                                    <a:srgbClr val="000000"/>
                                                  </a:solidFill>
                                                  <a:latin typeface="Cambria Math" panose="02040503050406030204" pitchFamily="18" charset="0"/>
                                                </a:rPr>
                                                <m:t>𝑎</m:t>
                                              </m:r>
                                            </m:e>
                                          </m:func>
                                        </m:sup>
                                      </m:sSup>
                                      <m:r>
                                        <a:rPr lang="zh-CN" altLang="en-US" sz="2400" i="1">
                                          <a:solidFill>
                                            <a:srgbClr val="000000"/>
                                          </a:solidFill>
                                          <a:latin typeface="Cambria Math" panose="02040503050406030204" pitchFamily="18" charset="0"/>
                                        </a:rPr>
                                        <m:t>)</m:t>
                                      </m:r>
                                    </m:e>
                                  </m:mr>
                                  <m:mr>
                                    <m:e>
                                      <m:r>
                                        <a:rPr lang="zh-CN" altLang="en-US" sz="2400" i="1">
                                          <a:solidFill>
                                            <a:srgbClr val="000000"/>
                                          </a:solidFill>
                                          <a:latin typeface="Cambria Math" panose="02040503050406030204" pitchFamily="18" charset="0"/>
                                        </a:rPr>
                                        <m:t>𝑂</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𝑛</m:t>
                                          </m:r>
                                        </m:e>
                                        <m:sup>
                                          <m:r>
                                            <a:rPr lang="zh-CN" altLang="en-US" sz="2400" i="1">
                                              <a:solidFill>
                                                <a:srgbClr val="000000"/>
                                              </a:solidFill>
                                              <a:latin typeface="Cambria Math" panose="02040503050406030204" pitchFamily="18" charset="0"/>
                                            </a:rPr>
                                            <m:t>𝑘</m:t>
                                          </m:r>
                                        </m:sup>
                                      </m:sSup>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log</m:t>
                                          </m:r>
                                        </m:fName>
                                        <m:e>
                                          <m:r>
                                            <a:rPr lang="zh-CN" altLang="en-US" sz="2400" i="1">
                                              <a:solidFill>
                                                <a:srgbClr val="000000"/>
                                              </a:solidFill>
                                              <a:latin typeface="Cambria Math" panose="02040503050406030204" pitchFamily="18" charset="0"/>
                                            </a:rPr>
                                            <m:t>𝑛</m:t>
                                          </m:r>
                                        </m:e>
                                      </m:func>
                                      <m:r>
                                        <a:rPr lang="zh-CN" altLang="en-US" sz="2400" i="1">
                                          <a:solidFill>
                                            <a:srgbClr val="000000"/>
                                          </a:solidFill>
                                          <a:latin typeface="Cambria Math" panose="02040503050406030204" pitchFamily="18" charset="0"/>
                                        </a:rPr>
                                        <m:t>)</m:t>
                                      </m:r>
                                    </m:e>
                                  </m:mr>
                                  <m:mr>
                                    <m:e>
                                      <m:r>
                                        <a:rPr lang="zh-CN" altLang="en-US" sz="2400" i="1">
                                          <a:solidFill>
                                            <a:srgbClr val="000000"/>
                                          </a:solidFill>
                                          <a:latin typeface="Cambria Math" panose="02040503050406030204" pitchFamily="18" charset="0"/>
                                        </a:rPr>
                                        <m:t>𝑂</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𝑛</m:t>
                                          </m:r>
                                        </m:e>
                                        <m:sup>
                                          <m:r>
                                            <a:rPr lang="zh-CN" altLang="en-US" sz="2400" i="1">
                                              <a:solidFill>
                                                <a:srgbClr val="000000"/>
                                              </a:solidFill>
                                              <a:latin typeface="Cambria Math" panose="02040503050406030204" pitchFamily="18" charset="0"/>
                                            </a:rPr>
                                            <m:t>𝑘</m:t>
                                          </m:r>
                                        </m:sup>
                                      </m:sSup>
                                      <m:r>
                                        <a:rPr lang="zh-CN" altLang="en-US" sz="2400" i="1">
                                          <a:solidFill>
                                            <a:srgbClr val="000000"/>
                                          </a:solidFill>
                                          <a:latin typeface="Cambria Math" panose="02040503050406030204" pitchFamily="18" charset="0"/>
                                        </a:rPr>
                                        <m:t>)</m:t>
                                      </m:r>
                                    </m:e>
                                  </m:mr>
                                </m:m>
                              </m:e>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𝑎</m:t>
                                      </m:r>
                                      <m:r>
                                        <a:rPr lang="zh-CN" altLang="en-US" sz="2400" i="1">
                                          <a:solidFill>
                                            <a:srgbClr val="000000"/>
                                          </a:solidFill>
                                          <a:latin typeface="Cambria Math" panose="02040503050406030204" pitchFamily="18" charset="0"/>
                                        </a:rPr>
                                        <m:t>&gt;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𝑘</m:t>
                                          </m:r>
                                        </m:sup>
                                      </m:sSup>
                                    </m:e>
                                  </m:mr>
                                  <m:mr>
                                    <m:e>
                                      <m:r>
                                        <a:rPr lang="zh-CN" altLang="en-US" sz="2400" i="1">
                                          <a:solidFill>
                                            <a:srgbClr val="000000"/>
                                          </a:solidFill>
                                          <a:latin typeface="Cambria Math" panose="02040503050406030204" pitchFamily="18" charset="0"/>
                                        </a:rPr>
                                        <m:t>𝑎</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𝑘</m:t>
                                          </m:r>
                                        </m:sup>
                                      </m:sSup>
                                    </m:e>
                                  </m:mr>
                                  <m:mr>
                                    <m:e>
                                      <m:r>
                                        <a:rPr lang="zh-CN" altLang="en-US" sz="2400" i="1">
                                          <a:solidFill>
                                            <a:srgbClr val="000000"/>
                                          </a:solidFill>
                                          <a:latin typeface="Cambria Math" panose="02040503050406030204" pitchFamily="18" charset="0"/>
                                        </a:rPr>
                                        <m:t>𝑎</m:t>
                                      </m:r>
                                      <m:r>
                                        <a:rPr lang="zh-CN" altLang="en-US" sz="2400" i="1">
                                          <a:solidFill>
                                            <a:srgbClr val="000000"/>
                                          </a:solidFill>
                                          <a:latin typeface="Cambria Math" panose="02040503050406030204" pitchFamily="18" charset="0"/>
                                        </a:rPr>
                                        <m:t>&lt;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𝑘</m:t>
                                          </m:r>
                                        </m:sup>
                                      </m:sSup>
                                    </m:e>
                                  </m:mr>
                                </m:m>
                              </m:e>
                            </m:mr>
                          </m:m>
                        </m:e>
                      </m:d>
                    </m:oMath>
                  </m:oMathPara>
                </a14:m>
                <a:endParaRPr lang="zh-CN" altLang="en-US" sz="2400" dirty="0"/>
              </a:p>
            </p:txBody>
          </p:sp>
        </mc:Choice>
        <mc:Fallback>
          <p:sp>
            <p:nvSpPr>
              <p:cNvPr id="4" name="Object 4">
                <a:extLst>
                  <a:ext uri="{FF2B5EF4-FFF2-40B4-BE49-F238E27FC236}">
                    <a16:creationId xmlns:a16="http://schemas.microsoft.com/office/drawing/2014/main" id="{BC059FD0-4F66-4FC0-89C3-B815A4E8D30E}"/>
                  </a:ext>
                </a:extLst>
              </p:cNvPr>
              <p:cNvSpPr txBox="1">
                <a:spLocks noRot="1" noChangeAspect="1" noMove="1" noResize="1" noEditPoints="1" noAdjustHandles="1" noChangeArrowheads="1" noChangeShapeType="1" noTextEdit="1"/>
              </p:cNvSpPr>
              <p:nvPr/>
            </p:nvSpPr>
            <p:spPr bwMode="auto">
              <a:xfrm>
                <a:off x="5149850" y="5448179"/>
                <a:ext cx="4580304" cy="1290637"/>
              </a:xfrm>
              <a:prstGeom prst="rect">
                <a:avLst/>
              </a:prstGeom>
              <a:blipFill>
                <a:blip r:embed="rId2"/>
                <a:stretch>
                  <a:fillRect b="-9005"/>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01892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7F8A04-4ED7-4B33-A071-808749D491BF}"/>
              </a:ext>
            </a:extLst>
          </p:cNvPr>
          <p:cNvSpPr>
            <a:spLocks noGrp="1"/>
          </p:cNvSpPr>
          <p:nvPr>
            <p:ph type="title"/>
          </p:nvPr>
        </p:nvSpPr>
        <p:spPr/>
        <p:txBody>
          <a:bodyPr/>
          <a:lstStyle/>
          <a:p>
            <a:r>
              <a:rPr lang="en-US" altLang="zh-CN"/>
              <a:t>Master Theorem</a:t>
            </a:r>
            <a:endParaRPr lang="zh-CN" altLang="en-US" dirty="0"/>
          </a:p>
        </p:txBody>
      </p:sp>
      <p:sp>
        <p:nvSpPr>
          <p:cNvPr id="3" name="内容占位符 2">
            <a:extLst>
              <a:ext uri="{FF2B5EF4-FFF2-40B4-BE49-F238E27FC236}">
                <a16:creationId xmlns:a16="http://schemas.microsoft.com/office/drawing/2014/main" id="{53465B59-F543-4BD2-A020-3E95EF089CAB}"/>
              </a:ext>
            </a:extLst>
          </p:cNvPr>
          <p:cNvSpPr>
            <a:spLocks noGrp="1"/>
          </p:cNvSpPr>
          <p:nvPr>
            <p:ph idx="1"/>
          </p:nvPr>
        </p:nvSpPr>
        <p:spPr/>
        <p:txBody>
          <a:bodyPr/>
          <a:lstStyle/>
          <a:p>
            <a:r>
              <a:rPr lang="en-US" altLang="zh-CN" sz="2800" dirty="0"/>
              <a:t>Let a&gt;=1, c&gt;1 be constants, f(n) be a function, T(n) be defined on the negative integers by the recurrence T(n)=</a:t>
            </a:r>
            <a:r>
              <a:rPr lang="en-US" altLang="zh-CN" sz="2800" dirty="0" err="1"/>
              <a:t>aT</a:t>
            </a:r>
            <a:r>
              <a:rPr lang="en-US" altLang="zh-CN" sz="2800" dirty="0"/>
              <a:t>(n/c)+f(n) where we </a:t>
            </a:r>
            <a:r>
              <a:rPr lang="en-US" altLang="zh-CN" sz="2800" dirty="0" err="1"/>
              <a:t>intepret</a:t>
            </a:r>
            <a:r>
              <a:rPr lang="en-US" altLang="zh-CN" sz="2800" dirty="0"/>
              <a:t> n/c to mean either </a:t>
            </a:r>
            <a:r>
              <a:rPr lang="en-US" altLang="zh-CN" sz="2800" dirty="0">
                <a:sym typeface="Symbol" pitchFamily="18" charset="2"/>
              </a:rPr>
              <a:t>n/c or n/c. Then</a:t>
            </a:r>
          </a:p>
          <a:p>
            <a:pPr marL="457200" lvl="1" indent="0">
              <a:buNone/>
            </a:pPr>
            <a:r>
              <a:rPr lang="en-US" altLang="zh-CN" dirty="0"/>
              <a:t>1) If f(n)=O(n^(</a:t>
            </a:r>
            <a:r>
              <a:rPr lang="en-US" altLang="zh-CN" dirty="0" err="1"/>
              <a:t>log</a:t>
            </a:r>
            <a:r>
              <a:rPr lang="en-US" altLang="zh-CN" baseline="-25000" dirty="0" err="1"/>
              <a:t>c</a:t>
            </a:r>
            <a:r>
              <a:rPr lang="en-US" altLang="zh-CN" dirty="0" err="1"/>
              <a:t>a</a:t>
            </a:r>
            <a:r>
              <a:rPr lang="en-US" altLang="zh-CN" dirty="0"/>
              <a:t>-</a:t>
            </a:r>
            <a:r>
              <a:rPr lang="en-US" altLang="zh-CN" dirty="0">
                <a:sym typeface="Symbol" pitchFamily="18" charset="2"/>
              </a:rPr>
              <a:t>)) for some &gt;0, then T(n)=(</a:t>
            </a:r>
            <a:r>
              <a:rPr lang="en-US" altLang="zh-CN" dirty="0" err="1">
                <a:sym typeface="Symbol" pitchFamily="18" charset="2"/>
              </a:rPr>
              <a:t>n^log</a:t>
            </a:r>
            <a:r>
              <a:rPr lang="en-US" altLang="zh-CN" baseline="-25000" dirty="0" err="1">
                <a:sym typeface="Symbol" pitchFamily="18" charset="2"/>
              </a:rPr>
              <a:t>c</a:t>
            </a:r>
            <a:r>
              <a:rPr lang="en-US" altLang="zh-CN" dirty="0" err="1">
                <a:sym typeface="Symbol" pitchFamily="18" charset="2"/>
              </a:rPr>
              <a:t>a</a:t>
            </a:r>
            <a:r>
              <a:rPr lang="en-US" altLang="zh-CN" dirty="0">
                <a:sym typeface="Symbol" pitchFamily="18" charset="2"/>
              </a:rPr>
              <a:t>)</a:t>
            </a:r>
          </a:p>
          <a:p>
            <a:pPr marL="457200" lvl="1" indent="0">
              <a:buNone/>
            </a:pPr>
            <a:r>
              <a:rPr lang="en-US" altLang="zh-CN" dirty="0">
                <a:sym typeface="Symbol" pitchFamily="18" charset="2"/>
              </a:rPr>
              <a:t>2) If f(n) = ( (</a:t>
            </a:r>
            <a:r>
              <a:rPr lang="en-US" altLang="zh-CN" dirty="0" err="1">
                <a:sym typeface="Symbol" pitchFamily="18" charset="2"/>
              </a:rPr>
              <a:t>n^log</a:t>
            </a:r>
            <a:r>
              <a:rPr lang="en-US" altLang="zh-CN" baseline="-25000" dirty="0" err="1">
                <a:sym typeface="Symbol" pitchFamily="18" charset="2"/>
              </a:rPr>
              <a:t>c</a:t>
            </a:r>
            <a:r>
              <a:rPr lang="en-US" altLang="zh-CN" dirty="0" err="1">
                <a:sym typeface="Symbol" pitchFamily="18" charset="2"/>
              </a:rPr>
              <a:t>a</a:t>
            </a:r>
            <a:r>
              <a:rPr lang="en-US" altLang="zh-CN" dirty="0">
                <a:sym typeface="Symbol" pitchFamily="18" charset="2"/>
              </a:rPr>
              <a:t>) * (</a:t>
            </a:r>
            <a:r>
              <a:rPr lang="en-US" altLang="zh-CN" dirty="0" err="1">
                <a:sym typeface="Symbol" pitchFamily="18" charset="2"/>
              </a:rPr>
              <a:t>logn</a:t>
            </a:r>
            <a:r>
              <a:rPr lang="en-US" altLang="zh-CN" dirty="0">
                <a:sym typeface="Symbol" pitchFamily="18" charset="2"/>
              </a:rPr>
              <a:t>)^k ) for some k&gt;=0, then T(n) = ( (</a:t>
            </a:r>
            <a:r>
              <a:rPr lang="en-US" altLang="zh-CN" dirty="0" err="1">
                <a:sym typeface="Symbol" pitchFamily="18" charset="2"/>
              </a:rPr>
              <a:t>n^log</a:t>
            </a:r>
            <a:r>
              <a:rPr lang="en-US" altLang="zh-CN" baseline="-25000" dirty="0" err="1">
                <a:sym typeface="Symbol" pitchFamily="18" charset="2"/>
              </a:rPr>
              <a:t>c</a:t>
            </a:r>
            <a:r>
              <a:rPr lang="en-US" altLang="zh-CN" dirty="0" err="1">
                <a:sym typeface="Symbol" pitchFamily="18" charset="2"/>
              </a:rPr>
              <a:t>a</a:t>
            </a:r>
            <a:r>
              <a:rPr lang="en-US" altLang="zh-CN" dirty="0">
                <a:sym typeface="Symbol" pitchFamily="18" charset="2"/>
              </a:rPr>
              <a:t>) * (</a:t>
            </a:r>
            <a:r>
              <a:rPr lang="en-US" altLang="zh-CN" dirty="0" err="1">
                <a:sym typeface="Symbol" pitchFamily="18" charset="2"/>
              </a:rPr>
              <a:t>logn</a:t>
            </a:r>
            <a:r>
              <a:rPr lang="en-US" altLang="zh-CN" dirty="0">
                <a:sym typeface="Symbol" pitchFamily="18" charset="2"/>
              </a:rPr>
              <a:t>)^k )</a:t>
            </a:r>
          </a:p>
          <a:p>
            <a:pPr marL="457200" lvl="1" indent="0">
              <a:buNone/>
            </a:pPr>
            <a:r>
              <a:rPr lang="en-US" altLang="zh-CN" dirty="0">
                <a:sym typeface="Symbol" pitchFamily="18" charset="2"/>
              </a:rPr>
              <a:t>3) If f(n)=</a:t>
            </a:r>
            <a:r>
              <a:rPr lang="en-US" altLang="zh-CN" dirty="0"/>
              <a:t>(n^(</a:t>
            </a:r>
            <a:r>
              <a:rPr lang="en-US" altLang="zh-CN" dirty="0" err="1"/>
              <a:t>log</a:t>
            </a:r>
            <a:r>
              <a:rPr lang="en-US" altLang="zh-CN" baseline="-25000" dirty="0" err="1"/>
              <a:t>c</a:t>
            </a:r>
            <a:r>
              <a:rPr lang="en-US" altLang="zh-CN" dirty="0" err="1"/>
              <a:t>a</a:t>
            </a:r>
            <a:r>
              <a:rPr lang="en-US" altLang="zh-CN" dirty="0"/>
              <a:t>+</a:t>
            </a:r>
            <a:r>
              <a:rPr lang="en-US" altLang="zh-CN" dirty="0">
                <a:sym typeface="Symbol" pitchFamily="18" charset="2"/>
              </a:rPr>
              <a:t>)) for some &gt;0 and if a*f(n/c)</a:t>
            </a:r>
            <a:r>
              <a:rPr lang="en-US" altLang="zh-CN" dirty="0" err="1">
                <a:sym typeface="Symbol" pitchFamily="18" charset="2"/>
              </a:rPr>
              <a:t>kf</a:t>
            </a:r>
            <a:r>
              <a:rPr lang="en-US" altLang="zh-CN" dirty="0">
                <a:sym typeface="Symbol" pitchFamily="18" charset="2"/>
              </a:rPr>
              <a:t>(n) for some constant k&lt;1 and all sufficiently large n, then T(n)=(f(n))</a:t>
            </a:r>
          </a:p>
          <a:p>
            <a:r>
              <a:rPr lang="zh-CN" altLang="en-US" sz="2800" dirty="0"/>
              <a:t>注：核心是</a:t>
            </a:r>
            <a:r>
              <a:rPr lang="en-US" altLang="zh-CN" sz="2800" dirty="0"/>
              <a:t>f(n)</a:t>
            </a:r>
            <a:r>
              <a:rPr lang="zh-CN" altLang="en-US" sz="2800" dirty="0"/>
              <a:t>与</a:t>
            </a:r>
            <a:r>
              <a:rPr lang="en-US" altLang="zh-CN" sz="2800" dirty="0" err="1"/>
              <a:t>n^log</a:t>
            </a:r>
            <a:r>
              <a:rPr lang="en-US" altLang="zh-CN" sz="2800" baseline="-25000" dirty="0" err="1"/>
              <a:t>c</a:t>
            </a:r>
            <a:r>
              <a:rPr lang="en-US" altLang="zh-CN" sz="2800" dirty="0" err="1"/>
              <a:t>a</a:t>
            </a:r>
            <a:r>
              <a:rPr lang="zh-CN" altLang="en-US" sz="2800" dirty="0"/>
              <a:t>的关系</a:t>
            </a:r>
            <a:endParaRPr lang="en-US" altLang="zh-CN" sz="2800" dirty="0"/>
          </a:p>
          <a:p>
            <a:r>
              <a:rPr lang="zh-CN" altLang="en-US" sz="2800" dirty="0"/>
              <a:t>注：以上三种情况不完整覆盖所有情况</a:t>
            </a:r>
          </a:p>
          <a:p>
            <a:endParaRPr lang="zh-CN" altLang="en-US" dirty="0"/>
          </a:p>
        </p:txBody>
      </p:sp>
    </p:spTree>
    <p:extLst>
      <p:ext uri="{BB962C8B-B14F-4D97-AF65-F5344CB8AC3E}">
        <p14:creationId xmlns:p14="http://schemas.microsoft.com/office/powerpoint/2010/main" val="2281368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F715E4-2655-4072-BC3B-C28064A9349D}"/>
              </a:ext>
            </a:extLst>
          </p:cNvPr>
          <p:cNvSpPr>
            <a:spLocks noGrp="1"/>
          </p:cNvSpPr>
          <p:nvPr>
            <p:ph type="title"/>
          </p:nvPr>
        </p:nvSpPr>
        <p:spPr/>
        <p:txBody>
          <a:bodyPr/>
          <a:lstStyle/>
          <a:p>
            <a:r>
              <a:rPr lang="zh-CN" altLang="en-US" dirty="0"/>
              <a:t>涉及全部历史的递推关系</a:t>
            </a:r>
          </a:p>
        </p:txBody>
      </p:sp>
      <p:sp>
        <p:nvSpPr>
          <p:cNvPr id="3" name="内容占位符 2">
            <a:extLst>
              <a:ext uri="{FF2B5EF4-FFF2-40B4-BE49-F238E27FC236}">
                <a16:creationId xmlns:a16="http://schemas.microsoft.com/office/drawing/2014/main" id="{954FDF5D-189F-4928-93A6-2B050EECA1A6}"/>
              </a:ext>
            </a:extLst>
          </p:cNvPr>
          <p:cNvSpPr>
            <a:spLocks noGrp="1"/>
          </p:cNvSpPr>
          <p:nvPr>
            <p:ph idx="1"/>
          </p:nvPr>
        </p:nvSpPr>
        <p:spPr/>
        <p:txBody>
          <a:bodyPr/>
          <a:lstStyle/>
          <a:p>
            <a:r>
              <a:rPr lang="zh-CN" altLang="en-US" dirty="0"/>
              <a:t>一个涉及全部历史的递推关系，是依赖于先前所有函数值的函数，而并非仅与一个或者几个有关。</a:t>
            </a:r>
          </a:p>
          <a:p>
            <a:endParaRPr lang="zh-CN" altLang="en-US" dirty="0"/>
          </a:p>
          <a:p>
            <a:r>
              <a:rPr lang="zh-CN" altLang="en-US" dirty="0"/>
              <a:t>历史消除法</a:t>
            </a:r>
          </a:p>
          <a:p>
            <a:endParaRPr lang="zh-CN" altLang="en-US" dirty="0"/>
          </a:p>
        </p:txBody>
      </p:sp>
    </p:spTree>
    <p:extLst>
      <p:ext uri="{BB962C8B-B14F-4D97-AF65-F5344CB8AC3E}">
        <p14:creationId xmlns:p14="http://schemas.microsoft.com/office/powerpoint/2010/main" val="390411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3194</Words>
  <Application>Microsoft Office PowerPoint</Application>
  <PresentationFormat>宽屏</PresentationFormat>
  <Paragraphs>238</Paragraphs>
  <Slides>35</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35</vt:i4>
      </vt:variant>
    </vt:vector>
  </HeadingPairs>
  <TitlesOfParts>
    <vt:vector size="40" baseType="lpstr">
      <vt:lpstr>等线</vt:lpstr>
      <vt:lpstr>等线 Light</vt:lpstr>
      <vt:lpstr>Arial</vt:lpstr>
      <vt:lpstr>Cambria Math</vt:lpstr>
      <vt:lpstr>Office 主题​​</vt:lpstr>
      <vt:lpstr>算法分析</vt:lpstr>
      <vt:lpstr>算法分析</vt:lpstr>
      <vt:lpstr>时间复杂性</vt:lpstr>
      <vt:lpstr>时间复杂性</vt:lpstr>
      <vt:lpstr>时间复杂性</vt:lpstr>
      <vt:lpstr>渐近时间复杂性</vt:lpstr>
      <vt:lpstr>符号O</vt:lpstr>
      <vt:lpstr>符号O</vt:lpstr>
      <vt:lpstr>不同的O(f(n))</vt:lpstr>
      <vt:lpstr>符号Ω</vt:lpstr>
      <vt:lpstr>符号Θ</vt:lpstr>
      <vt:lpstr>符号o</vt:lpstr>
      <vt:lpstr>空间复杂性</vt:lpstr>
      <vt:lpstr>最优算法</vt:lpstr>
      <vt:lpstr>如何估计算法运行时间</vt:lpstr>
      <vt:lpstr>基本运算</vt:lpstr>
      <vt:lpstr>最坏情况和平均情况分析</vt:lpstr>
      <vt:lpstr>输入规模</vt:lpstr>
      <vt:lpstr>第一个简单的例子</vt:lpstr>
      <vt:lpstr>第一个简单的例子</vt:lpstr>
      <vt:lpstr>第二个简单的例子</vt:lpstr>
      <vt:lpstr>编程时注意的问题</vt:lpstr>
      <vt:lpstr>对数</vt:lpstr>
      <vt:lpstr>顶函数和底函数</vt:lpstr>
      <vt:lpstr>阶乘</vt:lpstr>
      <vt:lpstr>二项式系数</vt:lpstr>
      <vt:lpstr>鸽巢原理</vt:lpstr>
      <vt:lpstr>和式</vt:lpstr>
      <vt:lpstr>求和的积分近似</vt:lpstr>
      <vt:lpstr>递推关系</vt:lpstr>
      <vt:lpstr>巧妙地猜测</vt:lpstr>
      <vt:lpstr>线性齐次递推式</vt:lpstr>
      <vt:lpstr>分治关系</vt:lpstr>
      <vt:lpstr>Master Theorem</vt:lpstr>
      <vt:lpstr>涉及全部历史的递推关系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算法分析</dc:title>
  <dc:creator>z r</dc:creator>
  <cp:lastModifiedBy>z r</cp:lastModifiedBy>
  <cp:revision>10</cp:revision>
  <dcterms:created xsi:type="dcterms:W3CDTF">2026-01-03T01:24:21Z</dcterms:created>
  <dcterms:modified xsi:type="dcterms:W3CDTF">2026-03-03T12:49:47Z</dcterms:modified>
</cp:coreProperties>
</file>