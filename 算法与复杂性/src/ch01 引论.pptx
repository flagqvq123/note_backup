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256" r:id="rId3"/>
    <p:sldId id="258" r:id="rId4"/>
    <p:sldId id="259" r:id="rId5"/>
    <p:sldId id="260" r:id="rId6"/>
    <p:sldId id="261" r:id="rId7"/>
    <p:sldId id="262" r:id="rId8"/>
    <p:sldId id="263" r:id="rId9"/>
    <p:sldId id="278" r:id="rId10"/>
    <p:sldId id="279" r:id="rId11"/>
    <p:sldId id="266" r:id="rId12"/>
    <p:sldId id="267" r:id="rId13"/>
    <p:sldId id="268" r:id="rId14"/>
    <p:sldId id="269" r:id="rId15"/>
    <p:sldId id="270" r:id="rId16"/>
    <p:sldId id="276" r:id="rId17"/>
    <p:sldId id="277"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6" autoAdjust="0"/>
    <p:restoredTop sz="73588" autoAdjust="0"/>
  </p:normalViewPr>
  <p:slideViewPr>
    <p:cSldViewPr snapToGrid="0">
      <p:cViewPr varScale="1">
        <p:scale>
          <a:sx n="56" d="100"/>
          <a:sy n="56" d="100"/>
        </p:scale>
        <p:origin x="873" y="45"/>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F306B2-F5E2-4489-A026-00649D0D9296}" type="datetimeFigureOut">
              <a:rPr lang="zh-CN" altLang="en-US" smtClean="0"/>
              <a:t>2026/2/25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34E80E-B735-47E6-900C-58864A81EA67}" type="slidenum">
              <a:rPr lang="zh-CN" altLang="en-US" smtClean="0"/>
              <a:t>‹#›</a:t>
            </a:fld>
            <a:endParaRPr lang="zh-CN" altLang="en-US"/>
          </a:p>
        </p:txBody>
      </p:sp>
    </p:spTree>
    <p:extLst>
      <p:ext uri="{BB962C8B-B14F-4D97-AF65-F5344CB8AC3E}">
        <p14:creationId xmlns:p14="http://schemas.microsoft.com/office/powerpoint/2010/main" val="1236780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OpenAI</a:t>
            </a:r>
            <a:r>
              <a:rPr lang="en-US" altLang="zh-CN" dirty="0"/>
              <a:t> </a:t>
            </a:r>
            <a:r>
              <a:rPr lang="zh-CN" altLang="en-US" dirty="0"/>
              <a:t>在 </a:t>
            </a:r>
            <a:r>
              <a:rPr lang="en-US" altLang="zh-CN" dirty="0"/>
              <a:t>2020 </a:t>
            </a:r>
            <a:r>
              <a:rPr lang="zh-CN" altLang="en-US" dirty="0"/>
              <a:t>年发布的 </a:t>
            </a:r>
            <a:r>
              <a:rPr lang="en-US" altLang="zh-CN" dirty="0"/>
              <a:t>GPT-3 </a:t>
            </a:r>
            <a:r>
              <a:rPr lang="zh-CN" altLang="en-US" dirty="0"/>
              <a:t>的参数量达到了 </a:t>
            </a:r>
            <a:r>
              <a:rPr lang="en-US" altLang="zh-CN" dirty="0"/>
              <a:t>1750 </a:t>
            </a:r>
            <a:r>
              <a:rPr lang="zh-CN" altLang="en-US" dirty="0"/>
              <a:t>亿，是它的前身 </a:t>
            </a:r>
            <a:r>
              <a:rPr lang="en-US" altLang="zh-CN" dirty="0"/>
              <a:t>GPT-2 </a:t>
            </a:r>
            <a:r>
              <a:rPr lang="zh-CN" altLang="en-US" dirty="0"/>
              <a:t>的一百多倍，其表现远超此前的任何自然语言处理模型。</a:t>
            </a:r>
          </a:p>
          <a:p>
            <a:r>
              <a:rPr lang="zh-CN" altLang="en-US" dirty="0"/>
              <a:t>高昂的代价：</a:t>
            </a:r>
            <a:r>
              <a:rPr lang="en-US" altLang="zh-CN" dirty="0"/>
              <a:t>GPT-3 </a:t>
            </a:r>
            <a:r>
              <a:rPr lang="zh-CN" altLang="en-US" dirty="0"/>
              <a:t>训练的硬件和电力成本高达 </a:t>
            </a:r>
            <a:r>
              <a:rPr lang="en-US" altLang="zh-CN" dirty="0"/>
              <a:t>1200 </a:t>
            </a:r>
            <a:r>
              <a:rPr lang="zh-CN" altLang="en-US" dirty="0"/>
              <a:t>万美元。根据一项 </a:t>
            </a:r>
            <a:r>
              <a:rPr lang="en-US" altLang="zh-CN" dirty="0"/>
              <a:t>2021 </a:t>
            </a:r>
            <a:r>
              <a:rPr lang="zh-CN" altLang="en-US" dirty="0"/>
              <a:t>年 </a:t>
            </a:r>
            <a:r>
              <a:rPr lang="en-US" altLang="zh-CN" dirty="0"/>
              <a:t>4 </a:t>
            </a:r>
            <a:r>
              <a:rPr lang="zh-CN" altLang="en-US" dirty="0"/>
              <a:t>月发表在预印本文献库 </a:t>
            </a:r>
            <a:r>
              <a:rPr lang="en-US" altLang="zh-CN" dirty="0" err="1"/>
              <a:t>arXiv</a:t>
            </a:r>
            <a:r>
              <a:rPr lang="en-US" altLang="zh-CN" dirty="0"/>
              <a:t> </a:t>
            </a:r>
            <a:r>
              <a:rPr lang="zh-CN" altLang="en-US" dirty="0"/>
              <a:t>的研究，</a:t>
            </a:r>
            <a:r>
              <a:rPr lang="en-US" altLang="zh-CN" dirty="0"/>
              <a:t>GPT-3 </a:t>
            </a:r>
            <a:r>
              <a:rPr lang="zh-CN" altLang="en-US" dirty="0"/>
              <a:t>在训练过程中消耗了 </a:t>
            </a:r>
            <a:r>
              <a:rPr lang="en-US" altLang="zh-CN" dirty="0"/>
              <a:t>1287 </a:t>
            </a:r>
            <a:r>
              <a:rPr lang="zh-CN" altLang="en-US" dirty="0"/>
              <a:t>兆瓦时电力，产生了 </a:t>
            </a:r>
            <a:r>
              <a:rPr lang="en-US" altLang="zh-CN" dirty="0"/>
              <a:t>552 </a:t>
            </a:r>
            <a:r>
              <a:rPr lang="zh-CN" altLang="en-US" dirty="0"/>
              <a:t>吨的碳排放，相当于一辆汽车 </a:t>
            </a:r>
            <a:r>
              <a:rPr lang="en-US" altLang="zh-CN" dirty="0"/>
              <a:t>120 </a:t>
            </a:r>
            <a:r>
              <a:rPr lang="zh-CN" altLang="en-US" dirty="0"/>
              <a:t>年的排放量。</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2E34E80E-B735-47E6-900C-58864A81EA67}" type="slidenum">
              <a:rPr lang="zh-CN" altLang="en-US" smtClean="0"/>
              <a:t>7</a:t>
            </a:fld>
            <a:endParaRPr lang="zh-CN" altLang="en-US"/>
          </a:p>
        </p:txBody>
      </p:sp>
    </p:spTree>
    <p:extLst>
      <p:ext uri="{BB962C8B-B14F-4D97-AF65-F5344CB8AC3E}">
        <p14:creationId xmlns:p14="http://schemas.microsoft.com/office/powerpoint/2010/main" val="72795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C3920F-BD44-4245-A641-95DC58A4EC6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E79B8E9-E767-443E-9655-B237BF1F83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6E2A3969-71A9-4465-96B8-4B6F75022157}"/>
              </a:ext>
            </a:extLst>
          </p:cNvPr>
          <p:cNvSpPr>
            <a:spLocks noGrp="1"/>
          </p:cNvSpPr>
          <p:nvPr>
            <p:ph type="dt" sz="half" idx="10"/>
          </p:nvPr>
        </p:nvSpPr>
        <p:spPr/>
        <p:txBody>
          <a:bodyPr/>
          <a:lstStyle/>
          <a:p>
            <a:fld id="{D1CF0A88-4E33-4BC4-804C-3DBEFEE5B721}" type="datetimeFigureOut">
              <a:rPr lang="zh-CN" altLang="en-US" smtClean="0"/>
              <a:t>2026/2/25</a:t>
            </a:fld>
            <a:endParaRPr lang="zh-CN" altLang="en-US"/>
          </a:p>
        </p:txBody>
      </p:sp>
      <p:sp>
        <p:nvSpPr>
          <p:cNvPr id="5" name="页脚占位符 4">
            <a:extLst>
              <a:ext uri="{FF2B5EF4-FFF2-40B4-BE49-F238E27FC236}">
                <a16:creationId xmlns:a16="http://schemas.microsoft.com/office/drawing/2014/main" id="{6DB0E4BC-D463-4BCA-B148-CA604516C97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FBFEAC4-7CD4-4CB2-BBA5-8E70522C5902}"/>
              </a:ext>
            </a:extLst>
          </p:cNvPr>
          <p:cNvSpPr>
            <a:spLocks noGrp="1"/>
          </p:cNvSpPr>
          <p:nvPr>
            <p:ph type="sldNum" sz="quarter" idx="12"/>
          </p:nvPr>
        </p:nvSpPr>
        <p:spPr/>
        <p:txBody>
          <a:bodyPr/>
          <a:lstStyle/>
          <a:p>
            <a:fld id="{FBFCA247-FE78-4C6E-95F2-1B4ED25E616E}" type="slidenum">
              <a:rPr lang="zh-CN" altLang="en-US" smtClean="0"/>
              <a:t>‹#›</a:t>
            </a:fld>
            <a:endParaRPr lang="zh-CN" altLang="en-US"/>
          </a:p>
        </p:txBody>
      </p:sp>
    </p:spTree>
    <p:extLst>
      <p:ext uri="{BB962C8B-B14F-4D97-AF65-F5344CB8AC3E}">
        <p14:creationId xmlns:p14="http://schemas.microsoft.com/office/powerpoint/2010/main" val="848912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6C372B-D7D3-4819-ADAF-9ACA140F8EE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0B38B1D-B71E-4AFB-875A-FFFDC69CDCFF}"/>
              </a:ext>
            </a:extLst>
          </p:cNvPr>
          <p:cNvSpPr>
            <a:spLocks noGrp="1"/>
          </p:cNvSpPr>
          <p:nvPr>
            <p:ph idx="1"/>
          </p:nvPr>
        </p:nvSpPr>
        <p:spPr/>
        <p:txBody>
          <a:bodyPr/>
          <a:lstStyle>
            <a:lvl1pPr>
              <a:lnSpc>
                <a:spcPct val="100000"/>
              </a:lnSpc>
              <a:spcBef>
                <a:spcPts val="0"/>
              </a:spcBef>
              <a:defRPr/>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655440C1-2744-464B-A2C9-C75152EEAA78}"/>
              </a:ext>
            </a:extLst>
          </p:cNvPr>
          <p:cNvSpPr>
            <a:spLocks noGrp="1"/>
          </p:cNvSpPr>
          <p:nvPr>
            <p:ph type="dt" sz="half" idx="10"/>
          </p:nvPr>
        </p:nvSpPr>
        <p:spPr/>
        <p:txBody>
          <a:bodyPr/>
          <a:lstStyle/>
          <a:p>
            <a:fld id="{D1CF0A88-4E33-4BC4-804C-3DBEFEE5B721}" type="datetimeFigureOut">
              <a:rPr lang="zh-CN" altLang="en-US" smtClean="0"/>
              <a:t>2026/2/25</a:t>
            </a:fld>
            <a:endParaRPr lang="zh-CN" altLang="en-US"/>
          </a:p>
        </p:txBody>
      </p:sp>
      <p:sp>
        <p:nvSpPr>
          <p:cNvPr id="5" name="页脚占位符 4">
            <a:extLst>
              <a:ext uri="{FF2B5EF4-FFF2-40B4-BE49-F238E27FC236}">
                <a16:creationId xmlns:a16="http://schemas.microsoft.com/office/drawing/2014/main" id="{8CA0ED86-AE96-4166-986B-6776182D708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CEB0F6C-7D52-4235-AF13-B758D861BCC9}"/>
              </a:ext>
            </a:extLst>
          </p:cNvPr>
          <p:cNvSpPr>
            <a:spLocks noGrp="1"/>
          </p:cNvSpPr>
          <p:nvPr>
            <p:ph type="sldNum" sz="quarter" idx="12"/>
          </p:nvPr>
        </p:nvSpPr>
        <p:spPr/>
        <p:txBody>
          <a:bodyPr/>
          <a:lstStyle/>
          <a:p>
            <a:fld id="{FBFCA247-FE78-4C6E-95F2-1B4ED25E616E}" type="slidenum">
              <a:rPr lang="zh-CN" altLang="en-US" smtClean="0"/>
              <a:t>‹#›</a:t>
            </a:fld>
            <a:endParaRPr lang="zh-CN" altLang="en-US"/>
          </a:p>
        </p:txBody>
      </p:sp>
    </p:spTree>
    <p:extLst>
      <p:ext uri="{BB962C8B-B14F-4D97-AF65-F5344CB8AC3E}">
        <p14:creationId xmlns:p14="http://schemas.microsoft.com/office/powerpoint/2010/main" val="486953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F5B06C-87E2-46CE-9E19-9400969677E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5D05526-6FE5-4FEB-AE4E-C693183556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CA040B2-B97D-40AF-B112-E65EFB2FC114}"/>
              </a:ext>
            </a:extLst>
          </p:cNvPr>
          <p:cNvSpPr>
            <a:spLocks noGrp="1"/>
          </p:cNvSpPr>
          <p:nvPr>
            <p:ph type="dt" sz="half" idx="10"/>
          </p:nvPr>
        </p:nvSpPr>
        <p:spPr/>
        <p:txBody>
          <a:bodyPr/>
          <a:lstStyle/>
          <a:p>
            <a:fld id="{D1CF0A88-4E33-4BC4-804C-3DBEFEE5B721}" type="datetimeFigureOut">
              <a:rPr lang="zh-CN" altLang="en-US" smtClean="0"/>
              <a:t>2026/2/25</a:t>
            </a:fld>
            <a:endParaRPr lang="zh-CN" altLang="en-US"/>
          </a:p>
        </p:txBody>
      </p:sp>
      <p:sp>
        <p:nvSpPr>
          <p:cNvPr id="5" name="页脚占位符 4">
            <a:extLst>
              <a:ext uri="{FF2B5EF4-FFF2-40B4-BE49-F238E27FC236}">
                <a16:creationId xmlns:a16="http://schemas.microsoft.com/office/drawing/2014/main" id="{7A212354-63AD-4DF1-AD24-82D91A924AC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5FDF8DE-9B24-41FE-B4CD-56B14C6D99A2}"/>
              </a:ext>
            </a:extLst>
          </p:cNvPr>
          <p:cNvSpPr>
            <a:spLocks noGrp="1"/>
          </p:cNvSpPr>
          <p:nvPr>
            <p:ph type="sldNum" sz="quarter" idx="12"/>
          </p:nvPr>
        </p:nvSpPr>
        <p:spPr/>
        <p:txBody>
          <a:bodyPr/>
          <a:lstStyle/>
          <a:p>
            <a:fld id="{FBFCA247-FE78-4C6E-95F2-1B4ED25E616E}" type="slidenum">
              <a:rPr lang="zh-CN" altLang="en-US" smtClean="0"/>
              <a:t>‹#›</a:t>
            </a:fld>
            <a:endParaRPr lang="zh-CN" altLang="en-US"/>
          </a:p>
        </p:txBody>
      </p:sp>
    </p:spTree>
    <p:extLst>
      <p:ext uri="{BB962C8B-B14F-4D97-AF65-F5344CB8AC3E}">
        <p14:creationId xmlns:p14="http://schemas.microsoft.com/office/powerpoint/2010/main" val="1640371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3805C-D5DC-46BA-8A64-A85FDE0D067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29BFB2C-C77E-4DCE-BAB9-5C44ECC8B3D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9FDE7CB-1A77-4FF0-8802-55A350DCF5B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A577AE7-0231-45DF-9D8B-630DEFBE9952}"/>
              </a:ext>
            </a:extLst>
          </p:cNvPr>
          <p:cNvSpPr>
            <a:spLocks noGrp="1"/>
          </p:cNvSpPr>
          <p:nvPr>
            <p:ph type="dt" sz="half" idx="10"/>
          </p:nvPr>
        </p:nvSpPr>
        <p:spPr/>
        <p:txBody>
          <a:bodyPr/>
          <a:lstStyle/>
          <a:p>
            <a:fld id="{D1CF0A88-4E33-4BC4-804C-3DBEFEE5B721}" type="datetimeFigureOut">
              <a:rPr lang="zh-CN" altLang="en-US" smtClean="0"/>
              <a:t>2026/2/25</a:t>
            </a:fld>
            <a:endParaRPr lang="zh-CN" altLang="en-US"/>
          </a:p>
        </p:txBody>
      </p:sp>
      <p:sp>
        <p:nvSpPr>
          <p:cNvPr id="6" name="页脚占位符 5">
            <a:extLst>
              <a:ext uri="{FF2B5EF4-FFF2-40B4-BE49-F238E27FC236}">
                <a16:creationId xmlns:a16="http://schemas.microsoft.com/office/drawing/2014/main" id="{3B2B06FC-6BD6-4B7D-8346-BB872D5E77C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0308C62-A005-4A0A-8502-8A9AABD3BFB3}"/>
              </a:ext>
            </a:extLst>
          </p:cNvPr>
          <p:cNvSpPr>
            <a:spLocks noGrp="1"/>
          </p:cNvSpPr>
          <p:nvPr>
            <p:ph type="sldNum" sz="quarter" idx="12"/>
          </p:nvPr>
        </p:nvSpPr>
        <p:spPr/>
        <p:txBody>
          <a:bodyPr/>
          <a:lstStyle/>
          <a:p>
            <a:fld id="{FBFCA247-FE78-4C6E-95F2-1B4ED25E616E}" type="slidenum">
              <a:rPr lang="zh-CN" altLang="en-US" smtClean="0"/>
              <a:t>‹#›</a:t>
            </a:fld>
            <a:endParaRPr lang="zh-CN" altLang="en-US"/>
          </a:p>
        </p:txBody>
      </p:sp>
    </p:spTree>
    <p:extLst>
      <p:ext uri="{BB962C8B-B14F-4D97-AF65-F5344CB8AC3E}">
        <p14:creationId xmlns:p14="http://schemas.microsoft.com/office/powerpoint/2010/main" val="3146525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46BB3C-B041-4785-9571-8A9A9F97EFA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DC57BEC-F46F-4083-B94B-9D58D175AD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E73F842E-FE29-4E6C-9A19-CBEBD0A2CEA5}"/>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64E3B92-2E74-45A4-8BD6-544E968D96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E43DBDF-00B1-422C-A2F3-30A4EFD8AAC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D4089CE-37F6-4237-A4D5-C909076F40C9}"/>
              </a:ext>
            </a:extLst>
          </p:cNvPr>
          <p:cNvSpPr>
            <a:spLocks noGrp="1"/>
          </p:cNvSpPr>
          <p:nvPr>
            <p:ph type="dt" sz="half" idx="10"/>
          </p:nvPr>
        </p:nvSpPr>
        <p:spPr/>
        <p:txBody>
          <a:bodyPr/>
          <a:lstStyle/>
          <a:p>
            <a:fld id="{D1CF0A88-4E33-4BC4-804C-3DBEFEE5B721}" type="datetimeFigureOut">
              <a:rPr lang="zh-CN" altLang="en-US" smtClean="0"/>
              <a:t>2026/2/25</a:t>
            </a:fld>
            <a:endParaRPr lang="zh-CN" altLang="en-US"/>
          </a:p>
        </p:txBody>
      </p:sp>
      <p:sp>
        <p:nvSpPr>
          <p:cNvPr id="8" name="页脚占位符 7">
            <a:extLst>
              <a:ext uri="{FF2B5EF4-FFF2-40B4-BE49-F238E27FC236}">
                <a16:creationId xmlns:a16="http://schemas.microsoft.com/office/drawing/2014/main" id="{3EB733C1-8D0A-4C57-BDE0-B020A4C326C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B0C3256-597B-42AA-915E-5AE94B00C632}"/>
              </a:ext>
            </a:extLst>
          </p:cNvPr>
          <p:cNvSpPr>
            <a:spLocks noGrp="1"/>
          </p:cNvSpPr>
          <p:nvPr>
            <p:ph type="sldNum" sz="quarter" idx="12"/>
          </p:nvPr>
        </p:nvSpPr>
        <p:spPr/>
        <p:txBody>
          <a:bodyPr/>
          <a:lstStyle/>
          <a:p>
            <a:fld id="{FBFCA247-FE78-4C6E-95F2-1B4ED25E616E}" type="slidenum">
              <a:rPr lang="zh-CN" altLang="en-US" smtClean="0"/>
              <a:t>‹#›</a:t>
            </a:fld>
            <a:endParaRPr lang="zh-CN" altLang="en-US"/>
          </a:p>
        </p:txBody>
      </p:sp>
    </p:spTree>
    <p:extLst>
      <p:ext uri="{BB962C8B-B14F-4D97-AF65-F5344CB8AC3E}">
        <p14:creationId xmlns:p14="http://schemas.microsoft.com/office/powerpoint/2010/main" val="2378071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B90223-7F14-4171-99AB-EF4738C4299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0E6AC0B-E546-4C36-9632-28385643FC5B}"/>
              </a:ext>
            </a:extLst>
          </p:cNvPr>
          <p:cNvSpPr>
            <a:spLocks noGrp="1"/>
          </p:cNvSpPr>
          <p:nvPr>
            <p:ph type="dt" sz="half" idx="10"/>
          </p:nvPr>
        </p:nvSpPr>
        <p:spPr/>
        <p:txBody>
          <a:bodyPr/>
          <a:lstStyle/>
          <a:p>
            <a:fld id="{D1CF0A88-4E33-4BC4-804C-3DBEFEE5B721}" type="datetimeFigureOut">
              <a:rPr lang="zh-CN" altLang="en-US" smtClean="0"/>
              <a:t>2026/2/25</a:t>
            </a:fld>
            <a:endParaRPr lang="zh-CN" altLang="en-US"/>
          </a:p>
        </p:txBody>
      </p:sp>
      <p:sp>
        <p:nvSpPr>
          <p:cNvPr id="4" name="页脚占位符 3">
            <a:extLst>
              <a:ext uri="{FF2B5EF4-FFF2-40B4-BE49-F238E27FC236}">
                <a16:creationId xmlns:a16="http://schemas.microsoft.com/office/drawing/2014/main" id="{30093B2B-CE92-4CFB-BDD2-62FC7668E73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7DBC53C-2BFD-461A-85CE-9A919E7CDA19}"/>
              </a:ext>
            </a:extLst>
          </p:cNvPr>
          <p:cNvSpPr>
            <a:spLocks noGrp="1"/>
          </p:cNvSpPr>
          <p:nvPr>
            <p:ph type="sldNum" sz="quarter" idx="12"/>
          </p:nvPr>
        </p:nvSpPr>
        <p:spPr/>
        <p:txBody>
          <a:bodyPr/>
          <a:lstStyle/>
          <a:p>
            <a:fld id="{FBFCA247-FE78-4C6E-95F2-1B4ED25E616E}" type="slidenum">
              <a:rPr lang="zh-CN" altLang="en-US" smtClean="0"/>
              <a:t>‹#›</a:t>
            </a:fld>
            <a:endParaRPr lang="zh-CN" altLang="en-US"/>
          </a:p>
        </p:txBody>
      </p:sp>
    </p:spTree>
    <p:extLst>
      <p:ext uri="{BB962C8B-B14F-4D97-AF65-F5344CB8AC3E}">
        <p14:creationId xmlns:p14="http://schemas.microsoft.com/office/powerpoint/2010/main" val="3273803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84A25D0-140C-43BB-A7A2-F3D8CCD3F54F}"/>
              </a:ext>
            </a:extLst>
          </p:cNvPr>
          <p:cNvSpPr>
            <a:spLocks noGrp="1"/>
          </p:cNvSpPr>
          <p:nvPr>
            <p:ph type="dt" sz="half" idx="10"/>
          </p:nvPr>
        </p:nvSpPr>
        <p:spPr/>
        <p:txBody>
          <a:bodyPr/>
          <a:lstStyle/>
          <a:p>
            <a:fld id="{D1CF0A88-4E33-4BC4-804C-3DBEFEE5B721}" type="datetimeFigureOut">
              <a:rPr lang="zh-CN" altLang="en-US" smtClean="0"/>
              <a:t>2026/2/25</a:t>
            </a:fld>
            <a:endParaRPr lang="zh-CN" altLang="en-US"/>
          </a:p>
        </p:txBody>
      </p:sp>
      <p:sp>
        <p:nvSpPr>
          <p:cNvPr id="3" name="页脚占位符 2">
            <a:extLst>
              <a:ext uri="{FF2B5EF4-FFF2-40B4-BE49-F238E27FC236}">
                <a16:creationId xmlns:a16="http://schemas.microsoft.com/office/drawing/2014/main" id="{03761622-D8BF-4162-839F-7225D82BFBA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F1EE79E-3ADD-4118-A4F4-B27399F51925}"/>
              </a:ext>
            </a:extLst>
          </p:cNvPr>
          <p:cNvSpPr>
            <a:spLocks noGrp="1"/>
          </p:cNvSpPr>
          <p:nvPr>
            <p:ph type="sldNum" sz="quarter" idx="12"/>
          </p:nvPr>
        </p:nvSpPr>
        <p:spPr/>
        <p:txBody>
          <a:bodyPr/>
          <a:lstStyle/>
          <a:p>
            <a:fld id="{FBFCA247-FE78-4C6E-95F2-1B4ED25E616E}" type="slidenum">
              <a:rPr lang="zh-CN" altLang="en-US" smtClean="0"/>
              <a:t>‹#›</a:t>
            </a:fld>
            <a:endParaRPr lang="zh-CN" altLang="en-US"/>
          </a:p>
        </p:txBody>
      </p:sp>
    </p:spTree>
    <p:extLst>
      <p:ext uri="{BB962C8B-B14F-4D97-AF65-F5344CB8AC3E}">
        <p14:creationId xmlns:p14="http://schemas.microsoft.com/office/powerpoint/2010/main" val="955468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3959B1-372D-47EF-A63C-E0FA776A822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17EFD7E-02DE-4EB3-AE23-9A43D389D3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3BCF6AD-DDAE-43EC-A0E2-A5D646ED15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92BD011-AF1C-4934-807B-3B066208EF08}"/>
              </a:ext>
            </a:extLst>
          </p:cNvPr>
          <p:cNvSpPr>
            <a:spLocks noGrp="1"/>
          </p:cNvSpPr>
          <p:nvPr>
            <p:ph type="dt" sz="half" idx="10"/>
          </p:nvPr>
        </p:nvSpPr>
        <p:spPr/>
        <p:txBody>
          <a:bodyPr/>
          <a:lstStyle/>
          <a:p>
            <a:fld id="{D1CF0A88-4E33-4BC4-804C-3DBEFEE5B721}" type="datetimeFigureOut">
              <a:rPr lang="zh-CN" altLang="en-US" smtClean="0"/>
              <a:t>2026/2/25</a:t>
            </a:fld>
            <a:endParaRPr lang="zh-CN" altLang="en-US"/>
          </a:p>
        </p:txBody>
      </p:sp>
      <p:sp>
        <p:nvSpPr>
          <p:cNvPr id="6" name="页脚占位符 5">
            <a:extLst>
              <a:ext uri="{FF2B5EF4-FFF2-40B4-BE49-F238E27FC236}">
                <a16:creationId xmlns:a16="http://schemas.microsoft.com/office/drawing/2014/main" id="{659EFF53-9586-4796-AB3A-B8A2D5A807D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90D0939-F8C2-4134-AFC9-1123AD34BA2F}"/>
              </a:ext>
            </a:extLst>
          </p:cNvPr>
          <p:cNvSpPr>
            <a:spLocks noGrp="1"/>
          </p:cNvSpPr>
          <p:nvPr>
            <p:ph type="sldNum" sz="quarter" idx="12"/>
          </p:nvPr>
        </p:nvSpPr>
        <p:spPr/>
        <p:txBody>
          <a:bodyPr/>
          <a:lstStyle/>
          <a:p>
            <a:fld id="{FBFCA247-FE78-4C6E-95F2-1B4ED25E616E}" type="slidenum">
              <a:rPr lang="zh-CN" altLang="en-US" smtClean="0"/>
              <a:t>‹#›</a:t>
            </a:fld>
            <a:endParaRPr lang="zh-CN" altLang="en-US"/>
          </a:p>
        </p:txBody>
      </p:sp>
    </p:spTree>
    <p:extLst>
      <p:ext uri="{BB962C8B-B14F-4D97-AF65-F5344CB8AC3E}">
        <p14:creationId xmlns:p14="http://schemas.microsoft.com/office/powerpoint/2010/main" val="1136413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C01897-F892-4D3A-A337-728AD5D3498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2466A95-77D0-47D4-8D4A-D3D85137B6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CEB9D35-16D9-4F5E-AD91-4A03B29217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7AFAB3A-5EEC-466E-AAE5-99630F17AB65}"/>
              </a:ext>
            </a:extLst>
          </p:cNvPr>
          <p:cNvSpPr>
            <a:spLocks noGrp="1"/>
          </p:cNvSpPr>
          <p:nvPr>
            <p:ph type="dt" sz="half" idx="10"/>
          </p:nvPr>
        </p:nvSpPr>
        <p:spPr/>
        <p:txBody>
          <a:bodyPr/>
          <a:lstStyle/>
          <a:p>
            <a:fld id="{D1CF0A88-4E33-4BC4-804C-3DBEFEE5B721}" type="datetimeFigureOut">
              <a:rPr lang="zh-CN" altLang="en-US" smtClean="0"/>
              <a:t>2026/2/25</a:t>
            </a:fld>
            <a:endParaRPr lang="zh-CN" altLang="en-US"/>
          </a:p>
        </p:txBody>
      </p:sp>
      <p:sp>
        <p:nvSpPr>
          <p:cNvPr id="6" name="页脚占位符 5">
            <a:extLst>
              <a:ext uri="{FF2B5EF4-FFF2-40B4-BE49-F238E27FC236}">
                <a16:creationId xmlns:a16="http://schemas.microsoft.com/office/drawing/2014/main" id="{B57F6FDC-9000-4BCA-9A1C-30769B6B9CD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4E93ACC-4408-470B-A698-4551A61DBF4C}"/>
              </a:ext>
            </a:extLst>
          </p:cNvPr>
          <p:cNvSpPr>
            <a:spLocks noGrp="1"/>
          </p:cNvSpPr>
          <p:nvPr>
            <p:ph type="sldNum" sz="quarter" idx="12"/>
          </p:nvPr>
        </p:nvSpPr>
        <p:spPr/>
        <p:txBody>
          <a:bodyPr/>
          <a:lstStyle/>
          <a:p>
            <a:fld id="{FBFCA247-FE78-4C6E-95F2-1B4ED25E616E}" type="slidenum">
              <a:rPr lang="zh-CN" altLang="en-US" smtClean="0"/>
              <a:t>‹#›</a:t>
            </a:fld>
            <a:endParaRPr lang="zh-CN" altLang="en-US"/>
          </a:p>
        </p:txBody>
      </p:sp>
    </p:spTree>
    <p:extLst>
      <p:ext uri="{BB962C8B-B14F-4D97-AF65-F5344CB8AC3E}">
        <p14:creationId xmlns:p14="http://schemas.microsoft.com/office/powerpoint/2010/main" val="3416418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F955F4-660A-4B6C-96E7-F18FA2C57AC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1ABA26E-3E65-45B3-8338-BC7E9C6B742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579EBA6-A14F-4FB9-B2AC-992E757546F4}"/>
              </a:ext>
            </a:extLst>
          </p:cNvPr>
          <p:cNvSpPr>
            <a:spLocks noGrp="1"/>
          </p:cNvSpPr>
          <p:nvPr>
            <p:ph type="dt" sz="half" idx="10"/>
          </p:nvPr>
        </p:nvSpPr>
        <p:spPr/>
        <p:txBody>
          <a:bodyPr/>
          <a:lstStyle/>
          <a:p>
            <a:fld id="{D1CF0A88-4E33-4BC4-804C-3DBEFEE5B721}" type="datetimeFigureOut">
              <a:rPr lang="zh-CN" altLang="en-US" smtClean="0"/>
              <a:t>2026/2/25</a:t>
            </a:fld>
            <a:endParaRPr lang="zh-CN" altLang="en-US"/>
          </a:p>
        </p:txBody>
      </p:sp>
      <p:sp>
        <p:nvSpPr>
          <p:cNvPr id="5" name="页脚占位符 4">
            <a:extLst>
              <a:ext uri="{FF2B5EF4-FFF2-40B4-BE49-F238E27FC236}">
                <a16:creationId xmlns:a16="http://schemas.microsoft.com/office/drawing/2014/main" id="{68D56D2E-4C1C-404B-BA8D-966352ED666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5FA41A8-8915-442D-AD03-BAB067B1B559}"/>
              </a:ext>
            </a:extLst>
          </p:cNvPr>
          <p:cNvSpPr>
            <a:spLocks noGrp="1"/>
          </p:cNvSpPr>
          <p:nvPr>
            <p:ph type="sldNum" sz="quarter" idx="12"/>
          </p:nvPr>
        </p:nvSpPr>
        <p:spPr/>
        <p:txBody>
          <a:bodyPr/>
          <a:lstStyle/>
          <a:p>
            <a:fld id="{FBFCA247-FE78-4C6E-95F2-1B4ED25E616E}" type="slidenum">
              <a:rPr lang="zh-CN" altLang="en-US" smtClean="0"/>
              <a:t>‹#›</a:t>
            </a:fld>
            <a:endParaRPr lang="zh-CN" altLang="en-US"/>
          </a:p>
        </p:txBody>
      </p:sp>
    </p:spTree>
    <p:extLst>
      <p:ext uri="{BB962C8B-B14F-4D97-AF65-F5344CB8AC3E}">
        <p14:creationId xmlns:p14="http://schemas.microsoft.com/office/powerpoint/2010/main" val="2765729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C6FE3E5-D6C1-4F51-B51E-7CBCE34BDDD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E4A31B0-8291-4885-B097-02312851090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DD81A19-F8C4-4A20-AB62-E9F6DC6E06D4}"/>
              </a:ext>
            </a:extLst>
          </p:cNvPr>
          <p:cNvSpPr>
            <a:spLocks noGrp="1"/>
          </p:cNvSpPr>
          <p:nvPr>
            <p:ph type="dt" sz="half" idx="10"/>
          </p:nvPr>
        </p:nvSpPr>
        <p:spPr/>
        <p:txBody>
          <a:bodyPr/>
          <a:lstStyle/>
          <a:p>
            <a:fld id="{D1CF0A88-4E33-4BC4-804C-3DBEFEE5B721}" type="datetimeFigureOut">
              <a:rPr lang="zh-CN" altLang="en-US" smtClean="0"/>
              <a:t>2026/2/25</a:t>
            </a:fld>
            <a:endParaRPr lang="zh-CN" altLang="en-US"/>
          </a:p>
        </p:txBody>
      </p:sp>
      <p:sp>
        <p:nvSpPr>
          <p:cNvPr id="5" name="页脚占位符 4">
            <a:extLst>
              <a:ext uri="{FF2B5EF4-FFF2-40B4-BE49-F238E27FC236}">
                <a16:creationId xmlns:a16="http://schemas.microsoft.com/office/drawing/2014/main" id="{12D8240C-D93A-404F-9B6F-214139B27CF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191AC6F-7BE9-4A56-899B-A116277FA85C}"/>
              </a:ext>
            </a:extLst>
          </p:cNvPr>
          <p:cNvSpPr>
            <a:spLocks noGrp="1"/>
          </p:cNvSpPr>
          <p:nvPr>
            <p:ph type="sldNum" sz="quarter" idx="12"/>
          </p:nvPr>
        </p:nvSpPr>
        <p:spPr/>
        <p:txBody>
          <a:bodyPr/>
          <a:lstStyle/>
          <a:p>
            <a:fld id="{FBFCA247-FE78-4C6E-95F2-1B4ED25E616E}" type="slidenum">
              <a:rPr lang="zh-CN" altLang="en-US" smtClean="0"/>
              <a:t>‹#›</a:t>
            </a:fld>
            <a:endParaRPr lang="zh-CN" altLang="en-US"/>
          </a:p>
        </p:txBody>
      </p:sp>
    </p:spTree>
    <p:extLst>
      <p:ext uri="{BB962C8B-B14F-4D97-AF65-F5344CB8AC3E}">
        <p14:creationId xmlns:p14="http://schemas.microsoft.com/office/powerpoint/2010/main" val="1318471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4CC4D71-0AC3-4DA9-9537-006651B133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E4D77DC-8464-4C62-8905-72481CBB78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1CF5ED8-4F52-4049-929E-B66B53D4D3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CF0A88-4E33-4BC4-804C-3DBEFEE5B721}" type="datetimeFigureOut">
              <a:rPr lang="zh-CN" altLang="en-US" smtClean="0"/>
              <a:t>2026/2/25</a:t>
            </a:fld>
            <a:endParaRPr lang="zh-CN" altLang="en-US"/>
          </a:p>
        </p:txBody>
      </p:sp>
      <p:sp>
        <p:nvSpPr>
          <p:cNvPr id="5" name="页脚占位符 4">
            <a:extLst>
              <a:ext uri="{FF2B5EF4-FFF2-40B4-BE49-F238E27FC236}">
                <a16:creationId xmlns:a16="http://schemas.microsoft.com/office/drawing/2014/main" id="{8E8D9A53-CB9D-4CC3-B2EF-FFA88CF6D0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C215195-040C-4081-B666-C9C901A777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FCA247-FE78-4C6E-95F2-1B4ED25E616E}" type="slidenum">
              <a:rPr lang="zh-CN" altLang="en-US" smtClean="0"/>
              <a:t>‹#›</a:t>
            </a:fld>
            <a:endParaRPr lang="zh-CN" altLang="en-US"/>
          </a:p>
        </p:txBody>
      </p:sp>
    </p:spTree>
    <p:extLst>
      <p:ext uri="{BB962C8B-B14F-4D97-AF65-F5344CB8AC3E}">
        <p14:creationId xmlns:p14="http://schemas.microsoft.com/office/powerpoint/2010/main" val="28129585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7.jpe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ACE6CF-AD9E-4A0E-B20B-0B0303748E37}"/>
              </a:ext>
            </a:extLst>
          </p:cNvPr>
          <p:cNvSpPr>
            <a:spLocks noGrp="1"/>
          </p:cNvSpPr>
          <p:nvPr>
            <p:ph type="title"/>
          </p:nvPr>
        </p:nvSpPr>
        <p:spPr/>
        <p:txBody>
          <a:bodyPr/>
          <a:lstStyle/>
          <a:p>
            <a:r>
              <a:rPr lang="zh-CN" altLang="en-US" dirty="0"/>
              <a:t>联系方式</a:t>
            </a:r>
          </a:p>
        </p:txBody>
      </p:sp>
      <p:sp>
        <p:nvSpPr>
          <p:cNvPr id="3" name="内容占位符 2">
            <a:extLst>
              <a:ext uri="{FF2B5EF4-FFF2-40B4-BE49-F238E27FC236}">
                <a16:creationId xmlns:a16="http://schemas.microsoft.com/office/drawing/2014/main" id="{2161EBCC-6B43-47BC-AFE8-8717B41E2D6B}"/>
              </a:ext>
            </a:extLst>
          </p:cNvPr>
          <p:cNvSpPr>
            <a:spLocks noGrp="1"/>
          </p:cNvSpPr>
          <p:nvPr>
            <p:ph idx="1"/>
          </p:nvPr>
        </p:nvSpPr>
        <p:spPr/>
        <p:txBody>
          <a:bodyPr/>
          <a:lstStyle/>
          <a:p>
            <a:r>
              <a:rPr lang="zh-CN" altLang="en-US" dirty="0"/>
              <a:t>姓名：任庆生</a:t>
            </a:r>
          </a:p>
          <a:p>
            <a:r>
              <a:rPr lang="zh-CN" altLang="en-US" dirty="0"/>
              <a:t>办公室：</a:t>
            </a:r>
            <a:r>
              <a:rPr lang="en-US" altLang="zh-CN" dirty="0"/>
              <a:t>3-523</a:t>
            </a:r>
          </a:p>
          <a:p>
            <a:r>
              <a:rPr lang="en-US" altLang="zh-CN" dirty="0"/>
              <a:t>E-mail: ren-qs@cs.sjtu.edu.cn</a:t>
            </a:r>
          </a:p>
          <a:p>
            <a:endParaRPr lang="zh-CN" altLang="en-US" dirty="0"/>
          </a:p>
        </p:txBody>
      </p:sp>
    </p:spTree>
    <p:extLst>
      <p:ext uri="{BB962C8B-B14F-4D97-AF65-F5344CB8AC3E}">
        <p14:creationId xmlns:p14="http://schemas.microsoft.com/office/powerpoint/2010/main" val="3743793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767365-EDCD-465B-A8E0-607D7AFE676F}"/>
              </a:ext>
            </a:extLst>
          </p:cNvPr>
          <p:cNvSpPr>
            <a:spLocks noGrp="1"/>
          </p:cNvSpPr>
          <p:nvPr>
            <p:ph type="ctrTitle"/>
          </p:nvPr>
        </p:nvSpPr>
        <p:spPr/>
        <p:txBody>
          <a:bodyPr/>
          <a:lstStyle/>
          <a:p>
            <a:pPr eaLnBrk="1" hangingPunct="1"/>
            <a:r>
              <a:rPr lang="zh-CN" altLang="en-US" dirty="0"/>
              <a:t>引论</a:t>
            </a:r>
          </a:p>
        </p:txBody>
      </p:sp>
      <p:sp>
        <p:nvSpPr>
          <p:cNvPr id="3" name="副标题 2">
            <a:extLst>
              <a:ext uri="{FF2B5EF4-FFF2-40B4-BE49-F238E27FC236}">
                <a16:creationId xmlns:a16="http://schemas.microsoft.com/office/drawing/2014/main" id="{D2FD420F-DFCE-4219-B198-7BF93762448A}"/>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700114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623FD5-024E-4506-A863-30CEDE30920F}"/>
              </a:ext>
            </a:extLst>
          </p:cNvPr>
          <p:cNvSpPr>
            <a:spLocks noGrp="1"/>
          </p:cNvSpPr>
          <p:nvPr>
            <p:ph type="title"/>
          </p:nvPr>
        </p:nvSpPr>
        <p:spPr/>
        <p:txBody>
          <a:bodyPr/>
          <a:lstStyle/>
          <a:p>
            <a:r>
              <a:rPr lang="zh-CN" altLang="en-US" dirty="0"/>
              <a:t>无处不在的算法</a:t>
            </a:r>
          </a:p>
        </p:txBody>
      </p:sp>
      <p:sp>
        <p:nvSpPr>
          <p:cNvPr id="3" name="内容占位符 2">
            <a:extLst>
              <a:ext uri="{FF2B5EF4-FFF2-40B4-BE49-F238E27FC236}">
                <a16:creationId xmlns:a16="http://schemas.microsoft.com/office/drawing/2014/main" id="{36B6B03F-5855-4759-938B-3DCA118F1376}"/>
              </a:ext>
            </a:extLst>
          </p:cNvPr>
          <p:cNvSpPr>
            <a:spLocks noGrp="1"/>
          </p:cNvSpPr>
          <p:nvPr>
            <p:ph idx="1"/>
          </p:nvPr>
        </p:nvSpPr>
        <p:spPr/>
        <p:txBody>
          <a:bodyPr>
            <a:normAutofit/>
          </a:bodyPr>
          <a:lstStyle/>
          <a:p>
            <a:r>
              <a:rPr lang="zh-CN" altLang="en-US" sz="2400" dirty="0"/>
              <a:t>求解数学问题（如寻找最大公约数）的一个过程，该过程步骤有限，通常还涉及重复的操作</a:t>
            </a:r>
          </a:p>
          <a:p>
            <a:r>
              <a:rPr lang="zh-CN" altLang="en-US" sz="2400" dirty="0"/>
              <a:t>广义地说，算法是按部就班解决一个问题或完成某个目标的过程。</a:t>
            </a:r>
          </a:p>
          <a:p>
            <a:r>
              <a:rPr lang="zh-CN" altLang="en-US" sz="2400" dirty="0"/>
              <a:t>狭义的算法特指用于规定计算机如何完成给定任务的过程</a:t>
            </a:r>
          </a:p>
          <a:p>
            <a:r>
              <a:rPr lang="zh-CN" altLang="en-US" sz="2400" dirty="0"/>
              <a:t>算法被公认为计算机科学的基石</a:t>
            </a:r>
          </a:p>
          <a:p>
            <a:r>
              <a:rPr lang="zh-CN" altLang="en-US" sz="2400" dirty="0"/>
              <a:t>计算机科学的核心在于研究计算方法与过程的规律，而不仅仅是作为计算工具的计算机本身</a:t>
            </a:r>
          </a:p>
          <a:p>
            <a:endParaRPr lang="zh-CN" altLang="en-US" sz="2400" dirty="0"/>
          </a:p>
          <a:p>
            <a:endParaRPr lang="zh-CN" altLang="en-US" sz="2400" dirty="0"/>
          </a:p>
          <a:p>
            <a:endParaRPr lang="zh-CN" altLang="en-US" sz="2400" dirty="0"/>
          </a:p>
          <a:p>
            <a:endParaRPr lang="zh-CN" altLang="en-US" sz="2400" dirty="0"/>
          </a:p>
        </p:txBody>
      </p:sp>
      <p:pic>
        <p:nvPicPr>
          <p:cNvPr id="4" name="图片 5" descr="fmv7-fymzqpq2264505.jpg">
            <a:extLst>
              <a:ext uri="{FF2B5EF4-FFF2-40B4-BE49-F238E27FC236}">
                <a16:creationId xmlns:a16="http://schemas.microsoft.com/office/drawing/2014/main" id="{2969AB44-79B8-4D15-AF51-3AD18934FA17}"/>
              </a:ext>
            </a:extLst>
          </p:cNvPr>
          <p:cNvPicPr>
            <a:picLocks noChangeAspect="1" noChangeArrowheads="1"/>
          </p:cNvPicPr>
          <p:nvPr/>
        </p:nvPicPr>
        <p:blipFill>
          <a:blip r:embed="rId2" cstate="print"/>
          <a:srcRect/>
          <a:stretch>
            <a:fillRect/>
          </a:stretch>
        </p:blipFill>
        <p:spPr bwMode="auto">
          <a:xfrm>
            <a:off x="881590" y="4982663"/>
            <a:ext cx="4225520" cy="1586119"/>
          </a:xfrm>
          <a:prstGeom prst="rect">
            <a:avLst/>
          </a:prstGeom>
          <a:noFill/>
          <a:ln w="9525">
            <a:noFill/>
            <a:miter lim="800000"/>
            <a:headEnd/>
            <a:tailEnd/>
          </a:ln>
        </p:spPr>
      </p:pic>
      <p:pic>
        <p:nvPicPr>
          <p:cNvPr id="5" name="图片 4">
            <a:extLst>
              <a:ext uri="{FF2B5EF4-FFF2-40B4-BE49-F238E27FC236}">
                <a16:creationId xmlns:a16="http://schemas.microsoft.com/office/drawing/2014/main" id="{19D18931-0C88-4A11-ADDB-E42C65550537}"/>
              </a:ext>
            </a:extLst>
          </p:cNvPr>
          <p:cNvPicPr>
            <a:picLocks noChangeAspect="1"/>
          </p:cNvPicPr>
          <p:nvPr/>
        </p:nvPicPr>
        <p:blipFill>
          <a:blip r:embed="rId3"/>
          <a:stretch>
            <a:fillRect/>
          </a:stretch>
        </p:blipFill>
        <p:spPr>
          <a:xfrm>
            <a:off x="5438905" y="4563087"/>
            <a:ext cx="2192524" cy="2244113"/>
          </a:xfrm>
          <a:prstGeom prst="rect">
            <a:avLst/>
          </a:prstGeom>
        </p:spPr>
      </p:pic>
      <p:pic>
        <p:nvPicPr>
          <p:cNvPr id="6" name="图片 5">
            <a:extLst>
              <a:ext uri="{FF2B5EF4-FFF2-40B4-BE49-F238E27FC236}">
                <a16:creationId xmlns:a16="http://schemas.microsoft.com/office/drawing/2014/main" id="{3D7B1D01-8DDB-4E7A-BD83-93BF8B229251}"/>
              </a:ext>
            </a:extLst>
          </p:cNvPr>
          <p:cNvPicPr>
            <a:picLocks noChangeAspect="1"/>
          </p:cNvPicPr>
          <p:nvPr/>
        </p:nvPicPr>
        <p:blipFill>
          <a:blip r:embed="rId4"/>
          <a:stretch>
            <a:fillRect/>
          </a:stretch>
        </p:blipFill>
        <p:spPr>
          <a:xfrm>
            <a:off x="7963225" y="4781771"/>
            <a:ext cx="4088750" cy="1987901"/>
          </a:xfrm>
          <a:prstGeom prst="rect">
            <a:avLst/>
          </a:prstGeom>
        </p:spPr>
      </p:pic>
    </p:spTree>
    <p:extLst>
      <p:ext uri="{BB962C8B-B14F-4D97-AF65-F5344CB8AC3E}">
        <p14:creationId xmlns:p14="http://schemas.microsoft.com/office/powerpoint/2010/main" val="426722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C68A96-6461-4B38-9C22-FC5AE32E0369}"/>
              </a:ext>
            </a:extLst>
          </p:cNvPr>
          <p:cNvSpPr>
            <a:spLocks noGrp="1"/>
          </p:cNvSpPr>
          <p:nvPr>
            <p:ph type="title"/>
          </p:nvPr>
        </p:nvSpPr>
        <p:spPr/>
        <p:txBody>
          <a:bodyPr/>
          <a:lstStyle/>
          <a:p>
            <a:r>
              <a:rPr lang="zh-CN" altLang="en-US" dirty="0"/>
              <a:t>算法基本性质</a:t>
            </a:r>
          </a:p>
        </p:txBody>
      </p:sp>
      <p:sp>
        <p:nvSpPr>
          <p:cNvPr id="3" name="内容占位符 2">
            <a:extLst>
              <a:ext uri="{FF2B5EF4-FFF2-40B4-BE49-F238E27FC236}">
                <a16:creationId xmlns:a16="http://schemas.microsoft.com/office/drawing/2014/main" id="{21A9FBD9-FC94-474F-8CED-FD300D03D035}"/>
              </a:ext>
            </a:extLst>
          </p:cNvPr>
          <p:cNvSpPr>
            <a:spLocks noGrp="1"/>
          </p:cNvSpPr>
          <p:nvPr>
            <p:ph idx="1"/>
          </p:nvPr>
        </p:nvSpPr>
        <p:spPr/>
        <p:txBody>
          <a:bodyPr/>
          <a:lstStyle/>
          <a:p>
            <a:r>
              <a:rPr lang="zh-CN" altLang="en-US" dirty="0"/>
              <a:t>无论是广义的算法还是狭义的算法，都应满足以下</a:t>
            </a:r>
            <a:r>
              <a:rPr lang="en-US" altLang="zh-CN" dirty="0"/>
              <a:t>4</a:t>
            </a:r>
            <a:r>
              <a:rPr lang="zh-CN" altLang="en-US" dirty="0"/>
              <a:t>条性质：</a:t>
            </a:r>
          </a:p>
          <a:p>
            <a:pPr lvl="1"/>
            <a:r>
              <a:rPr lang="zh-CN" altLang="en-US" dirty="0"/>
              <a:t>有零个或多个输入；（算法可以没有输入）</a:t>
            </a:r>
          </a:p>
          <a:p>
            <a:pPr lvl="1"/>
            <a:r>
              <a:rPr lang="zh-CN" altLang="en-US" dirty="0"/>
              <a:t>至少有一个输出结果；（算法必须要有输出）</a:t>
            </a:r>
          </a:p>
          <a:p>
            <a:pPr lvl="1"/>
            <a:r>
              <a:rPr lang="zh-CN" altLang="en-US" dirty="0"/>
              <a:t>构成算法的步骤必须清晰明确；</a:t>
            </a:r>
          </a:p>
          <a:p>
            <a:pPr lvl="1"/>
            <a:r>
              <a:rPr lang="zh-CN" altLang="en-US" dirty="0"/>
              <a:t>算法能够在有限时间内完成。</a:t>
            </a:r>
          </a:p>
          <a:p>
            <a:endParaRPr lang="zh-CN" altLang="en-US" dirty="0"/>
          </a:p>
        </p:txBody>
      </p:sp>
      <p:pic>
        <p:nvPicPr>
          <p:cNvPr id="4" name="图片 4">
            <a:extLst>
              <a:ext uri="{FF2B5EF4-FFF2-40B4-BE49-F238E27FC236}">
                <a16:creationId xmlns:a16="http://schemas.microsoft.com/office/drawing/2014/main" id="{9EBC418C-08A9-460F-BCF4-7300745916E1}"/>
              </a:ext>
            </a:extLst>
          </p:cNvPr>
          <p:cNvPicPr>
            <a:picLocks noChangeAspect="1"/>
          </p:cNvPicPr>
          <p:nvPr/>
        </p:nvPicPr>
        <p:blipFill>
          <a:blip r:embed="rId2" cstate="print"/>
          <a:srcRect/>
          <a:stretch>
            <a:fillRect/>
          </a:stretch>
        </p:blipFill>
        <p:spPr bwMode="auto">
          <a:xfrm>
            <a:off x="4079878" y="4652966"/>
            <a:ext cx="3914775" cy="936625"/>
          </a:xfrm>
          <a:prstGeom prst="rect">
            <a:avLst/>
          </a:prstGeom>
          <a:noFill/>
          <a:ln w="9525">
            <a:noFill/>
            <a:miter lim="800000"/>
            <a:headEnd/>
            <a:tailEnd/>
          </a:ln>
        </p:spPr>
      </p:pic>
    </p:spTree>
    <p:extLst>
      <p:ext uri="{BB962C8B-B14F-4D97-AF65-F5344CB8AC3E}">
        <p14:creationId xmlns:p14="http://schemas.microsoft.com/office/powerpoint/2010/main" val="3186532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7E82B9-01CA-4586-A3E2-B9B703EE23D2}"/>
              </a:ext>
            </a:extLst>
          </p:cNvPr>
          <p:cNvSpPr>
            <a:spLocks noGrp="1"/>
          </p:cNvSpPr>
          <p:nvPr>
            <p:ph type="title"/>
          </p:nvPr>
        </p:nvSpPr>
        <p:spPr/>
        <p:txBody>
          <a:bodyPr/>
          <a:lstStyle/>
          <a:p>
            <a:r>
              <a:rPr lang="zh-CN" altLang="en-US" dirty="0"/>
              <a:t>这是一个算法吗</a:t>
            </a:r>
          </a:p>
        </p:txBody>
      </p:sp>
      <p:sp>
        <p:nvSpPr>
          <p:cNvPr id="3" name="内容占位符 2">
            <a:extLst>
              <a:ext uri="{FF2B5EF4-FFF2-40B4-BE49-F238E27FC236}">
                <a16:creationId xmlns:a16="http://schemas.microsoft.com/office/drawing/2014/main" id="{3C847D4C-49D2-43FA-A697-9047C9C205B1}"/>
              </a:ext>
            </a:extLst>
          </p:cNvPr>
          <p:cNvSpPr>
            <a:spLocks noGrp="1"/>
          </p:cNvSpPr>
          <p:nvPr>
            <p:ph idx="1"/>
          </p:nvPr>
        </p:nvSpPr>
        <p:spPr>
          <a:xfrm>
            <a:off x="838200" y="1825625"/>
            <a:ext cx="4775200" cy="4351338"/>
          </a:xfrm>
        </p:spPr>
        <p:txBody>
          <a:bodyPr>
            <a:normAutofit/>
          </a:bodyPr>
          <a:lstStyle/>
          <a:p>
            <a:pPr marL="0" indent="0">
              <a:buNone/>
            </a:pPr>
            <a:r>
              <a:rPr lang="zh-CN" altLang="en-US" sz="2000" dirty="0"/>
              <a:t>输入：自然数</a:t>
            </a:r>
            <a:r>
              <a:rPr lang="en-US" altLang="zh-CN" sz="2000" dirty="0"/>
              <a:t>a</a:t>
            </a:r>
            <a:r>
              <a:rPr lang="zh-CN" altLang="en-US" sz="2000" dirty="0"/>
              <a:t>、</a:t>
            </a:r>
            <a:r>
              <a:rPr lang="en-US" altLang="zh-CN" sz="2000" dirty="0"/>
              <a:t>b</a:t>
            </a:r>
          </a:p>
          <a:p>
            <a:pPr marL="0" indent="0">
              <a:buNone/>
            </a:pPr>
            <a:r>
              <a:rPr lang="zh-CN" altLang="en-US" sz="2000" dirty="0"/>
              <a:t>输出：</a:t>
            </a:r>
            <a:r>
              <a:rPr lang="en-US" altLang="zh-CN" sz="2000" dirty="0"/>
              <a:t>a</a:t>
            </a:r>
            <a:r>
              <a:rPr lang="zh-CN" altLang="en-US" sz="2000" dirty="0"/>
              <a:t>、</a:t>
            </a:r>
            <a:r>
              <a:rPr lang="en-US" altLang="zh-CN" sz="2000" dirty="0"/>
              <a:t>b</a:t>
            </a:r>
            <a:r>
              <a:rPr lang="zh-CN" altLang="en-US" sz="2000" dirty="0"/>
              <a:t>的最大公约数</a:t>
            </a:r>
          </a:p>
          <a:p>
            <a:pPr marL="0" indent="0">
              <a:buNone/>
            </a:pPr>
            <a:r>
              <a:rPr lang="zh-CN" altLang="en-US" sz="2000" dirty="0"/>
              <a:t>步骤：</a:t>
            </a:r>
          </a:p>
          <a:p>
            <a:pPr marL="0" indent="0">
              <a:buNone/>
            </a:pPr>
            <a:r>
              <a:rPr lang="en-US" altLang="zh-CN" sz="2000" dirty="0"/>
              <a:t>1</a:t>
            </a:r>
            <a:r>
              <a:rPr lang="zh-CN" altLang="en-US" sz="2000" dirty="0"/>
              <a:t>）令</a:t>
            </a:r>
            <a:r>
              <a:rPr lang="en-US" altLang="zh-CN" sz="2000" dirty="0"/>
              <a:t>r</a:t>
            </a:r>
            <a:r>
              <a:rPr lang="zh-CN" altLang="en-US" sz="2000" dirty="0"/>
              <a:t>为</a:t>
            </a:r>
            <a:r>
              <a:rPr lang="en-US" altLang="zh-CN" sz="2000" dirty="0"/>
              <a:t>a / b</a:t>
            </a:r>
            <a:r>
              <a:rPr lang="zh-CN" altLang="en-US" sz="2000" dirty="0"/>
              <a:t>所得余数，即</a:t>
            </a:r>
            <a:r>
              <a:rPr lang="en-US" altLang="zh-CN" sz="2000" dirty="0"/>
              <a:t>r=</a:t>
            </a:r>
            <a:r>
              <a:rPr lang="en-US" altLang="zh-CN" sz="2000" dirty="0" err="1"/>
              <a:t>a%b</a:t>
            </a:r>
            <a:endParaRPr lang="en-US" altLang="zh-CN" sz="2000" dirty="0"/>
          </a:p>
          <a:p>
            <a:pPr marL="0" indent="0">
              <a:buNone/>
            </a:pPr>
            <a:r>
              <a:rPr lang="en-US" altLang="zh-CN" sz="2000" dirty="0"/>
              <a:t>2</a:t>
            </a:r>
            <a:r>
              <a:rPr lang="zh-CN" altLang="en-US" sz="2000" dirty="0"/>
              <a:t>）若</a:t>
            </a:r>
            <a:r>
              <a:rPr lang="en-US" altLang="zh-CN" sz="2000" dirty="0"/>
              <a:t>r = 0</a:t>
            </a:r>
            <a:r>
              <a:rPr lang="zh-CN" altLang="en-US" sz="2000" dirty="0"/>
              <a:t>，则算法结束，</a:t>
            </a:r>
            <a:r>
              <a:rPr lang="en-US" altLang="zh-CN" sz="2000" dirty="0"/>
              <a:t>b</a:t>
            </a:r>
            <a:r>
              <a:rPr lang="zh-CN" altLang="en-US" sz="2000" dirty="0"/>
              <a:t>即为答案；否则置</a:t>
            </a:r>
            <a:r>
              <a:rPr lang="en-US" altLang="zh-CN" sz="2000" dirty="0"/>
              <a:t>a=b</a:t>
            </a:r>
            <a:r>
              <a:rPr lang="zh-CN" altLang="en-US" sz="2000" dirty="0"/>
              <a:t>，</a:t>
            </a:r>
            <a:r>
              <a:rPr lang="en-US" altLang="zh-CN" sz="2000" dirty="0"/>
              <a:t>b=r</a:t>
            </a:r>
            <a:r>
              <a:rPr lang="zh-CN" altLang="en-US" sz="2000" dirty="0"/>
              <a:t>，转到第</a:t>
            </a:r>
            <a:r>
              <a:rPr lang="en-US" altLang="zh-CN" sz="2000" dirty="0"/>
              <a:t>1</a:t>
            </a:r>
            <a:r>
              <a:rPr lang="zh-CN" altLang="en-US" sz="2000" dirty="0"/>
              <a:t>步。</a:t>
            </a:r>
          </a:p>
          <a:p>
            <a:pPr marL="0" indent="0">
              <a:buNone/>
            </a:pPr>
            <a:endParaRPr lang="zh-CN" altLang="en-US" sz="2000" dirty="0"/>
          </a:p>
          <a:p>
            <a:pPr marL="0" indent="0">
              <a:buNone/>
            </a:pPr>
            <a:endParaRPr lang="zh-CN" altLang="en-US" sz="2000" dirty="0"/>
          </a:p>
        </p:txBody>
      </p:sp>
      <p:sp>
        <p:nvSpPr>
          <p:cNvPr id="4" name="内容占位符 2">
            <a:extLst>
              <a:ext uri="{FF2B5EF4-FFF2-40B4-BE49-F238E27FC236}">
                <a16:creationId xmlns:a16="http://schemas.microsoft.com/office/drawing/2014/main" id="{EA1AB205-C5FA-4634-964F-C44338203868}"/>
              </a:ext>
            </a:extLst>
          </p:cNvPr>
          <p:cNvSpPr txBox="1">
            <a:spLocks/>
          </p:cNvSpPr>
          <p:nvPr/>
        </p:nvSpPr>
        <p:spPr bwMode="auto">
          <a:xfrm>
            <a:off x="6208065" y="1825625"/>
            <a:ext cx="4750296" cy="41120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buFontTx/>
              <a:buNone/>
              <a:defRPr/>
            </a:pPr>
            <a:r>
              <a:rPr lang="zh-CN" altLang="zh-CN" sz="2000" dirty="0"/>
              <a:t>输入：</a:t>
            </a:r>
            <a:r>
              <a:rPr lang="zh-CN" altLang="en-US" sz="2000" dirty="0"/>
              <a:t>青菜，香菇，油，盐</a:t>
            </a:r>
            <a:endParaRPr lang="zh-CN" altLang="zh-CN" sz="2000" dirty="0"/>
          </a:p>
          <a:p>
            <a:pPr>
              <a:buFontTx/>
              <a:buNone/>
              <a:defRPr/>
            </a:pPr>
            <a:r>
              <a:rPr lang="zh-CN" altLang="zh-CN" sz="2000" dirty="0"/>
              <a:t>输出：香菇炒青菜</a:t>
            </a:r>
          </a:p>
          <a:p>
            <a:pPr>
              <a:buFontTx/>
              <a:buNone/>
              <a:defRPr/>
            </a:pPr>
            <a:r>
              <a:rPr lang="zh-CN" altLang="zh-CN" sz="2000" dirty="0"/>
              <a:t>步骤：</a:t>
            </a:r>
          </a:p>
          <a:p>
            <a:pPr marL="571500" indent="-571500">
              <a:defRPr/>
            </a:pPr>
            <a:r>
              <a:rPr lang="en-US" altLang="zh-CN" sz="2000" dirty="0"/>
              <a:t>1</a:t>
            </a:r>
            <a:r>
              <a:rPr lang="zh-CN" altLang="en-US" sz="2000" dirty="0"/>
              <a:t>）</a:t>
            </a:r>
            <a:r>
              <a:rPr lang="zh-CN" altLang="zh-CN" sz="2000" dirty="0"/>
              <a:t>青菜洗净掰开。</a:t>
            </a:r>
            <a:endParaRPr lang="en-US" altLang="zh-CN" sz="2000" dirty="0"/>
          </a:p>
          <a:p>
            <a:pPr marL="571500" indent="-571500">
              <a:defRPr/>
            </a:pPr>
            <a:r>
              <a:rPr lang="en-US" altLang="zh-CN" sz="2000" dirty="0"/>
              <a:t>2</a:t>
            </a:r>
            <a:r>
              <a:rPr lang="zh-CN" altLang="en-US" sz="2000" dirty="0"/>
              <a:t>）</a:t>
            </a:r>
            <a:r>
              <a:rPr lang="zh-CN" altLang="zh-CN" sz="2000" dirty="0"/>
              <a:t>香菇洗净切小片。</a:t>
            </a:r>
            <a:endParaRPr lang="en-US" altLang="zh-CN" sz="2000" dirty="0"/>
          </a:p>
          <a:p>
            <a:pPr marL="571500" indent="-571500">
              <a:defRPr/>
            </a:pPr>
            <a:r>
              <a:rPr lang="en-US" altLang="zh-CN" sz="2000" dirty="0"/>
              <a:t>3</a:t>
            </a:r>
            <a:r>
              <a:rPr lang="zh-CN" altLang="en-US" sz="2000" dirty="0"/>
              <a:t>）</a:t>
            </a:r>
            <a:r>
              <a:rPr lang="zh-CN" altLang="zh-CN" sz="2000" dirty="0"/>
              <a:t>锅内放油，将香菇煸炒半分钟。</a:t>
            </a:r>
            <a:endParaRPr lang="en-US" altLang="zh-CN" sz="2000" dirty="0"/>
          </a:p>
          <a:p>
            <a:pPr marL="571500" indent="-571500">
              <a:defRPr/>
            </a:pPr>
            <a:r>
              <a:rPr lang="en-US" altLang="zh-CN" sz="2000" dirty="0"/>
              <a:t>4</a:t>
            </a:r>
            <a:r>
              <a:rPr lang="zh-CN" altLang="en-US" sz="2000" dirty="0"/>
              <a:t>）</a:t>
            </a:r>
            <a:r>
              <a:rPr lang="zh-CN" altLang="zh-CN" sz="2000" dirty="0"/>
              <a:t>倒入青菜大火煸炒。</a:t>
            </a:r>
            <a:endParaRPr lang="en-US" altLang="zh-CN" sz="2000" dirty="0"/>
          </a:p>
          <a:p>
            <a:pPr marL="571500" indent="-571500">
              <a:defRPr/>
            </a:pPr>
            <a:r>
              <a:rPr lang="en-US" altLang="zh-CN" sz="2000" dirty="0"/>
              <a:t>5</a:t>
            </a:r>
            <a:r>
              <a:rPr lang="zh-CN" altLang="en-US" sz="2000" dirty="0"/>
              <a:t>）</a:t>
            </a:r>
            <a:r>
              <a:rPr lang="zh-CN" altLang="zh-CN" sz="2000" dirty="0"/>
              <a:t>青菜变软的时候即可调入适量盐，翻炒均匀即可。</a:t>
            </a:r>
            <a:endParaRPr lang="zh-CN" altLang="en-US" sz="2000" kern="0" dirty="0">
              <a:latin typeface="+mn-lt"/>
              <a:ea typeface="+mn-ea"/>
            </a:endParaRPr>
          </a:p>
        </p:txBody>
      </p:sp>
    </p:spTree>
    <p:extLst>
      <p:ext uri="{BB962C8B-B14F-4D97-AF65-F5344CB8AC3E}">
        <p14:creationId xmlns:p14="http://schemas.microsoft.com/office/powerpoint/2010/main" val="3589075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90899D-7A4F-45CA-9D05-27E862D7CD7C}"/>
              </a:ext>
            </a:extLst>
          </p:cNvPr>
          <p:cNvSpPr>
            <a:spLocks noGrp="1"/>
          </p:cNvSpPr>
          <p:nvPr>
            <p:ph type="title"/>
          </p:nvPr>
        </p:nvSpPr>
        <p:spPr/>
        <p:txBody>
          <a:bodyPr/>
          <a:lstStyle/>
          <a:p>
            <a:r>
              <a:rPr lang="zh-CN" altLang="en-US" dirty="0"/>
              <a:t>算法与编程</a:t>
            </a:r>
          </a:p>
        </p:txBody>
      </p:sp>
      <p:sp>
        <p:nvSpPr>
          <p:cNvPr id="3" name="内容占位符 2">
            <a:extLst>
              <a:ext uri="{FF2B5EF4-FFF2-40B4-BE49-F238E27FC236}">
                <a16:creationId xmlns:a16="http://schemas.microsoft.com/office/drawing/2014/main" id="{0778B1CF-943E-47E9-AC73-01F38BCB6041}"/>
              </a:ext>
            </a:extLst>
          </p:cNvPr>
          <p:cNvSpPr>
            <a:spLocks noGrp="1"/>
          </p:cNvSpPr>
          <p:nvPr>
            <p:ph idx="1"/>
          </p:nvPr>
        </p:nvSpPr>
        <p:spPr/>
        <p:txBody>
          <a:bodyPr/>
          <a:lstStyle/>
          <a:p>
            <a:r>
              <a:rPr lang="zh-CN" altLang="en-US" dirty="0"/>
              <a:t>一台计算机可接受的指令应是定义明确、长度有限的基本操作序列。将通常的命令转换为计算机可以理解的指令是一个困难的过程，该过程就是编程。</a:t>
            </a:r>
          </a:p>
          <a:p>
            <a:r>
              <a:rPr lang="zh-CN" altLang="en-US" dirty="0">
                <a:solidFill>
                  <a:srgbClr val="FF0000"/>
                </a:solidFill>
              </a:rPr>
              <a:t>程序是算法</a:t>
            </a:r>
            <a:r>
              <a:rPr lang="zh-CN" altLang="en-US" dirty="0"/>
              <a:t>用某种程序设计语言</a:t>
            </a:r>
            <a:r>
              <a:rPr lang="zh-CN" altLang="en-US" dirty="0">
                <a:solidFill>
                  <a:srgbClr val="FF0000"/>
                </a:solidFill>
              </a:rPr>
              <a:t>的具体体现</a:t>
            </a:r>
            <a:r>
              <a:rPr lang="zh-CN" altLang="en-US" dirty="0"/>
              <a:t>，可以在计算机上运行，而且还可以不满足算法的第四条限制，即时间有限性。</a:t>
            </a:r>
          </a:p>
          <a:p>
            <a:r>
              <a:rPr lang="zh-CN" altLang="en-US" dirty="0"/>
              <a:t>例：银行</a:t>
            </a:r>
            <a:r>
              <a:rPr lang="en-US" altLang="zh-CN" dirty="0"/>
              <a:t>ATM</a:t>
            </a:r>
            <a:r>
              <a:rPr lang="zh-CN" altLang="en-US" dirty="0"/>
              <a:t>机上运行的程序就是一个在无限循环中执行的程序，不会自动结束。但是其执行的各项任务都是由系统中的一个子程序根据某个特定算法实现的，如查询、取款等，每一个子程序得到结果后便会终止。</a:t>
            </a:r>
          </a:p>
          <a:p>
            <a:endParaRPr lang="zh-CN" altLang="en-US" dirty="0"/>
          </a:p>
          <a:p>
            <a:endParaRPr lang="zh-CN" altLang="en-US" dirty="0"/>
          </a:p>
        </p:txBody>
      </p:sp>
    </p:spTree>
    <p:extLst>
      <p:ext uri="{BB962C8B-B14F-4D97-AF65-F5344CB8AC3E}">
        <p14:creationId xmlns:p14="http://schemas.microsoft.com/office/powerpoint/2010/main" val="8370982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2A8A9A-7905-4A6A-B9D4-B4B39838B123}"/>
              </a:ext>
            </a:extLst>
          </p:cNvPr>
          <p:cNvSpPr>
            <a:spLocks noGrp="1"/>
          </p:cNvSpPr>
          <p:nvPr>
            <p:ph type="title"/>
          </p:nvPr>
        </p:nvSpPr>
        <p:spPr/>
        <p:txBody>
          <a:bodyPr/>
          <a:lstStyle/>
          <a:p>
            <a:r>
              <a:rPr lang="zh-CN" altLang="en-US" dirty="0"/>
              <a:t>基于计算机的问题求解过程</a:t>
            </a:r>
          </a:p>
        </p:txBody>
      </p:sp>
      <p:pic>
        <p:nvPicPr>
          <p:cNvPr id="3" name="Picture 43">
            <a:extLst>
              <a:ext uri="{FF2B5EF4-FFF2-40B4-BE49-F238E27FC236}">
                <a16:creationId xmlns:a16="http://schemas.microsoft.com/office/drawing/2014/main" id="{87E4418B-1DD5-423B-9ED4-D25993F6EC20}"/>
              </a:ext>
            </a:extLst>
          </p:cNvPr>
          <p:cNvPicPr>
            <a:picLocks noChangeAspect="1" noChangeArrowheads="1"/>
          </p:cNvPicPr>
          <p:nvPr/>
        </p:nvPicPr>
        <p:blipFill>
          <a:blip r:embed="rId3" cstate="print"/>
          <a:srcRect/>
          <a:stretch>
            <a:fillRect/>
          </a:stretch>
        </p:blipFill>
        <p:spPr bwMode="auto">
          <a:xfrm>
            <a:off x="3719516" y="1878016"/>
            <a:ext cx="4676775" cy="4791075"/>
          </a:xfrm>
          <a:prstGeom prst="rect">
            <a:avLst/>
          </a:prstGeom>
          <a:noFill/>
          <a:ln w="9525">
            <a:noFill/>
            <a:miter lim="800000"/>
            <a:headEnd/>
            <a:tailEnd/>
          </a:ln>
        </p:spPr>
      </p:pic>
    </p:spTree>
    <p:extLst>
      <p:ext uri="{BB962C8B-B14F-4D97-AF65-F5344CB8AC3E}">
        <p14:creationId xmlns:p14="http://schemas.microsoft.com/office/powerpoint/2010/main" val="2250645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8FAE90A-8C7F-4651-96A0-2B08E86DF52A}"/>
              </a:ext>
            </a:extLst>
          </p:cNvPr>
          <p:cNvSpPr txBox="1">
            <a:spLocks noChangeArrowheads="1"/>
          </p:cNvSpPr>
          <p:nvPr/>
        </p:nvSpPr>
        <p:spPr>
          <a:xfrm>
            <a:off x="1468452" y="2294546"/>
            <a:ext cx="9255095" cy="179107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dirty="0">
                <a:latin typeface="+mn-ea"/>
                <a:ea typeface="+mn-ea"/>
              </a:rPr>
              <a:t>Programming</a:t>
            </a:r>
            <a:br>
              <a:rPr lang="en-US" altLang="zh-CN" dirty="0">
                <a:latin typeface="+mn-ea"/>
                <a:ea typeface="+mn-ea"/>
              </a:rPr>
            </a:br>
            <a:r>
              <a:rPr lang="en-US" altLang="zh-CN" sz="4000" dirty="0">
                <a:latin typeface="+mn-ea"/>
                <a:ea typeface="+mn-ea"/>
              </a:rPr>
              <a:t>= algorithm + data structure + language</a:t>
            </a:r>
          </a:p>
        </p:txBody>
      </p:sp>
    </p:spTree>
    <p:extLst>
      <p:ext uri="{BB962C8B-B14F-4D97-AF65-F5344CB8AC3E}">
        <p14:creationId xmlns:p14="http://schemas.microsoft.com/office/powerpoint/2010/main" val="123925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8FAE90A-8C7F-4651-96A0-2B08E86DF52A}"/>
              </a:ext>
            </a:extLst>
          </p:cNvPr>
          <p:cNvSpPr txBox="1">
            <a:spLocks noChangeArrowheads="1"/>
          </p:cNvSpPr>
          <p:nvPr/>
        </p:nvSpPr>
        <p:spPr>
          <a:xfrm>
            <a:off x="1468452" y="2294546"/>
            <a:ext cx="9255095" cy="179107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dirty="0">
                <a:latin typeface="+mn-ea"/>
                <a:ea typeface="+mn-ea"/>
              </a:rPr>
              <a:t>Programming</a:t>
            </a:r>
            <a:br>
              <a:rPr lang="en-US" altLang="zh-CN" dirty="0">
                <a:latin typeface="+mn-ea"/>
                <a:ea typeface="+mn-ea"/>
              </a:rPr>
            </a:br>
            <a:r>
              <a:rPr lang="en-US" altLang="zh-CN" sz="4000" dirty="0">
                <a:latin typeface="+mn-ea"/>
                <a:ea typeface="+mn-ea"/>
              </a:rPr>
              <a:t>= algorithm + data structure + language</a:t>
            </a:r>
          </a:p>
        </p:txBody>
      </p:sp>
      <p:sp>
        <p:nvSpPr>
          <p:cNvPr id="3" name="文本框 2">
            <a:extLst>
              <a:ext uri="{FF2B5EF4-FFF2-40B4-BE49-F238E27FC236}">
                <a16:creationId xmlns:a16="http://schemas.microsoft.com/office/drawing/2014/main" id="{AB13FF49-2B04-4962-8B12-D3284C935F03}"/>
              </a:ext>
            </a:extLst>
          </p:cNvPr>
          <p:cNvSpPr txBox="1"/>
          <p:nvPr/>
        </p:nvSpPr>
        <p:spPr>
          <a:xfrm>
            <a:off x="4444442" y="3846239"/>
            <a:ext cx="3303116" cy="461665"/>
          </a:xfrm>
          <a:prstGeom prst="rect">
            <a:avLst/>
          </a:prstGeom>
          <a:noFill/>
        </p:spPr>
        <p:txBody>
          <a:bodyPr wrap="square" rtlCol="0">
            <a:spAutoFit/>
          </a:bodyPr>
          <a:lstStyle/>
          <a:p>
            <a:r>
              <a:rPr lang="en-US" altLang="zh-CN" sz="2400" dirty="0"/>
              <a:t>MCDXLVIII+DCCCXII=?</a:t>
            </a:r>
          </a:p>
        </p:txBody>
      </p:sp>
    </p:spTree>
    <p:extLst>
      <p:ext uri="{BB962C8B-B14F-4D97-AF65-F5344CB8AC3E}">
        <p14:creationId xmlns:p14="http://schemas.microsoft.com/office/powerpoint/2010/main" val="323282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8FAE90A-8C7F-4651-96A0-2B08E86DF52A}"/>
              </a:ext>
            </a:extLst>
          </p:cNvPr>
          <p:cNvSpPr txBox="1">
            <a:spLocks noChangeArrowheads="1"/>
          </p:cNvSpPr>
          <p:nvPr/>
        </p:nvSpPr>
        <p:spPr>
          <a:xfrm>
            <a:off x="1468452" y="2294546"/>
            <a:ext cx="9255095" cy="179107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dirty="0">
                <a:latin typeface="+mn-ea"/>
                <a:ea typeface="+mn-ea"/>
              </a:rPr>
              <a:t>Programming</a:t>
            </a:r>
            <a:br>
              <a:rPr lang="en-US" altLang="zh-CN" dirty="0">
                <a:latin typeface="+mn-ea"/>
                <a:ea typeface="+mn-ea"/>
              </a:rPr>
            </a:br>
            <a:r>
              <a:rPr lang="en-US" altLang="zh-CN" sz="4000" dirty="0">
                <a:latin typeface="+mn-ea"/>
                <a:ea typeface="+mn-ea"/>
              </a:rPr>
              <a:t>= algorithm + data structure + language</a:t>
            </a:r>
          </a:p>
        </p:txBody>
      </p:sp>
      <p:sp>
        <p:nvSpPr>
          <p:cNvPr id="3" name="文本框 2">
            <a:extLst>
              <a:ext uri="{FF2B5EF4-FFF2-40B4-BE49-F238E27FC236}">
                <a16:creationId xmlns:a16="http://schemas.microsoft.com/office/drawing/2014/main" id="{AB13FF49-2B04-4962-8B12-D3284C935F03}"/>
              </a:ext>
            </a:extLst>
          </p:cNvPr>
          <p:cNvSpPr txBox="1"/>
          <p:nvPr/>
        </p:nvSpPr>
        <p:spPr>
          <a:xfrm>
            <a:off x="4444442" y="3846239"/>
            <a:ext cx="3303116" cy="830997"/>
          </a:xfrm>
          <a:prstGeom prst="rect">
            <a:avLst/>
          </a:prstGeom>
          <a:noFill/>
        </p:spPr>
        <p:txBody>
          <a:bodyPr wrap="square" rtlCol="0">
            <a:spAutoFit/>
          </a:bodyPr>
          <a:lstStyle/>
          <a:p>
            <a:r>
              <a:rPr lang="en-US" altLang="zh-CN" sz="2400" dirty="0"/>
              <a:t>MCDXLVIII+DCCCXII=?</a:t>
            </a:r>
          </a:p>
          <a:p>
            <a:r>
              <a:rPr lang="en-US" altLang="zh-CN" sz="2400" dirty="0"/>
              <a:t>1448+812=?</a:t>
            </a:r>
          </a:p>
        </p:txBody>
      </p:sp>
    </p:spTree>
    <p:extLst>
      <p:ext uri="{BB962C8B-B14F-4D97-AF65-F5344CB8AC3E}">
        <p14:creationId xmlns:p14="http://schemas.microsoft.com/office/powerpoint/2010/main" val="312673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615BE6-4C83-495D-86B7-CB165D38DEFA}"/>
              </a:ext>
            </a:extLst>
          </p:cNvPr>
          <p:cNvSpPr>
            <a:spLocks noGrp="1"/>
          </p:cNvSpPr>
          <p:nvPr>
            <p:ph type="title"/>
          </p:nvPr>
        </p:nvSpPr>
        <p:spPr/>
        <p:txBody>
          <a:bodyPr/>
          <a:lstStyle/>
          <a:p>
            <a:r>
              <a:rPr lang="zh-CN" altLang="en-US" dirty="0"/>
              <a:t>参考书</a:t>
            </a:r>
          </a:p>
        </p:txBody>
      </p:sp>
      <p:sp>
        <p:nvSpPr>
          <p:cNvPr id="3" name="内容占位符 2">
            <a:extLst>
              <a:ext uri="{FF2B5EF4-FFF2-40B4-BE49-F238E27FC236}">
                <a16:creationId xmlns:a16="http://schemas.microsoft.com/office/drawing/2014/main" id="{B23CFC85-A89D-45FC-8853-17DE36A14C2F}"/>
              </a:ext>
            </a:extLst>
          </p:cNvPr>
          <p:cNvSpPr>
            <a:spLocks noGrp="1"/>
          </p:cNvSpPr>
          <p:nvPr>
            <p:ph idx="1"/>
          </p:nvPr>
        </p:nvSpPr>
        <p:spPr/>
        <p:txBody>
          <a:bodyPr>
            <a:normAutofit/>
          </a:bodyPr>
          <a:lstStyle/>
          <a:p>
            <a:r>
              <a:rPr lang="en-US" altLang="zh-CN" sz="2400" dirty="0"/>
              <a:t>Udi Manber, Introduction to Algorithms: A Creative Approach</a:t>
            </a:r>
          </a:p>
          <a:p>
            <a:pPr marL="0" indent="0">
              <a:buNone/>
            </a:pPr>
            <a:r>
              <a:rPr lang="zh-CN" altLang="en-US" sz="2400" dirty="0"/>
              <a:t>  算法引论：一种创造性方法，电子工业出版社，</a:t>
            </a:r>
            <a:r>
              <a:rPr lang="en-US" altLang="zh-CN" sz="2400" dirty="0"/>
              <a:t>2005</a:t>
            </a:r>
          </a:p>
          <a:p>
            <a:r>
              <a:rPr lang="en-US" altLang="zh-CN" sz="2400" dirty="0"/>
              <a:t>M H </a:t>
            </a:r>
            <a:r>
              <a:rPr lang="en-US" altLang="zh-CN" sz="2400" dirty="0" err="1"/>
              <a:t>Alsuwaiyel</a:t>
            </a:r>
            <a:r>
              <a:rPr lang="en-US" altLang="zh-CN" sz="2400" dirty="0"/>
              <a:t>, Algorithm design technique and analysis, World Scientific, 1999</a:t>
            </a:r>
          </a:p>
          <a:p>
            <a:r>
              <a:rPr lang="en-US" altLang="zh-CN" sz="2400" dirty="0"/>
              <a:t>Alfred V </a:t>
            </a:r>
            <a:r>
              <a:rPr lang="en-US" altLang="zh-CN" sz="2400" dirty="0" err="1"/>
              <a:t>Aho</a:t>
            </a:r>
            <a:r>
              <a:rPr lang="en-US" altLang="zh-CN" sz="2400" dirty="0"/>
              <a:t>, John E Hopcroft, Jeffery D Ullman, The design and analysis of computer algorithms, Addison-Wesley, 1974</a:t>
            </a:r>
          </a:p>
          <a:p>
            <a:r>
              <a:rPr lang="en-US" altLang="zh-CN" sz="2400" dirty="0"/>
              <a:t>Thomas H </a:t>
            </a:r>
            <a:r>
              <a:rPr lang="en-US" altLang="zh-CN" sz="2400" dirty="0" err="1"/>
              <a:t>Cormen</a:t>
            </a:r>
            <a:r>
              <a:rPr lang="en-US" altLang="zh-CN" sz="2400" dirty="0"/>
              <a:t>, Charles E </a:t>
            </a:r>
            <a:r>
              <a:rPr lang="en-US" altLang="zh-CN" sz="2400" dirty="0" err="1"/>
              <a:t>Leiserson</a:t>
            </a:r>
            <a:r>
              <a:rPr lang="en-US" altLang="zh-CN" sz="2400" dirty="0"/>
              <a:t>, Ronald L Rivest, Clifford Stein, Introduction to algorithms (second edition), MIT, 2001</a:t>
            </a:r>
          </a:p>
          <a:p>
            <a:r>
              <a:rPr lang="en-US" altLang="zh-CN" sz="2400" dirty="0"/>
              <a:t>……</a:t>
            </a:r>
          </a:p>
          <a:p>
            <a:endParaRPr lang="zh-CN" altLang="en-US" sz="2400" dirty="0"/>
          </a:p>
        </p:txBody>
      </p:sp>
      <p:graphicFrame>
        <p:nvGraphicFramePr>
          <p:cNvPr id="4" name="Object 4">
            <a:extLst>
              <a:ext uri="{FF2B5EF4-FFF2-40B4-BE49-F238E27FC236}">
                <a16:creationId xmlns:a16="http://schemas.microsoft.com/office/drawing/2014/main" id="{6DBB8A23-FC96-4362-A8C5-C4E4AE45A2FA}"/>
              </a:ext>
            </a:extLst>
          </p:cNvPr>
          <p:cNvGraphicFramePr>
            <a:graphicFrameLocks noChangeAspect="1"/>
          </p:cNvGraphicFramePr>
          <p:nvPr>
            <p:extLst>
              <p:ext uri="{D42A27DB-BD31-4B8C-83A1-F6EECF244321}">
                <p14:modId xmlns:p14="http://schemas.microsoft.com/office/powerpoint/2010/main" val="2383936714"/>
              </p:ext>
            </p:extLst>
          </p:nvPr>
        </p:nvGraphicFramePr>
        <p:xfrm>
          <a:off x="10677093" y="4809470"/>
          <a:ext cx="1217703" cy="1683405"/>
        </p:xfrm>
        <a:graphic>
          <a:graphicData uri="http://schemas.openxmlformats.org/presentationml/2006/ole">
            <mc:AlternateContent xmlns:mc="http://schemas.openxmlformats.org/markup-compatibility/2006">
              <mc:Choice xmlns:v="urn:schemas-microsoft-com:vml" Requires="v">
                <p:oleObj spid="_x0000_s1033" name="位图图像" r:id="rId3" imgW="3848434" imgH="5318095" progId="PBrush">
                  <p:embed/>
                </p:oleObj>
              </mc:Choice>
              <mc:Fallback>
                <p:oleObj name="位图图像" r:id="rId3" imgW="3848434" imgH="5318095" progId="PBrush">
                  <p:embed/>
                  <p:pic>
                    <p:nvPicPr>
                      <p:cNvPr id="102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7093" y="4809470"/>
                        <a:ext cx="1217703" cy="1683405"/>
                      </a:xfrm>
                      <a:prstGeom prst="rect">
                        <a:avLst/>
                      </a:prstGeom>
                      <a:noFill/>
                      <a:ln>
                        <a:noFill/>
                      </a:ln>
                      <a:effectLst/>
                    </p:spPr>
                  </p:pic>
                </p:oleObj>
              </mc:Fallback>
            </mc:AlternateContent>
          </a:graphicData>
        </a:graphic>
      </p:graphicFrame>
      <p:pic>
        <p:nvPicPr>
          <p:cNvPr id="5" name="Picture 7" descr="http://g.hiphotos.baidu.com/baike/w%3D268/sign=4168301a201f95caa6f595b0f1167fc5/50da81cb39dbb6fd8404d0420c24ab18972b3772.jpg">
            <a:extLst>
              <a:ext uri="{FF2B5EF4-FFF2-40B4-BE49-F238E27FC236}">
                <a16:creationId xmlns:a16="http://schemas.microsoft.com/office/drawing/2014/main" id="{17CBB4F7-2DD9-4379-8CA0-B7D5EB5FCF16}"/>
              </a:ext>
            </a:extLst>
          </p:cNvPr>
          <p:cNvPicPr>
            <a:picLocks noChangeAspect="1" noChangeArrowheads="1"/>
          </p:cNvPicPr>
          <p:nvPr/>
        </p:nvPicPr>
        <p:blipFill>
          <a:blip r:embed="rId5" cstate="print"/>
          <a:srcRect/>
          <a:stretch>
            <a:fillRect/>
          </a:stretch>
        </p:blipFill>
        <p:spPr bwMode="auto">
          <a:xfrm>
            <a:off x="8880439" y="4809470"/>
            <a:ext cx="1671588" cy="1672331"/>
          </a:xfrm>
          <a:prstGeom prst="rect">
            <a:avLst/>
          </a:prstGeom>
          <a:noFill/>
          <a:ln w="9525">
            <a:noFill/>
            <a:miter lim="800000"/>
            <a:headEnd/>
            <a:tailEnd/>
          </a:ln>
        </p:spPr>
      </p:pic>
    </p:spTree>
    <p:extLst>
      <p:ext uri="{BB962C8B-B14F-4D97-AF65-F5344CB8AC3E}">
        <p14:creationId xmlns:p14="http://schemas.microsoft.com/office/powerpoint/2010/main" val="242071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5799D3-55D9-4A56-BBF3-E588AC7D40E2}"/>
              </a:ext>
            </a:extLst>
          </p:cNvPr>
          <p:cNvSpPr>
            <a:spLocks noGrp="1"/>
          </p:cNvSpPr>
          <p:nvPr>
            <p:ph type="title"/>
          </p:nvPr>
        </p:nvSpPr>
        <p:spPr/>
        <p:txBody>
          <a:bodyPr/>
          <a:lstStyle/>
          <a:p>
            <a:r>
              <a:rPr lang="zh-CN" altLang="en-US" dirty="0"/>
              <a:t>特点－－数学归纳法</a:t>
            </a:r>
          </a:p>
        </p:txBody>
      </p:sp>
      <p:sp>
        <p:nvSpPr>
          <p:cNvPr id="3" name="内容占位符 2">
            <a:extLst>
              <a:ext uri="{FF2B5EF4-FFF2-40B4-BE49-F238E27FC236}">
                <a16:creationId xmlns:a16="http://schemas.microsoft.com/office/drawing/2014/main" id="{4017C6B1-81F7-4AA5-81C6-6D13A207AB36}"/>
              </a:ext>
            </a:extLst>
          </p:cNvPr>
          <p:cNvSpPr>
            <a:spLocks noGrp="1"/>
          </p:cNvSpPr>
          <p:nvPr>
            <p:ph idx="1"/>
          </p:nvPr>
        </p:nvSpPr>
        <p:spPr/>
        <p:txBody>
          <a:bodyPr/>
          <a:lstStyle/>
          <a:p>
            <a:r>
              <a:rPr lang="zh-CN" altLang="en-US" dirty="0"/>
              <a:t>核心：对证明数学定理的过程和设计算法的过程进行类比。</a:t>
            </a:r>
          </a:p>
          <a:p>
            <a:r>
              <a:rPr lang="zh-CN" altLang="en-US" dirty="0"/>
              <a:t>数学归纳法原理：若对于相对较小的命题实例成立可以导出较大的命题实例成立，则对所有实例来说命题都是成立的</a:t>
            </a:r>
          </a:p>
          <a:p>
            <a:r>
              <a:rPr lang="zh-CN" altLang="en-US" dirty="0"/>
              <a:t>算法设计的基本思想：从简单到复杂</a:t>
            </a:r>
          </a:p>
          <a:p>
            <a:r>
              <a:rPr lang="zh-CN" altLang="en-US" dirty="0"/>
              <a:t>算法设计：如何将简单问题的解扩充为较大问题的解。讨论如何加强归纳假设、如何更精明地选择归纳序列，如何应用双重归纳和反向归纳等。</a:t>
            </a:r>
          </a:p>
          <a:p>
            <a:r>
              <a:rPr lang="zh-CN" altLang="en-US" dirty="0"/>
              <a:t>特点：</a:t>
            </a:r>
            <a:r>
              <a:rPr lang="en-US" altLang="zh-CN" dirty="0"/>
              <a:t>1</a:t>
            </a:r>
            <a:r>
              <a:rPr lang="zh-CN" altLang="en-US" dirty="0"/>
              <a:t>）收集了许多似乎无关的算法设计技术并归类于一个框架之下；</a:t>
            </a:r>
            <a:r>
              <a:rPr lang="en-US" altLang="zh-CN" dirty="0"/>
              <a:t>2</a:t>
            </a:r>
            <a:r>
              <a:rPr lang="zh-CN" altLang="en-US" dirty="0"/>
              <a:t>）将已知的数学证明技术应用于算法设计。</a:t>
            </a:r>
          </a:p>
          <a:p>
            <a:r>
              <a:rPr lang="zh-CN" altLang="en-US" dirty="0"/>
              <a:t>缺点：不是一种通用的方法</a:t>
            </a:r>
          </a:p>
          <a:p>
            <a:endParaRPr lang="zh-CN" altLang="en-US" dirty="0"/>
          </a:p>
        </p:txBody>
      </p:sp>
    </p:spTree>
    <p:extLst>
      <p:ext uri="{BB962C8B-B14F-4D97-AF65-F5344CB8AC3E}">
        <p14:creationId xmlns:p14="http://schemas.microsoft.com/office/powerpoint/2010/main" val="3629587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49A952-1869-4F6E-BB3D-137DF0352961}"/>
              </a:ext>
            </a:extLst>
          </p:cNvPr>
          <p:cNvSpPr>
            <a:spLocks noGrp="1"/>
          </p:cNvSpPr>
          <p:nvPr>
            <p:ph type="title"/>
          </p:nvPr>
        </p:nvSpPr>
        <p:spPr/>
        <p:txBody>
          <a:bodyPr/>
          <a:lstStyle/>
          <a:p>
            <a:r>
              <a:rPr lang="zh-CN" altLang="en-US" dirty="0"/>
              <a:t>算法描述－－伪代码</a:t>
            </a:r>
          </a:p>
        </p:txBody>
      </p:sp>
      <p:sp>
        <p:nvSpPr>
          <p:cNvPr id="3" name="内容占位符 2">
            <a:extLst>
              <a:ext uri="{FF2B5EF4-FFF2-40B4-BE49-F238E27FC236}">
                <a16:creationId xmlns:a16="http://schemas.microsoft.com/office/drawing/2014/main" id="{F198A4A7-0917-4990-812F-17B9E38EFD61}"/>
              </a:ext>
            </a:extLst>
          </p:cNvPr>
          <p:cNvSpPr>
            <a:spLocks noGrp="1"/>
          </p:cNvSpPr>
          <p:nvPr>
            <p:ph idx="1"/>
          </p:nvPr>
        </p:nvSpPr>
        <p:spPr>
          <a:xfrm>
            <a:off x="838200" y="1825625"/>
            <a:ext cx="10515600" cy="688975"/>
          </a:xfrm>
        </p:spPr>
        <p:txBody>
          <a:bodyPr/>
          <a:lstStyle/>
          <a:p>
            <a:r>
              <a:rPr lang="zh-CN" altLang="en-US" dirty="0"/>
              <a:t>求两个自然数</a:t>
            </a:r>
            <a:r>
              <a:rPr lang="en-US" altLang="zh-CN" dirty="0"/>
              <a:t>a</a:t>
            </a:r>
            <a:r>
              <a:rPr lang="zh-CN" altLang="en-US" dirty="0"/>
              <a:t>和</a:t>
            </a:r>
            <a:r>
              <a:rPr lang="en-US" altLang="zh-CN" dirty="0"/>
              <a:t>b</a:t>
            </a:r>
            <a:r>
              <a:rPr lang="zh-CN" altLang="en-US" dirty="0"/>
              <a:t>的最大公约数</a:t>
            </a:r>
            <a:r>
              <a:rPr lang="en-US" altLang="zh-CN" dirty="0"/>
              <a:t>(</a:t>
            </a:r>
            <a:r>
              <a:rPr lang="zh-CN" altLang="en-US" dirty="0"/>
              <a:t>设</a:t>
            </a:r>
            <a:r>
              <a:rPr lang="en-US" altLang="zh-CN" dirty="0"/>
              <a:t>a&gt;b)</a:t>
            </a:r>
          </a:p>
        </p:txBody>
      </p:sp>
      <p:sp>
        <p:nvSpPr>
          <p:cNvPr id="4" name="TextBox 4">
            <a:extLst>
              <a:ext uri="{FF2B5EF4-FFF2-40B4-BE49-F238E27FC236}">
                <a16:creationId xmlns:a16="http://schemas.microsoft.com/office/drawing/2014/main" id="{06130C78-0D6F-457A-B599-B350D5857592}"/>
              </a:ext>
            </a:extLst>
          </p:cNvPr>
          <p:cNvSpPr txBox="1"/>
          <p:nvPr/>
        </p:nvSpPr>
        <p:spPr>
          <a:xfrm>
            <a:off x="6312024" y="2368752"/>
            <a:ext cx="4965576" cy="3139321"/>
          </a:xfrm>
          <a:prstGeom prst="rect">
            <a:avLst/>
          </a:prstGeom>
          <a:noFill/>
        </p:spPr>
        <p:txBody>
          <a:bodyPr wrap="square" rtlCol="0">
            <a:spAutoFit/>
          </a:bodyPr>
          <a:lstStyle/>
          <a:p>
            <a:pPr>
              <a:buFontTx/>
              <a:buNone/>
            </a:pPr>
            <a:r>
              <a:rPr lang="zh-CN" altLang="zh-CN" dirty="0"/>
              <a:t>输入：自然数</a:t>
            </a:r>
            <a:r>
              <a:rPr lang="en-US" altLang="zh-CN" dirty="0"/>
              <a:t>a</a:t>
            </a:r>
            <a:r>
              <a:rPr lang="zh-CN" altLang="zh-CN" dirty="0"/>
              <a:t>、</a:t>
            </a:r>
            <a:r>
              <a:rPr lang="en-US" altLang="zh-CN" dirty="0"/>
              <a:t>b</a:t>
            </a:r>
            <a:endParaRPr lang="zh-CN" altLang="zh-CN" dirty="0"/>
          </a:p>
          <a:p>
            <a:pPr>
              <a:buFontTx/>
              <a:buNone/>
            </a:pPr>
            <a:r>
              <a:rPr lang="zh-CN" altLang="zh-CN" dirty="0"/>
              <a:t>输出：</a:t>
            </a:r>
            <a:r>
              <a:rPr lang="en-US" altLang="zh-CN" dirty="0"/>
              <a:t>a</a:t>
            </a:r>
            <a:r>
              <a:rPr lang="zh-CN" altLang="zh-CN" dirty="0"/>
              <a:t>、</a:t>
            </a:r>
            <a:r>
              <a:rPr lang="en-US" altLang="zh-CN" dirty="0"/>
              <a:t>b</a:t>
            </a:r>
            <a:r>
              <a:rPr lang="zh-CN" altLang="zh-CN" dirty="0"/>
              <a:t>的最大公约数</a:t>
            </a:r>
          </a:p>
          <a:p>
            <a:pPr>
              <a:buFontTx/>
              <a:buNone/>
            </a:pPr>
            <a:r>
              <a:rPr lang="zh-CN" altLang="zh-CN" dirty="0"/>
              <a:t>步骤：</a:t>
            </a:r>
          </a:p>
          <a:p>
            <a:pPr>
              <a:buFontTx/>
              <a:buNone/>
            </a:pPr>
            <a:r>
              <a:rPr lang="en-US" altLang="zh-CN" dirty="0"/>
              <a:t>1</a:t>
            </a:r>
            <a:r>
              <a:rPr lang="zh-CN" altLang="zh-CN" dirty="0"/>
              <a:t>）</a:t>
            </a:r>
            <a:r>
              <a:rPr lang="en-US" altLang="zh-CN" dirty="0"/>
              <a:t>r=1</a:t>
            </a:r>
          </a:p>
          <a:p>
            <a:pPr>
              <a:buFontTx/>
              <a:buNone/>
            </a:pPr>
            <a:r>
              <a:rPr lang="en-US" altLang="zh-CN" dirty="0"/>
              <a:t>2</a:t>
            </a:r>
            <a:r>
              <a:rPr lang="zh-CN" altLang="en-US" dirty="0"/>
              <a:t>）</a:t>
            </a:r>
            <a:r>
              <a:rPr lang="en-US" altLang="zh-CN" dirty="0"/>
              <a:t>while r&gt;0</a:t>
            </a:r>
          </a:p>
          <a:p>
            <a:pPr>
              <a:buFontTx/>
              <a:buNone/>
            </a:pPr>
            <a:r>
              <a:rPr lang="en-US" altLang="zh-CN" dirty="0"/>
              <a:t>3</a:t>
            </a:r>
            <a:r>
              <a:rPr lang="zh-CN" altLang="en-US" dirty="0"/>
              <a:t>）        </a:t>
            </a:r>
            <a:r>
              <a:rPr lang="en-US" altLang="zh-CN" dirty="0"/>
              <a:t>r=</a:t>
            </a:r>
            <a:r>
              <a:rPr lang="en-US" altLang="zh-CN" dirty="0" err="1"/>
              <a:t>a%b</a:t>
            </a:r>
            <a:endParaRPr lang="en-US" altLang="zh-CN" dirty="0"/>
          </a:p>
          <a:p>
            <a:pPr>
              <a:buFontTx/>
              <a:buNone/>
            </a:pPr>
            <a:r>
              <a:rPr lang="en-US" altLang="zh-CN" dirty="0"/>
              <a:t>4</a:t>
            </a:r>
            <a:r>
              <a:rPr lang="zh-CN" altLang="en-US" dirty="0"/>
              <a:t>）        </a:t>
            </a:r>
            <a:r>
              <a:rPr lang="en-US" altLang="zh-CN" dirty="0"/>
              <a:t>a=b</a:t>
            </a:r>
          </a:p>
          <a:p>
            <a:pPr>
              <a:buFontTx/>
              <a:buNone/>
            </a:pPr>
            <a:r>
              <a:rPr lang="en-US" altLang="zh-CN" dirty="0"/>
              <a:t>5</a:t>
            </a:r>
            <a:r>
              <a:rPr lang="zh-CN" altLang="en-US" dirty="0"/>
              <a:t>）        </a:t>
            </a:r>
            <a:r>
              <a:rPr lang="en-US" altLang="zh-CN" dirty="0"/>
              <a:t>b=r</a:t>
            </a:r>
          </a:p>
          <a:p>
            <a:pPr>
              <a:buFontTx/>
              <a:buNone/>
            </a:pPr>
            <a:r>
              <a:rPr lang="en-US" altLang="zh-CN" dirty="0"/>
              <a:t>6</a:t>
            </a:r>
            <a:r>
              <a:rPr lang="zh-CN" altLang="en-US" dirty="0"/>
              <a:t>）</a:t>
            </a:r>
            <a:r>
              <a:rPr lang="en-US" altLang="zh-CN" dirty="0" err="1"/>
              <a:t>endwhile</a:t>
            </a:r>
            <a:endParaRPr lang="en-US" altLang="zh-CN" dirty="0"/>
          </a:p>
          <a:p>
            <a:pPr>
              <a:buFontTx/>
              <a:buNone/>
            </a:pPr>
            <a:r>
              <a:rPr lang="en-US" altLang="zh-CN" dirty="0"/>
              <a:t>7</a:t>
            </a:r>
            <a:r>
              <a:rPr lang="zh-CN" altLang="en-US" dirty="0"/>
              <a:t>）输出</a:t>
            </a:r>
            <a:r>
              <a:rPr lang="en-US" altLang="zh-CN" dirty="0"/>
              <a:t>a</a:t>
            </a:r>
            <a:endParaRPr lang="zh-CN" altLang="zh-CN" dirty="0"/>
          </a:p>
          <a:p>
            <a:endParaRPr lang="zh-CN" altLang="en-US" sz="1600" dirty="0"/>
          </a:p>
        </p:txBody>
      </p:sp>
      <p:sp>
        <p:nvSpPr>
          <p:cNvPr id="5" name="TextBox 5">
            <a:extLst>
              <a:ext uri="{FF2B5EF4-FFF2-40B4-BE49-F238E27FC236}">
                <a16:creationId xmlns:a16="http://schemas.microsoft.com/office/drawing/2014/main" id="{9924F7B8-121F-43E8-8D60-36C2B6CA7B3D}"/>
              </a:ext>
            </a:extLst>
          </p:cNvPr>
          <p:cNvSpPr txBox="1"/>
          <p:nvPr/>
        </p:nvSpPr>
        <p:spPr>
          <a:xfrm>
            <a:off x="914400" y="2368752"/>
            <a:ext cx="5109592" cy="3970318"/>
          </a:xfrm>
          <a:prstGeom prst="rect">
            <a:avLst/>
          </a:prstGeom>
          <a:noFill/>
        </p:spPr>
        <p:txBody>
          <a:bodyPr wrap="square" rtlCol="0">
            <a:spAutoFit/>
          </a:bodyPr>
          <a:lstStyle/>
          <a:p>
            <a:pPr>
              <a:buNone/>
            </a:pPr>
            <a:r>
              <a:rPr lang="en-US" altLang="zh-CN" dirty="0"/>
              <a:t>#include &lt;</a:t>
            </a:r>
            <a:r>
              <a:rPr lang="en-US" altLang="zh-CN" dirty="0" err="1"/>
              <a:t>iostream</a:t>
            </a:r>
            <a:r>
              <a:rPr lang="en-US" altLang="zh-CN" dirty="0"/>
              <a:t>&gt;</a:t>
            </a:r>
          </a:p>
          <a:p>
            <a:pPr>
              <a:buNone/>
            </a:pPr>
            <a:r>
              <a:rPr lang="en-US" altLang="zh-CN" dirty="0"/>
              <a:t>using  namespace std;</a:t>
            </a:r>
          </a:p>
          <a:p>
            <a:pPr>
              <a:buNone/>
            </a:pPr>
            <a:r>
              <a:rPr lang="en-US" altLang="zh-CN" dirty="0"/>
              <a:t>int main()  {</a:t>
            </a:r>
          </a:p>
          <a:p>
            <a:pPr>
              <a:buNone/>
            </a:pPr>
            <a:r>
              <a:rPr lang="en-US" altLang="zh-CN" dirty="0"/>
              <a:t>      </a:t>
            </a:r>
            <a:r>
              <a:rPr lang="en-US" altLang="zh-CN" dirty="0" err="1"/>
              <a:t>int</a:t>
            </a:r>
            <a:r>
              <a:rPr lang="en-US" altLang="zh-CN" dirty="0"/>
              <a:t> </a:t>
            </a:r>
            <a:r>
              <a:rPr lang="en-US" altLang="zh-CN" dirty="0" err="1"/>
              <a:t>a,b,r</a:t>
            </a:r>
            <a:r>
              <a:rPr lang="en-US" altLang="zh-CN" dirty="0"/>
              <a:t>=1;</a:t>
            </a:r>
          </a:p>
          <a:p>
            <a:pPr>
              <a:buNone/>
            </a:pPr>
            <a:r>
              <a:rPr lang="en-US" altLang="zh-CN" dirty="0"/>
              <a:t>      </a:t>
            </a:r>
            <a:r>
              <a:rPr lang="en-US" altLang="zh-CN" dirty="0" err="1"/>
              <a:t>cout</a:t>
            </a:r>
            <a:r>
              <a:rPr lang="en-US" altLang="zh-CN" dirty="0"/>
              <a:t>&lt;&lt;"Input two positive integer numbers:";</a:t>
            </a:r>
          </a:p>
          <a:p>
            <a:pPr>
              <a:buNone/>
            </a:pPr>
            <a:r>
              <a:rPr lang="en-US" altLang="zh-CN" dirty="0"/>
              <a:t>      </a:t>
            </a:r>
            <a:r>
              <a:rPr lang="en-US" altLang="zh-CN" dirty="0" err="1"/>
              <a:t>cin</a:t>
            </a:r>
            <a:r>
              <a:rPr lang="en-US" altLang="zh-CN" dirty="0"/>
              <a:t>&gt;&gt;a&gt;&gt;b;</a:t>
            </a:r>
          </a:p>
          <a:p>
            <a:pPr>
              <a:buNone/>
            </a:pPr>
            <a:r>
              <a:rPr lang="en-US" altLang="zh-CN" dirty="0"/>
              <a:t>      while (r&gt;0)  {</a:t>
            </a:r>
          </a:p>
          <a:p>
            <a:pPr>
              <a:buNone/>
            </a:pPr>
            <a:r>
              <a:rPr lang="en-US" altLang="zh-CN" dirty="0"/>
              <a:t>          r=</a:t>
            </a:r>
            <a:r>
              <a:rPr lang="en-US" altLang="zh-CN" dirty="0" err="1"/>
              <a:t>a%b</a:t>
            </a:r>
            <a:r>
              <a:rPr lang="en-US" altLang="zh-CN" dirty="0"/>
              <a:t>;</a:t>
            </a:r>
          </a:p>
          <a:p>
            <a:pPr>
              <a:buNone/>
            </a:pPr>
            <a:r>
              <a:rPr lang="en-US" altLang="zh-CN" dirty="0"/>
              <a:t>          a=b;</a:t>
            </a:r>
          </a:p>
          <a:p>
            <a:pPr>
              <a:buNone/>
            </a:pPr>
            <a:r>
              <a:rPr lang="en-US" altLang="zh-CN" dirty="0"/>
              <a:t>          b=r;</a:t>
            </a:r>
          </a:p>
          <a:p>
            <a:pPr>
              <a:buNone/>
            </a:pPr>
            <a:r>
              <a:rPr lang="en-US" altLang="zh-CN" dirty="0"/>
              <a:t>      }</a:t>
            </a:r>
          </a:p>
          <a:p>
            <a:pPr>
              <a:buNone/>
            </a:pPr>
            <a:r>
              <a:rPr lang="en-US" altLang="zh-CN" dirty="0"/>
              <a:t>      </a:t>
            </a:r>
            <a:r>
              <a:rPr lang="en-US" altLang="zh-CN" dirty="0" err="1"/>
              <a:t>cout</a:t>
            </a:r>
            <a:r>
              <a:rPr lang="en-US" altLang="zh-CN" dirty="0"/>
              <a:t>&lt;&lt;"The result is:"&lt;&lt;a&lt;&lt;</a:t>
            </a:r>
            <a:r>
              <a:rPr lang="en-US" altLang="zh-CN" dirty="0" err="1"/>
              <a:t>endl</a:t>
            </a:r>
            <a:r>
              <a:rPr lang="en-US" altLang="zh-CN" dirty="0"/>
              <a:t>;</a:t>
            </a:r>
          </a:p>
          <a:p>
            <a:pPr>
              <a:buNone/>
            </a:pPr>
            <a:r>
              <a:rPr lang="en-US" altLang="zh-CN" dirty="0"/>
              <a:t>      return 0;</a:t>
            </a:r>
          </a:p>
          <a:p>
            <a:pPr>
              <a:buNone/>
            </a:pPr>
            <a:r>
              <a:rPr lang="en-US" altLang="zh-CN" dirty="0"/>
              <a:t>}</a:t>
            </a:r>
            <a:endParaRPr lang="zh-CN" altLang="en-US" dirty="0"/>
          </a:p>
        </p:txBody>
      </p:sp>
    </p:spTree>
    <p:extLst>
      <p:ext uri="{BB962C8B-B14F-4D97-AF65-F5344CB8AC3E}">
        <p14:creationId xmlns:p14="http://schemas.microsoft.com/office/powerpoint/2010/main" val="3953821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84451E-17D3-42E2-B44D-A3BA001FF796}"/>
              </a:ext>
            </a:extLst>
          </p:cNvPr>
          <p:cNvSpPr>
            <a:spLocks noGrp="1"/>
          </p:cNvSpPr>
          <p:nvPr>
            <p:ph type="title"/>
          </p:nvPr>
        </p:nvSpPr>
        <p:spPr/>
        <p:txBody>
          <a:bodyPr/>
          <a:lstStyle/>
          <a:p>
            <a:r>
              <a:rPr lang="zh-CN" altLang="en-US" dirty="0"/>
              <a:t>算法描述－－伪代码</a:t>
            </a:r>
          </a:p>
        </p:txBody>
      </p:sp>
      <p:sp>
        <p:nvSpPr>
          <p:cNvPr id="3" name="内容占位符 2">
            <a:extLst>
              <a:ext uri="{FF2B5EF4-FFF2-40B4-BE49-F238E27FC236}">
                <a16:creationId xmlns:a16="http://schemas.microsoft.com/office/drawing/2014/main" id="{625EDA70-18A5-478C-A5C0-646C74E05D2F}"/>
              </a:ext>
            </a:extLst>
          </p:cNvPr>
          <p:cNvSpPr>
            <a:spLocks noGrp="1"/>
          </p:cNvSpPr>
          <p:nvPr>
            <p:ph idx="1"/>
          </p:nvPr>
        </p:nvSpPr>
        <p:spPr/>
        <p:txBody>
          <a:bodyPr/>
          <a:lstStyle/>
          <a:p>
            <a:r>
              <a:rPr lang="zh-CN" altLang="en-US" dirty="0"/>
              <a:t>目的：加强算法的形象描述。</a:t>
            </a:r>
          </a:p>
          <a:p>
            <a:r>
              <a:rPr lang="zh-CN" altLang="en-US" dirty="0"/>
              <a:t>未进行太多的优化，也不推荐直接使用它们。在许多情况下有意不包括优化版本，因为这可能会引入额外的复杂性，使注意力离开算法的主要思想。有时也不详细解释如何将算法思想转换为程序，这种转换有时是显然的有时却不是。</a:t>
            </a:r>
          </a:p>
          <a:p>
            <a:endParaRPr lang="zh-CN" altLang="en-US" dirty="0"/>
          </a:p>
          <a:p>
            <a:r>
              <a:rPr lang="zh-CN" altLang="en-US" dirty="0"/>
              <a:t>课程的侧重点在于算法设计的原理。必须了解算法背后的原理，必须知道如何应用它们，当然更重要的是，何时应用它们。</a:t>
            </a:r>
          </a:p>
          <a:p>
            <a:endParaRPr lang="zh-CN" altLang="en-US" dirty="0"/>
          </a:p>
          <a:p>
            <a:endParaRPr lang="zh-CN" altLang="en-US" dirty="0"/>
          </a:p>
          <a:p>
            <a:endParaRPr lang="zh-CN" altLang="en-US" dirty="0"/>
          </a:p>
        </p:txBody>
      </p:sp>
    </p:spTree>
    <p:extLst>
      <p:ext uri="{BB962C8B-B14F-4D97-AF65-F5344CB8AC3E}">
        <p14:creationId xmlns:p14="http://schemas.microsoft.com/office/powerpoint/2010/main" val="3509025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BDA7E6-FCA0-459E-860B-0193A2ED2720}"/>
              </a:ext>
            </a:extLst>
          </p:cNvPr>
          <p:cNvSpPr>
            <a:spLocks noGrp="1"/>
          </p:cNvSpPr>
          <p:nvPr>
            <p:ph type="title"/>
          </p:nvPr>
        </p:nvSpPr>
        <p:spPr/>
        <p:txBody>
          <a:bodyPr/>
          <a:lstStyle/>
          <a:p>
            <a:r>
              <a:rPr lang="zh-CN" altLang="en-US" dirty="0"/>
              <a:t>如何学好这门课</a:t>
            </a:r>
          </a:p>
        </p:txBody>
      </p:sp>
      <p:sp>
        <p:nvSpPr>
          <p:cNvPr id="3" name="内容占位符 2">
            <a:extLst>
              <a:ext uri="{FF2B5EF4-FFF2-40B4-BE49-F238E27FC236}">
                <a16:creationId xmlns:a16="http://schemas.microsoft.com/office/drawing/2014/main" id="{C268684B-A7A6-4B48-98F2-D44B153CF9B1}"/>
              </a:ext>
            </a:extLst>
          </p:cNvPr>
          <p:cNvSpPr>
            <a:spLocks noGrp="1"/>
          </p:cNvSpPr>
          <p:nvPr>
            <p:ph idx="1"/>
          </p:nvPr>
        </p:nvSpPr>
        <p:spPr/>
        <p:txBody>
          <a:bodyPr/>
          <a:lstStyle/>
          <a:p>
            <a:r>
              <a:rPr lang="zh-CN" altLang="en-US" dirty="0"/>
              <a:t>多看    多练    多想</a:t>
            </a:r>
          </a:p>
          <a:p>
            <a:endParaRPr lang="zh-CN" altLang="en-US" dirty="0"/>
          </a:p>
        </p:txBody>
      </p:sp>
    </p:spTree>
    <p:extLst>
      <p:ext uri="{BB962C8B-B14F-4D97-AF65-F5344CB8AC3E}">
        <p14:creationId xmlns:p14="http://schemas.microsoft.com/office/powerpoint/2010/main" val="2387999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52661C-1740-43DC-AD2D-4F2C1786EC1D}"/>
              </a:ext>
            </a:extLst>
          </p:cNvPr>
          <p:cNvSpPr>
            <a:spLocks noGrp="1"/>
          </p:cNvSpPr>
          <p:nvPr>
            <p:ph type="title"/>
          </p:nvPr>
        </p:nvSpPr>
        <p:spPr/>
        <p:txBody>
          <a:bodyPr/>
          <a:lstStyle/>
          <a:p>
            <a:r>
              <a:rPr lang="zh-CN" altLang="en-US" sz="4400" dirty="0">
                <a:solidFill>
                  <a:srgbClr val="0000FF"/>
                </a:solidFill>
              </a:rPr>
              <a:t>内容</a:t>
            </a:r>
            <a:endParaRPr lang="zh-CN" altLang="en-US" dirty="0"/>
          </a:p>
        </p:txBody>
      </p:sp>
      <p:sp>
        <p:nvSpPr>
          <p:cNvPr id="3" name="内容占位符 2">
            <a:extLst>
              <a:ext uri="{FF2B5EF4-FFF2-40B4-BE49-F238E27FC236}">
                <a16:creationId xmlns:a16="http://schemas.microsoft.com/office/drawing/2014/main" id="{5DAEE1D8-635A-4130-941A-D94051170E17}"/>
              </a:ext>
            </a:extLst>
          </p:cNvPr>
          <p:cNvSpPr>
            <a:spLocks noGrp="1"/>
          </p:cNvSpPr>
          <p:nvPr>
            <p:ph sz="half" idx="1"/>
          </p:nvPr>
        </p:nvSpPr>
        <p:spPr/>
        <p:txBody>
          <a:bodyPr/>
          <a:lstStyle/>
          <a:p>
            <a:pPr algn="just" eaLnBrk="1" hangingPunct="1">
              <a:buFontTx/>
              <a:buNone/>
            </a:pPr>
            <a:r>
              <a:rPr lang="zh-CN" altLang="en-US" sz="2800" dirty="0">
                <a:solidFill>
                  <a:srgbClr val="000000"/>
                </a:solidFill>
              </a:rPr>
              <a:t>第</a:t>
            </a:r>
            <a:r>
              <a:rPr lang="en-US" altLang="zh-CN" sz="2800" dirty="0">
                <a:solidFill>
                  <a:srgbClr val="000000"/>
                </a:solidFill>
              </a:rPr>
              <a:t>1</a:t>
            </a:r>
            <a:r>
              <a:rPr lang="zh-CN" altLang="en-US" sz="2800" dirty="0">
                <a:solidFill>
                  <a:srgbClr val="000000"/>
                </a:solidFill>
              </a:rPr>
              <a:t>章   引言</a:t>
            </a:r>
          </a:p>
          <a:p>
            <a:pPr algn="just" eaLnBrk="1" hangingPunct="1">
              <a:buFontTx/>
              <a:buNone/>
            </a:pPr>
            <a:r>
              <a:rPr lang="zh-CN" altLang="en-US" sz="2800" dirty="0">
                <a:solidFill>
                  <a:srgbClr val="000000"/>
                </a:solidFill>
              </a:rPr>
              <a:t>第</a:t>
            </a:r>
            <a:r>
              <a:rPr lang="en-US" altLang="zh-CN" sz="2800" dirty="0">
                <a:solidFill>
                  <a:srgbClr val="000000"/>
                </a:solidFill>
              </a:rPr>
              <a:t>3</a:t>
            </a:r>
            <a:r>
              <a:rPr lang="zh-CN" altLang="en-US" sz="2800" dirty="0">
                <a:solidFill>
                  <a:srgbClr val="000000"/>
                </a:solidFill>
              </a:rPr>
              <a:t>章	   算法分析</a:t>
            </a:r>
          </a:p>
          <a:p>
            <a:pPr algn="just" eaLnBrk="1" hangingPunct="1">
              <a:buFontTx/>
              <a:buNone/>
            </a:pPr>
            <a:r>
              <a:rPr lang="zh-CN" altLang="en-US" sz="2800" dirty="0">
                <a:solidFill>
                  <a:srgbClr val="FF0000"/>
                </a:solidFill>
              </a:rPr>
              <a:t>第</a:t>
            </a:r>
            <a:r>
              <a:rPr lang="en-US" altLang="zh-CN" sz="2800" dirty="0">
                <a:solidFill>
                  <a:srgbClr val="FF0000"/>
                </a:solidFill>
              </a:rPr>
              <a:t>5</a:t>
            </a:r>
            <a:r>
              <a:rPr lang="zh-CN" altLang="en-US" sz="2800" dirty="0">
                <a:solidFill>
                  <a:srgbClr val="FF0000"/>
                </a:solidFill>
              </a:rPr>
              <a:t>章   基于归纳的算法设计</a:t>
            </a:r>
            <a:r>
              <a:rPr lang="zh-CN" altLang="en-US" sz="2800" dirty="0">
                <a:solidFill>
                  <a:srgbClr val="000000"/>
                </a:solidFill>
              </a:rPr>
              <a:t>	</a:t>
            </a:r>
            <a:endParaRPr lang="en-US" altLang="zh-CN" sz="2800" dirty="0">
              <a:solidFill>
                <a:srgbClr val="000000"/>
              </a:solidFill>
            </a:endParaRPr>
          </a:p>
          <a:p>
            <a:pPr algn="just" eaLnBrk="1" hangingPunct="1">
              <a:buFontTx/>
              <a:buNone/>
            </a:pPr>
            <a:r>
              <a:rPr lang="zh-CN" altLang="en-US" sz="2800" dirty="0">
                <a:solidFill>
                  <a:schemeClr val="accent2"/>
                </a:solidFill>
              </a:rPr>
              <a:t>第</a:t>
            </a:r>
            <a:r>
              <a:rPr lang="en-US" altLang="zh-CN" sz="2800" dirty="0">
                <a:solidFill>
                  <a:schemeClr val="accent2"/>
                </a:solidFill>
              </a:rPr>
              <a:t>7</a:t>
            </a:r>
            <a:r>
              <a:rPr lang="zh-CN" altLang="en-US" sz="2800" dirty="0">
                <a:solidFill>
                  <a:schemeClr val="accent2"/>
                </a:solidFill>
              </a:rPr>
              <a:t>章	   图算法</a:t>
            </a:r>
          </a:p>
          <a:p>
            <a:pPr eaLnBrk="1" hangingPunct="1">
              <a:buFontTx/>
              <a:buNone/>
            </a:pPr>
            <a:r>
              <a:rPr lang="zh-CN" altLang="en-US" sz="2800" dirty="0">
                <a:solidFill>
                  <a:schemeClr val="accent2"/>
                </a:solidFill>
              </a:rPr>
              <a:t>第</a:t>
            </a:r>
            <a:r>
              <a:rPr lang="en-US" altLang="zh-CN" sz="2800" dirty="0">
                <a:solidFill>
                  <a:schemeClr val="accent2"/>
                </a:solidFill>
              </a:rPr>
              <a:t>9</a:t>
            </a:r>
            <a:r>
              <a:rPr lang="zh-CN" altLang="en-US" sz="2800" dirty="0">
                <a:solidFill>
                  <a:schemeClr val="accent2"/>
                </a:solidFill>
              </a:rPr>
              <a:t>章	   代数和数值算法</a:t>
            </a:r>
            <a:endParaRPr lang="zh-CN" altLang="en-US" sz="2800" dirty="0">
              <a:solidFill>
                <a:schemeClr val="accent1"/>
              </a:solidFill>
            </a:endParaRPr>
          </a:p>
          <a:p>
            <a:pPr eaLnBrk="1" hangingPunct="1">
              <a:buFontTx/>
              <a:buNone/>
            </a:pPr>
            <a:r>
              <a:rPr lang="zh-CN" altLang="en-US" sz="2800" dirty="0">
                <a:solidFill>
                  <a:schemeClr val="accent1"/>
                </a:solidFill>
              </a:rPr>
              <a:t>第</a:t>
            </a:r>
            <a:r>
              <a:rPr lang="en-US" altLang="zh-CN" sz="2800" dirty="0">
                <a:solidFill>
                  <a:schemeClr val="accent1"/>
                </a:solidFill>
              </a:rPr>
              <a:t>11</a:t>
            </a:r>
            <a:r>
              <a:rPr lang="zh-CN" altLang="en-US" sz="2800" dirty="0">
                <a:solidFill>
                  <a:schemeClr val="accent1"/>
                </a:solidFill>
              </a:rPr>
              <a:t>章 </a:t>
            </a:r>
            <a:r>
              <a:rPr lang="en-US" altLang="zh-CN" sz="2800" dirty="0">
                <a:solidFill>
                  <a:schemeClr val="accent1"/>
                </a:solidFill>
              </a:rPr>
              <a:t>NP</a:t>
            </a:r>
            <a:r>
              <a:rPr lang="zh-CN" altLang="en-US" sz="2800" dirty="0">
                <a:solidFill>
                  <a:schemeClr val="accent1"/>
                </a:solidFill>
              </a:rPr>
              <a:t>完全问题	</a:t>
            </a:r>
            <a:endParaRPr lang="zh-CN" altLang="en-US" dirty="0"/>
          </a:p>
        </p:txBody>
      </p:sp>
      <p:sp>
        <p:nvSpPr>
          <p:cNvPr id="4" name="内容占位符 3">
            <a:extLst>
              <a:ext uri="{FF2B5EF4-FFF2-40B4-BE49-F238E27FC236}">
                <a16:creationId xmlns:a16="http://schemas.microsoft.com/office/drawing/2014/main" id="{3D184C7E-CD02-4CD3-AF4C-0655672AAFA4}"/>
              </a:ext>
            </a:extLst>
          </p:cNvPr>
          <p:cNvSpPr>
            <a:spLocks noGrp="1"/>
          </p:cNvSpPr>
          <p:nvPr>
            <p:ph sz="half" idx="2"/>
          </p:nvPr>
        </p:nvSpPr>
        <p:spPr/>
        <p:txBody>
          <a:bodyPr/>
          <a:lstStyle/>
          <a:p>
            <a:r>
              <a:rPr lang="zh-CN" altLang="en-US" sz="2800" dirty="0">
                <a:solidFill>
                  <a:srgbClr val="000000"/>
                </a:solidFill>
              </a:rPr>
              <a:t>第</a:t>
            </a:r>
            <a:r>
              <a:rPr lang="en-US" altLang="zh-CN" sz="2800" dirty="0">
                <a:solidFill>
                  <a:srgbClr val="000000"/>
                </a:solidFill>
              </a:rPr>
              <a:t>2</a:t>
            </a:r>
            <a:r>
              <a:rPr lang="zh-CN" altLang="en-US" sz="2800" dirty="0">
                <a:solidFill>
                  <a:srgbClr val="000000"/>
                </a:solidFill>
              </a:rPr>
              <a:t>章   数学归纳法</a:t>
            </a:r>
            <a:endParaRPr lang="en-US" altLang="zh-CN" sz="2800" dirty="0">
              <a:solidFill>
                <a:srgbClr val="000000"/>
              </a:solidFill>
            </a:endParaRPr>
          </a:p>
          <a:p>
            <a:r>
              <a:rPr lang="zh-CN" altLang="en-US" sz="2800" dirty="0">
                <a:solidFill>
                  <a:srgbClr val="000000"/>
                </a:solidFill>
              </a:rPr>
              <a:t>第</a:t>
            </a:r>
            <a:r>
              <a:rPr lang="en-US" altLang="zh-CN" sz="2800" dirty="0">
                <a:solidFill>
                  <a:srgbClr val="000000"/>
                </a:solidFill>
              </a:rPr>
              <a:t>4</a:t>
            </a:r>
            <a:r>
              <a:rPr lang="zh-CN" altLang="en-US" sz="2800" dirty="0">
                <a:solidFill>
                  <a:srgbClr val="000000"/>
                </a:solidFill>
              </a:rPr>
              <a:t>章   数据结构</a:t>
            </a:r>
            <a:endParaRPr lang="en-US" altLang="zh-CN" sz="2800" dirty="0">
              <a:solidFill>
                <a:srgbClr val="000000"/>
              </a:solidFill>
            </a:endParaRPr>
          </a:p>
          <a:p>
            <a:r>
              <a:rPr lang="zh-CN" altLang="en-US" sz="2800" dirty="0">
                <a:solidFill>
                  <a:schemeClr val="accent2"/>
                </a:solidFill>
              </a:rPr>
              <a:t>第</a:t>
            </a:r>
            <a:r>
              <a:rPr lang="en-US" altLang="zh-CN" sz="2800" dirty="0">
                <a:solidFill>
                  <a:schemeClr val="accent2"/>
                </a:solidFill>
              </a:rPr>
              <a:t>6</a:t>
            </a:r>
            <a:r>
              <a:rPr lang="zh-CN" altLang="en-US" sz="2800" dirty="0">
                <a:solidFill>
                  <a:schemeClr val="accent2"/>
                </a:solidFill>
              </a:rPr>
              <a:t>章   序列和集合的算法</a:t>
            </a:r>
            <a:endParaRPr lang="en-US" altLang="zh-CN" sz="2800" dirty="0">
              <a:solidFill>
                <a:schemeClr val="accent2"/>
              </a:solidFill>
            </a:endParaRPr>
          </a:p>
          <a:p>
            <a:r>
              <a:rPr lang="zh-CN" altLang="en-US" sz="2800" dirty="0">
                <a:solidFill>
                  <a:schemeClr val="accent2"/>
                </a:solidFill>
              </a:rPr>
              <a:t>第</a:t>
            </a:r>
            <a:r>
              <a:rPr lang="en-US" altLang="zh-CN" sz="2800" dirty="0">
                <a:solidFill>
                  <a:schemeClr val="accent2"/>
                </a:solidFill>
              </a:rPr>
              <a:t>8</a:t>
            </a:r>
            <a:r>
              <a:rPr lang="zh-CN" altLang="en-US" sz="2800" dirty="0">
                <a:solidFill>
                  <a:schemeClr val="accent2"/>
                </a:solidFill>
              </a:rPr>
              <a:t>章   几何算法</a:t>
            </a:r>
            <a:endParaRPr lang="en-US" altLang="zh-CN" sz="2800" dirty="0">
              <a:solidFill>
                <a:schemeClr val="accent2"/>
              </a:solidFill>
            </a:endParaRPr>
          </a:p>
          <a:p>
            <a:r>
              <a:rPr lang="zh-CN" altLang="en-US" sz="2800" dirty="0">
                <a:solidFill>
                  <a:schemeClr val="accent1"/>
                </a:solidFill>
              </a:rPr>
              <a:t>第</a:t>
            </a:r>
            <a:r>
              <a:rPr lang="en-US" altLang="zh-CN" sz="2800" dirty="0">
                <a:solidFill>
                  <a:schemeClr val="accent1"/>
                </a:solidFill>
              </a:rPr>
              <a:t>10</a:t>
            </a:r>
            <a:r>
              <a:rPr lang="zh-CN" altLang="en-US" sz="2800" dirty="0">
                <a:solidFill>
                  <a:schemeClr val="accent1"/>
                </a:solidFill>
              </a:rPr>
              <a:t>章  归约 </a:t>
            </a:r>
            <a:endParaRPr lang="en-US" altLang="zh-CN" sz="2800" dirty="0">
              <a:solidFill>
                <a:schemeClr val="accent1"/>
              </a:solidFill>
            </a:endParaRPr>
          </a:p>
          <a:p>
            <a:r>
              <a:rPr lang="zh-CN" altLang="en-US" sz="2800" dirty="0">
                <a:solidFill>
                  <a:srgbClr val="006600"/>
                </a:solidFill>
              </a:rPr>
              <a:t>第</a:t>
            </a:r>
            <a:r>
              <a:rPr lang="en-US" altLang="zh-CN" sz="2800" dirty="0">
                <a:solidFill>
                  <a:srgbClr val="006600"/>
                </a:solidFill>
              </a:rPr>
              <a:t>12</a:t>
            </a:r>
            <a:r>
              <a:rPr lang="zh-CN" altLang="en-US" sz="2800" dirty="0">
                <a:solidFill>
                  <a:srgbClr val="006600"/>
                </a:solidFill>
              </a:rPr>
              <a:t>章  并行算法</a:t>
            </a:r>
            <a:endParaRPr lang="zh-CN" altLang="en-US" dirty="0"/>
          </a:p>
        </p:txBody>
      </p:sp>
      <p:sp>
        <p:nvSpPr>
          <p:cNvPr id="5" name="Text Box 6">
            <a:extLst>
              <a:ext uri="{FF2B5EF4-FFF2-40B4-BE49-F238E27FC236}">
                <a16:creationId xmlns:a16="http://schemas.microsoft.com/office/drawing/2014/main" id="{764AC265-C62E-44E4-ADF7-C913B970CBDA}"/>
              </a:ext>
            </a:extLst>
          </p:cNvPr>
          <p:cNvSpPr txBox="1">
            <a:spLocks noChangeArrowheads="1"/>
          </p:cNvSpPr>
          <p:nvPr/>
        </p:nvSpPr>
        <p:spPr bwMode="auto">
          <a:xfrm>
            <a:off x="4533900" y="5473700"/>
            <a:ext cx="3657600" cy="461665"/>
          </a:xfrm>
          <a:prstGeom prst="rect">
            <a:avLst/>
          </a:prstGeom>
          <a:noFill/>
          <a:ln w="9525">
            <a:noFill/>
            <a:miter lim="800000"/>
            <a:headEnd/>
            <a:tailEnd/>
          </a:ln>
        </p:spPr>
        <p:txBody>
          <a:bodyPr wrap="square">
            <a:spAutoFit/>
          </a:bodyPr>
          <a:lstStyle/>
          <a:p>
            <a:pPr>
              <a:spcBef>
                <a:spcPct val="50000"/>
              </a:spcBef>
            </a:pPr>
            <a:r>
              <a:rPr lang="zh-CN" altLang="en-US" sz="2400" dirty="0"/>
              <a:t>了解算法        创造算法 </a:t>
            </a:r>
          </a:p>
        </p:txBody>
      </p:sp>
    </p:spTree>
    <p:extLst>
      <p:ext uri="{BB962C8B-B14F-4D97-AF65-F5344CB8AC3E}">
        <p14:creationId xmlns:p14="http://schemas.microsoft.com/office/powerpoint/2010/main" val="2355070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B61EE6-08F7-4C5C-8533-64409A56A944}"/>
              </a:ext>
            </a:extLst>
          </p:cNvPr>
          <p:cNvSpPr>
            <a:spLocks noGrp="1"/>
          </p:cNvSpPr>
          <p:nvPr>
            <p:ph type="title"/>
          </p:nvPr>
        </p:nvSpPr>
        <p:spPr/>
        <p:txBody>
          <a:bodyPr/>
          <a:lstStyle/>
          <a:p>
            <a:r>
              <a:rPr lang="en-US" altLang="zh-CN" dirty="0"/>
              <a:t>homework</a:t>
            </a:r>
            <a:endParaRPr lang="zh-CN" altLang="en-US" dirty="0"/>
          </a:p>
        </p:txBody>
      </p:sp>
      <p:sp>
        <p:nvSpPr>
          <p:cNvPr id="3" name="内容占位符 2">
            <a:extLst>
              <a:ext uri="{FF2B5EF4-FFF2-40B4-BE49-F238E27FC236}">
                <a16:creationId xmlns:a16="http://schemas.microsoft.com/office/drawing/2014/main" id="{260325BD-EF79-427C-939E-4AB0AA885B23}"/>
              </a:ext>
            </a:extLst>
          </p:cNvPr>
          <p:cNvSpPr>
            <a:spLocks noGrp="1"/>
          </p:cNvSpPr>
          <p:nvPr>
            <p:ph idx="1"/>
          </p:nvPr>
        </p:nvSpPr>
        <p:spPr/>
        <p:txBody>
          <a:bodyPr/>
          <a:lstStyle/>
          <a:p>
            <a:r>
              <a:rPr lang="zh-CN" altLang="en-US" dirty="0"/>
              <a:t>理论：</a:t>
            </a:r>
            <a:r>
              <a:rPr lang="en-US" altLang="zh-CN" dirty="0"/>
              <a:t>Canvas</a:t>
            </a:r>
          </a:p>
          <a:p>
            <a:r>
              <a:rPr lang="zh-CN" altLang="en-US" dirty="0">
                <a:solidFill>
                  <a:srgbClr val="FF0000"/>
                </a:solidFill>
              </a:rPr>
              <a:t>不补交</a:t>
            </a:r>
            <a:endParaRPr lang="en-US" altLang="zh-CN" dirty="0">
              <a:solidFill>
                <a:srgbClr val="FF0000"/>
              </a:solidFill>
            </a:endParaRPr>
          </a:p>
          <a:p>
            <a:r>
              <a:rPr lang="zh-CN" altLang="en-US" dirty="0"/>
              <a:t>待定部分</a:t>
            </a:r>
          </a:p>
          <a:p>
            <a:endParaRPr lang="zh-CN" altLang="en-US" dirty="0"/>
          </a:p>
        </p:txBody>
      </p:sp>
    </p:spTree>
    <p:extLst>
      <p:ext uri="{BB962C8B-B14F-4D97-AF65-F5344CB8AC3E}">
        <p14:creationId xmlns:p14="http://schemas.microsoft.com/office/powerpoint/2010/main" val="53077883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256</TotalTime>
  <Words>1167</Words>
  <Application>Microsoft Office PowerPoint</Application>
  <PresentationFormat>宽屏</PresentationFormat>
  <Paragraphs>113</Paragraphs>
  <Slides>17</Slides>
  <Notes>1</Notes>
  <HiddenSlides>0</HiddenSlides>
  <MMClips>0</MMClips>
  <ScaleCrop>false</ScaleCrop>
  <HeadingPairs>
    <vt:vector size="8" baseType="variant">
      <vt:variant>
        <vt:lpstr>已用的字体</vt:lpstr>
      </vt:variant>
      <vt:variant>
        <vt:i4>3</vt:i4>
      </vt:variant>
      <vt:variant>
        <vt:lpstr>主题</vt:lpstr>
      </vt:variant>
      <vt:variant>
        <vt:i4>1</vt:i4>
      </vt:variant>
      <vt:variant>
        <vt:lpstr>嵌入 OLE 服务器</vt:lpstr>
      </vt:variant>
      <vt:variant>
        <vt:i4>1</vt:i4>
      </vt:variant>
      <vt:variant>
        <vt:lpstr>幻灯片标题</vt:lpstr>
      </vt:variant>
      <vt:variant>
        <vt:i4>17</vt:i4>
      </vt:variant>
    </vt:vector>
  </HeadingPairs>
  <TitlesOfParts>
    <vt:vector size="22" baseType="lpstr">
      <vt:lpstr>等线</vt:lpstr>
      <vt:lpstr>等线 Light</vt:lpstr>
      <vt:lpstr>Arial</vt:lpstr>
      <vt:lpstr>Office 主题​​</vt:lpstr>
      <vt:lpstr>位图图像</vt:lpstr>
      <vt:lpstr>联系方式</vt:lpstr>
      <vt:lpstr>引论</vt:lpstr>
      <vt:lpstr>无处不在的算法</vt:lpstr>
      <vt:lpstr>算法基本性质</vt:lpstr>
      <vt:lpstr>这是一个算法吗</vt:lpstr>
      <vt:lpstr>算法与编程</vt:lpstr>
      <vt:lpstr>基于计算机的问题求解过程</vt:lpstr>
      <vt:lpstr>PowerPoint 演示文稿</vt:lpstr>
      <vt:lpstr>PowerPoint 演示文稿</vt:lpstr>
      <vt:lpstr>PowerPoint 演示文稿</vt:lpstr>
      <vt:lpstr>参考书</vt:lpstr>
      <vt:lpstr>特点－－数学归纳法</vt:lpstr>
      <vt:lpstr>算法描述－－伪代码</vt:lpstr>
      <vt:lpstr>算法描述－－伪代码</vt:lpstr>
      <vt:lpstr>如何学好这门课</vt:lpstr>
      <vt:lpstr>内容</vt:lpstr>
      <vt:lpstr>homework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联系方法</dc:title>
  <dc:creator>z r</dc:creator>
  <cp:lastModifiedBy>z r</cp:lastModifiedBy>
  <cp:revision>7</cp:revision>
  <dcterms:created xsi:type="dcterms:W3CDTF">2026-01-02T04:03:59Z</dcterms:created>
  <dcterms:modified xsi:type="dcterms:W3CDTF">2026-02-25T05:50:39Z</dcterms:modified>
</cp:coreProperties>
</file>